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5" r:id="rId5"/>
    <p:sldMasterId id="2147483679" r:id="rId6"/>
  </p:sldMasterIdLst>
  <p:notesMasterIdLst>
    <p:notesMasterId r:id="rId102"/>
  </p:notesMasterIdLst>
  <p:handoutMasterIdLst>
    <p:handoutMasterId r:id="rId103"/>
  </p:handoutMasterIdLst>
  <p:sldIdLst>
    <p:sldId id="283" r:id="rId7"/>
    <p:sldId id="515" r:id="rId8"/>
    <p:sldId id="717" r:id="rId9"/>
    <p:sldId id="683" r:id="rId10"/>
    <p:sldId id="716" r:id="rId11"/>
    <p:sldId id="702" r:id="rId12"/>
    <p:sldId id="676" r:id="rId13"/>
    <p:sldId id="693" r:id="rId14"/>
    <p:sldId id="694" r:id="rId15"/>
    <p:sldId id="695" r:id="rId16"/>
    <p:sldId id="696" r:id="rId17"/>
    <p:sldId id="697" r:id="rId18"/>
    <p:sldId id="698" r:id="rId19"/>
    <p:sldId id="699" r:id="rId20"/>
    <p:sldId id="703" r:id="rId21"/>
    <p:sldId id="692" r:id="rId22"/>
    <p:sldId id="677" r:id="rId23"/>
    <p:sldId id="679" r:id="rId24"/>
    <p:sldId id="680" r:id="rId25"/>
    <p:sldId id="705" r:id="rId26"/>
    <p:sldId id="681" r:id="rId27"/>
    <p:sldId id="684" r:id="rId28"/>
    <p:sldId id="682" r:id="rId29"/>
    <p:sldId id="706" r:id="rId30"/>
    <p:sldId id="707" r:id="rId31"/>
    <p:sldId id="708" r:id="rId32"/>
    <p:sldId id="709" r:id="rId33"/>
    <p:sldId id="713" r:id="rId34"/>
    <p:sldId id="710" r:id="rId35"/>
    <p:sldId id="711" r:id="rId36"/>
    <p:sldId id="712" r:id="rId37"/>
    <p:sldId id="715" r:id="rId38"/>
    <p:sldId id="714" r:id="rId39"/>
    <p:sldId id="720" r:id="rId40"/>
    <p:sldId id="690" r:id="rId41"/>
    <p:sldId id="721" r:id="rId42"/>
    <p:sldId id="722" r:id="rId43"/>
    <p:sldId id="723" r:id="rId44"/>
    <p:sldId id="724" r:id="rId45"/>
    <p:sldId id="725" r:id="rId46"/>
    <p:sldId id="726" r:id="rId47"/>
    <p:sldId id="727" r:id="rId48"/>
    <p:sldId id="728" r:id="rId49"/>
    <p:sldId id="685" r:id="rId50"/>
    <p:sldId id="718" r:id="rId51"/>
    <p:sldId id="729" r:id="rId52"/>
    <p:sldId id="730" r:id="rId53"/>
    <p:sldId id="731" r:id="rId54"/>
    <p:sldId id="691" r:id="rId55"/>
    <p:sldId id="732" r:id="rId56"/>
    <p:sldId id="686" r:id="rId57"/>
    <p:sldId id="734" r:id="rId58"/>
    <p:sldId id="735" r:id="rId59"/>
    <p:sldId id="736" r:id="rId60"/>
    <p:sldId id="741" r:id="rId61"/>
    <p:sldId id="738" r:id="rId62"/>
    <p:sldId id="737" r:id="rId63"/>
    <p:sldId id="739" r:id="rId64"/>
    <p:sldId id="740" r:id="rId65"/>
    <p:sldId id="742" r:id="rId66"/>
    <p:sldId id="688" r:id="rId67"/>
    <p:sldId id="743" r:id="rId68"/>
    <p:sldId id="747" r:id="rId69"/>
    <p:sldId id="748" r:id="rId70"/>
    <p:sldId id="749" r:id="rId71"/>
    <p:sldId id="750" r:id="rId72"/>
    <p:sldId id="751" r:id="rId73"/>
    <p:sldId id="760" r:id="rId74"/>
    <p:sldId id="758" r:id="rId75"/>
    <p:sldId id="757" r:id="rId76"/>
    <p:sldId id="761" r:id="rId77"/>
    <p:sldId id="762" r:id="rId78"/>
    <p:sldId id="763" r:id="rId79"/>
    <p:sldId id="689" r:id="rId80"/>
    <p:sldId id="753" r:id="rId81"/>
    <p:sldId id="752" r:id="rId82"/>
    <p:sldId id="764" r:id="rId83"/>
    <p:sldId id="765" r:id="rId84"/>
    <p:sldId id="766" r:id="rId85"/>
    <p:sldId id="767" r:id="rId86"/>
    <p:sldId id="768" r:id="rId87"/>
    <p:sldId id="261" r:id="rId88"/>
    <p:sldId id="262" r:id="rId89"/>
    <p:sldId id="263" r:id="rId90"/>
    <p:sldId id="264" r:id="rId91"/>
    <p:sldId id="265" r:id="rId92"/>
    <p:sldId id="266" r:id="rId93"/>
    <p:sldId id="267" r:id="rId94"/>
    <p:sldId id="268" r:id="rId95"/>
    <p:sldId id="270" r:id="rId96"/>
    <p:sldId id="772" r:id="rId97"/>
    <p:sldId id="783" r:id="rId98"/>
    <p:sldId id="784" r:id="rId99"/>
    <p:sldId id="704" r:id="rId100"/>
    <p:sldId id="756" r:id="rId101"/>
  </p:sldIdLst>
  <p:sldSz cx="9144000" cy="6858000" type="screen4x3"/>
  <p:notesSz cx="7023100" cy="9309100"/>
  <p:custDataLst>
    <p:tags r:id="rId10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78DCFDFA-C649-46DB-A3ED-3FBF6C3EF1A3}">
          <p14:sldIdLst>
            <p14:sldId id="283"/>
            <p14:sldId id="515"/>
          </p14:sldIdLst>
        </p14:section>
        <p14:section name="Projet" id="{EBED56B4-3C1D-4CFD-A1D6-1A15375D1CA8}">
          <p14:sldIdLst>
            <p14:sldId id="717"/>
            <p14:sldId id="683"/>
            <p14:sldId id="716"/>
          </p14:sldIdLst>
        </p14:section>
        <p14:section name="quiz1" id="{7046F919-A105-48F5-A5F9-9DA19C9AE151}">
          <p14:sldIdLst>
            <p14:sldId id="702"/>
            <p14:sldId id="676"/>
            <p14:sldId id="693"/>
            <p14:sldId id="694"/>
            <p14:sldId id="695"/>
            <p14:sldId id="696"/>
            <p14:sldId id="697"/>
            <p14:sldId id="698"/>
            <p14:sldId id="699"/>
          </p14:sldIdLst>
        </p14:section>
        <p14:section name="quiz2" id="{7F3652BA-3E35-45E1-B71E-23B0060EE444}">
          <p14:sldIdLst>
            <p14:sldId id="703"/>
            <p14:sldId id="692"/>
            <p14:sldId id="677"/>
            <p14:sldId id="679"/>
            <p14:sldId id="680"/>
            <p14:sldId id="705"/>
            <p14:sldId id="681"/>
            <p14:sldId id="684"/>
            <p14:sldId id="682"/>
          </p14:sldIdLst>
        </p14:section>
        <p14:section name="quiz3" id="{4C473A86-CEB8-47C2-881C-D2EBC041EAD5}">
          <p14:sldIdLst>
            <p14:sldId id="706"/>
            <p14:sldId id="707"/>
            <p14:sldId id="708"/>
            <p14:sldId id="709"/>
            <p14:sldId id="713"/>
            <p14:sldId id="710"/>
            <p14:sldId id="711"/>
            <p14:sldId id="712"/>
            <p14:sldId id="715"/>
            <p14:sldId id="714"/>
          </p14:sldIdLst>
        </p14:section>
        <p14:section name="quiz4" id="{01A0A55E-AC30-4CE1-9728-6B91DC43C340}">
          <p14:sldIdLst>
            <p14:sldId id="720"/>
            <p14:sldId id="690"/>
            <p14:sldId id="721"/>
            <p14:sldId id="722"/>
            <p14:sldId id="723"/>
            <p14:sldId id="724"/>
            <p14:sldId id="725"/>
            <p14:sldId id="726"/>
            <p14:sldId id="727"/>
            <p14:sldId id="728"/>
            <p14:sldId id="685"/>
          </p14:sldIdLst>
        </p14:section>
        <p14:section name="quiz5" id="{D6C45DD4-B671-4EBA-9C29-D43279D02CB4}">
          <p14:sldIdLst>
            <p14:sldId id="718"/>
            <p14:sldId id="729"/>
            <p14:sldId id="730"/>
            <p14:sldId id="731"/>
            <p14:sldId id="691"/>
            <p14:sldId id="732"/>
            <p14:sldId id="686"/>
          </p14:sldIdLst>
        </p14:section>
        <p14:section name="Quiz6" id="{C8E57E16-58E2-45D9-8BB9-14CBAD3826FF}">
          <p14:sldIdLst>
            <p14:sldId id="734"/>
            <p14:sldId id="735"/>
            <p14:sldId id="736"/>
            <p14:sldId id="741"/>
            <p14:sldId id="738"/>
            <p14:sldId id="737"/>
            <p14:sldId id="739"/>
            <p14:sldId id="740"/>
          </p14:sldIdLst>
        </p14:section>
        <p14:section name="quiz7" id="{7D7DCE2D-6EC9-406D-9C6F-4B3C16A40121}">
          <p14:sldIdLst>
            <p14:sldId id="742"/>
            <p14:sldId id="688"/>
            <p14:sldId id="743"/>
            <p14:sldId id="747"/>
            <p14:sldId id="748"/>
            <p14:sldId id="749"/>
            <p14:sldId id="750"/>
            <p14:sldId id="751"/>
            <p14:sldId id="760"/>
            <p14:sldId id="758"/>
            <p14:sldId id="757"/>
            <p14:sldId id="761"/>
            <p14:sldId id="762"/>
          </p14:sldIdLst>
        </p14:section>
        <p14:section name="quiz8" id="{2B36A63A-8001-4B0E-A1C5-9D5D47576B16}">
          <p14:sldIdLst>
            <p14:sldId id="763"/>
            <p14:sldId id="689"/>
            <p14:sldId id="753"/>
            <p14:sldId id="752"/>
            <p14:sldId id="764"/>
            <p14:sldId id="765"/>
            <p14:sldId id="766"/>
            <p14:sldId id="767"/>
            <p14:sldId id="768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772"/>
            <p14:sldId id="783"/>
            <p14:sldId id="784"/>
          </p14:sldIdLst>
        </p14:section>
        <p14:section name="quizAVenir" id="{BEF1AD5F-0008-433C-9B6F-B813F94E6E0F}">
          <p14:sldIdLst>
            <p14:sldId id="704"/>
            <p14:sldId id="756"/>
          </p14:sldIdLst>
        </p14:section>
        <p14:section name="Section 14" id="{A9BD5DDD-8564-4000-A824-269A0A0AC22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546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32">
          <p15:clr>
            <a:srgbClr val="A4A3A4"/>
          </p15:clr>
        </p15:guide>
        <p15:guide id="2" pos="221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Julia Stasio" initials="JS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 autoAdjust="0"/>
    <p:restoredTop sz="86904" autoAdjust="0"/>
  </p:normalViewPr>
  <p:slideViewPr>
    <p:cSldViewPr>
      <p:cViewPr varScale="1">
        <p:scale>
          <a:sx n="148" d="100"/>
          <a:sy n="148" d="100"/>
        </p:scale>
        <p:origin x="2056" y="84"/>
      </p:cViewPr>
      <p:guideLst>
        <p:guide orient="horz"/>
        <p:guide pos="5465"/>
      </p:guideLst>
    </p:cSldViewPr>
  </p:slideViewPr>
  <p:outlineViewPr>
    <p:cViewPr>
      <p:scale>
        <a:sx n="33" d="100"/>
        <a:sy n="33" d="100"/>
      </p:scale>
      <p:origin x="0" y="-13448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9180"/>
    </p:cViewPr>
  </p:sorterViewPr>
  <p:notesViewPr>
    <p:cSldViewPr>
      <p:cViewPr varScale="1">
        <p:scale>
          <a:sx n="79" d="100"/>
          <a:sy n="79" d="100"/>
        </p:scale>
        <p:origin x="-2340" y="-90"/>
      </p:cViewPr>
      <p:guideLst>
        <p:guide orient="horz" pos="2932"/>
        <p:guide pos="221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slide" Target="slides/slide78.xml"/><Relationship Id="rId89" Type="http://schemas.openxmlformats.org/officeDocument/2006/relationships/slide" Target="slides/slide83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07" Type="http://schemas.openxmlformats.org/officeDocument/2006/relationships/viewProps" Target="viewProps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66" Type="http://schemas.openxmlformats.org/officeDocument/2006/relationships/slide" Target="slides/slide60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87" Type="http://schemas.openxmlformats.org/officeDocument/2006/relationships/slide" Target="slides/slide81.xml"/><Relationship Id="rId102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5.xml"/><Relationship Id="rId82" Type="http://schemas.openxmlformats.org/officeDocument/2006/relationships/slide" Target="slides/slide76.xml"/><Relationship Id="rId90" Type="http://schemas.openxmlformats.org/officeDocument/2006/relationships/slide" Target="slides/slide84.xml"/><Relationship Id="rId95" Type="http://schemas.openxmlformats.org/officeDocument/2006/relationships/slide" Target="slides/slide89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100" Type="http://schemas.openxmlformats.org/officeDocument/2006/relationships/slide" Target="slides/slide94.xml"/><Relationship Id="rId105" Type="http://schemas.openxmlformats.org/officeDocument/2006/relationships/commentAuthors" Target="commentAuthor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slide" Target="slides/slide79.xml"/><Relationship Id="rId93" Type="http://schemas.openxmlformats.org/officeDocument/2006/relationships/slide" Target="slides/slide87.xml"/><Relationship Id="rId98" Type="http://schemas.openxmlformats.org/officeDocument/2006/relationships/slide" Target="slides/slide92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103" Type="http://schemas.openxmlformats.org/officeDocument/2006/relationships/handoutMaster" Target="handoutMasters/handoutMaster1.xml"/><Relationship Id="rId108" Type="http://schemas.openxmlformats.org/officeDocument/2006/relationships/theme" Target="theme/theme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slide" Target="slides/slide77.xml"/><Relationship Id="rId88" Type="http://schemas.openxmlformats.org/officeDocument/2006/relationships/slide" Target="slides/slide82.xml"/><Relationship Id="rId91" Type="http://schemas.openxmlformats.org/officeDocument/2006/relationships/slide" Target="slides/slide85.xml"/><Relationship Id="rId96" Type="http://schemas.openxmlformats.org/officeDocument/2006/relationships/slide" Target="slides/slide90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6" Type="http://schemas.openxmlformats.org/officeDocument/2006/relationships/presProps" Target="presProps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slide" Target="slides/slide80.xml"/><Relationship Id="rId94" Type="http://schemas.openxmlformats.org/officeDocument/2006/relationships/slide" Target="slides/slide88.xml"/><Relationship Id="rId99" Type="http://schemas.openxmlformats.org/officeDocument/2006/relationships/slide" Target="slides/slide93.xml"/><Relationship Id="rId101" Type="http://schemas.openxmlformats.org/officeDocument/2006/relationships/slide" Target="slides/slide9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109" Type="http://schemas.openxmlformats.org/officeDocument/2006/relationships/tableStyles" Target="tableStyles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97" Type="http://schemas.openxmlformats.org/officeDocument/2006/relationships/slide" Target="slides/slide91.xml"/><Relationship Id="rId104" Type="http://schemas.openxmlformats.org/officeDocument/2006/relationships/tags" Target="tags/tag1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92" Type="http://schemas.openxmlformats.org/officeDocument/2006/relationships/slide" Target="slides/slide86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16.xml"/><Relationship Id="rId18" Type="http://schemas.openxmlformats.org/officeDocument/2006/relationships/slide" Target="slides/slide21.xml"/><Relationship Id="rId26" Type="http://schemas.openxmlformats.org/officeDocument/2006/relationships/slide" Target="slides/slide30.xml"/><Relationship Id="rId39" Type="http://schemas.openxmlformats.org/officeDocument/2006/relationships/slide" Target="slides/slide44.xml"/><Relationship Id="rId21" Type="http://schemas.openxmlformats.org/officeDocument/2006/relationships/slide" Target="slides/slide25.xml"/><Relationship Id="rId34" Type="http://schemas.openxmlformats.org/officeDocument/2006/relationships/slide" Target="slides/slide39.xml"/><Relationship Id="rId42" Type="http://schemas.openxmlformats.org/officeDocument/2006/relationships/slide" Target="slides/slide48.xml"/><Relationship Id="rId47" Type="http://schemas.openxmlformats.org/officeDocument/2006/relationships/slide" Target="slides/slide54.xml"/><Relationship Id="rId50" Type="http://schemas.openxmlformats.org/officeDocument/2006/relationships/slide" Target="slides/slide57.xml"/><Relationship Id="rId55" Type="http://schemas.openxmlformats.org/officeDocument/2006/relationships/slide" Target="slides/slide63.xml"/><Relationship Id="rId63" Type="http://schemas.openxmlformats.org/officeDocument/2006/relationships/slide" Target="slides/slide71.xml"/><Relationship Id="rId68" Type="http://schemas.openxmlformats.org/officeDocument/2006/relationships/slide" Target="slides/slide77.xml"/><Relationship Id="rId7" Type="http://schemas.openxmlformats.org/officeDocument/2006/relationships/slide" Target="slides/slide9.xml"/><Relationship Id="rId71" Type="http://schemas.openxmlformats.org/officeDocument/2006/relationships/slide" Target="slides/slide80.xml"/><Relationship Id="rId2" Type="http://schemas.openxmlformats.org/officeDocument/2006/relationships/slide" Target="slides/slide2.xml"/><Relationship Id="rId16" Type="http://schemas.openxmlformats.org/officeDocument/2006/relationships/slide" Target="slides/slide19.xml"/><Relationship Id="rId29" Type="http://schemas.openxmlformats.org/officeDocument/2006/relationships/slide" Target="slides/slide33.xml"/><Relationship Id="rId11" Type="http://schemas.openxmlformats.org/officeDocument/2006/relationships/slide" Target="slides/slide13.xml"/><Relationship Id="rId24" Type="http://schemas.openxmlformats.org/officeDocument/2006/relationships/slide" Target="slides/slide28.xml"/><Relationship Id="rId32" Type="http://schemas.openxmlformats.org/officeDocument/2006/relationships/slide" Target="slides/slide37.xml"/><Relationship Id="rId37" Type="http://schemas.openxmlformats.org/officeDocument/2006/relationships/slide" Target="slides/slide42.xml"/><Relationship Id="rId40" Type="http://schemas.openxmlformats.org/officeDocument/2006/relationships/slide" Target="slides/slide46.xml"/><Relationship Id="rId45" Type="http://schemas.openxmlformats.org/officeDocument/2006/relationships/slide" Target="slides/slide51.xml"/><Relationship Id="rId53" Type="http://schemas.openxmlformats.org/officeDocument/2006/relationships/slide" Target="slides/slide61.xml"/><Relationship Id="rId58" Type="http://schemas.openxmlformats.org/officeDocument/2006/relationships/slide" Target="slides/slide66.xml"/><Relationship Id="rId66" Type="http://schemas.openxmlformats.org/officeDocument/2006/relationships/slide" Target="slides/slide75.xml"/><Relationship Id="rId5" Type="http://schemas.openxmlformats.org/officeDocument/2006/relationships/slide" Target="slides/slide7.xml"/><Relationship Id="rId15" Type="http://schemas.openxmlformats.org/officeDocument/2006/relationships/slide" Target="slides/slide18.xml"/><Relationship Id="rId23" Type="http://schemas.openxmlformats.org/officeDocument/2006/relationships/slide" Target="slides/slide27.xml"/><Relationship Id="rId28" Type="http://schemas.openxmlformats.org/officeDocument/2006/relationships/slide" Target="slides/slide32.xml"/><Relationship Id="rId36" Type="http://schemas.openxmlformats.org/officeDocument/2006/relationships/slide" Target="slides/slide41.xml"/><Relationship Id="rId49" Type="http://schemas.openxmlformats.org/officeDocument/2006/relationships/slide" Target="slides/slide56.xml"/><Relationship Id="rId57" Type="http://schemas.openxmlformats.org/officeDocument/2006/relationships/slide" Target="slides/slide65.xml"/><Relationship Id="rId61" Type="http://schemas.openxmlformats.org/officeDocument/2006/relationships/slide" Target="slides/slide69.xml"/><Relationship Id="rId10" Type="http://schemas.openxmlformats.org/officeDocument/2006/relationships/slide" Target="slides/slide12.xml"/><Relationship Id="rId19" Type="http://schemas.openxmlformats.org/officeDocument/2006/relationships/slide" Target="slides/slide22.xml"/><Relationship Id="rId31" Type="http://schemas.openxmlformats.org/officeDocument/2006/relationships/slide" Target="slides/slide36.xml"/><Relationship Id="rId44" Type="http://schemas.openxmlformats.org/officeDocument/2006/relationships/slide" Target="slides/slide50.xml"/><Relationship Id="rId52" Type="http://schemas.openxmlformats.org/officeDocument/2006/relationships/slide" Target="slides/slide59.xml"/><Relationship Id="rId60" Type="http://schemas.openxmlformats.org/officeDocument/2006/relationships/slide" Target="slides/slide68.xml"/><Relationship Id="rId65" Type="http://schemas.openxmlformats.org/officeDocument/2006/relationships/slide" Target="slides/slide74.xml"/><Relationship Id="rId73" Type="http://schemas.openxmlformats.org/officeDocument/2006/relationships/slide" Target="slides/slide95.xml"/><Relationship Id="rId4" Type="http://schemas.openxmlformats.org/officeDocument/2006/relationships/slide" Target="slides/slide5.xml"/><Relationship Id="rId9" Type="http://schemas.openxmlformats.org/officeDocument/2006/relationships/slide" Target="slides/slide11.xml"/><Relationship Id="rId14" Type="http://schemas.openxmlformats.org/officeDocument/2006/relationships/slide" Target="slides/slide17.xml"/><Relationship Id="rId22" Type="http://schemas.openxmlformats.org/officeDocument/2006/relationships/slide" Target="slides/slide26.xml"/><Relationship Id="rId27" Type="http://schemas.openxmlformats.org/officeDocument/2006/relationships/slide" Target="slides/slide31.xml"/><Relationship Id="rId30" Type="http://schemas.openxmlformats.org/officeDocument/2006/relationships/slide" Target="slides/slide35.xml"/><Relationship Id="rId35" Type="http://schemas.openxmlformats.org/officeDocument/2006/relationships/slide" Target="slides/slide40.xml"/><Relationship Id="rId43" Type="http://schemas.openxmlformats.org/officeDocument/2006/relationships/slide" Target="slides/slide49.xml"/><Relationship Id="rId48" Type="http://schemas.openxmlformats.org/officeDocument/2006/relationships/slide" Target="slides/slide55.xml"/><Relationship Id="rId56" Type="http://schemas.openxmlformats.org/officeDocument/2006/relationships/slide" Target="slides/slide64.xml"/><Relationship Id="rId64" Type="http://schemas.openxmlformats.org/officeDocument/2006/relationships/slide" Target="slides/slide72.xml"/><Relationship Id="rId69" Type="http://schemas.openxmlformats.org/officeDocument/2006/relationships/slide" Target="slides/slide78.xml"/><Relationship Id="rId8" Type="http://schemas.openxmlformats.org/officeDocument/2006/relationships/slide" Target="slides/slide10.xml"/><Relationship Id="rId51" Type="http://schemas.openxmlformats.org/officeDocument/2006/relationships/slide" Target="slides/slide58.xml"/><Relationship Id="rId72" Type="http://schemas.openxmlformats.org/officeDocument/2006/relationships/slide" Target="slides/slide81.xml"/><Relationship Id="rId3" Type="http://schemas.openxmlformats.org/officeDocument/2006/relationships/slide" Target="slides/slide4.xml"/><Relationship Id="rId12" Type="http://schemas.openxmlformats.org/officeDocument/2006/relationships/slide" Target="slides/slide14.xml"/><Relationship Id="rId17" Type="http://schemas.openxmlformats.org/officeDocument/2006/relationships/slide" Target="slides/slide20.xml"/><Relationship Id="rId25" Type="http://schemas.openxmlformats.org/officeDocument/2006/relationships/slide" Target="slides/slide29.xml"/><Relationship Id="rId33" Type="http://schemas.openxmlformats.org/officeDocument/2006/relationships/slide" Target="slides/slide38.xml"/><Relationship Id="rId38" Type="http://schemas.openxmlformats.org/officeDocument/2006/relationships/slide" Target="slides/slide43.xml"/><Relationship Id="rId46" Type="http://schemas.openxmlformats.org/officeDocument/2006/relationships/slide" Target="slides/slide53.xml"/><Relationship Id="rId59" Type="http://schemas.openxmlformats.org/officeDocument/2006/relationships/slide" Target="slides/slide67.xml"/><Relationship Id="rId67" Type="http://schemas.openxmlformats.org/officeDocument/2006/relationships/slide" Target="slides/slide76.xml"/><Relationship Id="rId20" Type="http://schemas.openxmlformats.org/officeDocument/2006/relationships/slide" Target="slides/slide23.xml"/><Relationship Id="rId41" Type="http://schemas.openxmlformats.org/officeDocument/2006/relationships/slide" Target="slides/slide47.xml"/><Relationship Id="rId54" Type="http://schemas.openxmlformats.org/officeDocument/2006/relationships/slide" Target="slides/slide62.xml"/><Relationship Id="rId62" Type="http://schemas.openxmlformats.org/officeDocument/2006/relationships/slide" Target="slides/slide70.xml"/><Relationship Id="rId70" Type="http://schemas.openxmlformats.org/officeDocument/2006/relationships/slide" Target="slides/slide79.xml"/><Relationship Id="rId1" Type="http://schemas.openxmlformats.org/officeDocument/2006/relationships/slide" Target="slides/slide1.xml"/><Relationship Id="rId6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865CA2D4-094E-48F7-9E06-42143F59D099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51E7E98C-E50F-40A2-A561-002C91555AD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369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E467C250-A218-43FB-AD95-3331D2A81DF1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2FF7759-803D-4F76-9AEC-98B2D9A07B0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7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22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Pour créer un nouvel élément dans l’index :</a:t>
            </a:r>
          </a:p>
          <a:p>
            <a:r>
              <a:rPr lang="fr-FR" dirty="0"/>
              <a:t>Faire un saut de section en mode Trieuse de diapositive (Affichage)</a:t>
            </a:r>
          </a:p>
          <a:p>
            <a:r>
              <a:rPr lang="fr-FR" dirty="0"/>
              <a:t>Faire click droit sur le sommaire (dans un coin) puis « Modifier le résumé ». Sélectionner les sections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00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EE268-231C-5F7E-5C34-C49B9E97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338504-612C-BD0B-42AC-5028182CD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BDF7E-12F6-F8E3-5F68-E4702F4B3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SQL :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/* ============================================================</a:t>
            </a:r>
          </a:p>
          <a:p>
            <a:r>
              <a:rPr lang="en-US" dirty="0"/>
              <a:t>   </a:t>
            </a:r>
            <a:r>
              <a:rPr lang="en-US" dirty="0" err="1"/>
              <a:t>AzureQuizLab</a:t>
            </a:r>
            <a:r>
              <a:rPr lang="en-US" dirty="0"/>
              <a:t> - Script initial avec 7 questions</a:t>
            </a:r>
          </a:p>
          <a:p>
            <a:r>
              <a:rPr lang="en-US" dirty="0"/>
              <a:t>   ============================================================ */</a:t>
            </a:r>
          </a:p>
          <a:p>
            <a:endParaRPr lang="en-US" dirty="0"/>
          </a:p>
          <a:p>
            <a:r>
              <a:rPr lang="en-US" dirty="0"/>
              <a:t>-- </a:t>
            </a:r>
            <a:r>
              <a:rPr lang="en-US" dirty="0" err="1"/>
              <a:t>Nettoyage</a:t>
            </a:r>
            <a:endParaRPr lang="en-US" dirty="0"/>
          </a:p>
          <a:p>
            <a:r>
              <a:rPr lang="en-US" dirty="0"/>
              <a:t>IF OBJECT_ID('</a:t>
            </a:r>
            <a:r>
              <a:rPr lang="en-US" dirty="0" err="1"/>
              <a:t>QuizAttemptAnswer</a:t>
            </a:r>
            <a:r>
              <a:rPr lang="en-US" dirty="0"/>
              <a:t>', 'U') IS NOT NULL DROP TABLE </a:t>
            </a:r>
            <a:r>
              <a:rPr lang="en-US" dirty="0" err="1"/>
              <a:t>QuizAttemptAnswer</a:t>
            </a:r>
            <a:r>
              <a:rPr lang="en-US" dirty="0"/>
              <a:t>;</a:t>
            </a:r>
          </a:p>
          <a:p>
            <a:r>
              <a:rPr lang="en-US" dirty="0"/>
              <a:t>IF OBJECT_ID('</a:t>
            </a:r>
            <a:r>
              <a:rPr lang="en-US" dirty="0" err="1"/>
              <a:t>QuizAttempt</a:t>
            </a:r>
            <a:r>
              <a:rPr lang="en-US" dirty="0"/>
              <a:t>', 'U') IS NOT NULL DROP TABLE </a:t>
            </a:r>
            <a:r>
              <a:rPr lang="en-US" dirty="0" err="1"/>
              <a:t>QuizAttempt</a:t>
            </a:r>
            <a:r>
              <a:rPr lang="en-US" dirty="0"/>
              <a:t>;</a:t>
            </a:r>
          </a:p>
          <a:p>
            <a:r>
              <a:rPr lang="en-US" dirty="0"/>
              <a:t>IF OBJECT_ID('Answer', 'U') IS NOT NULL DROP TABLE Answer;</a:t>
            </a:r>
          </a:p>
          <a:p>
            <a:r>
              <a:rPr lang="en-US" dirty="0"/>
              <a:t>IF OBJECT_ID('Question', 'U') IS NOT NULL DROP TABLE Question;</a:t>
            </a:r>
          </a:p>
          <a:p>
            <a:r>
              <a:rPr lang="en-US" dirty="0"/>
              <a:t>IF OBJECT_ID('Quiz', 'U') IS NOT NULL DROP TABLE Quiz;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-- 1️⃣ Quiz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Quiz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Title NVARCHAR(200) NOT NULL,</a:t>
            </a:r>
          </a:p>
          <a:p>
            <a:r>
              <a:rPr lang="en-US" dirty="0"/>
              <a:t>    Description NVARCHAR(500) NULL,</a:t>
            </a:r>
          </a:p>
          <a:p>
            <a:r>
              <a:rPr lang="en-US" dirty="0"/>
              <a:t>    </a:t>
            </a:r>
            <a:r>
              <a:rPr lang="en-US" dirty="0" err="1"/>
              <a:t>IsActive</a:t>
            </a:r>
            <a:r>
              <a:rPr lang="en-US" dirty="0"/>
              <a:t> BIT NOT NULL DEFAULT 1,</a:t>
            </a:r>
          </a:p>
          <a:p>
            <a:r>
              <a:rPr lang="en-US" dirty="0"/>
              <a:t>    </a:t>
            </a:r>
            <a:r>
              <a:rPr lang="en-US" dirty="0" err="1"/>
              <a:t>CreatedAt</a:t>
            </a:r>
            <a:r>
              <a:rPr lang="en-US" dirty="0"/>
              <a:t> DATETIME2 NOT NULL DEFAULT SYSUTCDATETIME()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-- 2️⃣ Question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Question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NVARCHAR(1000) NOT NULL,</a:t>
            </a:r>
          </a:p>
          <a:p>
            <a:r>
              <a:rPr lang="en-US" dirty="0"/>
              <a:t>    </a:t>
            </a:r>
            <a:r>
              <a:rPr lang="en-US" dirty="0" err="1"/>
              <a:t>OrderNumber</a:t>
            </a:r>
            <a:r>
              <a:rPr lang="en-US" dirty="0"/>
              <a:t> INT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FK_Question_Quiz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-- 3️⃣ Answer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Answer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Text NVARCHAR(500)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FK_Answer_Question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-- 4️⃣ </a:t>
            </a:r>
            <a:r>
              <a:rPr lang="en-US" dirty="0" err="1"/>
              <a:t>QuizAttempt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UserName</a:t>
            </a:r>
            <a:r>
              <a:rPr lang="en-US" dirty="0"/>
              <a:t> NVARCHAR(100) NOT NULL,</a:t>
            </a:r>
          </a:p>
          <a:p>
            <a:r>
              <a:rPr lang="en-US" dirty="0"/>
              <a:t>    Score INT NOT NULL,</a:t>
            </a:r>
          </a:p>
          <a:p>
            <a:r>
              <a:rPr lang="en-US" dirty="0"/>
              <a:t>    </a:t>
            </a:r>
            <a:r>
              <a:rPr lang="en-US" dirty="0" err="1"/>
              <a:t>CompletedAt</a:t>
            </a:r>
            <a:r>
              <a:rPr lang="en-US" dirty="0"/>
              <a:t> DATETIME2 NOT NULL DEFAULT SYSUTCDATETIME(),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FK_QuizAttempt_Quiz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QuizId</a:t>
            </a:r>
            <a:r>
              <a:rPr lang="en-US" dirty="0"/>
              <a:t>) REFERENCES Quiz(Id)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-- 5️⃣ </a:t>
            </a:r>
            <a:r>
              <a:rPr lang="en-US" dirty="0" err="1"/>
              <a:t>QuizAttemptAnswer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TABLE </a:t>
            </a:r>
            <a:r>
              <a:rPr lang="en-US" dirty="0" err="1"/>
              <a:t>QuizAttemptAnswer</a:t>
            </a:r>
            <a:r>
              <a:rPr lang="en-US" dirty="0"/>
              <a:t> (</a:t>
            </a:r>
          </a:p>
          <a:p>
            <a:r>
              <a:rPr lang="en-US" dirty="0"/>
              <a:t>    Id UNIQUEIDENTIFIER NOT NULL PRIMARY KEY,</a:t>
            </a:r>
          </a:p>
          <a:p>
            <a:r>
              <a:rPr lang="en-US" dirty="0"/>
              <a:t>    </a:t>
            </a:r>
            <a:r>
              <a:rPr lang="en-US" dirty="0" err="1"/>
              <a:t>QuizAttemptId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QuestionId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SelectedAnswerId</a:t>
            </a:r>
            <a:r>
              <a:rPr lang="en-US" dirty="0"/>
              <a:t> UNIQUEIDENTIFIER NOT NULL,</a:t>
            </a:r>
          </a:p>
          <a:p>
            <a:r>
              <a:rPr lang="en-US" dirty="0"/>
              <a:t>    </a:t>
            </a:r>
            <a:r>
              <a:rPr lang="en-US" dirty="0" err="1"/>
              <a:t>IsCorrect</a:t>
            </a:r>
            <a:r>
              <a:rPr lang="en-US" dirty="0"/>
              <a:t> BIT NOT NULL,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FK_QAA_Attempt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QuizAttemptId</a:t>
            </a:r>
            <a:r>
              <a:rPr lang="en-US" dirty="0"/>
              <a:t>) REFERENCES </a:t>
            </a:r>
            <a:r>
              <a:rPr lang="en-US" dirty="0" err="1"/>
              <a:t>QuizAttempt</a:t>
            </a:r>
            <a:r>
              <a:rPr lang="en-US" dirty="0"/>
              <a:t>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FK_QAA_Question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QuestionId</a:t>
            </a:r>
            <a:r>
              <a:rPr lang="en-US" dirty="0"/>
              <a:t>) REFERENCES Question(Id),</a:t>
            </a:r>
          </a:p>
          <a:p>
            <a:r>
              <a:rPr lang="en-US" dirty="0"/>
              <a:t>    CONSTRAINT </a:t>
            </a:r>
            <a:r>
              <a:rPr lang="en-US" dirty="0" err="1"/>
              <a:t>FK_QAA_Answer</a:t>
            </a:r>
            <a:r>
              <a:rPr lang="en-US" dirty="0"/>
              <a:t> </a:t>
            </a:r>
          </a:p>
          <a:p>
            <a:r>
              <a:rPr lang="en-US" dirty="0"/>
              <a:t>        FOREIGN KEY (</a:t>
            </a:r>
            <a:r>
              <a:rPr lang="en-US" dirty="0" err="1"/>
              <a:t>SelectedAnswerId</a:t>
            </a:r>
            <a:r>
              <a:rPr lang="en-US" dirty="0"/>
              <a:t>) REFERENCES Answer(Id)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Index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CREATE INDEX </a:t>
            </a:r>
            <a:r>
              <a:rPr lang="en-US" dirty="0" err="1"/>
              <a:t>IX_Question_QuizId</a:t>
            </a:r>
            <a:r>
              <a:rPr lang="en-US" dirty="0"/>
              <a:t> ON Question(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IX_Answer_QuestionId</a:t>
            </a:r>
            <a:r>
              <a:rPr lang="en-US" dirty="0"/>
              <a:t> ON Answer(</a:t>
            </a:r>
            <a:r>
              <a:rPr lang="en-US" dirty="0" err="1"/>
              <a:t>QuestionId</a:t>
            </a:r>
            <a:r>
              <a:rPr lang="en-US" dirty="0"/>
              <a:t>);</a:t>
            </a:r>
          </a:p>
          <a:p>
            <a:r>
              <a:rPr lang="en-US" dirty="0"/>
              <a:t>CREATE INDEX </a:t>
            </a:r>
            <a:r>
              <a:rPr lang="en-US" dirty="0" err="1"/>
              <a:t>IX_QuizAttempt_QuizId</a:t>
            </a:r>
            <a:r>
              <a:rPr lang="en-US" dirty="0"/>
              <a:t> ON </a:t>
            </a:r>
            <a:r>
              <a:rPr lang="en-US" dirty="0" err="1"/>
              <a:t>QuizAttempt</a:t>
            </a:r>
            <a:r>
              <a:rPr lang="en-US" dirty="0"/>
              <a:t>(</a:t>
            </a:r>
            <a:r>
              <a:rPr lang="en-US" dirty="0" err="1"/>
              <a:t>QuizId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Données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@QuizId UNIQUEIDENTIFIER = NEWID();</a:t>
            </a:r>
          </a:p>
          <a:p>
            <a:endParaRPr lang="en-US" dirty="0"/>
          </a:p>
          <a:p>
            <a:r>
              <a:rPr lang="en-US" dirty="0"/>
              <a:t>INSERT INTO Quiz (Id, Title, Description, </a:t>
            </a:r>
            <a:r>
              <a:rPr lang="en-US" dirty="0" err="1"/>
              <a:t>IsActive</a:t>
            </a:r>
            <a:r>
              <a:rPr lang="en-US" dirty="0"/>
              <a:t>)</a:t>
            </a:r>
          </a:p>
          <a:p>
            <a:r>
              <a:rPr lang="en-US" dirty="0"/>
              <a:t>VALUES (</a:t>
            </a:r>
          </a:p>
          <a:p>
            <a:r>
              <a:rPr lang="en-US" dirty="0"/>
              <a:t>    @QuizId,</a:t>
            </a:r>
          </a:p>
          <a:p>
            <a:r>
              <a:rPr lang="en-US" dirty="0"/>
              <a:t>    'Cloud Fundamentals - IaaS / PaaS / SaaS',</a:t>
            </a:r>
          </a:p>
          <a:p>
            <a:r>
              <a:rPr lang="en-US" dirty="0"/>
              <a:t>    'Quiz sur les </a:t>
            </a:r>
            <a:r>
              <a:rPr lang="en-US" dirty="0" err="1"/>
              <a:t>modèles</a:t>
            </a:r>
            <a:r>
              <a:rPr lang="en-US" dirty="0"/>
              <a:t> de service cloud',</a:t>
            </a:r>
          </a:p>
          <a:p>
            <a:r>
              <a:rPr lang="en-US" dirty="0"/>
              <a:t>    1</a:t>
            </a:r>
          </a:p>
          <a:p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Questions</a:t>
            </a:r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DECLARE @Q1 UNIQUEIDENTIFIER = NEWID();</a:t>
            </a:r>
          </a:p>
          <a:p>
            <a:r>
              <a:rPr lang="en-US" dirty="0"/>
              <a:t>DECLARE @Q2 UNIQUEIDENTIFIER = NEWID();</a:t>
            </a:r>
          </a:p>
          <a:p>
            <a:r>
              <a:rPr lang="en-US" dirty="0"/>
              <a:t>DECLARE @Q3 UNIQUEIDENTIFIER = NEWID();</a:t>
            </a:r>
          </a:p>
          <a:p>
            <a:r>
              <a:rPr lang="en-US" dirty="0"/>
              <a:t>DECLARE @Q4 UNIQUEIDENTIFIER = NEWID();</a:t>
            </a:r>
          </a:p>
          <a:p>
            <a:r>
              <a:rPr lang="en-US" dirty="0"/>
              <a:t>DECLARE @Q5 UNIQUEIDENTIFIER = NEWID();</a:t>
            </a:r>
          </a:p>
          <a:p>
            <a:r>
              <a:rPr lang="en-US" dirty="0"/>
              <a:t>DECLARE @Q6 UNIQUEIDENTIFIER = NEWID();</a:t>
            </a:r>
          </a:p>
          <a:p>
            <a:r>
              <a:rPr lang="en-US" dirty="0"/>
              <a:t>DECLARE @Q7 UNIQUEIDENTIFIER = NEWID();</a:t>
            </a:r>
          </a:p>
          <a:p>
            <a:endParaRPr lang="en-US" dirty="0"/>
          </a:p>
          <a:p>
            <a:r>
              <a:rPr lang="en-US" dirty="0"/>
              <a:t>INSERT INTO Question (Id, </a:t>
            </a:r>
            <a:r>
              <a:rPr lang="en-US" dirty="0" err="1"/>
              <a:t>QuizId</a:t>
            </a:r>
            <a:r>
              <a:rPr lang="en-US" dirty="0"/>
              <a:t>, Text, </a:t>
            </a:r>
            <a:r>
              <a:rPr lang="en-US" dirty="0" err="1"/>
              <a:t>OrderNumber</a:t>
            </a:r>
            <a:r>
              <a:rPr lang="en-US" dirty="0"/>
              <a:t>) VALUES</a:t>
            </a:r>
          </a:p>
          <a:p>
            <a:r>
              <a:rPr lang="en-US" dirty="0"/>
              <a:t>(@Q1, @QuizId, 'Quelle </a:t>
            </a:r>
            <a:r>
              <a:rPr lang="en-US" dirty="0" err="1"/>
              <a:t>est</a:t>
            </a:r>
            <a:r>
              <a:rPr lang="en-US" dirty="0"/>
              <a:t> la </a:t>
            </a:r>
            <a:r>
              <a:rPr lang="en-US" dirty="0" err="1"/>
              <a:t>principale</a:t>
            </a:r>
            <a:r>
              <a:rPr lang="en-US" dirty="0"/>
              <a:t> </a:t>
            </a:r>
            <a:r>
              <a:rPr lang="en-US" dirty="0" err="1"/>
              <a:t>différence</a:t>
            </a:r>
            <a:r>
              <a:rPr lang="en-US" dirty="0"/>
              <a:t> entre IaaS, PaaS et SaaS ?', 1),</a:t>
            </a:r>
          </a:p>
          <a:p>
            <a:r>
              <a:rPr lang="en-US" dirty="0"/>
              <a:t>(@Q2,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responsable</a:t>
            </a:r>
            <a:r>
              <a:rPr lang="en-US" dirty="0"/>
              <a:t> du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?', 2),</a:t>
            </a:r>
          </a:p>
          <a:p>
            <a:r>
              <a:rPr lang="en-US" dirty="0"/>
              <a:t>(@Q3,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</a:t>
            </a:r>
            <a:r>
              <a:rPr lang="en-US" dirty="0" err="1"/>
              <a:t>fournisseur</a:t>
            </a:r>
            <a:r>
              <a:rPr lang="en-US" dirty="0"/>
              <a:t> cloud </a:t>
            </a:r>
            <a:r>
              <a:rPr lang="en-US" dirty="0" err="1"/>
              <a:t>gère</a:t>
            </a:r>
            <a:r>
              <a:rPr lang="en-US" dirty="0"/>
              <a:t> le </a:t>
            </a:r>
            <a:r>
              <a:rPr lang="en-US" dirty="0" err="1"/>
              <a:t>système</a:t>
            </a:r>
            <a:r>
              <a:rPr lang="en-US" dirty="0"/>
              <a:t> </a:t>
            </a:r>
            <a:r>
              <a:rPr lang="en-US" dirty="0" err="1"/>
              <a:t>d’exploitation</a:t>
            </a:r>
            <a:r>
              <a:rPr lang="en-US" dirty="0"/>
              <a:t> et le runtime ?', 3),</a:t>
            </a:r>
          </a:p>
          <a:p>
            <a:r>
              <a:rPr lang="en-US" dirty="0"/>
              <a:t>(@Q4, @QuizId, 'Dans </a:t>
            </a:r>
            <a:r>
              <a:rPr lang="en-US" dirty="0" err="1"/>
              <a:t>quel</a:t>
            </a:r>
            <a:r>
              <a:rPr lang="en-US" dirty="0"/>
              <a:t> </a:t>
            </a:r>
            <a:r>
              <a:rPr lang="en-US" dirty="0" err="1"/>
              <a:t>modèle</a:t>
            </a:r>
            <a:r>
              <a:rPr lang="en-US" dirty="0"/>
              <a:t> le client ne </a:t>
            </a:r>
            <a:r>
              <a:rPr lang="en-US" dirty="0" err="1"/>
              <a:t>gère</a:t>
            </a:r>
            <a:r>
              <a:rPr lang="en-US" dirty="0"/>
              <a:t> </a:t>
            </a:r>
            <a:r>
              <a:rPr lang="en-US" dirty="0" err="1"/>
              <a:t>absolument</a:t>
            </a:r>
            <a:r>
              <a:rPr lang="en-US" dirty="0"/>
              <a:t> rien de technique ?', 4),</a:t>
            </a:r>
          </a:p>
          <a:p>
            <a:r>
              <a:rPr lang="en-US" dirty="0"/>
              <a:t>(@Q5, @QuizId, 'Vous </a:t>
            </a:r>
            <a:r>
              <a:rPr lang="en-US" dirty="0" err="1"/>
              <a:t>devez</a:t>
            </a:r>
            <a:r>
              <a:rPr lang="en-US" dirty="0"/>
              <a:t> installer </a:t>
            </a:r>
            <a:r>
              <a:rPr lang="en-US" dirty="0" err="1"/>
              <a:t>une</a:t>
            </a:r>
            <a:r>
              <a:rPr lang="en-US" dirty="0"/>
              <a:t> application métier legacy </a:t>
            </a:r>
            <a:r>
              <a:rPr lang="en-US" dirty="0" err="1"/>
              <a:t>nécessitant</a:t>
            </a:r>
            <a:r>
              <a:rPr lang="en-US" dirty="0"/>
              <a:t> un </a:t>
            </a:r>
            <a:r>
              <a:rPr lang="en-US" dirty="0" err="1"/>
              <a:t>accès</a:t>
            </a:r>
            <a:r>
              <a:rPr lang="en-US" dirty="0"/>
              <a:t> </a:t>
            </a:r>
            <a:r>
              <a:rPr lang="en-US" dirty="0" err="1"/>
              <a:t>complet</a:t>
            </a:r>
            <a:r>
              <a:rPr lang="en-US" dirty="0"/>
              <a:t> au </a:t>
            </a:r>
            <a:r>
              <a:rPr lang="en-US" dirty="0" err="1"/>
              <a:t>serveur</a:t>
            </a:r>
            <a:r>
              <a:rPr lang="en-US" dirty="0"/>
              <a:t>. Quel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est</a:t>
            </a:r>
            <a:r>
              <a:rPr lang="en-US" dirty="0"/>
              <a:t> le plus </a:t>
            </a:r>
            <a:r>
              <a:rPr lang="en-US" dirty="0" err="1"/>
              <a:t>adapté</a:t>
            </a:r>
            <a:r>
              <a:rPr lang="en-US" dirty="0"/>
              <a:t> ?', 5),</a:t>
            </a:r>
          </a:p>
          <a:p>
            <a:r>
              <a:rPr lang="en-US" dirty="0"/>
              <a:t>(@Q6, @QuizId, 'Quelle solution </a:t>
            </a:r>
            <a:r>
              <a:rPr lang="en-US" dirty="0" err="1"/>
              <a:t>est</a:t>
            </a:r>
            <a:r>
              <a:rPr lang="en-US" dirty="0"/>
              <a:t> la plus </a:t>
            </a:r>
            <a:r>
              <a:rPr lang="en-US" dirty="0" err="1"/>
              <a:t>proche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On-premise ?', 6),</a:t>
            </a:r>
          </a:p>
          <a:p>
            <a:r>
              <a:rPr lang="en-US" dirty="0"/>
              <a:t>(@Q7, @QuizId, 'Une équipe </a:t>
            </a:r>
            <a:r>
              <a:rPr lang="en-US" dirty="0" err="1"/>
              <a:t>utilise</a:t>
            </a:r>
            <a:r>
              <a:rPr lang="en-US" dirty="0"/>
              <a:t> Azure App Service pour </a:t>
            </a:r>
            <a:r>
              <a:rPr lang="en-US" dirty="0" err="1"/>
              <a:t>héberger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application web. Quel </a:t>
            </a:r>
            <a:r>
              <a:rPr lang="en-US" dirty="0" err="1"/>
              <a:t>modèle</a:t>
            </a:r>
            <a:r>
              <a:rPr lang="en-US" dirty="0"/>
              <a:t> cloud </a:t>
            </a:r>
            <a:r>
              <a:rPr lang="en-US" dirty="0" err="1"/>
              <a:t>est</a:t>
            </a:r>
            <a:r>
              <a:rPr lang="en-US" dirty="0"/>
              <a:t> </a:t>
            </a:r>
            <a:r>
              <a:rPr lang="en-US" dirty="0" err="1"/>
              <a:t>utilisé</a:t>
            </a:r>
            <a:r>
              <a:rPr lang="en-US" dirty="0"/>
              <a:t> ?', 7);</a:t>
            </a:r>
          </a:p>
          <a:p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r>
              <a:rPr lang="en-US" dirty="0"/>
              <a:t>-- </a:t>
            </a:r>
            <a:r>
              <a:rPr lang="en-US" dirty="0" err="1"/>
              <a:t>Réponses</a:t>
            </a:r>
            <a:endParaRPr lang="en-US" dirty="0"/>
          </a:p>
          <a:p>
            <a:r>
              <a:rPr lang="en-US" dirty="0"/>
              <a:t>---------------------------------------------------------------</a:t>
            </a:r>
          </a:p>
          <a:p>
            <a:endParaRPr lang="en-US" dirty="0"/>
          </a:p>
          <a:p>
            <a:r>
              <a:rPr lang="en-US" dirty="0"/>
              <a:t>-- Q1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@Q1, 'Le prix', 0),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localisation</a:t>
            </a:r>
            <a:r>
              <a:rPr lang="en-US" dirty="0"/>
              <a:t> des </a:t>
            </a:r>
            <a:r>
              <a:rPr lang="en-US" dirty="0" err="1"/>
              <a:t>serveurs</a:t>
            </a:r>
            <a:r>
              <a:rPr lang="en-US" dirty="0"/>
              <a:t>', 0),</a:t>
            </a:r>
          </a:p>
          <a:p>
            <a:r>
              <a:rPr lang="en-US" dirty="0"/>
              <a:t>(NEWID(), @Q1, 'Le </a:t>
            </a:r>
            <a:r>
              <a:rPr lang="en-US" dirty="0" err="1"/>
              <a:t>niveau</a:t>
            </a:r>
            <a:r>
              <a:rPr lang="en-US" dirty="0"/>
              <a:t> de </a:t>
            </a:r>
            <a:r>
              <a:rPr lang="en-US" dirty="0" err="1"/>
              <a:t>responsabilité</a:t>
            </a:r>
            <a:r>
              <a:rPr lang="en-US" dirty="0"/>
              <a:t> du client', 1),</a:t>
            </a:r>
          </a:p>
          <a:p>
            <a:r>
              <a:rPr lang="en-US" dirty="0"/>
              <a:t>(NEWID(), @Q1, 'La </a:t>
            </a:r>
            <a:r>
              <a:rPr lang="en-US" dirty="0" err="1"/>
              <a:t>vitesse</a:t>
            </a:r>
            <a:r>
              <a:rPr lang="en-US" dirty="0"/>
              <a:t> de </a:t>
            </a:r>
            <a:r>
              <a:rPr lang="en-US" dirty="0" err="1"/>
              <a:t>déploiement</a:t>
            </a:r>
            <a:r>
              <a:rPr lang="en-US" dirty="0"/>
              <a:t>', 0);</a:t>
            </a:r>
          </a:p>
          <a:p>
            <a:endParaRPr lang="en-US" dirty="0"/>
          </a:p>
          <a:p>
            <a:r>
              <a:rPr lang="en-US" dirty="0"/>
              <a:t>-- Q2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@Q2, '</a:t>
            </a:r>
            <a:r>
              <a:rPr lang="en-US" dirty="0" err="1"/>
              <a:t>Aucun</a:t>
            </a:r>
            <a:r>
              <a:rPr lang="en-US" dirty="0"/>
              <a:t>', 0),</a:t>
            </a:r>
          </a:p>
          <a:p>
            <a:r>
              <a:rPr lang="en-US" dirty="0"/>
              <a:t>(NEWID(), @Q2, 'SaaS', 0),</a:t>
            </a:r>
          </a:p>
          <a:p>
            <a:r>
              <a:rPr lang="en-US" dirty="0"/>
              <a:t>(NEWID(), @Q2, 'PaaS', 0),</a:t>
            </a:r>
          </a:p>
          <a:p>
            <a:r>
              <a:rPr lang="en-US" dirty="0"/>
              <a:t>(NEWID(), @Q2, 'IaaS', 1);</a:t>
            </a:r>
          </a:p>
          <a:p>
            <a:endParaRPr lang="en-US" dirty="0"/>
          </a:p>
          <a:p>
            <a:r>
              <a:rPr lang="en-US" dirty="0"/>
              <a:t>-- Q3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@Q3, 'On-premise', 0),</a:t>
            </a:r>
          </a:p>
          <a:p>
            <a:r>
              <a:rPr lang="en-US" dirty="0"/>
              <a:t>(NEWID(), @Q3, 'SaaS', 0),</a:t>
            </a:r>
          </a:p>
          <a:p>
            <a:r>
              <a:rPr lang="en-US" dirty="0"/>
              <a:t>(NEWID(), @Q3, 'PaaS', 1),</a:t>
            </a:r>
          </a:p>
          <a:p>
            <a:r>
              <a:rPr lang="en-US" dirty="0"/>
              <a:t>(NEWID(), @Q3, 'IaaS', 0);</a:t>
            </a:r>
          </a:p>
          <a:p>
            <a:endParaRPr lang="en-US" dirty="0"/>
          </a:p>
          <a:p>
            <a:r>
              <a:rPr lang="en-US" dirty="0"/>
              <a:t>-- Q4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@Q4, 'SaaS', 1),</a:t>
            </a:r>
          </a:p>
          <a:p>
            <a:r>
              <a:rPr lang="en-US" dirty="0"/>
              <a:t>(NEWID(), @Q4, 'PaaS', 0),</a:t>
            </a:r>
          </a:p>
          <a:p>
            <a:r>
              <a:rPr lang="en-US" dirty="0"/>
              <a:t>(NEWID(), @Q4, 'IaaS', 0),</a:t>
            </a:r>
          </a:p>
          <a:p>
            <a:r>
              <a:rPr lang="en-US" dirty="0"/>
              <a:t>(NEWID(), @Q4, 'On-premise', 0);</a:t>
            </a:r>
          </a:p>
          <a:p>
            <a:endParaRPr lang="en-US" dirty="0"/>
          </a:p>
          <a:p>
            <a:r>
              <a:rPr lang="en-US" dirty="0"/>
              <a:t>-- Q5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@Q5, 'SaaS', 0),</a:t>
            </a:r>
          </a:p>
          <a:p>
            <a:r>
              <a:rPr lang="en-US" dirty="0"/>
              <a:t>(NEWID(), @Q5, 'PaaS', 0),</a:t>
            </a:r>
          </a:p>
          <a:p>
            <a:r>
              <a:rPr lang="en-US" dirty="0"/>
              <a:t>(NEWID(), @Q5, 'IaaS', 1),</a:t>
            </a:r>
          </a:p>
          <a:p>
            <a:r>
              <a:rPr lang="en-US" dirty="0"/>
              <a:t>(NEWID(), @Q5, 'Serverless', 0);</a:t>
            </a:r>
          </a:p>
          <a:p>
            <a:endParaRPr lang="en-US" dirty="0"/>
          </a:p>
          <a:p>
            <a:r>
              <a:rPr lang="en-US" dirty="0"/>
              <a:t>-- Q6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@Q6, 'SaaS', 0),</a:t>
            </a:r>
          </a:p>
          <a:p>
            <a:r>
              <a:rPr lang="en-US" dirty="0"/>
              <a:t>(NEWID(), @Q6, 'PaaS', 0),</a:t>
            </a:r>
          </a:p>
          <a:p>
            <a:r>
              <a:rPr lang="en-US" dirty="0"/>
              <a:t>(NEWID(), @Q6, 'IaaS', 1),</a:t>
            </a:r>
          </a:p>
          <a:p>
            <a:r>
              <a:rPr lang="en-US" dirty="0"/>
              <a:t>(NEWID(), @Q6, 'Serverless', 0);</a:t>
            </a:r>
          </a:p>
          <a:p>
            <a:endParaRPr lang="en-US" dirty="0"/>
          </a:p>
          <a:p>
            <a:r>
              <a:rPr lang="en-US" dirty="0"/>
              <a:t>-- Q7</a:t>
            </a:r>
          </a:p>
          <a:p>
            <a:r>
              <a:rPr lang="en-US" dirty="0"/>
              <a:t>INSERT INTO Answer VALUES</a:t>
            </a:r>
          </a:p>
          <a:p>
            <a:r>
              <a:rPr lang="en-US" dirty="0"/>
              <a:t>(NEWID(), @Q7, 'On-premise', 0),</a:t>
            </a:r>
          </a:p>
          <a:p>
            <a:r>
              <a:rPr lang="en-US" dirty="0"/>
              <a:t>(NEWID(), @Q7, 'IaaS', 0),</a:t>
            </a:r>
          </a:p>
          <a:p>
            <a:r>
              <a:rPr lang="en-US" dirty="0"/>
              <a:t>(NEWID(), @Q7, 'PaaS', 1),</a:t>
            </a:r>
          </a:p>
          <a:p>
            <a:r>
              <a:rPr lang="en-US" dirty="0"/>
              <a:t>(NEWID(), @Q7, 'SaaS', 0);</a:t>
            </a:r>
          </a:p>
          <a:p>
            <a:endParaRPr lang="en-US" dirty="0"/>
          </a:p>
          <a:p>
            <a:r>
              <a:rPr lang="en-US" dirty="0"/>
              <a:t>PRINT '</a:t>
            </a:r>
            <a:r>
              <a:rPr lang="en-US" dirty="0" err="1"/>
              <a:t>AzureQuizLab</a:t>
            </a:r>
            <a:r>
              <a:rPr lang="en-US" dirty="0"/>
              <a:t> initialized with 7 questions.';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F85A5-1352-0567-359D-E06B33D0A9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590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E719-EBC7-78F3-62A1-E389FCEE3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F9A84-497D-8B82-6D6D-A0EBCE6544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8FDE5-0DA9-D7FE-9B6E-AAF188B40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417A3-F486-F90F-0C56-1FBB403C6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4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3A56-5635-2B46-E353-03208909F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38BDD-738A-57A8-EC08-3FEE2FC19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7AE5FD-5525-254C-AD15-8A016F118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C9433-6DA5-5A73-47B9-1103F1585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1437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A868B-D0A9-97E7-D1CA-8AC353A72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FDCE40-FB5F-F824-33AE-0680C36A9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F7B841-60F1-6BE4-7450-9A32E6FCD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le niveau de responsabilité du client</a:t>
            </a:r>
          </a:p>
          <a:p>
            <a:r>
              <a:rPr lang="fr-FR" dirty="0"/>
              <a:t>La différence principale concerne </a:t>
            </a:r>
            <a:r>
              <a:rPr lang="fr-FR" b="1" dirty="0"/>
              <a:t>qui gère quoi</a:t>
            </a:r>
            <a:r>
              <a:rPr lang="fr-FR" dirty="0"/>
              <a:t> dans l’infrastructure.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F76760-8605-D016-5205-1EFD478651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622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4B60-4A24-8B08-C902-FD5C737BB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48A38-E569-1C38-A701-466F8909F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C1238-D9C1-FF16-4BAB-F21636268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4 — IaaS</a:t>
            </a:r>
          </a:p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7566C-9C84-EA0D-BFD2-2094FEB9F5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842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48994-DBEE-4979-FF34-E56FE00AB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5383A-DC69-D9E0-92FA-0BEA9C8B8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0121-F8FD-C6DA-67AE-F3B8B1937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PaaS</a:t>
            </a:r>
          </a:p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Code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A621BF-8428-D7A9-0984-F787D3AAC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45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2C1A3-108D-2E87-C1D9-F23ED475D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66EB9-9A2B-4050-5D8C-C9221F7B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891B7-0DAA-6795-8092-42DAD5FE3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1 — SaaS</a:t>
            </a:r>
          </a:p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comptes utilisateurs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données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configuration fonctionnelle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3DBD1-B651-482F-788F-F38ADAC35F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16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5826-8C6F-9862-4875-1F8EDF461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6E462-445D-0728-BC70-2DFF09646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A553-5514-99A9-6596-22CDB1E266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Virtual Machine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Windows Server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SQL Server installé manuellement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E8394-403B-B9CB-214F-168E3220B4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81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0961F-7594-24F2-7498-9C7419BB2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A6F3F-6D43-5555-4CB2-E983C32D40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F6F682-D475-E1CF-D3DE-A342ABC7D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✅ Réponse : 3 — IaaS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7730B-38ED-3DDB-4E97-E0F2F5948D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754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3C11D-1822-5807-6C2A-F994143C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FC6A59-00E9-269F-FA0E-EB6B7A1744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D982-006E-4550-0120-F0D5572AD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b="1" dirty="0"/>
              <a:t>✅ Réponse : 3 — </a:t>
            </a:r>
            <a:r>
              <a:rPr lang="fr-FR" b="1" dirty="0" err="1"/>
              <a:t>Paas</a:t>
            </a:r>
            <a:endParaRPr lang="fr-FR" b="1" dirty="0"/>
          </a:p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287DF-37CC-F5D3-CA41-AD571405D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613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24A9-0210-171E-D33A-813367E91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5EBF0-6BC4-A49F-3345-02B0B5150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1731-17D9-9DAD-EBEC-1315CE9CB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987E4-1B8F-E365-E31B-667CE1B118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04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510FE-9DF2-9C45-8135-1AED8AF5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276220-C904-E42A-DD3F-995EB3A2EB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7A916-7B31-7487-48C4-96DAA3153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✅ </a:t>
            </a:r>
            <a:r>
              <a:rPr lang="fr-FR" b="1" dirty="0"/>
              <a:t>Réponse : 2</a:t>
            </a:r>
            <a:endParaRPr lang="fr-FR" dirty="0"/>
          </a:p>
          <a:p>
            <a:r>
              <a:rPr lang="fr-FR" dirty="0"/>
              <a:t>Auto-</a:t>
            </a:r>
            <a:r>
              <a:rPr lang="fr-FR" dirty="0" err="1"/>
              <a:t>scale</a:t>
            </a:r>
            <a:r>
              <a:rPr lang="fr-FR" dirty="0"/>
              <a:t> permet de :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ajouter 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&lt; 30% → retirer 1 instance</a:t>
            </a:r>
          </a:p>
          <a:p>
            <a:r>
              <a:rPr lang="fr-FR" dirty="0"/>
              <a:t>Donc :</a:t>
            </a:r>
          </a:p>
          <a:p>
            <a:r>
              <a:rPr lang="fr-FR" dirty="0" err="1"/>
              <a:t>scale</a:t>
            </a:r>
            <a:r>
              <a:rPr lang="fr-FR" dirty="0"/>
              <a:t> horizontal</a:t>
            </a:r>
          </a:p>
          <a:p>
            <a:r>
              <a:rPr lang="fr-FR" dirty="0"/>
              <a:t>adaptation automatique à la charge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disque : non</a:t>
            </a:r>
          </a:p>
          <a:p>
            <a:r>
              <a:rPr lang="fr-FR" dirty="0"/>
              <a:t>version .NET : non</a:t>
            </a:r>
          </a:p>
          <a:p>
            <a:r>
              <a:rPr lang="fr-FR" dirty="0"/>
              <a:t>changer plan tarifaire : non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E6D2D-000B-66B9-D1A6-BE13854AC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965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BF7D8-67A9-925D-F71E-83318526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1938A-A0D9-C5FD-47FB-5C89A0D6B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FFA506-4F50-3297-2811-D4E77C754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</a:t>
            </a:r>
            <a:endParaRPr lang="fr-FR" dirty="0"/>
          </a:p>
          <a:p>
            <a:r>
              <a:rPr lang="fr-FR" dirty="0"/>
              <a:t>Type   Signification</a:t>
            </a:r>
          </a:p>
          <a:p>
            <a:r>
              <a:rPr lang="fr-FR" b="1" dirty="0" err="1"/>
              <a:t>Scale</a:t>
            </a:r>
            <a:r>
              <a:rPr lang="fr-FR" b="1" dirty="0"/>
              <a:t> Up : </a:t>
            </a:r>
            <a:r>
              <a:rPr lang="fr-FR" dirty="0"/>
              <a:t>augmenter CPU / RAM</a:t>
            </a:r>
          </a:p>
          <a:p>
            <a:r>
              <a:rPr lang="fr-FR" b="1" dirty="0" err="1"/>
              <a:t>Scale</a:t>
            </a:r>
            <a:r>
              <a:rPr lang="fr-FR" b="1" dirty="0"/>
              <a:t> Out : </a:t>
            </a:r>
            <a:r>
              <a:rPr lang="fr-FR" dirty="0"/>
              <a:t>ajouter des instances</a:t>
            </a:r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Up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S1 → P1V2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Out :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instance → 3 instances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C5345-391A-F7AA-9122-3DB6700948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8997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B037E-CA2E-DEE7-35AA-216F16B25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52FEC4-FF72-9B4B-A1D4-D7A275895E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1AD9E3-E5EF-1DB1-CB43-C7041D4EF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Deployment</a:t>
            </a:r>
            <a:r>
              <a:rPr lang="fr-FR" b="1" dirty="0"/>
              <a:t> Center</a:t>
            </a:r>
            <a:r>
              <a:rPr lang="fr-FR" dirty="0"/>
              <a:t> d’App Service permet de connecter :</a:t>
            </a:r>
          </a:p>
          <a:p>
            <a:r>
              <a:rPr lang="fr-FR" dirty="0"/>
              <a:t>GitHub</a:t>
            </a:r>
          </a:p>
          <a:p>
            <a:r>
              <a:rPr lang="fr-FR" dirty="0"/>
              <a:t>Azure DevOps</a:t>
            </a:r>
          </a:p>
          <a:p>
            <a:r>
              <a:rPr lang="fr-FR" dirty="0" err="1"/>
              <a:t>Bitbucket</a:t>
            </a:r>
            <a:endParaRPr lang="fr-FR" dirty="0"/>
          </a:p>
          <a:p>
            <a:r>
              <a:rPr lang="fr-FR" dirty="0"/>
              <a:t>Il crée automatiquement un </a:t>
            </a:r>
            <a:r>
              <a:rPr lang="fr-FR" b="1" dirty="0"/>
              <a:t>workflow GitHub Actions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6F842-ADD1-26A7-69D8-08DB23A7BC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390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E497-E497-4886-3816-3B757108B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CB875-8D5E-2257-D266-392CC533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BFCBE-D944-2CA0-03FF-5B9B9FB0F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: </a:t>
            </a:r>
            <a:r>
              <a:rPr lang="fr-FR" b="1" dirty="0" err="1"/>
              <a:t>Sharepoint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3C71F-9969-7AE1-2D40-58AEBB820F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704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3D0E7-7A42-30E2-E1FD-92728CBF5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82983-27E0-0FCF-F605-541CE05EF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E85D5-0F77-DA11-8890-CE7CC61CC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Auto-</a:t>
            </a:r>
            <a:r>
              <a:rPr lang="fr-FR" b="1" dirty="0" err="1"/>
              <a:t>scale</a:t>
            </a:r>
            <a:r>
              <a:rPr lang="fr-FR" b="1" dirty="0"/>
              <a:t> basé sur CPU</a:t>
            </a:r>
            <a:endParaRPr lang="fr-FR" dirty="0"/>
          </a:p>
          <a:p>
            <a:r>
              <a:rPr lang="fr-FR" dirty="0"/>
              <a:t>Exemple de règle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70% → +1 instance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CPU &gt; 90% → +2 instances</a:t>
            </a:r>
          </a:p>
          <a:p>
            <a:r>
              <a:rPr lang="fr-FR" dirty="0"/>
              <a:t>C'est la </a:t>
            </a:r>
            <a:r>
              <a:rPr lang="fr-FR" b="1" dirty="0"/>
              <a:t>solution standard cloud native</a:t>
            </a:r>
            <a:r>
              <a:rPr lang="fr-FR" dirty="0"/>
              <a:t>.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augmenter CPU manuellement → pas dynamique</a:t>
            </a:r>
          </a:p>
          <a:p>
            <a:r>
              <a:rPr lang="fr-FR" dirty="0"/>
              <a:t>App Insights → monitoring</a:t>
            </a:r>
          </a:p>
          <a:p>
            <a:r>
              <a:rPr lang="fr-FR" dirty="0" err="1"/>
              <a:t>Deployment</a:t>
            </a:r>
            <a:r>
              <a:rPr lang="fr-FR" dirty="0"/>
              <a:t> Slot → déploiement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D2563-B276-9014-A151-66D6FF3E6B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9571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B8019-2636-0071-F374-F12F137FA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00BDCE-2B2E-FA19-AEA7-546190F01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DA39A-1727-375D-8713-4391493BB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</a:t>
            </a:r>
            <a:r>
              <a:rPr lang="fr-FR" b="1" dirty="0" err="1"/>
              <a:t>Deployment</a:t>
            </a:r>
            <a:r>
              <a:rPr lang="fr-FR" b="1" dirty="0"/>
              <a:t> Slots + Traffic </a:t>
            </a:r>
            <a:r>
              <a:rPr lang="fr-FR" b="1" dirty="0" err="1"/>
              <a:t>Routing</a:t>
            </a:r>
            <a:endParaRPr lang="fr-FR" dirty="0"/>
          </a:p>
          <a:p>
            <a:r>
              <a:rPr lang="fr-FR" dirty="0"/>
              <a:t>Exemple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Production : 90%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Staging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10%</a:t>
            </a:r>
          </a:p>
          <a:p>
            <a:r>
              <a:rPr lang="fr-FR" dirty="0"/>
              <a:t>Permet :</a:t>
            </a:r>
          </a:p>
          <a:p>
            <a:r>
              <a:rPr lang="fr-FR" b="1" dirty="0" err="1"/>
              <a:t>canary</a:t>
            </a:r>
            <a:r>
              <a:rPr lang="fr-FR" b="1" dirty="0"/>
              <a:t> release</a:t>
            </a:r>
            <a:endParaRPr lang="fr-FR" dirty="0"/>
          </a:p>
          <a:p>
            <a:r>
              <a:rPr lang="fr-FR" dirty="0"/>
              <a:t>tests progressifs</a:t>
            </a:r>
          </a:p>
          <a:p>
            <a:r>
              <a:rPr lang="fr-FR" dirty="0"/>
              <a:t>rollback rapide</a:t>
            </a:r>
          </a:p>
          <a:p>
            <a:r>
              <a:rPr lang="fr-FR" dirty="0"/>
              <a:t>Très utilisé en </a:t>
            </a:r>
            <a:r>
              <a:rPr lang="fr-FR" b="1" dirty="0"/>
              <a:t>DevOps / CI-CD Azure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737ED-F124-26BD-6329-D7C728A471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0358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03DE-6772-D45A-E989-5C58BD45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41F077-B225-ECD5-C631-2A286E3F5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D32C3-F2D4-C91E-1BA5-A6F598633A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Application Insights</a:t>
            </a:r>
            <a:endParaRPr lang="fr-FR" dirty="0"/>
          </a:p>
          <a:p>
            <a:r>
              <a:rPr lang="fr-FR" dirty="0"/>
              <a:t>Azure Application Insights</a:t>
            </a:r>
          </a:p>
          <a:p>
            <a:r>
              <a:rPr lang="fr-FR" dirty="0"/>
              <a:t>Permet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tracing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logs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dépendances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temps de réponse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erreurs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telemetry</a:t>
            </a:r>
            <a:endParaRPr lang="fr-FR" dirty="0"/>
          </a:p>
          <a:p>
            <a:r>
              <a:rPr lang="fr-FR" dirty="0"/>
              <a:t>Exemples visibles 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Requests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Exceptions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Dependencies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Performance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live 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metrics</a:t>
            </a:r>
            <a:endParaRPr lang="fr-FR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B8AD2-8574-E0A8-3D98-4603E68AB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1270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286C-9401-B6FE-7BD7-151442B7B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3031FF-2777-F96C-C9F6-EA14461E6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8491E-9710-E21E-3755-A9704C2A1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4 — Fournir l’infrastructure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</a:t>
            </a:r>
            <a:r>
              <a:rPr lang="fr-FR" dirty="0"/>
              <a:t> représente </a:t>
            </a:r>
            <a:r>
              <a:rPr lang="fr-FR" b="1" dirty="0"/>
              <a:t>la capacité de calcul</a:t>
            </a:r>
            <a:r>
              <a:rPr lang="fr-FR" dirty="0"/>
              <a:t> utilisée par les applications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nombre d’instances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région Azure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niveau de </a:t>
            </a:r>
            <a:r>
              <a:rPr lang="fr-FR" dirty="0" err="1"/>
              <a:t>pricing</a:t>
            </a:r>
            <a:r>
              <a:rPr lang="fr-FR" dirty="0"/>
              <a:t> (B1, S1, P1…)</a:t>
            </a:r>
          </a:p>
          <a:p>
            <a:r>
              <a:rPr lang="fr-FR" dirty="0"/>
              <a:t>Les </a:t>
            </a:r>
            <a:r>
              <a:rPr lang="fr-FR" b="1" dirty="0"/>
              <a:t>applications App Service</a:t>
            </a:r>
            <a:r>
              <a:rPr lang="fr-FR" dirty="0"/>
              <a:t> utilisent ces ressources.</a:t>
            </a:r>
          </a:p>
          <a:p>
            <a:r>
              <a:rPr lang="fr-FR" dirty="0"/>
              <a:t>Schéma simple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Web App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API App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BBB73-902F-066F-B1CB-B7F7A8E2B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106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99C1F-2F54-C667-2AEE-6CC57B77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1B38B-B613-3B00-866C-8F5009B7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25EAEF-82B0-DCCC-E200-BCC0FF52A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Les applications partagent les ressources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Toutes les applications dans le même plan utilisent :</a:t>
            </a:r>
          </a:p>
          <a:p>
            <a:r>
              <a:rPr lang="fr-FR" dirty="0"/>
              <a:t>les </a:t>
            </a:r>
            <a:r>
              <a:rPr lang="fr-FR" b="1" dirty="0"/>
              <a:t>mêmes VM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mêmes ressources CPU/RAM</a:t>
            </a:r>
            <a:endParaRPr lang="fr-FR" dirty="0"/>
          </a:p>
          <a:p>
            <a:r>
              <a:rPr lang="fr-FR" dirty="0"/>
              <a:t>Conséquence importante :</a:t>
            </a:r>
          </a:p>
          <a:p>
            <a:r>
              <a:rPr lang="fr-FR" dirty="0"/>
              <a:t>Si une application consomme beaucoup de CPU :</a:t>
            </a:r>
          </a:p>
          <a:p>
            <a:r>
              <a:rPr lang="fr-FR" dirty="0"/>
              <a:t>➡️ cela peut </a:t>
            </a:r>
            <a:r>
              <a:rPr lang="fr-FR" b="1" dirty="0"/>
              <a:t>impacter les autres applications du plan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073911-4683-D87A-A0E5-4C5D4F6CE2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6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4AAD6-70F0-60AB-D4B3-05B8888A0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1F9DFE-0164-5384-6A3F-7F5B04BFA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2F60B-5BFF-0C15-80E1-679B0E95C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1 — Dans l’App Service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 err="1"/>
              <a:t>scaling</a:t>
            </a:r>
            <a:r>
              <a:rPr lang="fr-FR" b="1" dirty="0"/>
              <a:t> appartient au plan</a:t>
            </a:r>
            <a:r>
              <a:rPr lang="fr-FR" dirty="0"/>
              <a:t>, pas à l’application.</a:t>
            </a:r>
          </a:p>
          <a:p>
            <a:r>
              <a:rPr lang="fr-FR" dirty="0"/>
              <a:t>Lorsque vous augmentez les instances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Instances : 3</a:t>
            </a:r>
          </a:p>
          <a:p>
            <a:r>
              <a:rPr lang="fr-FR" dirty="0"/>
              <a:t>Toutes les apps du plan utilisent ces 3 instances.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82B2F-EEF6-9653-A0FF-104389052A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504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8C0DE-FB46-1CC0-24C8-6F5FF675E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CA17B-ECD0-AEFA-4A5E-A2EC15FAD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778FA-CF42-FD84-E4F6-2052179C1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Dans l’App Service Plan qui héberge les applications</a:t>
            </a:r>
            <a:endParaRPr lang="fr-FR" dirty="0"/>
          </a:p>
          <a:p>
            <a:br>
              <a:rPr lang="fr-FR" dirty="0"/>
            </a:br>
            <a:endParaRPr lang="fr-FR" dirty="0"/>
          </a:p>
          <a:p>
            <a:r>
              <a:rPr lang="fr-FR" b="1" dirty="0"/>
              <a:t>Explication</a:t>
            </a:r>
          </a:p>
          <a:p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le </a:t>
            </a:r>
            <a:r>
              <a:rPr lang="fr-FR" b="1" dirty="0" err="1"/>
              <a:t>scaling</a:t>
            </a:r>
            <a:r>
              <a:rPr lang="fr-FR" b="1" dirty="0"/>
              <a:t> appartient à l’App Service Plan</a:t>
            </a:r>
            <a:r>
              <a:rPr lang="fr-FR" dirty="0"/>
              <a:t>, car c’est lui qui définit :</a:t>
            </a:r>
          </a:p>
          <a:p>
            <a:r>
              <a:rPr lang="fr-FR" dirty="0"/>
              <a:t>la puissance </a:t>
            </a:r>
            <a:r>
              <a:rPr lang="fr-FR" b="1" dirty="0"/>
              <a:t>CPU</a:t>
            </a:r>
            <a:endParaRPr lang="fr-FR" dirty="0"/>
          </a:p>
          <a:p>
            <a:r>
              <a:rPr lang="fr-FR" dirty="0"/>
              <a:t>la </a:t>
            </a:r>
            <a:r>
              <a:rPr lang="fr-FR" b="1" dirty="0"/>
              <a:t>RAM</a:t>
            </a:r>
            <a:endParaRPr lang="fr-FR" dirty="0"/>
          </a:p>
          <a:p>
            <a:r>
              <a:rPr lang="fr-FR" dirty="0"/>
              <a:t>le </a:t>
            </a:r>
            <a:r>
              <a:rPr lang="fr-FR" b="1" dirty="0"/>
              <a:t>nombre d’instances</a:t>
            </a:r>
            <a:endParaRPr lang="fr-FR" dirty="0"/>
          </a:p>
          <a:p>
            <a:r>
              <a:rPr lang="fr-FR" dirty="0"/>
              <a:t>les règles </a:t>
            </a:r>
            <a:r>
              <a:rPr lang="fr-FR" b="1" dirty="0"/>
              <a:t>d’auto-</a:t>
            </a:r>
            <a:r>
              <a:rPr lang="fr-FR" b="1" dirty="0" err="1"/>
              <a:t>scaling</a:t>
            </a:r>
            <a:endParaRPr lang="fr-FR" dirty="0"/>
          </a:p>
          <a:p>
            <a:r>
              <a:rPr lang="fr-FR" dirty="0"/>
              <a:t>Les applications ne font qu’utiliser ces ressources.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1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├── Instance 2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Instance 3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│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A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├── Web App B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└── Web App C</a:t>
            </a:r>
          </a:p>
          <a:p>
            <a:r>
              <a:rPr lang="fr-FR" dirty="0"/>
              <a:t>Si l’App Service Plan passe de </a:t>
            </a:r>
            <a:r>
              <a:rPr lang="fr-FR" b="1" dirty="0"/>
              <a:t>1 à 3 instances</a:t>
            </a:r>
            <a:r>
              <a:rPr lang="fr-FR" dirty="0"/>
              <a:t>, alors </a:t>
            </a:r>
            <a:r>
              <a:rPr lang="fr-FR" b="1" dirty="0"/>
              <a:t>toutes les Web Apps du plan utilisent ces 3 instances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C0745-1AA2-7455-7F65-B1597556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6500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5854-195B-8106-B100-4FCEC5C6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EBC0B-FD08-29B3-8530-FCD710BC1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A8795-0F29-4E78-9E79-CE8CF5808B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Les applications sont supprimées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Les </a:t>
            </a:r>
            <a:r>
              <a:rPr lang="fr-FR" b="1" dirty="0"/>
              <a:t>App Services dépendent du plan</a:t>
            </a:r>
            <a:r>
              <a:rPr lang="fr-FR" dirty="0"/>
              <a:t>.</a:t>
            </a:r>
          </a:p>
          <a:p>
            <a:r>
              <a:rPr lang="fr-FR" dirty="0"/>
              <a:t>Si vous supprimez le plan :</a:t>
            </a:r>
          </a:p>
          <a:p>
            <a:r>
              <a:rPr lang="fr-FR" dirty="0"/>
              <a:t>➡️ toutes les applications qu’il héberge sont supprimées.</a:t>
            </a:r>
          </a:p>
          <a:p>
            <a:r>
              <a:rPr lang="fr-FR" dirty="0"/>
              <a:t>C’est une dépendance forte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└── Web App</a:t>
            </a:r>
          </a:p>
          <a:p>
            <a:r>
              <a:rPr lang="fr-FR" dirty="0"/>
              <a:t>Supprimer le plan = supprimer l’infrastructure + les apps.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C04DC1-727B-5A8D-02F0-B5C1F3B542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4617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9839B-7D70-06D1-EF74-FA0B6112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EA915-1966-182D-A9FB-3508098937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04711-8387-D01F-6F10-30A2E6D29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2 — Réduire les coûts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 </a:t>
            </a:r>
            <a:r>
              <a:rPr lang="fr-FR" b="1" dirty="0"/>
              <a:t>App Service Plan est facturé indépendamment du nombre d’applications</a:t>
            </a:r>
            <a:r>
              <a:rPr lang="fr-FR" dirty="0"/>
              <a:t>.</a:t>
            </a:r>
          </a:p>
          <a:p>
            <a:r>
              <a:rPr lang="fr-FR" dirty="0"/>
              <a:t>Donc :</a:t>
            </a:r>
          </a:p>
          <a:p>
            <a:pPr lvl="1"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App Service Plan = payé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ou 10 Web Apps = même prix</a:t>
            </a:r>
          </a:p>
          <a:p>
            <a:r>
              <a:rPr lang="fr-FR" dirty="0"/>
              <a:t>C’est une technique classique pour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environnements de test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petits projets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microservices</a:t>
            </a:r>
            <a:r>
              <a:rPr lang="fr-FR" dirty="0"/>
              <a:t> légers</a:t>
            </a:r>
          </a:p>
          <a:p>
            <a:r>
              <a:rPr lang="fr-FR" dirty="0"/>
              <a:t>Mais attention :</a:t>
            </a:r>
          </a:p>
          <a:p>
            <a:r>
              <a:rPr lang="fr-FR" dirty="0"/>
              <a:t>➡️ </a:t>
            </a:r>
            <a:r>
              <a:rPr lang="fr-FR" b="1" dirty="0"/>
              <a:t>les ressources sont partagées</a:t>
            </a:r>
            <a:r>
              <a:rPr lang="fr-FR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F30E8-43DE-CAD2-B503-FFDB1AABCF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662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58440-0C10-CA60-EFC6-060E1DF4E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0464C-EC31-2466-0492-830DFF18B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A6F7A-9C50-D1F6-1039-E49F664CF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3 — Une Web App doit être associée à un plan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/>
              <a:t>Web App ne peut pas exister sans App Service Plan</a:t>
            </a:r>
            <a:r>
              <a:rPr lang="fr-FR" dirty="0"/>
              <a:t>, car le plan fournit :</a:t>
            </a:r>
          </a:p>
          <a:p>
            <a:r>
              <a:rPr lang="fr-FR" dirty="0"/>
              <a:t>les VM</a:t>
            </a:r>
          </a:p>
          <a:p>
            <a:r>
              <a:rPr lang="fr-FR" dirty="0"/>
              <a:t>la puissance de calcul</a:t>
            </a:r>
          </a:p>
          <a:p>
            <a:r>
              <a:rPr lang="fr-FR" dirty="0"/>
              <a:t>les ressources réseau</a:t>
            </a:r>
          </a:p>
          <a:p>
            <a:r>
              <a:rPr lang="fr-FR" dirty="0"/>
              <a:t>Relation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 Plan (infrastructure)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Web App (application)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8080ED-DF70-50D1-BD9B-D99AF57F3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26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DA5BD-262C-C208-C3E8-2120C0F2C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41042-D874-48B1-06B6-6841312C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311-7C4F-6E3E-DFBA-11621DE7BE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DB447-5892-69DC-145C-C12CDE0A88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579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E003E-2F6E-7194-0251-4559B6EC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99335-A3D6-5660-7810-3E808325C3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120E-356F-6746-82B5-DCF168929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App Service Plan, </a:t>
            </a:r>
            <a:r>
              <a:rPr lang="en-US" dirty="0" err="1"/>
              <a:t>aller</a:t>
            </a:r>
            <a:r>
              <a:rPr lang="en-US" dirty="0"/>
              <a:t> dans Settings / Scale up / </a:t>
            </a:r>
            <a:r>
              <a:rPr lang="en-US" dirty="0" err="1"/>
              <a:t>basculer</a:t>
            </a:r>
            <a:r>
              <a:rPr lang="en-US" dirty="0"/>
              <a:t> de </a:t>
            </a:r>
            <a:r>
              <a:rPr lang="en-US" dirty="0" err="1"/>
              <a:t>l’onglet</a:t>
            </a:r>
            <a:r>
              <a:rPr lang="en-US" dirty="0"/>
              <a:t> “Hardware view” à </a:t>
            </a:r>
            <a:r>
              <a:rPr lang="en-US" dirty="0" err="1"/>
              <a:t>l’onglet</a:t>
            </a:r>
            <a:r>
              <a:rPr lang="en-US" dirty="0"/>
              <a:t> “Feature view”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B373C-C25A-7C4B-B87D-3E74DF7610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31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DD9EF-DC3D-CF9D-BBE0-A80E14E42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69B012-D1DC-DE58-9E9B-E22566BF3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06DA6-8B28-D2A4-CA78-4CA77FB21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Réponse : A</a:t>
            </a:r>
            <a:endParaRPr lang="fr-FR" dirty="0"/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 Service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→ Configuration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 → Application Settings</a:t>
            </a:r>
          </a:p>
          <a:p>
            <a:r>
              <a:rPr lang="fr-FR" dirty="0"/>
              <a:t>Ces paramètres deviennent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Variables</a:t>
            </a:r>
          </a:p>
          <a:p>
            <a:r>
              <a:rPr lang="fr-FR" dirty="0"/>
              <a:t>Dans 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Environment.GetEnvironmentVariable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")</a:t>
            </a:r>
          </a:p>
          <a:p>
            <a:r>
              <a:rPr lang="fr-FR" dirty="0"/>
              <a:t>Ou via configuration ASP.NET :</a:t>
            </a:r>
          </a:p>
          <a:p>
            <a:pPr rtl="0"/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builder.Configuration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["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MySetting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"]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B8A5F-8E05-DA3F-B595-13BD958991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3668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7FDF6-D79F-F365-8A29-418EAC9CA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47F56-E493-DE4D-94FD-747F7E97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EC09-45FE-E303-D1BB-46E1AA132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169B1-B911-C4DB-D82A-6E64BB8906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345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75D-BAAB-1074-4012-A659AD4F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839074-5B01-DD87-09E6-89273C5B0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2603-C8B4-FEFD-ABF1-6037D7E58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3134-AA21-D084-CCE7-AD96E5924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391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05CC1-2F16-76D5-973B-A988202DB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A10B18-FFB5-6095-1992-F068E30942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A989DB-2C86-0640-B025-63B68805A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C79B5-9242-A2C7-FD5A-924BA70F3D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4597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9BF3-9ECD-067B-745E-065F95B35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DE166-D1FC-1660-7048-C663341F2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42373-6022-CB75-F9C9-F066A4DF0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E61A5-2E42-E1AF-12FA-07DD4E0E0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646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97FB7-AC76-3ABE-0731-33FC4577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BC1418-73F5-2576-BA04-6B304BD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29A0E9-51D6-BC55-CEB0-BE719F0DD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511AF-EA25-8E63-7BBD-EA30A8CE94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5557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5AA2E-B6C6-6022-AA41-F1A3357B6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1E7D59-4EBB-8F17-E7E9-A553FE184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25077-0E15-EDF3-D81D-D6E120D6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27E90-2F13-9304-A98D-F116E4E28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532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0707F-962C-DF50-715F-AD06BD0E7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F51CC-180A-FB77-2BAB-B445FD69D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05A38-27B5-A6A8-5821-E26B3C80D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BBBD4C-B40A-A2DD-437D-AB1312B52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71722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F54C7-4C6B-E594-25C8-50E1575D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49871-9C4D-ECB0-24D4-8F94B34B76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AD0B8-9AB9-2C90-3F4F-5EFA86FD5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24E8D-FCF3-7143-533F-5BFA2A0743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3658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30185-9452-D4CB-1EBA-6E73C0A71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8C9D0E-569C-49CD-8F06-E0572851C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2D5FEC-4212-AA4A-0851-BF94F0D9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Azure Key Vault</a:t>
            </a:r>
            <a:endParaRPr lang="fr-FR" dirty="0"/>
          </a:p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r>
              <a:rPr lang="fr-FR" dirty="0"/>
              <a:t>Avec :</a:t>
            </a:r>
          </a:p>
          <a:p>
            <a:r>
              <a:rPr lang="fr-FR" dirty="0"/>
              <a:t>accès via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endParaRPr lang="fr-FR" dirty="0"/>
          </a:p>
          <a:p>
            <a:r>
              <a:rPr lang="fr-FR" dirty="0"/>
              <a:t>rotation possible</a:t>
            </a:r>
          </a:p>
          <a:p>
            <a:r>
              <a:rPr lang="fr-FR" dirty="0"/>
              <a:t>audit</a:t>
            </a:r>
          </a:p>
          <a:p>
            <a:r>
              <a:rPr lang="fr-FR" dirty="0"/>
              <a:t>❌ Mauvaises réponses :</a:t>
            </a:r>
          </a:p>
          <a:p>
            <a:r>
              <a:rPr lang="fr-FR" dirty="0"/>
              <a:t>Storage : pas sécurisé pour secrets</a:t>
            </a:r>
          </a:p>
          <a:p>
            <a:r>
              <a:rPr lang="fr-FR" dirty="0"/>
              <a:t>App Configuration : configuration simple</a:t>
            </a:r>
          </a:p>
          <a:p>
            <a:r>
              <a:rPr lang="fr-FR" dirty="0"/>
              <a:t>Azure Monitor : monitoring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215D-9163-CEC6-428B-97001CC67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14510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F00B-FEAD-77EC-9923-FA23BDAE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5E717-DE6F-D0CF-EA34-B1D3A789B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283F1-18F6-3C5D-2078-20B6BDF91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042D9-A0B4-3A6A-96A8-9FFFE2D7E3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82800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04ED-94E4-1867-564E-201BCB2F2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F44049-E1DA-54CD-E9F8-D83B18F76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6D409-60D9-3B6F-B8D4-73D9BCE84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DF17B-EA51-08D5-DDC7-92ABAB7887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2220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A6B31-DCAF-1A60-E885-E6F320C4D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A0019-6992-E605-7C01-2203CE1F5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2BDA89-9249-2286-EB84-E8915C58A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B9B68-66BB-CC88-BD04-D95D0DF90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0049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3DC5-9141-32A4-30C7-665FC11E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2C5DAB-FF66-3EED-9AB3-54A5A4FA7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44E36-B03C-2D28-C8FD-2CBAAE9F6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Réponse 2 :</a:t>
            </a:r>
          </a:p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:</a:t>
            </a:r>
          </a:p>
          <a:p>
            <a:r>
              <a:rPr lang="fr-FR" dirty="0"/>
              <a:t>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endParaRPr lang="fr-FR" dirty="0"/>
          </a:p>
          <a:p>
            <a:r>
              <a:rPr lang="fr-FR" dirty="0"/>
              <a:t>connecter un service PaaS (SQL, Storage, Key Vault…) </a:t>
            </a:r>
            <a:r>
              <a:rPr lang="fr-FR" b="1" dirty="0"/>
              <a:t>sans exposition publique</a:t>
            </a:r>
            <a:endParaRPr lang="fr-FR" dirty="0"/>
          </a:p>
          <a:p>
            <a:r>
              <a:rPr lang="fr-FR" dirty="0"/>
              <a:t>La base de données devient accessible uniquement via ce réseau privé.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BB473-AF0C-EABD-0556-C44D0F4970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77014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C348A-149C-34B0-ACB8-485A18555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1F4A9-A25A-D661-3189-63C605084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FFB95-8693-EEF4-EBFC-BD30D26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ADECB-B89A-643F-426E-A8E2F8296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7037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7A671-F9B6-CA40-A73E-82B777DAB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55C9A-1288-8D8D-0CEB-84E07F8A7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D1992A-D4A2-F0DA-06DB-1F7A625075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✅ </a:t>
            </a:r>
            <a:r>
              <a:rPr lang="fr-FR" b="1" dirty="0"/>
              <a:t>Réponse : C — </a:t>
            </a:r>
            <a:r>
              <a:rPr lang="fr-FR" b="1" dirty="0" err="1"/>
              <a:t>Managed</a:t>
            </a:r>
            <a:r>
              <a:rPr lang="fr-FR" b="1" dirty="0"/>
              <a:t> Identity + Azure AD</a:t>
            </a:r>
            <a:endParaRPr lang="fr-FR" dirty="0"/>
          </a:p>
          <a:p>
            <a:r>
              <a:rPr lang="fr-FR" b="1" dirty="0"/>
              <a:t>Explication</a:t>
            </a:r>
            <a:endParaRPr lang="fr-FR" dirty="0"/>
          </a:p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  <a:p>
            <a:r>
              <a:rPr lang="fr-FR" dirty="0"/>
              <a:t>L’application obtient un </a:t>
            </a:r>
            <a:r>
              <a:rPr lang="fr-FR" b="1" dirty="0" err="1"/>
              <a:t>token</a:t>
            </a:r>
            <a:r>
              <a:rPr lang="fr-FR" b="1" dirty="0"/>
              <a:t> Azure AD</a:t>
            </a:r>
            <a:r>
              <a:rPr lang="fr-FR" dirty="0"/>
              <a:t>.</a:t>
            </a:r>
          </a:p>
          <a:p>
            <a:r>
              <a:rPr lang="fr-FR" dirty="0"/>
              <a:t>Schéma :</a:t>
            </a:r>
          </a:p>
          <a:p>
            <a:pPr rtl="0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Web App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Managed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Identity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AD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↓</a:t>
            </a:r>
            <a:b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</a:b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Azure SQL</a:t>
            </a:r>
          </a:p>
          <a:p>
            <a:r>
              <a:rPr lang="fr-FR" dirty="0"/>
              <a:t>❌ Mauvaises réponses :</a:t>
            </a:r>
          </a:p>
          <a:p>
            <a:r>
              <a:rPr lang="fr-FR" b="1" dirty="0" err="1"/>
              <a:t>appsettings.json</a:t>
            </a:r>
            <a:r>
              <a:rPr lang="fr-FR" dirty="0"/>
              <a:t> → mot de passe exposé</a:t>
            </a:r>
          </a:p>
          <a:p>
            <a:r>
              <a:rPr lang="fr-FR" b="1" dirty="0"/>
              <a:t>variables d’environnement</a:t>
            </a:r>
            <a:r>
              <a:rPr lang="fr-FR" dirty="0"/>
              <a:t> → secret toujours stocké</a:t>
            </a:r>
          </a:p>
          <a:p>
            <a:r>
              <a:rPr lang="fr-FR" b="1" dirty="0"/>
              <a:t>Blob Storage</a:t>
            </a:r>
            <a:r>
              <a:rPr lang="fr-FR" dirty="0"/>
              <a:t> → totalement incorrect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038A4-0C72-E1B3-CFD3-BA855CDFF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3645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9C9A0-B24E-9685-F8AE-60A52AE1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B1BAD-0EF0-A307-55A6-03407BC7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39BBA4-7726-4CE3-5609-A0F84274C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6E5D58-ADE6-0987-9F58-419D4FD551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830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8016-C08B-0859-3B4E-B4E7E3536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67980-5449-D581-A920-776440C98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97B68-C931-D587-6E22-7E2D56BFE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F2B98-ECF5-5108-2C92-0C312D086F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44602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080E-88C9-A6F1-2595-BC875289B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B65F8-B6FB-ED08-DE40-324C6B6F08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D2060-50E3-64E3-D591-D3BCBC99C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4A9D-2077-6EAB-B505-ACF87EBB2F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5331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F7EB-7ABA-46C5-564D-483CF668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EA0A48-F910-0587-F6F1-990B90974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A7A2E0-36DA-E088-01B0-E93F23D3F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918566-1C61-00C6-436E-D1B84D5C8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562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2ABEF-5988-B818-6283-DD292C301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84CAD8-279B-92E0-9F72-D2D7F7A6A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FF33D-C053-4B61-D571-206E52895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BAFB1-3728-B601-A572-A1C6512178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5964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BA322-29F7-028E-551F-12BE9D2B5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EFD83-AB20-8B38-C108-5F3F5048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E551-6129-ACC5-4F29-8ED54D0DF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0E44E-0FF6-7730-05D4-7067F3AAC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495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B63F3-9198-7921-75A1-12BECBB91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BD396-9D2B-A066-90CF-5E9B44F55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A57FD8-98E0-B12F-7CFC-EB4FE3068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8DFD5-CACE-5BE0-37BC-A8DD81266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0198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EC5E-6133-D6D2-4010-7EF8E54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4082A-D0F5-FACE-F887-DD76DBD1A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9C974-EDA5-4CEF-2F1C-8B3ADD7C0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24EA5-496F-A5B7-4180-D5D73A2C83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5099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F530-87B0-41BF-F920-A6F62B05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41C04-2FDE-2CC1-6496-D83C35D89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7BAC1-AA9C-0E97-04EC-4EB19BBB7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89144-AC75-826A-B054-FF91EBD4FE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2466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EE269-D92D-FB5D-12DE-68A52E9C3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8D74-AADB-8076-8F1E-0A2814822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B0A4DB-3767-0D4F-64E7-BB42286F4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310C6-B4F7-6176-572C-3287C0563F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49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AC9B-5283-06A0-055F-58697B772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5D386-7CD2-F4F5-7C02-D72243FA3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9FCA-F853-37E8-2FD3-63B722BE8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3BFE65-AA56-05C4-9F72-51B044D900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82349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9ED0-B88A-8664-4E25-F08CAD163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45C5B6-D2F1-09CA-5177-F460E6251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7F32E-336E-F251-B3A3-050F15E80C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6CD34-4A42-56B5-05D7-FDA1244C9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96781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AD46-1B82-3AFF-28D0-1819FD2AD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9DEC2E-0586-92AC-D32E-7035DF30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5CE16-D586-041F-586F-CA3DC148C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7D046-9F49-170D-2BFB-9F8D5EC4A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1491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93777-EA68-B3A2-2977-FC664972D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D5770-EF98-E649-36C6-0A5485E57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CDF152-5E31-75DF-9453-1958BA5D8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D871-3399-0B1E-625D-B8B6C212C6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933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CF99F-7024-4456-6A62-D9A6F959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D9F7E5-A855-5DE0-93A2-EF6C5355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E035C-0445-C0C3-5712-6BDF18E7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7A3CC-6040-9011-F41E-8402848FB0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46460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956A-A042-454F-EA2B-F7286D6F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7A5EB-F777-9414-1B2E-E3FBC3D7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CFA0D-8C36-CF3E-ACB6-4DB834384D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D16CB-89A3-F802-3C87-B90B1E057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4902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85123-307D-6D32-0874-881A464A4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20CE4-17AD-306A-31A4-5348E5ECCC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BADF8-7ACF-91E0-7BCB-E6FF9AFF5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8CE8B-36E0-7E45-ACCC-F08B1AF785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38208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4503-FDC1-7F2A-E40C-D0FFFE1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B96DD-E830-2C41-4DD5-BBFE0B7A0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02FE2-BB2A-B878-16C3-C4CA5448C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B4019-62C4-0480-61FE-E74E450447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02391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6902F-4FBB-81BE-824B-741CE68CE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7EBF8-C20A-9517-BF77-62C9A18F0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D9617-0862-ADFC-2BF8-1AEA3F85EE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74ED7-E759-0770-9A21-D469BA0D67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494684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B015B-B4DC-DC4B-1BAB-83E1CA23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F602B2-D64B-FE3C-3834-6F96C781F7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91A0BF-26ED-141C-AE33-D87FCB6F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C51B0-CEE2-8E12-DEA9-D4C951E645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288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8E8B1-AA02-96BB-EB30-5394053A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24E25B-0944-7238-A792-1AA1EDBB7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E43BB-D6EE-F7E1-D7E4-A57E066244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C48B0-66A6-FF81-B1F8-A1B5FEFB6E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3173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53501-893D-E4E4-4556-0B49BF70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8E241-DDDC-CC40-E949-19D7797E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F2AADF-B36F-BC46-71C9-8EFAE83EA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EDD3-21F9-676D-2517-5B877C9D8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50041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C5AA-7945-77EA-F764-C55EB2F13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605FE0-FB6B-8597-B744-86B8EF7AE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FC0740-C77A-23F1-396D-D82BF30AE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B6154-9DEA-7BFA-C6DF-D45A628FBA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477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B7C2-DF05-547E-067E-83E1E569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126FFE-033F-2934-4507-00690F43F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22560-851F-6364-3BFE-F036F4B0F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settings – Formation </a:t>
            </a:r>
            <a:r>
              <a:rPr lang="en-US" dirty="0" err="1"/>
              <a:t>pluralsight</a:t>
            </a:r>
            <a:endParaRPr lang="en-US" dirty="0"/>
          </a:p>
          <a:p>
            <a:r>
              <a:rPr lang="en-US" dirty="0"/>
              <a:t>Mais je ne les </a:t>
            </a:r>
            <a:r>
              <a:rPr lang="en-US" dirty="0" err="1"/>
              <a:t>trouve</a:t>
            </a:r>
            <a:r>
              <a:rPr lang="en-US" dirty="0"/>
              <a:t> pas </a:t>
            </a:r>
            <a:r>
              <a:rPr lang="en-US" dirty="0" err="1"/>
              <a:t>ces</a:t>
            </a:r>
            <a:r>
              <a:rPr lang="en-US" dirty="0"/>
              <a:t> scale settings au </a:t>
            </a:r>
            <a:r>
              <a:rPr lang="en-US" dirty="0" err="1"/>
              <a:t>niveua</a:t>
            </a:r>
            <a:r>
              <a:rPr lang="en-US" dirty="0"/>
              <a:t> du slot. </a:t>
            </a:r>
            <a:r>
              <a:rPr lang="en-US" dirty="0" err="1"/>
              <a:t>C’est</a:t>
            </a:r>
            <a:r>
              <a:rPr lang="en-US" dirty="0"/>
              <a:t> au </a:t>
            </a:r>
            <a:r>
              <a:rPr lang="en-US" dirty="0" err="1"/>
              <a:t>niveau</a:t>
            </a:r>
            <a:r>
              <a:rPr lang="en-US" dirty="0"/>
              <a:t> du plan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donc</a:t>
            </a:r>
            <a:r>
              <a:rPr lang="en-US" dirty="0">
                <a:sym typeface="Wingdings" panose="05000000000000000000" pitchFamily="2" charset="2"/>
              </a:rPr>
              <a:t> non </a:t>
            </a:r>
            <a:r>
              <a:rPr lang="en-US" dirty="0" err="1">
                <a:sym typeface="Wingdings" panose="05000000000000000000" pitchFamily="2" charset="2"/>
              </a:rPr>
              <a:t>partageable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>
                <a:sym typeface="Wingdings" panose="05000000000000000000" pitchFamily="2" charset="2"/>
              </a:rPr>
              <a:t>entre slots….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B7436-CDB7-4E8B-B201-493D7FC937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836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86452-21BC-DA00-5DEF-675314F0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DD137-EA68-651E-E6F2-7BE4E49509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F5BB27-DA4A-0ADC-FF2C-7BD7460B4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E123B-E4A3-7903-DD79-50AC8F91F2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8969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F180-4C56-A025-1F29-AA8F9DD3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B5DEC-2532-E05F-4A70-19D5027E4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25C523-4BEA-FBBA-C742-C17DE188B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07D0E-3417-279F-D0C1-FB1A904B9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160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A66F6-C618-DE0C-EAF7-1FBDC118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A3723-EEB9-80F8-7929-5D9339CB1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6600F-FCA7-6C3F-0FC1-D3E0D1516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4AB33-B81E-18FA-24FF-D1962945AF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18837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0BEC-1F2B-F79F-BDA0-AA04A7CF3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7F4DC7-E988-19A8-3A47-5DEF9193E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12C7D-CFDA-E7B8-962B-B880EF3C3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088CE-37C8-C847-AC90-168462E6C2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2FF7759-803D-4F76-9AEC-98B2D9A07B0D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6094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533400" y="1500426"/>
            <a:ext cx="74771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Microsoft</a:t>
            </a:r>
            <a:r>
              <a:rPr lang="en-US" baseline="1000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®</a:t>
            </a:r>
            <a:r>
              <a:rPr lang="en-US" sz="44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 </a:t>
            </a: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 Light" pitchFamily="34" charset="0"/>
                <a:ea typeface="Segoe UI" pitchFamily="34" charset="0"/>
                <a:cs typeface="Segoe UI" pitchFamily="34" charset="0"/>
              </a:rPr>
              <a:t>Official Course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3" name="Picture 2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5758770"/>
            <a:ext cx="2590800" cy="95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ynamics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14177" y="2514600"/>
            <a:ext cx="9144000" cy="25146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0" hasCustomPrompt="1"/>
          </p:nvPr>
        </p:nvSpPr>
        <p:spPr>
          <a:xfrm>
            <a:off x="3108233" y="2514600"/>
            <a:ext cx="5687423" cy="137160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400" baseline="0">
                <a:solidFill>
                  <a:schemeClr val="bg1"/>
                </a:solidFill>
                <a:latin typeface="Segoe UI Light" pitchFamily="34" charset="0"/>
              </a:defRPr>
            </a:lvl1pPr>
          </a:lstStyle>
          <a:p>
            <a:pPr lvl="0"/>
            <a:r>
              <a:rPr lang="en-US" dirty="0"/>
              <a:t>&lt;Number&gt;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11" hasCustomPrompt="1"/>
          </p:nvPr>
        </p:nvSpPr>
        <p:spPr>
          <a:xfrm>
            <a:off x="3108233" y="3886200"/>
            <a:ext cx="5638800" cy="1143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Course title starts here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93478"/>
            <a:ext cx="4710223" cy="1016322"/>
          </a:xfrm>
          <a:prstGeom prst="rect">
            <a:avLst/>
          </a:prstGeom>
        </p:spPr>
      </p:pic>
      <p:pic>
        <p:nvPicPr>
          <p:cNvPr id="10" name="Picture 9"/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514600"/>
            <a:ext cx="3063240" cy="25146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5998843"/>
            <a:ext cx="1814119" cy="694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dule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-293914" y="-76200"/>
            <a:ext cx="9448800" cy="7239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2286000" y="2514600"/>
            <a:ext cx="6858000" cy="881743"/>
          </a:xfrm>
          <a:prstGeom prst="rect">
            <a:avLst/>
          </a:prstGeom>
          <a:solidFill>
            <a:srgbClr val="339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14"/>
          <p:cNvSpPr>
            <a:spLocks noGrp="1"/>
          </p:cNvSpPr>
          <p:nvPr>
            <p:ph type="body" sz="quarter" idx="11" hasCustomPrompt="1"/>
          </p:nvPr>
        </p:nvSpPr>
        <p:spPr>
          <a:xfrm>
            <a:off x="2590800" y="2514600"/>
            <a:ext cx="5638800" cy="88174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&lt;Number&gt;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type="body" sz="quarter" idx="12" hasCustomPrompt="1"/>
          </p:nvPr>
        </p:nvSpPr>
        <p:spPr>
          <a:xfrm>
            <a:off x="2590800" y="3505200"/>
            <a:ext cx="5624732" cy="14325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Module title starts here</a:t>
            </a:r>
          </a:p>
        </p:txBody>
      </p:sp>
    </p:spTree>
    <p:extLst>
      <p:ext uri="{BB962C8B-B14F-4D97-AF65-F5344CB8AC3E}">
        <p14:creationId xmlns:p14="http://schemas.microsoft.com/office/powerpoint/2010/main" val="2043426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pt Slide 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6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118172318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pt Slid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28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28 </a:t>
            </a:r>
            <a:r>
              <a:rPr lang="en-US" dirty="0" err="1"/>
              <a:t>pt</a:t>
            </a:r>
            <a:r>
              <a:rPr lang="en-US" dirty="0"/>
              <a:t> Slide Title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105400"/>
          </a:xfrm>
          <a:prstGeom prst="rect">
            <a:avLst/>
          </a:prstGeom>
        </p:spPr>
        <p:txBody>
          <a:bodyPr/>
          <a:lstStyle>
            <a:lvl1pPr marL="457200" indent="-457200">
              <a:buClr>
                <a:srgbClr val="0070C0"/>
              </a:buClr>
              <a:buFont typeface="Arial" pitchFamily="34" charset="0"/>
              <a:buChar char="•"/>
              <a:defRPr sz="2800" b="0"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>
              <a:buClr>
                <a:srgbClr val="0070C0"/>
              </a:buClr>
              <a:buFont typeface="Arial" pitchFamily="34" charset="0"/>
              <a:buChar char="•"/>
              <a:defRPr sz="2400" b="0"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>
              <a:buClr>
                <a:srgbClr val="0070C0"/>
              </a:buClr>
              <a:buFont typeface="Arial" pitchFamily="34" charset="0"/>
              <a:buChar char="•"/>
              <a:defRPr sz="2000" b="0"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78192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57200" y="6324600"/>
            <a:ext cx="28956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0"/>
            <a:ext cx="8229600" cy="822960"/>
          </a:xfrm>
        </p:spPr>
        <p:txBody>
          <a:bodyPr>
            <a:noAutofit/>
          </a:bodyPr>
          <a:lstStyle>
            <a:lvl1pPr algn="l">
              <a:defRPr sz="3200" baseline="0"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32pt Slide Title</a:t>
            </a:r>
          </a:p>
        </p:txBody>
      </p:sp>
    </p:spTree>
    <p:extLst>
      <p:ext uri="{BB962C8B-B14F-4D97-AF65-F5344CB8AC3E}">
        <p14:creationId xmlns:p14="http://schemas.microsoft.com/office/powerpoint/2010/main" val="4148112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1244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324C148-24F1-41F5-970C-41FEDCA6B2A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EA98084-A671-46A0-B2EC-8516B91AD60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40A39FF-5444-401C-A581-ADB1CC1D5E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FA8906-AF34-440C-BFBB-705CB86ACE0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70507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9555515-9956-4FC1-8C2D-4D428829EE5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98E761-8537-427B-96FF-578922524A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A25831-B547-4A63-8FEF-2F4BCE4228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2C9F0FD-2524-4C02-97FF-89F3967057E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96006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4C75B5-74BA-4A51-A74D-576E9C1F4D2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BE28F64-90FB-4C99-852A-7D7A43A18A6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7027411-A961-443F-92DF-4A4BAC986A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CF6AC-F065-4692-B914-5AAA4B7E08D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269025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2BFCB4-9646-453F-A4E1-3AAE5B61BDB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CB5F0-9CAD-400C-9D52-9DC6AD4CBD7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61B043-85B2-4829-B53D-750F5517FE1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E2D5323-79DC-4C2E-895F-8534113BE10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38186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6366C242-33BD-4532-9A0D-052AA26D7B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82FC2383-CA76-4A9A-A5EC-B43C8B5BA5A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BB63B7C4-4863-460C-81C4-C56C0C9D1DD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7C9448-A597-498E-A12B-80A712961EAF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481016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EE9217B-D25D-4D92-8FF4-4B5069C6BA4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37E2AC7-2332-4EE2-9F99-598281B058C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3DE8EC76-5569-475F-82D1-278E78FC0E8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D762587-B5BD-4CD0-9BAF-E3651E0A5AA9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35631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48AB69AF-3C64-486F-8D15-8D641380769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B4E969B0-2219-4C82-9E26-4ECFEFF0640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FE54CBF-07C0-4147-A5FA-DF05EACDD3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4974C2-C79C-43FA-9941-3BE3A3A1B7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21086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010A09-860A-470B-9501-7AC74766A68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5D46C6-17A2-476A-8312-B906BFB406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AAF871-350A-4AB2-B4F4-96B456C6441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82F265-E5C1-47B7-B057-371ED82B50B5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51219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CA544-F359-4F8D-9FC0-9E1F32E3264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804D07-4242-4BDA-BA12-FBEC07FA880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183578-6148-4FE1-A1E9-E932EACD304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A8C3837-B7D4-4059-B8EC-9DDBF0572C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528727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87446A-16A6-4636-B21F-AE86B92C1C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5FF69104-128A-4E08-B56C-DB95ECC7B59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6511652-8C53-4FF1-A564-29D74FFF2B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7616B34-4443-40D3-A82A-3C954F1AD22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6551258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DFE1E3F-5C09-4791-A0C7-843B63C53E2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29132419-1654-4691-BB8C-1F19457993C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8E9D2C15-9B17-4FD2-8647-188965AEA0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A065F2D-3049-4DB4-BB32-A8EAB45B617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0165270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7BE8A06-E4A7-42EA-8E4B-B61D0C1F26A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26C18E8-FE49-4AD2-AEC6-F15CBB3DEFD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1D0F0EE-AABA-47AD-AEB1-E4419EE8C4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9574E9E-7BE5-4D5E-8C22-5A9716D17DE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8236155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35C41D-016B-4A94-8853-DE26ABC426E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EBFAA2-9154-47FB-B8AC-FC9ACA312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9432C8-7700-4928-AAC1-BC8D3EE9A7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53DEC21-18BB-4BC1-A9D7-D9E2DA18558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900699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 Black" pitchFamily="34" charset="0"/>
              </a:defRPr>
            </a:lvl1pPr>
          </a:lstStyle>
          <a:p>
            <a:r>
              <a:rPr lang="fr-FR"/>
              <a:t>Click to edit Master title style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fr-FR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49BA563-EEFE-467D-8C73-AFADB6549FE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920F562-923D-4D85-A7F7-1957683DBDA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1B00490-6141-4CC5-9C48-781889EFC2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7EA8CB1-6376-4D70-87EE-B4D02DEE580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307079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9BC0CA6-B5E6-428A-B1F2-7824CACD5DC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F4208E-D84B-4359-8C2C-14911A998DB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BEF47EE-3292-4466-B9C1-8A81776A4D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1C4DDA6-AB9C-47E3-8A51-C682D4D3351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5101856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87ABA99-C3A8-45CB-8359-CA9829CC8D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88A6C86-CC12-484E-BC3D-963CCC8967F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2EB5413-7F3E-4D2E-B75D-FD5D6761881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93BDB97-1276-4617-90A9-40959D192DB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2203976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6B2CE-E69E-4718-9F5F-82095A48F91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D99F0-E726-48AD-A4C8-1F96098A9C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911E19-7789-481C-91B3-7164896FDEA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6D0676-92AF-49ED-BFAD-C171DC05241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592911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13ECF250-EE90-441B-BC16-8E4271C1D3B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61ACFF6E-C9BC-4B64-A6C1-3B767E3FA5C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6AC76142-26AC-483D-91EF-09D009533D2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8DE57D2-804E-4E18-97B3-AB95A3F2A14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1751496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355731A-1132-4867-ADC9-075A83B15E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413FA85A-96A0-43A6-B6C6-37A86E2F9F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36A7F2F-2BE9-44AB-B713-A19EDDEDE6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79E7BD-0121-4053-95DD-F1DC82C26A2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773930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5C70DF6E-BEA3-4B36-A96F-C0F5A002128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CF120FD-025A-4CF9-B8F7-9A925E0A9A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AB9CD80-AB71-407E-9004-5597C26AAAF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15A7D9D-C01E-4524-B610-2A3CA90C5AF0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7892455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52658D-CAFC-4A96-BFF4-B544DDE482C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EA213-B973-4420-A8FB-123571404FB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BE85F9-80A7-447F-85B1-40C4E354CF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56C6600-73CF-45BB-89D1-0428DBC86EC8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5077254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786E98-3A8D-44C3-A672-31D2467D12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FD2B9B-7FB2-46BA-9B8A-8BFA5A6F8C2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BCDB6-F4A1-48E0-B738-21F2760F20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E1DDF0-C11E-4028-A5D5-A13A95AE584C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1496355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60FBFB39-CE4B-42AC-84C3-9224893D3AD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F160B69-943E-481D-A709-14FDA75414B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FEF13B0-8E98-4B43-B822-058F4854163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0EFA3B-549F-4C39-824E-40F9938D81B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366332548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add title</a:t>
            </a:r>
            <a:endParaRPr lang="fr-F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00FF322-87E2-4229-A717-A4AA9BB13D2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3E99CCA3-FDF9-40DA-BCF6-34C4A8DFC4D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306C7F-FC57-4E69-A3F9-DF0D6F7C7F5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31238A-C0E4-4E74-93A0-C735AFA3ADDD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46957824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267CAE9-6794-4AE6-AB3C-ABCA05EDD49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7DC1FBF2-7077-4885-8EA0-CAE2A1294EE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B737E24F-30E6-4B2C-84E0-A9366E1AF2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78178-68A3-4536-91FF-59BA6B3131A3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9191957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Title, 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C03EC6-0FB9-4A34-AE54-8771F4A09DF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8D16CC-FC7D-4982-91AE-250438B39DE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B9A2CF-D064-4BFB-9868-5166F794F7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78546-B504-43E4-AC7A-9E44B4D623D2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4041197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9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17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image" Target="../media/image8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image" Target="../media/image7.png"/><Relationship Id="rId2" Type="http://schemas.openxmlformats.org/officeDocument/2006/relationships/slideLayout" Target="../slideLayouts/slideLayout22.xml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image" Target="../media/image5.jpeg"/><Relationship Id="rId10" Type="http://schemas.openxmlformats.org/officeDocument/2006/relationships/slideLayout" Target="../slideLayouts/slideLayout30.xml"/><Relationship Id="rId19" Type="http://schemas.openxmlformats.org/officeDocument/2006/relationships/image" Target="../media/image9.png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69B7DB-8367-4EA5-BD31-DC3A1C807884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D814DA60-3BEE-4BCE-BEDB-E433FD970963}" type="slidenum">
              <a:rPr lang="en-US" smtClean="0"/>
              <a:pPr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04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  <p:sldLayoutId id="2147483661" r:id="rId5"/>
    <p:sldLayoutId id="2147483655" r:id="rId6"/>
    <p:sldLayoutId id="2147483693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1C1E9FEE-BFF8-4670-AEE1-F22F2887B2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1932A8BB-C93C-4BCC-B29A-4F9400449F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D084CC6D-5774-40B0-AB7F-1806EF179EF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B8761B40-5473-44D3-B816-AD85E3FCF08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29E4F431-D1D5-4892-AA74-284837B0B74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E0AAFADD-C5E7-4903-A3F5-D63422F713E6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1721207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1903DDD-0BE8-4107-BA61-325099D33E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title style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EE084D-0598-4073-A316-C5248A828B4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Click to edit Master text styles</a:t>
            </a:r>
          </a:p>
          <a:p>
            <a:pPr lvl="1"/>
            <a:r>
              <a:rPr lang="fr-FR" altLang="fr-FR"/>
              <a:t>Second level</a:t>
            </a:r>
          </a:p>
          <a:p>
            <a:pPr lvl="2"/>
            <a:r>
              <a:rPr lang="fr-FR" altLang="fr-FR"/>
              <a:t>Third level</a:t>
            </a:r>
          </a:p>
          <a:p>
            <a:pPr lvl="3"/>
            <a:r>
              <a:rPr lang="fr-FR" altLang="fr-FR"/>
              <a:t>Fourth level</a:t>
            </a:r>
          </a:p>
          <a:p>
            <a:pPr lvl="4"/>
            <a:r>
              <a:rPr lang="fr-FR" altLang="fr-FR"/>
              <a:t>Fifth level</a:t>
            </a:r>
          </a:p>
        </p:txBody>
      </p:sp>
      <p:sp>
        <p:nvSpPr>
          <p:cNvPr id="21508" name="Rectangle 4">
            <a:extLst>
              <a:ext uri="{FF2B5EF4-FFF2-40B4-BE49-F238E27FC236}">
                <a16:creationId xmlns:a16="http://schemas.microsoft.com/office/drawing/2014/main" id="{90AC327B-17FE-4F0F-83AC-E6276D526AB8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9" name="Rectangle 5">
            <a:extLst>
              <a:ext uri="{FF2B5EF4-FFF2-40B4-BE49-F238E27FC236}">
                <a16:creationId xmlns:a16="http://schemas.microsoft.com/office/drawing/2014/main" id="{65412E73-6693-499F-99FC-B1D2B29A7F2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10" name="Rectangle 6">
            <a:extLst>
              <a:ext uri="{FF2B5EF4-FFF2-40B4-BE49-F238E27FC236}">
                <a16:creationId xmlns:a16="http://schemas.microsoft.com/office/drawing/2014/main" id="{8B565E9B-DB8D-4D22-AF33-7492A45A71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D0EDA111-6C13-4FEC-8F31-1355B8513C9A}" type="slidenum">
              <a:rPr lang="fr-FR" altLang="fr-FR"/>
              <a:pPr/>
              <a:t>‹N°›</a:t>
            </a:fld>
            <a:endParaRPr lang="fr-FR" altLang="fr-FR"/>
          </a:p>
        </p:txBody>
      </p:sp>
    </p:spTree>
    <p:extLst>
      <p:ext uri="{BB962C8B-B14F-4D97-AF65-F5344CB8AC3E}">
        <p14:creationId xmlns:p14="http://schemas.microsoft.com/office/powerpoint/2010/main" val="2592115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 b="1">
          <a:solidFill>
            <a:srgbClr val="FFCC00"/>
          </a:solidFill>
          <a:latin typeface="Trebuchet MS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6"/>
        </a:buBlip>
        <a:defRPr sz="3400" b="1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7"/>
        </a:buBlip>
        <a:defRPr sz="3200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8"/>
        </a:buBlip>
        <a:defRPr sz="2800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90000"/>
        <a:buBlip>
          <a:blip r:embed="rId19"/>
        </a:buBlip>
        <a:defRPr sz="2400">
          <a:solidFill>
            <a:schemeClr val="bg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slide" Target="slide3.xml"/><Relationship Id="rId18" Type="http://schemas.openxmlformats.org/officeDocument/2006/relationships/slide" Target="slide45.xml"/><Relationship Id="rId3" Type="http://schemas.openxmlformats.org/officeDocument/2006/relationships/image" Target="../media/image11.png"/><Relationship Id="rId21" Type="http://schemas.openxmlformats.org/officeDocument/2006/relationships/slide" Target="slide73.xml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17" Type="http://schemas.openxmlformats.org/officeDocument/2006/relationships/slide" Target="slide34.xml"/><Relationship Id="rId2" Type="http://schemas.openxmlformats.org/officeDocument/2006/relationships/notesSlide" Target="../notesSlides/notesSlide2.xml"/><Relationship Id="rId16" Type="http://schemas.openxmlformats.org/officeDocument/2006/relationships/slide" Target="slide24.xml"/><Relationship Id="rId20" Type="http://schemas.openxmlformats.org/officeDocument/2006/relationships/slide" Target="slide6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slide" Target="slide15.xml"/><Relationship Id="rId10" Type="http://schemas.openxmlformats.org/officeDocument/2006/relationships/image" Target="../media/image18.png"/><Relationship Id="rId19" Type="http://schemas.openxmlformats.org/officeDocument/2006/relationships/slide" Target="slide52.xml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slide" Target="slide6.xml"/><Relationship Id="rId22" Type="http://schemas.openxmlformats.org/officeDocument/2006/relationships/slide" Target="slide9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azure/app-service/deploy-staging-slots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Az 204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Jean-Pierre Planas 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735547-7BE1-83C6-F465-926E38CCA1E4}"/>
              </a:ext>
            </a:extLst>
          </p:cNvPr>
          <p:cNvSpPr/>
          <p:nvPr/>
        </p:nvSpPr>
        <p:spPr>
          <a:xfrm>
            <a:off x="3203848" y="1412776"/>
            <a:ext cx="4536504" cy="86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326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AF7725-25BE-4580-A3E4-B653C07B3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Index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6981389-878A-4B8E-9A29-128B9284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4DA60-3BEE-4BCE-BEDB-E433FD970963}" type="slidenum">
              <a:rPr lang="en-US" smtClean="0"/>
              <a:pPr/>
              <a:t>2</a:t>
            </a:fld>
            <a:endParaRPr lang="en-US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518013280"/>
                  </p:ext>
                </p:extLst>
              </p:nvPr>
            </p:nvGraphicFramePr>
            <p:xfrm>
              <a:off x="251520" y="980728"/>
              <a:ext cx="7992888" cy="5328592"/>
            </p:xfrm>
            <a:graphic>
              <a:graphicData uri="http://schemas.microsoft.com/office/powerpoint/2016/summaryzoom">
                <psuz:summaryZm>
                  <psuz:summaryZmObj sectionId="{EBED56B4-3C1D-4CFD-A1D6-1A15375D1CA8}">
                    <psuz:zmPr id="{16639C3A-209A-42F0-BF00-46128AE4C5D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046F919-A105-48F5-A5F9-9DA19C9AE151}">
                    <psuz:zmPr id="{BA5A5E8B-ED4E-44A7-BF34-0998F4FBB16B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F3652BA-3E35-45E1-B71E-23B0060EE444}">
                    <psuz:zmPr id="{93DE87CF-B26B-4F97-8767-26A580BC8648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4C473A86-CEB8-47C2-881C-D2EBC041EAD5}">
                    <psuz:zmPr id="{A305F9D1-D9B5-47C6-B0B0-F38FC50A1B71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551178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01A0A55E-AC30-4CE1-9728-6B91DC43C340}">
                    <psuz:zmPr id="{E9176AEE-0C96-4C8E-B7BB-855E6832F660}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6C45DD4-B671-4EBA-9C29-D43279D02CB4}">
                    <psuz:zmPr id="{D9A5A130-EFEF-49B8-A3B5-988DADEA6478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8E57E16-58E2-45D9-8BB9-14CBAD3826FF}">
                    <psuz:zmPr id="{4A91B124-8F88-4445-9570-2993EB23F837}" transitionDur="100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04140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7D7DCE2D-6EC9-406D-9C6F-4B3C16A40121}">
                    <psuz:zmPr id="{26249E4A-BACE-4842-B7B8-0F23CEA3CC56}" transitionDur="1000">
                      <p166:blipFill xmlns:p166="http://schemas.microsoft.com/office/powerpoint/2016/6/main">
                        <a:blip r:embed="rId1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29724" y="1989897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2B36A63A-8001-4B0E-A1C5-9D5D47576B16}">
                    <psuz:zmPr id="{7CC05DDE-9719-4BA8-BED9-D0F9070FDAE5}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6476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EF1AD5F-0008-433C-9B6F-B813F94E6E0F}">
                    <psuz:zmPr id="{5355B53B-13A0-4596-A323-1A55E01E81F9}" transitionDur="100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2153084" y="3428616"/>
                          <a:ext cx="1798400" cy="134879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Zoom de résumé 4">
                <a:extLst>
                  <a:ext uri="{FF2B5EF4-FFF2-40B4-BE49-F238E27FC236}">
                    <a16:creationId xmlns:a16="http://schemas.microsoft.com/office/drawing/2014/main" id="{C5316EC3-9F46-4F83-9EAD-A0034249B7EF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251520" y="980728"/>
                <a:ext cx="7992888" cy="5328592"/>
                <a:chOff x="251520" y="980728"/>
                <a:chExt cx="7992888" cy="5328592"/>
              </a:xfrm>
            </p:grpSpPr>
            <p:pic>
              <p:nvPicPr>
                <p:cNvPr id="4" name="Image 4">
                  <a:hlinkClick r:id="rId13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1628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Image 6">
                  <a:hlinkClick r:id="rId1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40460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Image 7">
                  <a:hlinkClick r:id="rId1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9292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Image 8">
                  <a:hlinkClick r:id="rId1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181244" y="1531906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9" name="Image 9">
                  <a:hlinkClick r:id="rId1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628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0" name="Image 10">
                  <a:hlinkClick r:id="rId1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0460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1" name="Image 11">
                  <a:hlinkClick r:id="rId1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9292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2" name="Image 12">
                  <a:hlinkClick r:id="rId2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181244" y="2970625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3" name="Image 13">
                  <a:hlinkClick r:id="rId2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628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14" name="Image 14">
                  <a:hlinkClick r:id="rId22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404604" y="4409344"/>
                  <a:ext cx="1798400" cy="1348799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1758347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1515-557B-DEA5-2FC7-FC3C3EDF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BD480C6-FB36-2C68-681A-D63714A51E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Projet fil rouge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8950CF-D898-FDBC-1D51-7AEC01B068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 err="1"/>
              <a:t>AzureQuizLab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73318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D7901-8C9D-EA9A-E55F-55CE8C1ED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F94F8-7AAA-46E3-6ACA-C0C28C97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AzureQuizLab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95096-E3E0-8AD1-8302-22BBC631C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27487" y="1098033"/>
            <a:ext cx="8229600" cy="1224136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Tables et relations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6B0F212-7C23-36A0-FC5D-201BBE8D244A}"/>
              </a:ext>
            </a:extLst>
          </p:cNvPr>
          <p:cNvSpPr txBox="1"/>
          <p:nvPr/>
        </p:nvSpPr>
        <p:spPr>
          <a:xfrm>
            <a:off x="971600" y="2708920"/>
            <a:ext cx="64953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Quiz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4086CD7-FB30-9D7C-E1F0-E97ECF34DA20}"/>
              </a:ext>
            </a:extLst>
          </p:cNvPr>
          <p:cNvSpPr txBox="1"/>
          <p:nvPr/>
        </p:nvSpPr>
        <p:spPr>
          <a:xfrm>
            <a:off x="1011072" y="4005064"/>
            <a:ext cx="148470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4E71314-9CBB-ABE3-0D74-A49799DA2B4C}"/>
              </a:ext>
            </a:extLst>
          </p:cNvPr>
          <p:cNvSpPr txBox="1"/>
          <p:nvPr/>
        </p:nvSpPr>
        <p:spPr>
          <a:xfrm>
            <a:off x="4139952" y="4108430"/>
            <a:ext cx="222734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QuizAttemptAnswer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C568B97-B1FE-8E6A-693B-784B725F06FE}"/>
              </a:ext>
            </a:extLst>
          </p:cNvPr>
          <p:cNvSpPr txBox="1"/>
          <p:nvPr/>
        </p:nvSpPr>
        <p:spPr>
          <a:xfrm>
            <a:off x="3131840" y="2708920"/>
            <a:ext cx="110639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/>
              <a:t>Question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7F4E833-4C37-BA92-AD42-6B2673685E99}"/>
              </a:ext>
            </a:extLst>
          </p:cNvPr>
          <p:cNvSpPr txBox="1"/>
          <p:nvPr/>
        </p:nvSpPr>
        <p:spPr>
          <a:xfrm>
            <a:off x="5748936" y="2708920"/>
            <a:ext cx="92730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dirty="0" err="1"/>
              <a:t>Answer</a:t>
            </a:r>
            <a:endParaRPr lang="fr-FR" dirty="0"/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E52CE749-AC68-1A54-108A-FDA6CE720562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1621137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6C89A95-1D41-C14E-7B72-D7A63320AF12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4238233" y="2893586"/>
            <a:ext cx="1510703" cy="0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F63E2895-DCCB-E8D2-E192-6837D07C4AA2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H="1" flipV="1">
            <a:off x="1296369" y="3078252"/>
            <a:ext cx="457054" cy="926812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BACFE6E0-D63E-9016-D396-4EFA2EE7D8F5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 flipV="1">
            <a:off x="2495774" y="4189730"/>
            <a:ext cx="1644178" cy="103366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944A0BF-2CD8-7B8D-8ECB-5B79DD216B75}"/>
              </a:ext>
            </a:extLst>
          </p:cNvPr>
          <p:cNvCxnSpPr>
            <a:cxnSpLocks/>
            <a:stCxn id="7" idx="0"/>
            <a:endCxn id="8" idx="2"/>
          </p:cNvCxnSpPr>
          <p:nvPr/>
        </p:nvCxnSpPr>
        <p:spPr>
          <a:xfrm flipH="1" flipV="1">
            <a:off x="3685037" y="3078252"/>
            <a:ext cx="156858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B3C07C9E-7820-ED81-1C1A-E492E0055EC2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5253623" y="3078252"/>
            <a:ext cx="958966" cy="1030178"/>
          </a:xfrm>
          <a:prstGeom prst="straightConnector1">
            <a:avLst/>
          </a:prstGeom>
          <a:ln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682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E450F-2A6D-3051-D527-CF8E157E0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60E84-A24E-BA9F-2B9B-E827B7F7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Prochaines</a:t>
            </a:r>
            <a:r>
              <a:rPr lang="en-US" dirty="0"/>
              <a:t> sessions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93CD9-FB4E-0BFA-E918-BF9765B482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Server SQL</a:t>
            </a:r>
          </a:p>
          <a:p>
            <a:pPr marL="0" indent="0">
              <a:buNone/>
            </a:pPr>
            <a:r>
              <a:rPr lang="fr-FR" sz="2400" dirty="0"/>
              <a:t>Configuration Web App</a:t>
            </a:r>
          </a:p>
          <a:p>
            <a:pPr marL="0" indent="0">
              <a:buNone/>
            </a:pPr>
            <a:r>
              <a:rPr lang="fr-FR" sz="2400" dirty="0"/>
              <a:t>Logs App Service</a:t>
            </a:r>
          </a:p>
          <a:p>
            <a:pPr marL="0" indent="0">
              <a:buNone/>
            </a:pPr>
            <a:r>
              <a:rPr lang="fr-FR" sz="2400" dirty="0"/>
              <a:t>Azure Service Bus</a:t>
            </a:r>
          </a:p>
          <a:p>
            <a:pPr marL="0" indent="0">
              <a:buNone/>
            </a:pPr>
            <a:r>
              <a:rPr lang="fr-FR" sz="2400" dirty="0"/>
              <a:t>Azure </a:t>
            </a:r>
            <a:r>
              <a:rPr lang="fr-FR" sz="2400" dirty="0" err="1"/>
              <a:t>Functions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Azure Blob </a:t>
            </a:r>
            <a:r>
              <a:rPr lang="fr-FR" sz="2400" dirty="0" err="1"/>
              <a:t>storage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Sécurité (</a:t>
            </a:r>
            <a:r>
              <a:rPr lang="fr-FR" sz="2400" dirty="0" err="1"/>
              <a:t>Managed</a:t>
            </a:r>
            <a:r>
              <a:rPr lang="fr-FR" sz="2400" dirty="0"/>
              <a:t> Identity, Azure Key Vault et RBAC)</a:t>
            </a:r>
          </a:p>
          <a:p>
            <a:pPr marL="0" indent="0">
              <a:buNone/>
            </a:pPr>
            <a:r>
              <a:rPr lang="fr-FR" sz="2400" dirty="0"/>
              <a:t>Application Insights, Monitoring Alertes</a:t>
            </a:r>
          </a:p>
          <a:p>
            <a:pPr marL="0" indent="0">
              <a:buNone/>
            </a:pPr>
            <a:r>
              <a:rPr lang="fr-FR" sz="2400" dirty="0"/>
              <a:t>Containers</a:t>
            </a:r>
          </a:p>
          <a:p>
            <a:pPr marL="0" indent="0">
              <a:buNone/>
            </a:pPr>
            <a:r>
              <a:rPr lang="fr-FR" sz="2400"/>
              <a:t>Cache Redis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88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A966BEE-76B2-82B1-9023-337F22A0DB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8E81DBE-2A21-0BB1-8C60-8CD85153BB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On Premises vs </a:t>
            </a:r>
          </a:p>
          <a:p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77767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AFAC-8A36-92FB-8D6F-B9B8ECD1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8932B-29E8-0A6B-55DC-EA08A59B3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Premises vs </a:t>
            </a:r>
            <a:r>
              <a:rPr lang="en-US" dirty="0" err="1"/>
              <a:t>Iaas</a:t>
            </a:r>
            <a:r>
              <a:rPr lang="en-US" dirty="0"/>
              <a:t> vs </a:t>
            </a:r>
            <a:r>
              <a:rPr lang="en-US" dirty="0" err="1"/>
              <a:t>Paas</a:t>
            </a:r>
            <a:r>
              <a:rPr lang="en-US" dirty="0"/>
              <a:t> vs Saas</a:t>
            </a:r>
          </a:p>
        </p:txBody>
      </p:sp>
      <p:pic>
        <p:nvPicPr>
          <p:cNvPr id="1026" name="Picture 2" descr="Image by Microsoft.">
            <a:extLst>
              <a:ext uri="{FF2B5EF4-FFF2-40B4-BE49-F238E27FC236}">
                <a16:creationId xmlns:a16="http://schemas.microsoft.com/office/drawing/2014/main" id="{1E37AF8B-A4E1-A897-A7D2-93C1375A6B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013" y="952500"/>
            <a:ext cx="8943975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926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EBD5B-C62F-55BE-8D30-7B8C9C66A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12DF2-C13D-99EC-46B7-79C844E8F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2D2E5-0636-461C-82F6-197A31CE5F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principale différence entre </a:t>
            </a:r>
            <a:r>
              <a:rPr lang="fr-FR" sz="2400" b="1" dirty="0"/>
              <a:t>IaaS, PaaS et SaaS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 prix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localisation 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niveau de responsabilité du client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vitesse de déploiement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A1F7E1-CDAF-180E-8F8E-94581DE83B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9EF6D4-A601-DF88-7F70-3DDE6555ACBF}"/>
              </a:ext>
            </a:extLst>
          </p:cNvPr>
          <p:cNvSpPr txBox="1"/>
          <p:nvPr/>
        </p:nvSpPr>
        <p:spPr>
          <a:xfrm>
            <a:off x="1691680" y="4581128"/>
            <a:ext cx="422743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On-</a:t>
            </a:r>
            <a:r>
              <a:rPr lang="fr-FR" b="1" dirty="0" err="1"/>
              <a:t>premise</a:t>
            </a:r>
            <a:r>
              <a:rPr lang="fr-FR" dirty="0"/>
              <a:t> : vous gérez tout</a:t>
            </a:r>
          </a:p>
          <a:p>
            <a:r>
              <a:rPr lang="fr-FR" b="1" dirty="0"/>
              <a:t>IaaS</a:t>
            </a:r>
            <a:r>
              <a:rPr lang="fr-FR" dirty="0"/>
              <a:t> : Azure gère les serveurs physiques</a:t>
            </a:r>
          </a:p>
          <a:p>
            <a:r>
              <a:rPr lang="fr-FR" b="1" dirty="0"/>
              <a:t>PaaS</a:t>
            </a:r>
            <a:r>
              <a:rPr lang="fr-FR" dirty="0"/>
              <a:t> : Azure gère OS + runtime</a:t>
            </a:r>
          </a:p>
          <a:p>
            <a:r>
              <a:rPr lang="fr-FR" b="1" dirty="0"/>
              <a:t>SaaS</a:t>
            </a:r>
            <a:r>
              <a:rPr lang="fr-FR" dirty="0"/>
              <a:t> : Azure gère tout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5ADECA-8DD2-739B-3415-9A889EDE4AC2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396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981AA-7F14-DA34-AD4A-043C9F1F9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3C141-DB63-2ABE-48C3-0FEABA2C8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3ADB8-CDF7-6000-1DEB-746832479E5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client est responsable du système d’exploitation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Aucun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4F318B1-379D-0479-C0B7-5D66D184E196}"/>
              </a:ext>
            </a:extLst>
          </p:cNvPr>
          <p:cNvSpPr txBox="1"/>
          <p:nvPr/>
        </p:nvSpPr>
        <p:spPr>
          <a:xfrm>
            <a:off x="6660232" y="206084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CB148BA-9364-668D-F540-A24A57BA94DC}"/>
              </a:ext>
            </a:extLst>
          </p:cNvPr>
          <p:cNvSpPr txBox="1"/>
          <p:nvPr/>
        </p:nvSpPr>
        <p:spPr>
          <a:xfrm>
            <a:off x="3995936" y="3429000"/>
            <a:ext cx="416652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IaaS</a:t>
            </a:r>
            <a:r>
              <a:rPr lang="fr-FR" dirty="0"/>
              <a:t>, le fournisseur cloud fournit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réseau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la virtualisation</a:t>
            </a:r>
          </a:p>
          <a:p>
            <a:r>
              <a:rPr lang="fr-FR" dirty="0"/>
              <a:t>Mais le client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 système d’exploitation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les applications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3935482-7178-450D-F2CA-15C3191433A7}"/>
              </a:ext>
            </a:extLst>
          </p:cNvPr>
          <p:cNvSpPr txBox="1"/>
          <p:nvPr/>
        </p:nvSpPr>
        <p:spPr>
          <a:xfrm>
            <a:off x="107504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369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E7029-67A7-3C24-6DF5-04151E91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B199-0544-709B-7801-D5289091F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FF521-BF8B-B0C6-AE53-5C0D800968F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</a:t>
            </a:r>
            <a:r>
              <a:rPr lang="fr-FR" sz="2400" b="1" dirty="0"/>
              <a:t>le fournisseur cloud gère le système d’exploitation et le runtime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DBC2EFA-6E3D-C53B-7A80-76441BC62F37}"/>
              </a:ext>
            </a:extLst>
          </p:cNvPr>
          <p:cNvSpPr txBox="1"/>
          <p:nvPr/>
        </p:nvSpPr>
        <p:spPr>
          <a:xfrm>
            <a:off x="6228184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536A06-92E2-B682-72A6-7FB242847983}"/>
              </a:ext>
            </a:extLst>
          </p:cNvPr>
          <p:cNvSpPr txBox="1"/>
          <p:nvPr/>
        </p:nvSpPr>
        <p:spPr>
          <a:xfrm>
            <a:off x="3275856" y="3242007"/>
            <a:ext cx="576491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PaaS</a:t>
            </a:r>
            <a:r>
              <a:rPr lang="fr-FR" dirty="0"/>
              <a:t>, vous déployez seulement votre application.</a:t>
            </a:r>
          </a:p>
          <a:p>
            <a:r>
              <a:rPr lang="fr-FR" dirty="0"/>
              <a:t>Le fournisseur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 (.NET, Java…)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infrastructure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r>
              <a:rPr lang="fr-FR" dirty="0"/>
              <a:t>Exemple Azure :</a:t>
            </a:r>
          </a:p>
          <a:p>
            <a:r>
              <a:rPr lang="fr-FR" dirty="0"/>
              <a:t>Azure App Service</a:t>
            </a:r>
          </a:p>
          <a:p>
            <a:r>
              <a:rPr lang="fr-FR" dirty="0"/>
              <a:t>Le développeur se concentre uniquement sur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3CE3E45-103E-2F10-9159-B1AF69D907AF}"/>
              </a:ext>
            </a:extLst>
          </p:cNvPr>
          <p:cNvSpPr txBox="1"/>
          <p:nvPr/>
        </p:nvSpPr>
        <p:spPr>
          <a:xfrm>
            <a:off x="103233" y="3242007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62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BBF7D-2E86-9B00-49CB-4067BBC90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2D52B-CA21-EC00-3B5F-608B360D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92D06-F4C4-78CC-919C-99D3884D44E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quel modèle le client </a:t>
            </a:r>
            <a:r>
              <a:rPr lang="fr-FR" sz="2400" b="1" dirty="0"/>
              <a:t>ne gère absolument rien de technique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18484D4-9BA5-D5F6-B737-FC749EF39EFF}"/>
              </a:ext>
            </a:extLst>
          </p:cNvPr>
          <p:cNvSpPr txBox="1"/>
          <p:nvPr/>
        </p:nvSpPr>
        <p:spPr>
          <a:xfrm>
            <a:off x="6732240" y="184482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AE3B44-FDA1-6CF2-98C3-789564D18E76}"/>
              </a:ext>
            </a:extLst>
          </p:cNvPr>
          <p:cNvSpPr txBox="1"/>
          <p:nvPr/>
        </p:nvSpPr>
        <p:spPr>
          <a:xfrm>
            <a:off x="3203848" y="2589582"/>
            <a:ext cx="5755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Dans </a:t>
            </a:r>
            <a:r>
              <a:rPr lang="fr-FR" b="1" dirty="0"/>
              <a:t>SaaS</a:t>
            </a:r>
            <a:r>
              <a:rPr lang="fr-FR" dirty="0"/>
              <a:t>, l'utilisateur utilise directement l’application.</a:t>
            </a:r>
          </a:p>
          <a:p>
            <a:r>
              <a:rPr lang="fr-FR" dirty="0"/>
              <a:t>Il ne gère pas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serveurs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application</a:t>
            </a:r>
          </a:p>
          <a:p>
            <a:r>
              <a:rPr lang="fr-FR" dirty="0"/>
              <a:t>Exemples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Microsoft 365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Salesforce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Google Workspace</a:t>
            </a:r>
          </a:p>
          <a:p>
            <a:r>
              <a:rPr lang="fr-FR" dirty="0"/>
              <a:t>L'utilisateur gère seulement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comptes utilisateurs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données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fonctionnelle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00B0FBD-1E12-432E-4587-8126A1BD75E7}"/>
              </a:ext>
            </a:extLst>
          </p:cNvPr>
          <p:cNvSpPr txBox="1"/>
          <p:nvPr/>
        </p:nvSpPr>
        <p:spPr>
          <a:xfrm>
            <a:off x="26747" y="238499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255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473-17BD-E50E-95D8-966EB697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19FF7-80A6-AFEA-86F3-D33AE302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821C7-CBEC-B3A9-6F17-AB0ACB3451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devez installer </a:t>
            </a:r>
            <a:r>
              <a:rPr lang="fr-FR" sz="2400" b="1" dirty="0"/>
              <a:t>une application métier </a:t>
            </a:r>
            <a:r>
              <a:rPr lang="fr-FR" sz="2400" b="1" dirty="0" err="1"/>
              <a:t>legacy</a:t>
            </a:r>
            <a:r>
              <a:rPr lang="fr-FR" sz="2400" b="1" dirty="0"/>
              <a:t> nécessitant un accès complet au serveur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 modèle est le plus adapté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D77AACB-600F-9B4D-35C8-B58C1FCAB241}"/>
              </a:ext>
            </a:extLst>
          </p:cNvPr>
          <p:cNvSpPr txBox="1"/>
          <p:nvPr/>
        </p:nvSpPr>
        <p:spPr>
          <a:xfrm>
            <a:off x="6948264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E22EDD4-5587-AF3A-50A8-9E2B96FB26FB}"/>
              </a:ext>
            </a:extLst>
          </p:cNvPr>
          <p:cNvSpPr txBox="1"/>
          <p:nvPr/>
        </p:nvSpPr>
        <p:spPr>
          <a:xfrm>
            <a:off x="4067944" y="3429000"/>
            <a:ext cx="426155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application </a:t>
            </a:r>
            <a:r>
              <a:rPr lang="fr-FR" dirty="0" err="1"/>
              <a:t>legacy</a:t>
            </a:r>
            <a:r>
              <a:rPr lang="fr-FR" dirty="0"/>
              <a:t> peut nécessiter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accès administrateur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installation de composants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configuration système</a:t>
            </a:r>
          </a:p>
          <a:p>
            <a:r>
              <a:rPr lang="fr-FR" dirty="0"/>
              <a:t>Ces besoins sont compatibles avec </a:t>
            </a:r>
            <a:r>
              <a:rPr lang="fr-FR" b="1" dirty="0"/>
              <a:t>IaaS</a:t>
            </a:r>
            <a:r>
              <a:rPr lang="fr-FR" dirty="0"/>
              <a:t>.</a:t>
            </a:r>
          </a:p>
          <a:p>
            <a:r>
              <a:rPr lang="fr-FR" dirty="0"/>
              <a:t>Exemple Azure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Azure Virtual Machine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Windows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SQL Server installé manuellement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B1E3B0-82F7-8D8D-D9F7-55FE8F57973E}"/>
              </a:ext>
            </a:extLst>
          </p:cNvPr>
          <p:cNvSpPr txBox="1"/>
          <p:nvPr/>
        </p:nvSpPr>
        <p:spPr>
          <a:xfrm>
            <a:off x="32925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29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6B09-394F-8B05-BDCE-E805FEC56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54569-C56A-F363-7617-5D31F8E5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0C4CE-7E92-E02B-B0C7-69EEA1BA28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43528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solution est </a:t>
            </a:r>
            <a:r>
              <a:rPr lang="fr-FR" sz="2400" b="1" dirty="0"/>
              <a:t>la plus proche du modèle On-</a:t>
            </a:r>
            <a:r>
              <a:rPr lang="fr-FR" sz="2400" b="1" dirty="0" err="1"/>
              <a:t>premise</a:t>
            </a:r>
            <a:r>
              <a:rPr lang="fr-FR" sz="2400" dirty="0"/>
              <a:t> ?</a:t>
            </a:r>
          </a:p>
          <a:p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Serverless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C032C81-75F3-2D89-53B9-E61D349A2527}"/>
              </a:ext>
            </a:extLst>
          </p:cNvPr>
          <p:cNvSpPr txBox="1"/>
          <p:nvPr/>
        </p:nvSpPr>
        <p:spPr>
          <a:xfrm>
            <a:off x="6444208" y="2132856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856BF31-66EA-1344-E68D-EFA02BD98992}"/>
              </a:ext>
            </a:extLst>
          </p:cNvPr>
          <p:cNvSpPr txBox="1"/>
          <p:nvPr/>
        </p:nvSpPr>
        <p:spPr>
          <a:xfrm>
            <a:off x="2699792" y="4017868"/>
            <a:ext cx="482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IaaS est presque identique à un serveur local :</a:t>
            </a:r>
          </a:p>
        </p:txBody>
      </p:sp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6DD26C20-8322-8A8E-FA9A-854E3EE1D5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2193663"/>
              </p:ext>
            </p:extLst>
          </p:nvPr>
        </p:nvGraphicFramePr>
        <p:xfrm>
          <a:off x="2699792" y="4437112"/>
          <a:ext cx="5256584" cy="1463040"/>
        </p:xfrm>
        <a:graphic>
          <a:graphicData uri="http://schemas.openxmlformats.org/drawingml/2006/table">
            <a:tbl>
              <a:tblPr/>
              <a:tblGrid>
                <a:gridCol w="2628292">
                  <a:extLst>
                    <a:ext uri="{9D8B030D-6E8A-4147-A177-3AD203B41FA5}">
                      <a16:colId xmlns:a16="http://schemas.microsoft.com/office/drawing/2014/main" val="1899080999"/>
                    </a:ext>
                  </a:extLst>
                </a:gridCol>
                <a:gridCol w="2628292">
                  <a:extLst>
                    <a:ext uri="{9D8B030D-6E8A-4147-A177-3AD203B41FA5}">
                      <a16:colId xmlns:a16="http://schemas.microsoft.com/office/drawing/2014/main" val="434509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On-</a:t>
                      </a:r>
                      <a:r>
                        <a:rPr lang="fr-FR" b="1" dirty="0" err="1"/>
                        <a:t>premise</a:t>
                      </a:r>
                      <a:endParaRPr lang="fr-F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/>
                        <a:t>IaaS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3819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serveur physique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VM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2853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OS installé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389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gestion 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535890"/>
                  </a:ext>
                </a:extLst>
              </a:tr>
            </a:tbl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4931D466-D046-E98F-18D0-0E280CAE0502}"/>
              </a:ext>
            </a:extLst>
          </p:cNvPr>
          <p:cNvSpPr txBox="1"/>
          <p:nvPr/>
        </p:nvSpPr>
        <p:spPr>
          <a:xfrm>
            <a:off x="2671850" y="6067918"/>
            <a:ext cx="4857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La différence : le matériel est géré par le cloud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F8945FFA-2FA9-6472-5AE9-887AED35037C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39115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4" grpId="0"/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5B598-A574-F116-70BC-F15DE031E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1C6BE-6599-4BBB-7369-59A23E96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63B5-57C6-E5E7-B72C-9F275778EF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équipe utilise </a:t>
            </a:r>
            <a:r>
              <a:rPr lang="fr-FR" sz="2400" b="1" dirty="0"/>
              <a:t>Azure App Service</a:t>
            </a:r>
            <a:r>
              <a:rPr lang="fr-FR" sz="2400" dirty="0"/>
              <a:t> pour héberger une application web.</a:t>
            </a:r>
          </a:p>
          <a:p>
            <a:pPr marL="0" indent="0">
              <a:buNone/>
            </a:pPr>
            <a:r>
              <a:rPr lang="fr-FR" sz="2400" dirty="0"/>
              <a:t>Quel modèle cloud est utilisé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On-</a:t>
            </a:r>
            <a:r>
              <a:rPr lang="fr-FR" sz="2400" dirty="0" err="1"/>
              <a:t>premise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IaaS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PaaS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SaaS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3F6F0DE-9789-6082-12B6-4CC09773A756}"/>
              </a:ext>
            </a:extLst>
          </p:cNvPr>
          <p:cNvSpPr txBox="1"/>
          <p:nvPr/>
        </p:nvSpPr>
        <p:spPr>
          <a:xfrm>
            <a:off x="7020272" y="242088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E0157CE-F9BF-64D5-7E74-016C9FAAD904}"/>
              </a:ext>
            </a:extLst>
          </p:cNvPr>
          <p:cNvSpPr txBox="1"/>
          <p:nvPr/>
        </p:nvSpPr>
        <p:spPr>
          <a:xfrm>
            <a:off x="2699792" y="4017868"/>
            <a:ext cx="587186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Service est un service </a:t>
            </a:r>
            <a:r>
              <a:rPr lang="fr-FR" b="1" dirty="0"/>
              <a:t>Platform as a Service</a:t>
            </a:r>
            <a:r>
              <a:rPr lang="fr-FR" dirty="0"/>
              <a:t>.</a:t>
            </a:r>
          </a:p>
          <a:p>
            <a:r>
              <a:rPr lang="fr-FR" dirty="0"/>
              <a:t>Azure gère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runtime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/>
              <a:t>patchs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scaling</a:t>
            </a:r>
            <a:endParaRPr lang="fr-F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dirty="0" err="1"/>
              <a:t>load</a:t>
            </a:r>
            <a:r>
              <a:rPr lang="fr-FR" dirty="0"/>
              <a:t> balancing</a:t>
            </a:r>
          </a:p>
          <a:p>
            <a:r>
              <a:rPr lang="fr-FR" dirty="0"/>
              <a:t>Le développeur déploie seulement l'application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FB6178A-81CB-8E80-4890-1EDEC7574C85}"/>
              </a:ext>
            </a:extLst>
          </p:cNvPr>
          <p:cNvSpPr txBox="1"/>
          <p:nvPr/>
        </p:nvSpPr>
        <p:spPr>
          <a:xfrm>
            <a:off x="35104" y="3673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17423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CBDB-5DC4-74D8-3666-FD89CF834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5CFD655-3410-CEFF-D5D4-A2A0BBF5C1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2363C05-E42F-3D86-57DF-F539E95056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Services</a:t>
            </a:r>
          </a:p>
        </p:txBody>
      </p:sp>
    </p:spTree>
    <p:extLst>
      <p:ext uri="{BB962C8B-B14F-4D97-AF65-F5344CB8AC3E}">
        <p14:creationId xmlns:p14="http://schemas.microsoft.com/office/powerpoint/2010/main" val="1726710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7D5D3-EE04-4304-4A25-1FF553E6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69EDC-458E-D9D1-20F7-9D95C6016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040DA-FE87-2FED-E1F1-4427BEE1B6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ASP.NET </a:t>
            </a:r>
            <a:r>
              <a:rPr lang="fr-FR" sz="2000" dirty="0" err="1"/>
              <a:t>Core</a:t>
            </a:r>
            <a:r>
              <a:rPr lang="fr-FR" sz="2000" dirty="0"/>
              <a:t> sur </a:t>
            </a:r>
            <a:r>
              <a:rPr lang="fr-FR" sz="2000" b="1" dirty="0"/>
              <a:t>Azure App Service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voulez </a:t>
            </a:r>
            <a:r>
              <a:rPr lang="fr-FR" sz="2000" b="1" dirty="0"/>
              <a:t>mettre à jour l’application sans interruption pour les utilisateurs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r>
              <a:rPr lang="fr-FR" sz="2000" dirty="0"/>
              <a:t>Quelle fonctionnalité devez-vous utiliser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Center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 err="1"/>
              <a:t>Deployment</a:t>
            </a:r>
            <a:r>
              <a:rPr lang="fr-FR" sz="2000" dirty="0"/>
              <a:t> Slots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Auto-</a:t>
            </a:r>
            <a:r>
              <a:rPr lang="fr-FR" sz="2000" dirty="0" err="1"/>
              <a:t>scaling</a:t>
            </a:r>
            <a:endParaRPr lang="fr-FR" sz="2000" dirty="0"/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App Service Plan </a:t>
            </a:r>
            <a:r>
              <a:rPr lang="fr-FR" sz="2000" dirty="0" err="1"/>
              <a:t>Scaling</a:t>
            </a:r>
            <a:endParaRPr lang="fr-FR" sz="2000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BABB121-6B54-52D7-2267-209906E8F9D1}"/>
              </a:ext>
            </a:extLst>
          </p:cNvPr>
          <p:cNvSpPr txBox="1"/>
          <p:nvPr/>
        </p:nvSpPr>
        <p:spPr>
          <a:xfrm>
            <a:off x="7236296" y="207483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B4E96E-C909-8099-8C32-9C4C290D41C3}"/>
              </a:ext>
            </a:extLst>
          </p:cNvPr>
          <p:cNvSpPr txBox="1"/>
          <p:nvPr/>
        </p:nvSpPr>
        <p:spPr>
          <a:xfrm>
            <a:off x="4067944" y="2853531"/>
            <a:ext cx="507605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Les </a:t>
            </a:r>
            <a:r>
              <a:rPr lang="fr-FR" sz="1600" b="1" dirty="0" err="1"/>
              <a:t>Deployment</a:t>
            </a:r>
            <a:r>
              <a:rPr lang="fr-FR" sz="1600" b="1" dirty="0"/>
              <a:t> Slots</a:t>
            </a:r>
            <a:r>
              <a:rPr lang="fr-FR" sz="1600" dirty="0"/>
              <a:t> de Azure App Service permettent de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déployer une nouvelle version dans un slot </a:t>
            </a:r>
            <a:r>
              <a:rPr lang="fr-FR" sz="1600" b="1" dirty="0" err="1"/>
              <a:t>staging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tester la version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faire un </a:t>
            </a:r>
            <a:r>
              <a:rPr lang="fr-FR" sz="1600" b="1" dirty="0"/>
              <a:t>swap vers production</a:t>
            </a:r>
            <a:endParaRPr lang="fr-FR" sz="1600" dirty="0"/>
          </a:p>
          <a:p>
            <a:r>
              <a:rPr lang="fr-FR" sz="1600" dirty="0"/>
              <a:t>Le swap est </a:t>
            </a:r>
            <a:r>
              <a:rPr lang="fr-FR" sz="1600" b="1" dirty="0"/>
              <a:t>instantané</a:t>
            </a:r>
            <a:r>
              <a:rPr lang="fr-FR" sz="1600" dirty="0"/>
              <a:t>, donc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pas de </a:t>
            </a:r>
            <a:r>
              <a:rPr lang="fr-FR" sz="1600" dirty="0" err="1"/>
              <a:t>downtime</a:t>
            </a: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dirty="0"/>
              <a:t>rollback rapide possible</a:t>
            </a:r>
          </a:p>
          <a:p>
            <a:r>
              <a:rPr lang="fr-FR" sz="1600" dirty="0"/>
              <a:t>❌ Mauvaises réponses :</a:t>
            </a:r>
          </a:p>
          <a:p>
            <a:r>
              <a:rPr lang="fr-FR" sz="1600" b="1" dirty="0" err="1"/>
              <a:t>Deployment</a:t>
            </a:r>
            <a:r>
              <a:rPr lang="fr-FR" sz="1600" b="1" dirty="0"/>
              <a:t> Center</a:t>
            </a:r>
            <a:r>
              <a:rPr lang="fr-FR" sz="1600" dirty="0"/>
              <a:t> : configure la CI/CD</a:t>
            </a:r>
          </a:p>
          <a:p>
            <a:r>
              <a:rPr lang="fr-FR" sz="1600" b="1" dirty="0"/>
              <a:t>Auto-</a:t>
            </a:r>
            <a:r>
              <a:rPr lang="fr-FR" sz="1600" b="1" dirty="0" err="1"/>
              <a:t>scaling</a:t>
            </a:r>
            <a:r>
              <a:rPr lang="fr-FR" sz="1600" dirty="0"/>
              <a:t> : gère la charge</a:t>
            </a:r>
          </a:p>
          <a:p>
            <a:r>
              <a:rPr lang="fr-FR" sz="1600" b="1" dirty="0" err="1"/>
              <a:t>Scaling</a:t>
            </a:r>
            <a:r>
              <a:rPr lang="fr-FR" sz="1600" b="1" dirty="0"/>
              <a:t> plan</a:t>
            </a:r>
            <a:r>
              <a:rPr lang="fr-FR" sz="1600" dirty="0"/>
              <a:t> : change la puissance</a:t>
            </a:r>
          </a:p>
        </p:txBody>
      </p:sp>
    </p:spTree>
    <p:extLst>
      <p:ext uri="{BB962C8B-B14F-4D97-AF65-F5344CB8AC3E}">
        <p14:creationId xmlns:p14="http://schemas.microsoft.com/office/powerpoint/2010/main" val="169557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927FC-4537-9D77-27E1-3B7348ED3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89536-F678-FC8E-50EE-38D4B0402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C2998-F925-52BB-6CC0-0F5ED6B557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Dans </a:t>
            </a:r>
            <a:r>
              <a:rPr lang="fr-FR" b="1" dirty="0"/>
              <a:t>Azure App Service</a:t>
            </a:r>
            <a:r>
              <a:rPr lang="fr-FR" dirty="0"/>
              <a:t>, que permet la fonctionnalité </a:t>
            </a:r>
            <a:r>
              <a:rPr lang="fr-FR" b="1" dirty="0"/>
              <a:t>Auto-</a:t>
            </a:r>
            <a:r>
              <a:rPr lang="fr-FR" b="1" dirty="0" err="1"/>
              <a:t>scaling</a:t>
            </a:r>
            <a:r>
              <a:rPr lang="fr-FR" dirty="0"/>
              <a:t> ?</a:t>
            </a:r>
          </a:p>
          <a:p>
            <a:pPr marL="0" indent="0">
              <a:buNone/>
            </a:pPr>
            <a:endParaRPr lang="fr-FR" dirty="0"/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Augmenter automatiquement la taille des disques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Ajuster dynamiquement le nombre d’instances selon des métriques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Mettre à jour automatiquement la version .NET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Changer automatiquement le plan tarifaire</a:t>
            </a:r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B6192A-ED67-3B42-8433-1FD78C81D97C}"/>
              </a:ext>
            </a:extLst>
          </p:cNvPr>
          <p:cNvSpPr txBox="1"/>
          <p:nvPr/>
        </p:nvSpPr>
        <p:spPr>
          <a:xfrm>
            <a:off x="7164288" y="545799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4667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EEA1-2A65-6CFF-5A52-5FF0893E5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395EA-7A3F-6798-4545-46486541E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31A2-C67C-DB90-4B45-E88DC6353D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différence principale entre </a:t>
            </a:r>
            <a:r>
              <a:rPr lang="fr-FR" sz="2400" b="1" dirty="0" err="1"/>
              <a:t>scale</a:t>
            </a:r>
            <a:r>
              <a:rPr lang="fr-FR" sz="2400" b="1" dirty="0"/>
              <a:t> up</a:t>
            </a:r>
            <a:r>
              <a:rPr lang="fr-FR" sz="2400" dirty="0"/>
              <a:t> et </a:t>
            </a:r>
            <a:r>
              <a:rPr lang="fr-FR" sz="2400" b="1" dirty="0" err="1"/>
              <a:t>scale</a:t>
            </a:r>
            <a:r>
              <a:rPr lang="fr-FR" sz="2400" b="1" dirty="0"/>
              <a:t> out</a:t>
            </a:r>
            <a:r>
              <a:rPr lang="fr-FR" sz="2400" dirty="0"/>
              <a:t> dans App Service ?</a:t>
            </a:r>
          </a:p>
          <a:p>
            <a:r>
              <a:rPr lang="fr-FR" sz="2400" dirty="0"/>
              <a:t>A.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stockage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RAM</a:t>
            </a:r>
          </a:p>
          <a:p>
            <a:r>
              <a:rPr lang="fr-FR" sz="2400" dirty="0"/>
              <a:t>B.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réseau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stockage</a:t>
            </a:r>
          </a:p>
          <a:p>
            <a:r>
              <a:rPr lang="fr-FR" sz="2400" dirty="0"/>
              <a:t>C.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ajouter des instances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augmenter CPU/RAM</a:t>
            </a:r>
          </a:p>
          <a:p>
            <a:r>
              <a:rPr lang="fr-FR" sz="2400" dirty="0"/>
              <a:t>D.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up : augmenter CPU/RAM</a:t>
            </a:r>
          </a:p>
          <a:p>
            <a:pPr lvl="1"/>
            <a:r>
              <a:rPr lang="fr-FR" sz="2000" dirty="0" err="1"/>
              <a:t>Scale</a:t>
            </a:r>
            <a:r>
              <a:rPr lang="fr-FR" sz="2000" dirty="0"/>
              <a:t> out : ajouter des instances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2AA1060-936D-7B71-E1D2-0D130A543361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D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60782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534D-C190-A8DA-253A-ECF302002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DE38A-E1C9-46F1-8616-20346DD9B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16702-3191-568E-9E7A-918D001214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déployez une application via </a:t>
            </a:r>
            <a:r>
              <a:rPr lang="fr-FR" sz="2400" b="1" dirty="0"/>
              <a:t>GitHub Actions</a:t>
            </a:r>
            <a:r>
              <a:rPr lang="fr-FR" sz="2400" dirty="0"/>
              <a:t> vers Azure App Service.</a:t>
            </a:r>
          </a:p>
          <a:p>
            <a:pPr marL="0" indent="0">
              <a:buNone/>
            </a:pPr>
            <a:r>
              <a:rPr lang="fr-FR" sz="2400" dirty="0"/>
              <a:t>Quel mécanisme permet de connecter automatiquement votre repo GitHub à votre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Pipelines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Center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D36630B-FF93-3732-7006-AC5E54F704C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8155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01C7-0DB0-F5BE-8F3C-247B9207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2EB3B-47B4-2827-38FE-A39F988A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00989-CA66-E7BB-A6C8-7078841BF6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Parmi les options suivantes, laquelle n’est pas une source de déploiement automatisé valide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GitHub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Repos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SharePoint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8239BF0-5485-1F77-7BFF-46FC5BC706C6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650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CC21C-0864-2E11-528D-09A0F0908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AEC38-5679-2668-2634-6ED17C81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DF3D5-C338-CB7C-980C-AD6650E655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une Web App qui subit </a:t>
            </a:r>
            <a:r>
              <a:rPr lang="fr-FR" sz="2400" b="1" dirty="0"/>
              <a:t>des pics de trafic imprévisibles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stratégie est la plus adaptée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Augmenter le CPU manuellement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Auto-</a:t>
            </a:r>
            <a:r>
              <a:rPr lang="fr-FR" sz="2400" dirty="0" err="1"/>
              <a:t>scale</a:t>
            </a:r>
            <a:r>
              <a:rPr lang="fr-FR" sz="2400" dirty="0"/>
              <a:t> basé sur les métriques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Ajouter 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Utiliser un </a:t>
            </a:r>
            <a:r>
              <a:rPr lang="fr-FR" sz="2400" dirty="0" err="1"/>
              <a:t>Deployment</a:t>
            </a:r>
            <a:r>
              <a:rPr lang="fr-FR" sz="2400" dirty="0"/>
              <a:t> Slot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F22294A-373F-78FD-3A6C-D7425E7CFC3C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6833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72E56-2321-C8A8-77FE-8417AC1A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6A9A-11CC-A6FA-156A-D842E91B0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1E114-CFF4-6B9C-9900-493E94D035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voulez tester une nouvelle version d’une Web App </a:t>
            </a:r>
            <a:r>
              <a:rPr lang="fr-FR" sz="2400" b="1" dirty="0"/>
              <a:t>avec 10 % du trafic utilisateur</a:t>
            </a:r>
            <a:r>
              <a:rPr lang="fr-FR" sz="2400" dirty="0"/>
              <a:t>, tout en laissant 90 % sur la version actuelle.</a:t>
            </a:r>
          </a:p>
          <a:p>
            <a:pPr marL="0" indent="0">
              <a:buNone/>
            </a:pPr>
            <a:r>
              <a:rPr lang="fr-FR" sz="2400" dirty="0"/>
              <a:t>Quelle fonctionnalité utilisez-vous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Front </a:t>
            </a:r>
            <a:r>
              <a:rPr lang="fr-FR" sz="2400" dirty="0" err="1"/>
              <a:t>Door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CDN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Traffic Manager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Deployment</a:t>
            </a:r>
            <a:r>
              <a:rPr lang="fr-FR" sz="2400" dirty="0"/>
              <a:t> Slots avec Traffic </a:t>
            </a:r>
            <a:r>
              <a:rPr lang="fr-FR" sz="2400" dirty="0" err="1"/>
              <a:t>Routing</a:t>
            </a:r>
            <a:br>
              <a:rPr lang="fr-FR" sz="2400" dirty="0"/>
            </a:b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72BD138-7317-4EF0-4D55-A6495480B0BA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39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B69F9-D754-3DEC-F756-7BD1B019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805A2-2E54-014D-8B9D-AA8EAA7E3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58DA9-C6F8-917C-7560-6B9508E34E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fonctionnalité permet </a:t>
            </a:r>
            <a:r>
              <a:rPr lang="fr-FR" sz="2400" b="1" dirty="0"/>
              <a:t>d’observer les performances, exceptions et requêtes HTTP</a:t>
            </a:r>
            <a:r>
              <a:rPr lang="fr-FR" sz="2400" dirty="0"/>
              <a:t> d’une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 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 Analytics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Application Insights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Advisor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50E37D-B2BF-118D-63D5-BBDD79376F59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3486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CCC72-4CF5-32B9-4B96-1BD32F05E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012798EB-97E5-81E9-B1D4-EFEBF376A08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3528D43-42F4-3AA4-6B75-2385946DA9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Plans</a:t>
            </a:r>
          </a:p>
        </p:txBody>
      </p:sp>
    </p:spTree>
    <p:extLst>
      <p:ext uri="{BB962C8B-B14F-4D97-AF65-F5344CB8AC3E}">
        <p14:creationId xmlns:p14="http://schemas.microsoft.com/office/powerpoint/2010/main" val="25573379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9C2D2-0C9A-CCD0-3D11-C75C58CB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BB8D-1B60-6829-8267-7B4557312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97842-48F6-9F92-A50A-5AF4CA9DF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d’un </a:t>
            </a:r>
            <a:r>
              <a:rPr lang="fr-FR" sz="2400" b="1" dirty="0"/>
              <a:t>App Service Plan</a:t>
            </a:r>
            <a:r>
              <a:rPr lang="fr-FR" sz="2400" dirty="0"/>
              <a:t> dans Azure App Service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Héberger le code de l’application web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Gérer les logs et la télémétrie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Stocker les fichiers statiques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Fournir l’infrastructure (CPU, RAM, instances) utilisée par les applications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D3E8612-6C13-D1AA-F939-BADAAA7B813F}"/>
              </a:ext>
            </a:extLst>
          </p:cNvPr>
          <p:cNvSpPr txBox="1"/>
          <p:nvPr/>
        </p:nvSpPr>
        <p:spPr>
          <a:xfrm>
            <a:off x="7164288" y="494116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468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ED377-C1B3-0351-3A29-C94601C3F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D97-F258-514A-9822-15BC951B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5CE64-4C15-6D73-54FD-D44BF180E3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se passe-t-il si </a:t>
            </a:r>
            <a:r>
              <a:rPr lang="fr-FR" sz="2400" b="1" dirty="0"/>
              <a:t>plusieurs Web Apps utilisent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Chaque application possède son propre CPU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partagent les ressources du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crée automatiquement un nouveau plan pour chaque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ne peuvent pas partager un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EE32B7-9A1A-A164-148E-52571145A41E}"/>
              </a:ext>
            </a:extLst>
          </p:cNvPr>
          <p:cNvSpPr txBox="1"/>
          <p:nvPr/>
        </p:nvSpPr>
        <p:spPr>
          <a:xfrm>
            <a:off x="7236296" y="479715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91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D5526-EE01-444B-EBA2-E7EC7802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4BD-863F-8350-4759-E87BF7B29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84CC-2152-A0BB-2E91-782BDD101D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configure-t-on </a:t>
            </a:r>
            <a:r>
              <a:rPr lang="fr-FR" sz="2400" b="1" dirty="0"/>
              <a:t>le </a:t>
            </a:r>
            <a:r>
              <a:rPr lang="fr-FR" sz="2400" b="1" dirty="0" err="1"/>
              <a:t>scaling</a:t>
            </a:r>
            <a:r>
              <a:rPr lang="fr-FR" sz="2400" b="1" dirty="0"/>
              <a:t> (nombre d’instances)</a:t>
            </a:r>
            <a:r>
              <a:rPr lang="fr-FR" sz="2400" dirty="0"/>
              <a:t> pour une Web App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chaque App Service individuellement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7C4B110-4603-3EEF-F487-D73CE8F2F7E8}"/>
              </a:ext>
            </a:extLst>
          </p:cNvPr>
          <p:cNvSpPr txBox="1"/>
          <p:nvPr/>
        </p:nvSpPr>
        <p:spPr>
          <a:xfrm>
            <a:off x="7020272" y="3789040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98472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1C9-4EE9-84B8-689D-3E956F386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1EA99-3132-4200-2F6C-866B141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bis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D1DC7-2992-1B42-8748-C38D9612D7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</a:t>
            </a:r>
            <a:r>
              <a:rPr lang="fr-FR" sz="2400" b="1" dirty="0"/>
              <a:t>3 Web Apps</a:t>
            </a:r>
            <a:r>
              <a:rPr lang="fr-FR" sz="2400" dirty="0"/>
              <a:t> hébergées sur le même </a:t>
            </a:r>
            <a:r>
              <a:rPr lang="fr-FR" sz="2400" b="1" dirty="0"/>
              <a:t>Azure App Service Plan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L’une des applications commence à subir des pics de trafic et vous souhaitez </a:t>
            </a:r>
            <a:r>
              <a:rPr lang="fr-FR" sz="2400" b="1" dirty="0"/>
              <a:t>configurer l’auto-</a:t>
            </a:r>
            <a:r>
              <a:rPr lang="fr-FR" sz="2400" b="1" dirty="0" err="1"/>
              <a:t>scaling</a:t>
            </a:r>
            <a:r>
              <a:rPr lang="fr-FR" sz="2400" b="1" dirty="0"/>
              <a:t> basé sur l’utilisation CPU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Où devez-vous configurer cette règle d’auto-</a:t>
            </a:r>
            <a:r>
              <a:rPr lang="fr-FR" sz="2400" dirty="0" err="1"/>
              <a:t>scaling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Sur l’App Service qui héberge l’application qui subit le pic de trafic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la configuration globale Azure App Service pour la région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l’App Service Plan qui héberge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Dans Application Insights pour déclencher automatiquement le </a:t>
            </a:r>
            <a:r>
              <a:rPr lang="fr-FR" sz="2400" dirty="0" err="1"/>
              <a:t>scaling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847E74A-474A-43F8-E1F9-9FB6AD2E588D}"/>
              </a:ext>
            </a:extLst>
          </p:cNvPr>
          <p:cNvSpPr txBox="1"/>
          <p:nvPr/>
        </p:nvSpPr>
        <p:spPr>
          <a:xfrm>
            <a:off x="7524328" y="551723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98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12D57-9045-60EB-5048-360C522D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A45D-F61C-9B4F-6B1B-61EB2EA0B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3F9E-08BB-F94C-C4FC-0ADD8114D8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l’impact de la suppression d’un </a:t>
            </a:r>
            <a:r>
              <a:rPr lang="fr-FR" sz="2400" b="1" dirty="0"/>
              <a:t>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Les applications restent disponibles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sont déplacées automatiquement vers un autre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hébergées dans ce plan sont supprimées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applications passent en mode lecture seule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6030D65-545B-7A27-72B0-B9DC61D3C7E3}"/>
              </a:ext>
            </a:extLst>
          </p:cNvPr>
          <p:cNvSpPr txBox="1"/>
          <p:nvPr/>
        </p:nvSpPr>
        <p:spPr>
          <a:xfrm>
            <a:off x="7236296" y="51571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4872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8B068-7FB1-18B1-95E6-494AB15B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F3B3F-8F83-EA21-C4FE-D4CE77ED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90BBD-DE6C-E9C2-9DC9-A37674868B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placer </a:t>
            </a:r>
            <a:r>
              <a:rPr lang="fr-FR" sz="2400" b="1" dirty="0"/>
              <a:t>plusieurs Web Apps dans le même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Pour améliorer la sécurité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réduire les coûts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isoler les applications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Pour augmenter la mémoire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270F3F0-392E-0E48-DC47-04A5E8AFCDF8}"/>
              </a:ext>
            </a:extLst>
          </p:cNvPr>
          <p:cNvSpPr txBox="1"/>
          <p:nvPr/>
        </p:nvSpPr>
        <p:spPr>
          <a:xfrm>
            <a:off x="7164288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1970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8726D-3339-A154-874F-BE2DDB937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20D94-75F9-C036-732C-240A97EE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05797-E907-2C0D-B035-20EF7C35E1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affirmation décrit correctement la relation entre </a:t>
            </a:r>
            <a:r>
              <a:rPr lang="fr-FR" sz="2400" b="1" dirty="0"/>
              <a:t>App Service et App Service Plan</a:t>
            </a:r>
            <a:r>
              <a:rPr lang="fr-FR" sz="2400" dirty="0"/>
              <a:t>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Un App Service Plan appartient à une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peut utiliser plusieurs App Service Plans simultanément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Web App doit obligatoirement être associée à un App Service Plan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Services remplacent les App Service Plans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7167138-4770-4740-58FD-D3AD3E74066A}"/>
              </a:ext>
            </a:extLst>
          </p:cNvPr>
          <p:cNvSpPr txBox="1"/>
          <p:nvPr/>
        </p:nvSpPr>
        <p:spPr>
          <a:xfrm>
            <a:off x="7380312" y="532953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27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914AD-9466-A346-B082-3D286FE8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8F922-F5EB-0288-4C01-7E5B3BC15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 err="1"/>
              <a:t>Scale</a:t>
            </a:r>
            <a:r>
              <a:rPr lang="fr-FR" sz="2800" dirty="0"/>
              <a:t> Up / </a:t>
            </a:r>
            <a:r>
              <a:rPr lang="fr-FR" sz="2800" dirty="0" err="1"/>
              <a:t>Scale</a:t>
            </a:r>
            <a:r>
              <a:rPr lang="fr-FR" sz="2800" dirty="0"/>
              <a:t> Out</a:t>
            </a:r>
            <a:endParaRPr lang="en-US" sz="2800"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66FB287-B648-BC82-4A40-5E3D8EA9D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999142"/>
              </p:ext>
            </p:extLst>
          </p:nvPr>
        </p:nvGraphicFramePr>
        <p:xfrm>
          <a:off x="457200" y="1797437"/>
          <a:ext cx="7886700" cy="1828800"/>
        </p:xfrm>
        <a:graphic>
          <a:graphicData uri="http://schemas.openxmlformats.org/drawingml/2006/table">
            <a:tbl>
              <a:tblPr/>
              <a:tblGrid>
                <a:gridCol w="1882552">
                  <a:extLst>
                    <a:ext uri="{9D8B030D-6E8A-4147-A177-3AD203B41FA5}">
                      <a16:colId xmlns:a16="http://schemas.microsoft.com/office/drawing/2014/main" val="590019645"/>
                    </a:ext>
                  </a:extLst>
                </a:gridCol>
                <a:gridCol w="2016224">
                  <a:extLst>
                    <a:ext uri="{9D8B030D-6E8A-4147-A177-3AD203B41FA5}">
                      <a16:colId xmlns:a16="http://schemas.microsoft.com/office/drawing/2014/main" val="2395372519"/>
                    </a:ext>
                  </a:extLst>
                </a:gridCol>
                <a:gridCol w="3987924">
                  <a:extLst>
                    <a:ext uri="{9D8B030D-6E8A-4147-A177-3AD203B41FA5}">
                      <a16:colId xmlns:a16="http://schemas.microsoft.com/office/drawing/2014/main" val="36570495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Terme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u="sng" dirty="0"/>
                        <a:t>Ce qui change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35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Up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puissance machine (CPU, RAM)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54438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Down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Vertical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machine moins puissante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1209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 dirty="0" err="1"/>
                        <a:t>Scale</a:t>
                      </a:r>
                      <a:r>
                        <a:rPr lang="fr-FR" b="1" dirty="0"/>
                        <a:t> Out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plus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683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b="1"/>
                        <a:t>Scale In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Horizontal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moins d’instances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9613313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AD9E63-5B33-F2D8-E5F5-16E229D8B7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3583" y="1196752"/>
            <a:ext cx="488467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Les 4 termes à bien distinguer 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312A6F1-BAB6-35B5-9147-6295DD7F2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12" y="3637059"/>
            <a:ext cx="4608512" cy="297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3369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AEAA-1201-0D31-A838-EB6217D7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5D837-0637-5514-53D0-932D18B3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Azure </a:t>
            </a:r>
            <a:r>
              <a:rPr lang="en-US" sz="2800" dirty="0" err="1"/>
              <a:t>Autoscale</a:t>
            </a:r>
            <a:r>
              <a:rPr lang="en-US" sz="2800" dirty="0"/>
              <a:t> vs </a:t>
            </a:r>
            <a:br>
              <a:rPr lang="en-US" sz="2800" dirty="0"/>
            </a:br>
            <a:r>
              <a:rPr lang="fr-FR" sz="2800" dirty="0"/>
              <a:t>Web App </a:t>
            </a:r>
            <a:r>
              <a:rPr lang="fr-FR" sz="2800" dirty="0" err="1"/>
              <a:t>Automatic</a:t>
            </a:r>
            <a:r>
              <a:rPr lang="fr-FR" sz="2800" dirty="0"/>
              <a:t> </a:t>
            </a:r>
            <a:r>
              <a:rPr lang="fr-FR" sz="2800" dirty="0" err="1"/>
              <a:t>Scaling</a:t>
            </a:r>
            <a:endParaRPr lang="en-US" sz="2800" dirty="0"/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90172605-0C2A-41D3-9080-DC59782A5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853858"/>
              </p:ext>
            </p:extLst>
          </p:nvPr>
        </p:nvGraphicFramePr>
        <p:xfrm>
          <a:off x="323528" y="980728"/>
          <a:ext cx="8568951" cy="5040559"/>
        </p:xfrm>
        <a:graphic>
          <a:graphicData uri="http://schemas.openxmlformats.org/drawingml/2006/table">
            <a:tbl>
              <a:tblPr/>
              <a:tblGrid>
                <a:gridCol w="2412218">
                  <a:extLst>
                    <a:ext uri="{9D8B030D-6E8A-4147-A177-3AD203B41FA5}">
                      <a16:colId xmlns:a16="http://schemas.microsoft.com/office/drawing/2014/main" val="746252600"/>
                    </a:ext>
                  </a:extLst>
                </a:gridCol>
                <a:gridCol w="2988382">
                  <a:extLst>
                    <a:ext uri="{9D8B030D-6E8A-4147-A177-3AD203B41FA5}">
                      <a16:colId xmlns:a16="http://schemas.microsoft.com/office/drawing/2014/main" val="3999209291"/>
                    </a:ext>
                  </a:extLst>
                </a:gridCol>
                <a:gridCol w="3168351">
                  <a:extLst>
                    <a:ext uri="{9D8B030D-6E8A-4147-A177-3AD203B41FA5}">
                      <a16:colId xmlns:a16="http://schemas.microsoft.com/office/drawing/2014/main" val="3572322828"/>
                    </a:ext>
                  </a:extLst>
                </a:gridCol>
              </a:tblGrid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Critère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Azure </a:t>
                      </a:r>
                      <a:r>
                        <a:rPr lang="fr-FR" sz="1400" b="1" u="sng" dirty="0" err="1"/>
                        <a:t>Autoscale</a:t>
                      </a:r>
                      <a:r>
                        <a:rPr lang="fr-FR" sz="1400" b="1" u="none" dirty="0"/>
                        <a:t> (Rules)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u="sng" dirty="0"/>
                        <a:t>Web App </a:t>
                      </a:r>
                      <a:r>
                        <a:rPr lang="fr-FR" sz="1400" b="1" u="sng" dirty="0" err="1"/>
                        <a:t>Automatic</a:t>
                      </a:r>
                      <a:r>
                        <a:rPr lang="fr-FR" sz="1400" b="1" u="sng" dirty="0"/>
                        <a:t> </a:t>
                      </a:r>
                      <a:r>
                        <a:rPr lang="fr-FR" sz="1400" b="1" u="sng" dirty="0" err="1"/>
                        <a:t>Scaling</a:t>
                      </a:r>
                      <a:r>
                        <a:rPr lang="fr-FR" sz="1400" b="1" u="none" dirty="0"/>
                        <a:t> (</a:t>
                      </a:r>
                      <a:r>
                        <a:rPr lang="fr-FR" sz="1400" b="1" u="none" dirty="0" err="1"/>
                        <a:t>Elastic</a:t>
                      </a:r>
                      <a:r>
                        <a:rPr lang="fr-FR" sz="1400" b="1" u="none" dirty="0"/>
                        <a:t>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0208890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0" dirty="0"/>
                        <a:t>App Service Plan + Web App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222401"/>
                  </a:ext>
                </a:extLst>
              </a:tr>
              <a:tr h="276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Niveau (agit sur) :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App Service Plan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Web App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704778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Tarification mini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Premium v3 P0V3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Premium v3 P1V3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59367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Basé sur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Azure Monitor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Algorithme interne Azure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0826532"/>
                  </a:ext>
                </a:extLst>
              </a:tr>
              <a:tr h="738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Principe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Règles configurées par l’utilisateur basées sur des </a:t>
                      </a:r>
                      <a:r>
                        <a:rPr lang="fr-FR" sz="1400" b="1" dirty="0"/>
                        <a:t>métriques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292338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/>
                        <a:t>Règles explicites</a:t>
                      </a:r>
                      <a:r>
                        <a:rPr lang="fr-FR" sz="1400" dirty="0"/>
                        <a:t> (CPU, mémoire, requêtes…)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Définition uniquement de </a:t>
                      </a:r>
                      <a:r>
                        <a:rPr lang="fr-FR" sz="1400" b="1"/>
                        <a:t>Min instances</a:t>
                      </a:r>
                      <a:r>
                        <a:rPr lang="fr-FR" sz="1400"/>
                        <a:t> et </a:t>
                      </a:r>
                      <a:r>
                        <a:rPr lang="fr-FR" sz="1400" b="1"/>
                        <a:t>Max instances</a:t>
                      </a:r>
                      <a:endParaRPr lang="fr-FR" sz="140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894443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Type de scaling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Out / </a:t>
                      </a:r>
                      <a:r>
                        <a:rPr lang="fr-FR" sz="1400" b="1" dirty="0" err="1"/>
                        <a:t>Scale</a:t>
                      </a:r>
                      <a:r>
                        <a:rPr lang="fr-FR" sz="1400" b="1" dirty="0"/>
                        <a:t> In</a:t>
                      </a:r>
                      <a:r>
                        <a:rPr lang="fr-FR" sz="1400" dirty="0"/>
                        <a:t> (nombre d’instances)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b="1"/>
                        <a:t>Scale Out / Scale In</a:t>
                      </a:r>
                      <a:r>
                        <a:rPr lang="fr-FR" sz="1400"/>
                        <a:t> automatique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296162"/>
                  </a:ext>
                </a:extLst>
              </a:tr>
              <a:tr h="507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Impact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Toutes les Web Apps du </a:t>
                      </a:r>
                      <a:r>
                        <a:rPr lang="fr-FR" sz="1400" b="1" dirty="0"/>
                        <a:t>App Service Plan</a:t>
                      </a:r>
                      <a:r>
                        <a:rPr lang="fr-FR" sz="1400" dirty="0"/>
                        <a:t> sont impactées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Chaque </a:t>
                      </a:r>
                      <a:r>
                        <a:rPr lang="fr-FR" sz="1400" b="1" dirty="0"/>
                        <a:t>Web App peut </a:t>
                      </a:r>
                      <a:r>
                        <a:rPr lang="fr-FR" sz="1400" b="1" dirty="0" err="1"/>
                        <a:t>scaler</a:t>
                      </a:r>
                      <a:r>
                        <a:rPr lang="fr-FR" sz="1400" b="1" dirty="0"/>
                        <a:t> indépendamment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229112"/>
                  </a:ext>
                </a:extLst>
              </a:tr>
              <a:tr h="3143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Niveau de contrôle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Précis (par règles)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/>
                        <a:t>Simplifié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0544373"/>
                  </a:ext>
                </a:extLst>
              </a:tr>
              <a:tr h="9698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Exemple de configuration</a:t>
                      </a:r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&gt; 70% pendant 10 min → +1 instance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CPU &lt; 20% pendant 10 min → -1 instance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Min instances = 1</a:t>
                      </a:r>
                    </a:p>
                    <a:p>
                      <a:pPr>
                        <a:buNone/>
                      </a:pPr>
                      <a:endParaRPr lang="fr-FR" sz="140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fr-FR" sz="1400" dirty="0">
                          <a:latin typeface="Courier New" panose="02070309020205020404" pitchFamily="49" charset="0"/>
                        </a:rPr>
                        <a:t>Max instances = 5</a:t>
                      </a:r>
                      <a:endParaRPr lang="fr-FR" sz="1400" dirty="0"/>
                    </a:p>
                  </a:txBody>
                  <a:tcPr marL="41441" marR="41441" marT="20721" marB="2072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298283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AD712C7A-ED3F-5944-E8AA-F1AA8C2A0C8F}"/>
              </a:ext>
            </a:extLst>
          </p:cNvPr>
          <p:cNvSpPr txBox="1"/>
          <p:nvPr/>
        </p:nvSpPr>
        <p:spPr>
          <a:xfrm>
            <a:off x="1259632" y="6237312"/>
            <a:ext cx="6227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Jamais de </a:t>
            </a:r>
            <a:r>
              <a:rPr lang="fr-FR" dirty="0" err="1"/>
              <a:t>Scale</a:t>
            </a:r>
            <a:r>
              <a:rPr lang="fr-FR" dirty="0"/>
              <a:t> Up ou Down automatique : toujours manuel</a:t>
            </a:r>
          </a:p>
        </p:txBody>
      </p:sp>
    </p:spTree>
    <p:extLst>
      <p:ext uri="{BB962C8B-B14F-4D97-AF65-F5344CB8AC3E}">
        <p14:creationId xmlns:p14="http://schemas.microsoft.com/office/powerpoint/2010/main" val="341407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1A0D4-9F7C-1D6D-3821-680ABC6E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3BE2307C-AE5C-EE68-8B12-E32A5625DF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8D459E2-17C5-5235-27C8-E6CDFC6785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App Service </a:t>
            </a:r>
            <a:r>
              <a:rPr lang="fr-FR" dirty="0" err="1"/>
              <a:t>Environment</a:t>
            </a:r>
            <a:r>
              <a:rPr lang="fr-FR" dirty="0"/>
              <a:t> variables</a:t>
            </a:r>
          </a:p>
        </p:txBody>
      </p:sp>
    </p:spTree>
    <p:extLst>
      <p:ext uri="{BB962C8B-B14F-4D97-AF65-F5344CB8AC3E}">
        <p14:creationId xmlns:p14="http://schemas.microsoft.com/office/powerpoint/2010/main" val="33855026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0399-94E0-159D-EFF7-0E6FF2ED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D3A3B-D90E-6734-20F3-49A7FBB6D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3CD56-6020-0500-1936-FA2CF517E8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où configure-t-on généralement les </a:t>
            </a:r>
            <a:r>
              <a:rPr lang="fr-FR" sz="2400" b="1" dirty="0"/>
              <a:t>variables d’environnement pour l’application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→ Configuration → Application Settings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Plan → </a:t>
            </a:r>
            <a:r>
              <a:rPr lang="fr-FR" sz="2400" dirty="0" err="1"/>
              <a:t>Scaling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Portal → Networking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8D24E0-CE41-C1FB-8B60-E3014894E8CA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B342977-92C5-2148-1A74-5A64FE21F048}"/>
              </a:ext>
            </a:extLst>
          </p:cNvPr>
          <p:cNvSpPr txBox="1"/>
          <p:nvPr/>
        </p:nvSpPr>
        <p:spPr>
          <a:xfrm>
            <a:off x="35496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56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9A569-8704-C0E8-FA8A-C44EA57F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12537-B2B9-4650-AE36-03F2AFECD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22C3-24B2-AE74-D6CF-F024F828E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une </a:t>
            </a:r>
            <a:r>
              <a:rPr lang="fr-FR" sz="2400" b="1" dirty="0"/>
              <a:t>Azure Web App</a:t>
            </a:r>
            <a:r>
              <a:rPr lang="fr-FR" sz="2400" dirty="0"/>
              <a:t>, que fait la variable d’environnement</a:t>
            </a:r>
            <a:br>
              <a:rPr lang="fr-FR" sz="2400" dirty="0"/>
            </a:b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un cache local du contenu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la compression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active le CDN Azure automatiquement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Elle configure la taille maximale du disque temporaire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7BE32D6-5F82-DC50-193A-7CC12FE8DF45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A8B469C-8290-D09B-49DF-9C425C13C991}"/>
              </a:ext>
            </a:extLst>
          </p:cNvPr>
          <p:cNvSpPr txBox="1"/>
          <p:nvPr/>
        </p:nvSpPr>
        <p:spPr>
          <a:xfrm>
            <a:off x="18535" y="234888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3166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C6D0B-2641-FD99-9EFF-3708DEE48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01E00-5384-A432-BE99-59BD505ED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FEEA1-EABD-BFC8-F198-A34ECA1509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Quelle est la </a:t>
            </a:r>
            <a:r>
              <a:rPr lang="fr-FR" sz="2400" b="1" dirty="0"/>
              <a:t>valeur par défaut</a:t>
            </a:r>
            <a:r>
              <a:rPr lang="fr-FR" sz="2400" dirty="0"/>
              <a:t> de </a:t>
            </a:r>
            <a:r>
              <a:rPr lang="fr-FR" dirty="0"/>
              <a:t>WEBSITE_LOCAL_CACHE_OPTION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Auto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Always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Off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Enabled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E2C704-B23F-1071-F8E4-22D91560F9CC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CB3D39-C47F-FD37-9FEE-83F3F6362EDF}"/>
              </a:ext>
            </a:extLst>
          </p:cNvPr>
          <p:cNvSpPr txBox="1"/>
          <p:nvPr/>
        </p:nvSpPr>
        <p:spPr>
          <a:xfrm>
            <a:off x="107504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4475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CA0F2-1ED3-FF09-3D16-5F4BF3CC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3650B-05DE-2CC6-5E78-1E2E06AD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80A2C-FF8A-7A83-D777-CF27E1582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l’effet principal lorsque </a:t>
            </a:r>
            <a:r>
              <a:rPr lang="fr-FR" sz="2400" b="1" dirty="0"/>
              <a:t>Local Cache est activé</a:t>
            </a:r>
            <a:r>
              <a:rPr lang="fr-FR" sz="2400" dirty="0"/>
              <a:t> sur une Web App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automatiquement mise en scale-out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App Settings deviennent immuables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logs sont désactivés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dossier /site/</a:t>
            </a:r>
            <a:r>
              <a:rPr lang="fr-FR" sz="2400" dirty="0" err="1"/>
              <a:t>wwwroot</a:t>
            </a:r>
            <a:r>
              <a:rPr lang="fr-FR" sz="2400" dirty="0"/>
              <a:t> devient </a:t>
            </a:r>
            <a:r>
              <a:rPr lang="fr-FR" sz="2400" dirty="0" err="1"/>
              <a:t>read-only</a:t>
            </a:r>
            <a:r>
              <a:rPr lang="fr-FR" sz="2400" dirty="0"/>
              <a:t> pour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07AC3BC-22FC-8834-E841-9DF7961763AB}"/>
              </a:ext>
            </a:extLst>
          </p:cNvPr>
          <p:cNvSpPr txBox="1"/>
          <p:nvPr/>
        </p:nvSpPr>
        <p:spPr>
          <a:xfrm>
            <a:off x="7308304" y="4259997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62DC1-57A9-4E09-C135-56252401B5B1}"/>
              </a:ext>
            </a:extLst>
          </p:cNvPr>
          <p:cNvSpPr txBox="1"/>
          <p:nvPr/>
        </p:nvSpPr>
        <p:spPr>
          <a:xfrm>
            <a:off x="35496" y="328498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75682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578A1-4818-39EF-192E-C0569C58F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E8A79-EABC-3B89-C553-8B907094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DFB5A-26FB-A54F-87AE-018B74EF51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Azure génère un </a:t>
            </a:r>
            <a:r>
              <a:rPr lang="fr-FR" sz="2400" b="1" dirty="0"/>
              <a:t>PDF à télécharger immédiatement par l’utilisateur</a:t>
            </a:r>
            <a:r>
              <a:rPr lang="fr-FR" sz="2400" dirty="0"/>
              <a:t>.</a:t>
            </a:r>
            <a:br>
              <a:rPr lang="fr-FR" sz="2400" dirty="0"/>
            </a:br>
            <a:r>
              <a:rPr lang="fr-FR" sz="2400" dirty="0"/>
              <a:t>Quelle est la </a:t>
            </a:r>
            <a:r>
              <a:rPr lang="fr-FR" sz="2400" b="1" dirty="0"/>
              <a:t>meilleure approche</a:t>
            </a:r>
            <a:r>
              <a:rPr lang="fr-FR" sz="2400" dirty="0"/>
              <a:t> si Local Cache est activé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/home/site/</a:t>
            </a:r>
            <a:r>
              <a:rPr lang="fr-FR" dirty="0" err="1"/>
              <a:t>wwwroot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Générer le PDF dans un </a:t>
            </a:r>
            <a:r>
              <a:rPr lang="fr-FR" dirty="0" err="1"/>
              <a:t>MemoryStream</a:t>
            </a:r>
            <a:r>
              <a:rPr lang="fr-FR" sz="2400" dirty="0"/>
              <a:t> et le renvoyer dans la réponse HTTP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Écrire le fichier dans </a:t>
            </a:r>
            <a:r>
              <a:rPr lang="fr-FR" dirty="0"/>
              <a:t>/site/logs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297B0A9-1A77-21CA-897F-D4ACF8D14284}"/>
              </a:ext>
            </a:extLst>
          </p:cNvPr>
          <p:cNvSpPr txBox="1"/>
          <p:nvPr/>
        </p:nvSpPr>
        <p:spPr>
          <a:xfrm>
            <a:off x="7380312" y="458112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38BAFD-94D6-EB87-5569-D8BC3F725AE4}"/>
              </a:ext>
            </a:extLst>
          </p:cNvPr>
          <p:cNvSpPr txBox="1"/>
          <p:nvPr/>
        </p:nvSpPr>
        <p:spPr>
          <a:xfrm>
            <a:off x="32925" y="337797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BCACC44-6870-8CEC-429C-0195D3551C10}"/>
              </a:ext>
            </a:extLst>
          </p:cNvPr>
          <p:cNvSpPr txBox="1"/>
          <p:nvPr/>
        </p:nvSpPr>
        <p:spPr>
          <a:xfrm>
            <a:off x="179512" y="5229200"/>
            <a:ext cx="8064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 noter : si besoin de générer un fichier temporaire sur disque, il est recommandé d’utiliser le dossier temporaire :</a:t>
            </a:r>
            <a:br>
              <a:rPr lang="fr-FR" dirty="0"/>
            </a:br>
            <a:r>
              <a:rPr lang="fr-FR" dirty="0"/>
              <a:t>Exemple : </a:t>
            </a:r>
          </a:p>
          <a:p>
            <a:r>
              <a:rPr lang="fr-FR" dirty="0"/>
              <a:t>var </a:t>
            </a:r>
            <a:r>
              <a:rPr lang="fr-FR" dirty="0" err="1"/>
              <a:t>tempFile</a:t>
            </a:r>
            <a:r>
              <a:rPr lang="fr-FR" dirty="0"/>
              <a:t> = </a:t>
            </a:r>
            <a:r>
              <a:rPr lang="fr-FR" dirty="0" err="1"/>
              <a:t>Path.Combine</a:t>
            </a:r>
            <a:r>
              <a:rPr lang="fr-FR" dirty="0"/>
              <a:t>(</a:t>
            </a:r>
            <a:r>
              <a:rPr lang="fr-FR" dirty="0" err="1"/>
              <a:t>Path.GetTempPath</a:t>
            </a:r>
            <a:r>
              <a:rPr lang="fr-FR" dirty="0"/>
              <a:t>(), </a:t>
            </a:r>
            <a:r>
              <a:rPr lang="fr-FR" dirty="0" err="1"/>
              <a:t>Guid.NewGuid</a:t>
            </a:r>
            <a:r>
              <a:rPr lang="fr-FR" dirty="0"/>
              <a:t>() + ".</a:t>
            </a:r>
            <a:r>
              <a:rPr lang="fr-FR" dirty="0" err="1"/>
              <a:t>pdf</a:t>
            </a:r>
            <a:r>
              <a:rPr lang="fr-FR" dirty="0"/>
              <a:t>");</a:t>
            </a:r>
          </a:p>
          <a:p>
            <a:endParaRPr lang="fr-FR" dirty="0"/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1219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9A0B-5742-4239-B0BB-94EAF9587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B9FE-0FFB-C423-2712-5716D183F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653F-4762-2337-4AD6-152677D204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Une </a:t>
            </a:r>
            <a:r>
              <a:rPr lang="fr-FR" sz="2000" b="1" dirty="0"/>
              <a:t>Azure Web App</a:t>
            </a:r>
            <a:r>
              <a:rPr lang="fr-FR" sz="2000" dirty="0"/>
              <a:t> génère des fichiers temporaires dans :</a:t>
            </a:r>
          </a:p>
          <a:p>
            <a:pPr marL="0" indent="0">
              <a:buNone/>
            </a:pP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D:\local\Temp</a:t>
            </a:r>
          </a:p>
          <a:p>
            <a:pPr marL="0" indent="0">
              <a:buNone/>
            </a:pPr>
            <a:r>
              <a:rPr lang="fr-FR" sz="2000" dirty="0"/>
              <a:t>L’application est ensuite </a:t>
            </a:r>
            <a:r>
              <a:rPr lang="fr-FR" sz="2000" b="1" dirty="0" err="1"/>
              <a:t>scalée</a:t>
            </a:r>
            <a:r>
              <a:rPr lang="fr-FR" sz="2000" b="1" dirty="0"/>
              <a:t> en plusieurs instances (scale-out)</a:t>
            </a:r>
            <a:r>
              <a:rPr lang="fr-FR" sz="2000" dirty="0"/>
              <a:t>.</a:t>
            </a:r>
          </a:p>
          <a:p>
            <a:pPr marL="0" indent="0">
              <a:buNone/>
            </a:pPr>
            <a:r>
              <a:rPr lang="fr-FR" sz="2000" dirty="0"/>
              <a:t>Que se passe-t-il pour ces fichiers ?</a:t>
            </a:r>
          </a:p>
          <a:p>
            <a:pPr marL="0" indent="0">
              <a:buNone/>
            </a:pPr>
            <a:endParaRPr lang="fr-FR" sz="2000" dirty="0"/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automatiquement synchronisés entre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Les fichiers sont stockés dans Azure Storage et accessibles par toutes les instances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Chaque instance possède son propre disque local, les fichiers ne sont donc pas partagés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déplace automatiquement les fichiers vers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/site/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wwwroot</a:t>
            </a:r>
            <a:endParaRPr lang="fr-F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BC02BC0-DB60-101B-C8C1-3D77788D2135}"/>
              </a:ext>
            </a:extLst>
          </p:cNvPr>
          <p:cNvSpPr txBox="1"/>
          <p:nvPr/>
        </p:nvSpPr>
        <p:spPr>
          <a:xfrm>
            <a:off x="7596336" y="547330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6F18884-F05D-788A-3C67-49D0688082CB}"/>
              </a:ext>
            </a:extLst>
          </p:cNvPr>
          <p:cNvSpPr txBox="1"/>
          <p:nvPr/>
        </p:nvSpPr>
        <p:spPr>
          <a:xfrm>
            <a:off x="107504" y="42930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B6CD879-8E9A-5C8C-476F-2F221B82E87A}"/>
              </a:ext>
            </a:extLst>
          </p:cNvPr>
          <p:cNvSpPr txBox="1"/>
          <p:nvPr/>
        </p:nvSpPr>
        <p:spPr>
          <a:xfrm>
            <a:off x="152400" y="5413866"/>
            <a:ext cx="69847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/>
              <a:t>D:\local correspond au disque local de l’instance</a:t>
            </a:r>
          </a:p>
          <a:p>
            <a:pPr marL="285750" indent="-285750">
              <a:buFontTx/>
              <a:buChar char="-"/>
            </a:pPr>
            <a:r>
              <a:rPr lang="fr-FR" dirty="0"/>
              <a:t>chaque instance possède son propre stockage local</a:t>
            </a:r>
          </a:p>
          <a:p>
            <a:pPr marL="285750" indent="-285750">
              <a:buFontTx/>
              <a:buChar char="-"/>
            </a:pPr>
            <a:r>
              <a:rPr lang="fr-FR" dirty="0"/>
              <a:t>les fichiers générés dans D:\local\Temp ne sont pas visibles par les autres instances.</a:t>
            </a:r>
          </a:p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997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D351-5926-0FB8-A721-9C1E907F6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B5169-ACA4-69DD-8AB3-B5D6F7F3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79D49-83A9-9B23-CE33-C3146BA8E3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</a:t>
            </a:r>
            <a:r>
              <a:rPr lang="fr-FR" sz="2000" b="1" dirty="0"/>
              <a:t>diagnostiquer une erreur sur une Azure Web App en production</a:t>
            </a:r>
            <a:r>
              <a:rPr lang="fr-FR" sz="2000" dirty="0"/>
              <a:t>.</a:t>
            </a:r>
            <a:br>
              <a:rPr lang="fr-FR" sz="2000" dirty="0"/>
            </a:br>
            <a:r>
              <a:rPr lang="fr-FR" sz="2000" dirty="0"/>
              <a:t>Vous souhaitez </a:t>
            </a:r>
            <a:r>
              <a:rPr lang="fr-FR" sz="2000" b="1" dirty="0"/>
              <a:t>afficher temporairement les pages d’exception détaillées (.NET)</a:t>
            </a:r>
            <a:r>
              <a:rPr lang="fr-FR" sz="2000" dirty="0"/>
              <a:t> sans modifier le code ni redéployer l’application.</a:t>
            </a:r>
          </a:p>
          <a:p>
            <a:pPr marL="0" indent="0">
              <a:buNone/>
            </a:pPr>
            <a:r>
              <a:rPr lang="fr-FR" sz="2000" dirty="0"/>
              <a:t>Quelle est la solution la plus simple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</a:t>
            </a:r>
            <a:r>
              <a:rPr lang="fr-FR" sz="2400" dirty="0" err="1"/>
              <a:t>appsettings.json</a:t>
            </a:r>
            <a:r>
              <a:rPr lang="fr-FR" sz="2000" dirty="0"/>
              <a:t> et redéployer l’application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Modifier la variable d’environnement 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ASPNETCORE_ENVIRONMENT</a:t>
            </a:r>
            <a:r>
              <a:rPr lang="fr-F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dirty="0"/>
              <a:t>dans les </a:t>
            </a:r>
            <a:r>
              <a:rPr lang="fr-FR" sz="2000" b="1" dirty="0"/>
              <a:t>App Settings</a:t>
            </a:r>
            <a:r>
              <a:rPr lang="fr-FR" sz="2000" dirty="0"/>
              <a:t> de la Web App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Application Insights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Redémarrer l’App Service Plan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B7581E-8AF6-381D-B383-19909953CB71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60AEF1-7FC3-8ADA-7D09-7C7B7AA66B29}"/>
              </a:ext>
            </a:extLst>
          </p:cNvPr>
          <p:cNvSpPr txBox="1"/>
          <p:nvPr/>
        </p:nvSpPr>
        <p:spPr>
          <a:xfrm>
            <a:off x="38295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44BEC0-1956-9775-0447-D3AE904DF192}"/>
              </a:ext>
            </a:extLst>
          </p:cNvPr>
          <p:cNvSpPr txBox="1"/>
          <p:nvPr/>
        </p:nvSpPr>
        <p:spPr>
          <a:xfrm>
            <a:off x="245191" y="4725144"/>
            <a:ext cx="871929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dirty="0"/>
              <a:t>Dans une application </a:t>
            </a:r>
            <a:r>
              <a:rPr lang="fr-FR" b="1" dirty="0"/>
              <a:t>ASP.NET </a:t>
            </a:r>
            <a:r>
              <a:rPr lang="fr-FR" b="1" dirty="0" err="1"/>
              <a:t>Core</a:t>
            </a:r>
            <a:r>
              <a:rPr lang="fr-FR" dirty="0"/>
              <a:t>, les pages d’erreur détaillées sont généralement activées lorsque : </a:t>
            </a:r>
            <a:r>
              <a:rPr lang="fr-FR" dirty="0">
                <a:latin typeface="Courier New" panose="02070309020205020404" pitchFamily="49" charset="0"/>
              </a:rPr>
              <a:t>ASPNETCORE_ENVIRONMENT = </a:t>
            </a:r>
            <a:r>
              <a:rPr lang="fr-FR" dirty="0" err="1">
                <a:latin typeface="Courier New" panose="02070309020205020404" pitchFamily="49" charset="0"/>
              </a:rPr>
              <a:t>Development</a:t>
            </a:r>
            <a:endParaRPr lang="fr-FR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fr-FR" dirty="0"/>
              <a:t>Après redémarrage de l’application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les </a:t>
            </a:r>
            <a:r>
              <a:rPr lang="fr-FR" b="1" dirty="0" err="1"/>
              <a:t>Developer</a:t>
            </a:r>
            <a:r>
              <a:rPr lang="fr-FR" b="1" dirty="0"/>
              <a:t> Exception Pages</a:t>
            </a:r>
            <a:r>
              <a:rPr lang="fr-FR" dirty="0"/>
              <a:t> sont affichées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dirty="0"/>
              <a:t>cela permet de </a:t>
            </a:r>
            <a:r>
              <a:rPr lang="fr-FR" b="1" dirty="0"/>
              <a:t>diagnostiquer rapidement un problème</a:t>
            </a:r>
            <a:endParaRPr lang="fr-FR" dirty="0"/>
          </a:p>
          <a:p>
            <a:pPr>
              <a:buNone/>
            </a:pPr>
            <a:r>
              <a:rPr lang="fr-FR" dirty="0"/>
              <a:t>⚠️ À remettre ensuite en : </a:t>
            </a:r>
            <a:r>
              <a:rPr lang="fr-FR" dirty="0">
                <a:latin typeface="Courier New" panose="02070309020205020404" pitchFamily="49" charset="0"/>
              </a:rPr>
              <a:t>Production</a:t>
            </a:r>
          </a:p>
          <a:p>
            <a:pPr>
              <a:buNone/>
            </a:pPr>
            <a:r>
              <a:rPr lang="fr-FR" dirty="0"/>
              <a:t>(ou supprimer la variable) pour éviter d’exposer des informations sensibles.</a:t>
            </a:r>
          </a:p>
        </p:txBody>
      </p:sp>
    </p:spTree>
    <p:extLst>
      <p:ext uri="{BB962C8B-B14F-4D97-AF65-F5344CB8AC3E}">
        <p14:creationId xmlns:p14="http://schemas.microsoft.com/office/powerpoint/2010/main" val="891568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A0458-98BD-AB2D-8A7E-BCA2BBB4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2BBB7-D4B7-B2C4-CA26-0CE03FA17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0FA88-C96B-4807-6327-879702726A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lit une valeur via :</a:t>
            </a:r>
          </a:p>
          <a:p>
            <a:pPr marL="0" indent="0">
              <a:buNone/>
            </a:pP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_configuration["</a:t>
            </a:r>
            <a:r>
              <a:rPr lang="fr-FR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MySetting</a:t>
            </a:r>
            <a:r>
              <a:rPr lang="fr-FR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</a:p>
          <a:p>
            <a:pPr marL="0" indent="0">
              <a:buNone/>
            </a:pPr>
            <a:r>
              <a:rPr lang="fr-FR" sz="2400" dirty="0"/>
              <a:t>Vous avez :</a:t>
            </a:r>
          </a:p>
          <a:p>
            <a:r>
              <a:rPr lang="fr-FR" sz="2400" dirty="0" err="1"/>
              <a:t>appsettings.json</a:t>
            </a:r>
            <a:r>
              <a:rPr lang="fr-FR" sz="2400" dirty="0"/>
              <a:t> → </a:t>
            </a:r>
            <a:r>
              <a:rPr lang="fr-FR" sz="2400" dirty="0" err="1"/>
              <a:t>MySetting</a:t>
            </a:r>
            <a:r>
              <a:rPr lang="fr-FR" sz="2400" dirty="0"/>
              <a:t> = "A"</a:t>
            </a:r>
          </a:p>
          <a:p>
            <a:r>
              <a:rPr lang="fr-FR" sz="2400" dirty="0"/>
              <a:t>Azure App Settings → </a:t>
            </a:r>
            <a:r>
              <a:rPr lang="fr-FR" sz="2400" dirty="0" err="1"/>
              <a:t>MySetting</a:t>
            </a:r>
            <a:r>
              <a:rPr lang="fr-FR" sz="2400" dirty="0"/>
              <a:t> = "B"</a:t>
            </a:r>
          </a:p>
          <a:p>
            <a:pPr marL="0" indent="0">
              <a:buNone/>
            </a:pPr>
            <a:r>
              <a:rPr lang="fr-FR" sz="2400" dirty="0"/>
              <a:t>Quelle valeur est utilisée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B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 en local, B en Azure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B118224-F85A-E1B8-AF35-2B5782398577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BD9D0D0-1E3A-7A0E-5D9D-DE64E6A8EC5C}"/>
              </a:ext>
            </a:extLst>
          </p:cNvPr>
          <p:cNvSpPr txBox="1"/>
          <p:nvPr/>
        </p:nvSpPr>
        <p:spPr>
          <a:xfrm>
            <a:off x="0" y="46531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73A126D-7F6F-AE6D-4476-B505CBBD9990}"/>
              </a:ext>
            </a:extLst>
          </p:cNvPr>
          <p:cNvSpPr txBox="1"/>
          <p:nvPr/>
        </p:nvSpPr>
        <p:spPr>
          <a:xfrm>
            <a:off x="1475656" y="5791200"/>
            <a:ext cx="608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App Settings surchargent toujours les fichiers JSON.</a:t>
            </a:r>
          </a:p>
        </p:txBody>
      </p:sp>
    </p:spTree>
    <p:extLst>
      <p:ext uri="{BB962C8B-B14F-4D97-AF65-F5344CB8AC3E}">
        <p14:creationId xmlns:p14="http://schemas.microsoft.com/office/powerpoint/2010/main" val="1414214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796B0-4CBB-E2FF-3F58-F30580B7A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29C5A-28B7-BD61-D6FE-0A0EE164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06D78-5FA7-6978-EA3B-F2F61BC89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Il y a plus d’options de configuration sur des Windows Web App que sur des Linux Web App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Vrai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Faux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y en a autant. Les mêmes options sont disponibles.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55AD2A-C504-12AC-A542-25C650D4778B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E4E0BD-0BA7-7C15-6425-E4B107B88F6B}"/>
              </a:ext>
            </a:extLst>
          </p:cNvPr>
          <p:cNvSpPr txBox="1"/>
          <p:nvPr/>
        </p:nvSpPr>
        <p:spPr>
          <a:xfrm>
            <a:off x="107504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6B36D37-3FB4-CFAF-B073-65546CD1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77" y="3645024"/>
            <a:ext cx="3347864" cy="161112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534CCD6-2301-8091-124A-334A2B6198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24" y="3429000"/>
            <a:ext cx="3508555" cy="3056186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674AF09A-839D-A854-17FA-D22E276A2968}"/>
              </a:ext>
            </a:extLst>
          </p:cNvPr>
          <p:cNvSpPr txBox="1"/>
          <p:nvPr/>
        </p:nvSpPr>
        <p:spPr>
          <a:xfrm>
            <a:off x="323528" y="5315318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Linux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4D28EDD-625A-4809-05B5-61A74DA9671E}"/>
              </a:ext>
            </a:extLst>
          </p:cNvPr>
          <p:cNvSpPr txBox="1"/>
          <p:nvPr/>
        </p:nvSpPr>
        <p:spPr>
          <a:xfrm>
            <a:off x="4499992" y="6381328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Windows</a:t>
            </a:r>
          </a:p>
        </p:txBody>
      </p:sp>
    </p:spTree>
    <p:extLst>
      <p:ext uri="{BB962C8B-B14F-4D97-AF65-F5344CB8AC3E}">
        <p14:creationId xmlns:p14="http://schemas.microsoft.com/office/powerpoint/2010/main" val="3795525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2" grpId="0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9B90-FD18-CDB0-5B01-851719EC3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7152E-FB84-1C1E-3B25-19748CCA9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A005C-CFDE-95E1-15E2-C389AF1A7F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souhaitez </a:t>
            </a:r>
            <a:r>
              <a:rPr lang="fr-FR" sz="2400" b="1" dirty="0"/>
              <a:t>stocker une configuration sensible (clé API)</a:t>
            </a:r>
            <a:r>
              <a:rPr lang="fr-FR" sz="2400" dirty="0"/>
              <a:t> et la récupérer dans votre Web App </a:t>
            </a:r>
            <a:r>
              <a:rPr lang="fr-FR" sz="2400" b="1" dirty="0"/>
              <a:t>sans l'exposer dans le code ou dans les variables d’environnement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Azure recommandez-vous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Storage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App Configuration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Monitor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463FCA-4873-9838-344B-79F389AA7535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849B0ED-8C78-E68F-34E7-7DE32B1B5039}"/>
              </a:ext>
            </a:extLst>
          </p:cNvPr>
          <p:cNvSpPr txBox="1"/>
          <p:nvPr/>
        </p:nvSpPr>
        <p:spPr>
          <a:xfrm>
            <a:off x="2411760" y="4870842"/>
            <a:ext cx="367562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Key Vault</a:t>
            </a:r>
          </a:p>
          <a:p>
            <a:r>
              <a:rPr lang="fr-FR" b="1" dirty="0"/>
              <a:t>Key Vault</a:t>
            </a:r>
            <a:r>
              <a:rPr lang="fr-FR" dirty="0"/>
              <a:t> est conçu pour stocker :</a:t>
            </a:r>
          </a:p>
          <a:p>
            <a:r>
              <a:rPr lang="fr-FR" dirty="0"/>
              <a:t>secrets</a:t>
            </a:r>
          </a:p>
          <a:p>
            <a:r>
              <a:rPr lang="fr-FR" dirty="0"/>
              <a:t>clés</a:t>
            </a:r>
          </a:p>
          <a:p>
            <a:r>
              <a:rPr lang="fr-FR" dirty="0"/>
              <a:t>certificats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6679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099D9-A02C-3BB5-CCB5-AB964F154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186D52D1-A733-759F-2BE1-82798DF276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 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1C99DD1-78E5-0522-7E2F-AAB3421994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Azure SQL</a:t>
            </a:r>
          </a:p>
        </p:txBody>
      </p:sp>
    </p:spTree>
    <p:extLst>
      <p:ext uri="{BB962C8B-B14F-4D97-AF65-F5344CB8AC3E}">
        <p14:creationId xmlns:p14="http://schemas.microsoft.com/office/powerpoint/2010/main" val="1665070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1ECA-B302-7323-09BA-6F98B32E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3464-84C5-55E6-5431-F9290202C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A46D-7BF1-15CA-C698-CA93083474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Qu’est-ce qu’un Azure SQL </a:t>
            </a:r>
            <a:r>
              <a:rPr lang="fr-FR" sz="2400" dirty="0" err="1"/>
              <a:t>Logical</a:t>
            </a:r>
            <a:r>
              <a:rPr lang="fr-FR" sz="2400" dirty="0"/>
              <a:t> Server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base de données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serveur physique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instance logique qui héberge des bases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 cluster </a:t>
            </a:r>
            <a:r>
              <a:rPr lang="fr-FR" sz="2400" dirty="0" err="1"/>
              <a:t>Kubernetes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526C025-123D-158D-BFD2-36C61C1F8E19}"/>
              </a:ext>
            </a:extLst>
          </p:cNvPr>
          <p:cNvSpPr txBox="1"/>
          <p:nvPr/>
        </p:nvSpPr>
        <p:spPr>
          <a:xfrm>
            <a:off x="7668344" y="3801814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644ACC-3373-302E-7E5C-F6B56DB1B5DB}"/>
              </a:ext>
            </a:extLst>
          </p:cNvPr>
          <p:cNvSpPr txBox="1"/>
          <p:nvPr/>
        </p:nvSpPr>
        <p:spPr>
          <a:xfrm>
            <a:off x="-33713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E4989C-0213-6C42-82B6-64AA112BBAC3}"/>
              </a:ext>
            </a:extLst>
          </p:cNvPr>
          <p:cNvSpPr txBox="1"/>
          <p:nvPr/>
        </p:nvSpPr>
        <p:spPr>
          <a:xfrm>
            <a:off x="1403648" y="4941168"/>
            <a:ext cx="3315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contient plusieurs bases SQL.</a:t>
            </a:r>
          </a:p>
        </p:txBody>
      </p:sp>
    </p:spTree>
    <p:extLst>
      <p:ext uri="{BB962C8B-B14F-4D97-AF65-F5344CB8AC3E}">
        <p14:creationId xmlns:p14="http://schemas.microsoft.com/office/powerpoint/2010/main" val="3119713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103C1-2188-2E93-BD3E-6E681D15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649D2-E9A0-3F67-4E6B-41AD07A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ECFCF-FF49-B907-8BC9-4918E321C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contient une Azure SQL </a:t>
            </a:r>
            <a:r>
              <a:rPr lang="fr-FR" sz="2400" dirty="0" err="1"/>
              <a:t>Database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serveurs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VM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conteneurs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Des tables et données</a:t>
            </a:r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78096C-60BD-5A11-DC18-0B25BA010E3D}"/>
              </a:ext>
            </a:extLst>
          </p:cNvPr>
          <p:cNvSpPr txBox="1"/>
          <p:nvPr/>
        </p:nvSpPr>
        <p:spPr>
          <a:xfrm>
            <a:off x="7668344" y="3801814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45D6DE-E143-CED6-C070-803980518278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7547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D534E-E096-21C6-D780-B7309CB1E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7AA7E-D1AE-19CC-D8B5-0C035FDA5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8886-0B96-C6BD-D1B2-B77CA0F57C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déployez une application Azure Web App qui doit se connecter à une Azure SQL </a:t>
            </a:r>
            <a:r>
              <a:rPr lang="fr-FR" sz="2000" dirty="0" err="1"/>
              <a:t>Database</a:t>
            </a:r>
            <a:r>
              <a:rPr lang="fr-FR" sz="2000" dirty="0"/>
              <a:t> nouvellement créée.</a:t>
            </a:r>
          </a:p>
          <a:p>
            <a:pPr marL="0" indent="0">
              <a:buNone/>
            </a:pPr>
            <a:r>
              <a:rPr lang="fr-FR" sz="2000" dirty="0"/>
              <a:t>Malgré une chaîne de connexion correcte, la connexion échoue.</a:t>
            </a:r>
          </a:p>
          <a:p>
            <a:pPr marL="0" indent="0">
              <a:buNone/>
            </a:pPr>
            <a:r>
              <a:rPr lang="fr-FR" sz="2000" dirty="0"/>
              <a:t>Quelle est l’explication la plus probable ET la bonne action à effectuer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mot de passe SQL est incorrect → Le réinitialiser dans Azure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Azure SQL n’accepte pas les connexions externes par défaut → Configurer le firewall pour autoriser l’IP ou activer “</a:t>
            </a:r>
            <a:r>
              <a:rPr lang="fr-FR" sz="2000" dirty="0" err="1"/>
              <a:t>Allow</a:t>
            </a:r>
            <a:r>
              <a:rPr lang="fr-FR" sz="2000" dirty="0"/>
              <a:t> Azure services”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n’est pas démarrée → Redémarrer le serveur SQL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Web App ne peut pas accéder à Azure SQL sans </a:t>
            </a:r>
            <a:r>
              <a:rPr lang="fr-FR" sz="2000" dirty="0" err="1"/>
              <a:t>VNet</a:t>
            </a:r>
            <a:r>
              <a:rPr lang="fr-FR" sz="2000" dirty="0"/>
              <a:t> → Configurer une </a:t>
            </a:r>
            <a:r>
              <a:rPr lang="fr-FR" sz="2000" dirty="0" err="1"/>
              <a:t>VNet</a:t>
            </a:r>
            <a:r>
              <a:rPr lang="fr-FR" sz="2000" dirty="0"/>
              <a:t> </a:t>
            </a:r>
            <a:r>
              <a:rPr lang="fr-FR" sz="2000" dirty="0" err="1"/>
              <a:t>Integration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C0D56A-C757-D2E2-FA09-8B3A14D76AA0}"/>
              </a:ext>
            </a:extLst>
          </p:cNvPr>
          <p:cNvSpPr txBox="1"/>
          <p:nvPr/>
        </p:nvSpPr>
        <p:spPr>
          <a:xfrm>
            <a:off x="7812360" y="4869160"/>
            <a:ext cx="123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A362067-425E-DE2E-82F0-ED2A0E63F46A}"/>
              </a:ext>
            </a:extLst>
          </p:cNvPr>
          <p:cNvSpPr txBox="1"/>
          <p:nvPr/>
        </p:nvSpPr>
        <p:spPr>
          <a:xfrm>
            <a:off x="0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D1E3881-02F9-2A5C-A5B1-ACAE93D45FCB}"/>
              </a:ext>
            </a:extLst>
          </p:cNvPr>
          <p:cNvSpPr txBox="1"/>
          <p:nvPr/>
        </p:nvSpPr>
        <p:spPr>
          <a:xfrm>
            <a:off x="278525" y="5380672"/>
            <a:ext cx="7404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défaut, Azure SQL est protégé par un firewall</a:t>
            </a:r>
          </a:p>
          <a:p>
            <a:r>
              <a:rPr lang="fr-FR" dirty="0"/>
              <a:t>Toutes les connexions sont refusées sauf celles explicitement autorisées</a:t>
            </a:r>
          </a:p>
          <a:p>
            <a:r>
              <a:rPr lang="fr-FR" dirty="0"/>
              <a:t>Il faut :</a:t>
            </a:r>
          </a:p>
          <a:p>
            <a:pPr marL="285750" indent="-285750">
              <a:buFontTx/>
              <a:buChar char="-"/>
            </a:pPr>
            <a:r>
              <a:rPr lang="fr-FR" dirty="0"/>
              <a:t>autoriser l’IP cliente</a:t>
            </a:r>
          </a:p>
          <a:p>
            <a:pPr marL="285750" indent="-285750">
              <a:buFontTx/>
              <a:buChar char="-"/>
            </a:pPr>
            <a:r>
              <a:rPr lang="fr-FR" dirty="0"/>
              <a:t>ou activer “</a:t>
            </a:r>
            <a:r>
              <a:rPr lang="fr-FR" dirty="0" err="1"/>
              <a:t>Allow</a:t>
            </a:r>
            <a:r>
              <a:rPr lang="fr-FR" dirty="0"/>
              <a:t> Azure services and </a:t>
            </a:r>
            <a:r>
              <a:rPr lang="fr-FR" dirty="0" err="1"/>
              <a:t>resources</a:t>
            </a:r>
            <a:r>
              <a:rPr lang="fr-FR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031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24434-5BFA-1588-690B-61DDB7839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02CD-94E6-E420-3702-A0732AC2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1BFCA-1991-FC40-7470-B95CAFC3A6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hébergée dans </a:t>
            </a:r>
            <a:r>
              <a:rPr lang="fr-FR" sz="2400" b="1" dirty="0"/>
              <a:t>Azure App Service</a:t>
            </a:r>
            <a:r>
              <a:rPr lang="fr-FR" sz="2400" dirty="0"/>
              <a:t> doit accéder à une base </a:t>
            </a:r>
            <a:r>
              <a:rPr lang="fr-FR" sz="2400" b="1" dirty="0"/>
              <a:t>Azure SQL </a:t>
            </a:r>
            <a:r>
              <a:rPr lang="fr-FR" sz="2400" b="1" dirty="0" err="1"/>
              <a:t>Database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Vous souhaitez que </a:t>
            </a:r>
            <a:r>
              <a:rPr lang="fr-FR" sz="2400" b="1" dirty="0"/>
              <a:t>la base de données ne soit plus accessible via son </a:t>
            </a:r>
            <a:r>
              <a:rPr lang="fr-FR" sz="2400" b="1" dirty="0" err="1"/>
              <a:t>endpoint</a:t>
            </a:r>
            <a:r>
              <a:rPr lang="fr-FR" sz="2400" b="1" dirty="0"/>
              <a:t> public</a:t>
            </a:r>
            <a:r>
              <a:rPr lang="fr-FR" sz="2400" dirty="0"/>
              <a:t> et que l’accès se fasse uniquement via une </a:t>
            </a:r>
            <a:r>
              <a:rPr lang="fr-FR" sz="2400" b="1" dirty="0"/>
              <a:t>adresse IP privée dans un </a:t>
            </a:r>
            <a:r>
              <a:rPr lang="fr-FR" sz="2400" b="1" dirty="0" err="1"/>
              <a:t>VNet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fonctionnalité devez-vous utiliser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 err="1"/>
              <a:t>Private</a:t>
            </a:r>
            <a:r>
              <a:rPr lang="fr-FR" sz="2400" dirty="0"/>
              <a:t> Endpoint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Firewall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Environment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B573E9-2A20-1242-3B59-611F749268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554" y="4148012"/>
            <a:ext cx="1437261" cy="121572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DAE43AA6-5090-BFFF-B3EF-458804C08FF4}"/>
              </a:ext>
            </a:extLst>
          </p:cNvPr>
          <p:cNvSpPr txBox="1"/>
          <p:nvPr/>
        </p:nvSpPr>
        <p:spPr>
          <a:xfrm>
            <a:off x="7236296" y="342282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2DDA4C9-A395-F721-4F8D-493FAFFAE6ED}"/>
              </a:ext>
            </a:extLst>
          </p:cNvPr>
          <p:cNvSpPr txBox="1"/>
          <p:nvPr/>
        </p:nvSpPr>
        <p:spPr>
          <a:xfrm>
            <a:off x="8650" y="435233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7F83D85-5504-14E5-B2E6-14159DDA7D6E}"/>
              </a:ext>
            </a:extLst>
          </p:cNvPr>
          <p:cNvSpPr txBox="1"/>
          <p:nvPr/>
        </p:nvSpPr>
        <p:spPr>
          <a:xfrm>
            <a:off x="179512" y="5791200"/>
            <a:ext cx="87129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Le </a:t>
            </a:r>
            <a:r>
              <a:rPr lang="fr-FR" b="1" dirty="0" err="1"/>
              <a:t>Private</a:t>
            </a:r>
            <a:r>
              <a:rPr lang="fr-FR" b="1" dirty="0"/>
              <a:t> Endpoint</a:t>
            </a:r>
            <a:r>
              <a:rPr lang="fr-FR" dirty="0"/>
              <a:t> permet de créer une </a:t>
            </a:r>
            <a:r>
              <a:rPr lang="fr-FR" b="1" dirty="0"/>
              <a:t>IP privée dans un </a:t>
            </a:r>
            <a:r>
              <a:rPr lang="fr-FR" b="1" dirty="0" err="1"/>
              <a:t>Vnet</a:t>
            </a:r>
            <a:br>
              <a:rPr lang="fr-FR" b="1" dirty="0"/>
            </a:br>
            <a:r>
              <a:rPr lang="fr-FR" dirty="0" err="1"/>
              <a:t>Private</a:t>
            </a:r>
            <a:r>
              <a:rPr lang="fr-FR" dirty="0"/>
              <a:t> Endpoint protège la ressource.</a:t>
            </a:r>
            <a:br>
              <a:rPr lang="fr-FR" dirty="0"/>
            </a:br>
            <a:r>
              <a:rPr lang="fr-FR" dirty="0" err="1"/>
              <a:t>VNet</a:t>
            </a:r>
            <a:r>
              <a:rPr lang="fr-FR" dirty="0"/>
              <a:t> </a:t>
            </a:r>
            <a:r>
              <a:rPr lang="fr-FR" dirty="0" err="1"/>
              <a:t>Integration</a:t>
            </a:r>
            <a:r>
              <a:rPr lang="fr-FR" dirty="0"/>
              <a:t> permet à votre application d’y accéder.</a:t>
            </a:r>
          </a:p>
        </p:txBody>
      </p:sp>
    </p:spTree>
    <p:extLst>
      <p:ext uri="{BB962C8B-B14F-4D97-AF65-F5344CB8AC3E}">
        <p14:creationId xmlns:p14="http://schemas.microsoft.com/office/powerpoint/2010/main" val="35665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6B746-280E-8C29-B228-B60490398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82455-7BE0-15CA-0907-51DB85E73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0C233-F6C5-F988-C9C4-4CBD9659FF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base Azure SQL est dans un autre Resource Group.</a:t>
            </a:r>
          </a:p>
          <a:p>
            <a:pPr marL="0" indent="0">
              <a:buNone/>
            </a:pPr>
            <a:r>
              <a:rPr lang="fr-FR" sz="2400" dirty="0"/>
              <a:t>Votre Web App ne peut pas s’y connecter.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La Web App doit obligatoirement être dans le même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Une </a:t>
            </a:r>
            <a:r>
              <a:rPr lang="fr-FR" sz="2400" dirty="0" err="1"/>
              <a:t>VNet</a:t>
            </a:r>
            <a:r>
              <a:rPr lang="fr-FR" sz="2400" dirty="0"/>
              <a:t> </a:t>
            </a:r>
            <a:r>
              <a:rPr lang="fr-FR" sz="2400" dirty="0" err="1"/>
              <a:t>Integration</a:t>
            </a:r>
            <a:r>
              <a:rPr lang="fr-FR" sz="2400" dirty="0"/>
              <a:t> est obligatoire pour accéder à Azure SQL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SQL n’accepte que les connexions internes au Resource Group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firewall Azure SQL bloque l’accès depuis la Web App</a:t>
            </a:r>
          </a:p>
          <a:p>
            <a:pPr>
              <a:buFont typeface="+mj-lt"/>
              <a:buAutoNum type="arabicPeriod"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655D8A8-37EB-0EFD-BFCD-DD5A1CB0D0A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D9B97-E3D3-AC66-0D40-FFF7B659B7C9}"/>
              </a:ext>
            </a:extLst>
          </p:cNvPr>
          <p:cNvSpPr txBox="1"/>
          <p:nvPr/>
        </p:nvSpPr>
        <p:spPr>
          <a:xfrm>
            <a:off x="110303" y="486916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8D76327-5639-E07C-6705-E86A81E64D4E}"/>
              </a:ext>
            </a:extLst>
          </p:cNvPr>
          <p:cNvSpPr txBox="1"/>
          <p:nvPr/>
        </p:nvSpPr>
        <p:spPr>
          <a:xfrm>
            <a:off x="1331640" y="5517232"/>
            <a:ext cx="4132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 firewall bloque Azure SQL</a:t>
            </a:r>
          </a:p>
        </p:txBody>
      </p:sp>
    </p:spTree>
    <p:extLst>
      <p:ext uri="{BB962C8B-B14F-4D97-AF65-F5344CB8AC3E}">
        <p14:creationId xmlns:p14="http://schemas.microsoft.com/office/powerpoint/2010/main" val="406218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80FF8-0738-698F-7EF9-A2601AEE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7EDDE-4331-2B96-31EC-E68207B11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D9EA6-4E21-0D42-94C1-F7F189AC91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application Web App doit </a:t>
            </a:r>
            <a:r>
              <a:rPr lang="fr-FR" sz="2400" b="1" dirty="0"/>
              <a:t>accéder à une base de données Azure SQL sans stocker de secrets dans le code</a:t>
            </a:r>
            <a:r>
              <a:rPr lang="fr-FR" sz="2400" dirty="0"/>
              <a:t>.</a:t>
            </a:r>
          </a:p>
          <a:p>
            <a:pPr marL="0" indent="0">
              <a:buNone/>
            </a:pPr>
            <a:r>
              <a:rPr lang="fr-FR" sz="2400" dirty="0"/>
              <a:t>Quelle solution est la plus appropriée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Connection string dans </a:t>
            </a:r>
            <a:r>
              <a:rPr lang="fr-FR" sz="2400" i="1" dirty="0" err="1"/>
              <a:t>appsettings.json</a:t>
            </a:r>
            <a:endParaRPr lang="fr-FR" sz="2400" i="1" dirty="0"/>
          </a:p>
          <a:p>
            <a:pPr>
              <a:buFont typeface="+mj-lt"/>
              <a:buAutoNum type="arabicPeriod"/>
            </a:pPr>
            <a:r>
              <a:rPr lang="fr-FR" sz="2400" dirty="0"/>
              <a:t>Variables d’environnement dans App Service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Managed</a:t>
            </a:r>
            <a:r>
              <a:rPr lang="fr-FR" sz="2400" dirty="0"/>
              <a:t> Identity + Azure AD </a:t>
            </a:r>
            <a:r>
              <a:rPr lang="fr-FR" sz="2400" dirty="0" err="1"/>
              <a:t>Authentication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Stocker le mot de passe dans Azure Blob Storage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9AF7B5-D2C1-2B0C-3922-0FB993F98102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87D38D8-4873-AADD-185F-813E2F28325D}"/>
              </a:ext>
            </a:extLst>
          </p:cNvPr>
          <p:cNvSpPr txBox="1"/>
          <p:nvPr/>
        </p:nvSpPr>
        <p:spPr>
          <a:xfrm>
            <a:off x="0" y="324433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4ECAF1-CD11-CAB1-59A3-3201F26D11BC}"/>
              </a:ext>
            </a:extLst>
          </p:cNvPr>
          <p:cNvSpPr txBox="1"/>
          <p:nvPr/>
        </p:nvSpPr>
        <p:spPr>
          <a:xfrm>
            <a:off x="1338455" y="5013176"/>
            <a:ext cx="52913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Une </a:t>
            </a:r>
            <a:r>
              <a:rPr lang="fr-FR" b="1" dirty="0" err="1"/>
              <a:t>Managed</a:t>
            </a:r>
            <a:r>
              <a:rPr lang="fr-FR" b="1" dirty="0"/>
              <a:t> Identity</a:t>
            </a:r>
            <a:r>
              <a:rPr lang="fr-FR" dirty="0"/>
              <a:t> permet à l'application de :</a:t>
            </a:r>
          </a:p>
          <a:p>
            <a:r>
              <a:rPr lang="fr-FR" dirty="0"/>
              <a:t>s'authentifier automatiquement auprès d’Azure</a:t>
            </a:r>
          </a:p>
          <a:p>
            <a:r>
              <a:rPr lang="fr-FR" dirty="0"/>
              <a:t>sans mot de passe</a:t>
            </a:r>
          </a:p>
          <a:p>
            <a:r>
              <a:rPr lang="fr-FR" dirty="0"/>
              <a:t>sans secret dans le code</a:t>
            </a:r>
          </a:p>
        </p:txBody>
      </p:sp>
    </p:spTree>
    <p:extLst>
      <p:ext uri="{BB962C8B-B14F-4D97-AF65-F5344CB8AC3E}">
        <p14:creationId xmlns:p14="http://schemas.microsoft.com/office/powerpoint/2010/main" val="3013745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F538-6575-D672-1EB1-26CC919DA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2F7220A-381B-1AFC-70D9-93623E8D62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E6C8AA-437B-BA0B-2634-C82FFD3F3FF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Kudu &amp; </a:t>
            </a:r>
            <a:r>
              <a:rPr lang="fr-FR" dirty="0" err="1"/>
              <a:t>Debug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233184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41622-DB54-AC4C-D948-F8186DEB4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2C03-C620-179E-8154-B0533B50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4CF3-7FBC-8926-F9C8-0F0A12B061D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Kudu permet :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Déployer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Explorer l’environnement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Modifier le code source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Compiler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26AE16F-03A1-6BF9-A414-8C4D1016908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3704060-9A67-F216-9423-8AC7B4947751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419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7839-58BE-3F2E-AC56-72151FE82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A2D31-9BDC-D4FA-BE31-8B8AB08F8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52D8D-0C9D-93C8-1F73-5FD0724FC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sont stockés les logs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/home/</a:t>
            </a:r>
            <a:r>
              <a:rPr lang="fr-FR" sz="2400" dirty="0" err="1"/>
              <a:t>LogFiles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/logs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/</a:t>
            </a:r>
            <a:r>
              <a:rPr lang="fr-FR" sz="2400" dirty="0" err="1"/>
              <a:t>tmp</a:t>
            </a: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B9B22C7-7DF9-75DC-E4E3-BFD8415B7CA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689F8C7-60E7-39E9-1FC4-5E0F9EF6EB79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8389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8B990-11DB-3CB1-593B-1C6F15B8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7C621-8BE6-8C76-EB2B-72E79B054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70707-E2D5-9F82-3E58-2172070739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Où voir les logs en temps réel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Metrics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Log </a:t>
            </a:r>
            <a:r>
              <a:rPr lang="fr-FR" sz="2400" dirty="0" err="1"/>
              <a:t>stream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home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SQL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EC1F813-9578-B2C4-E3D2-6795C0CAB54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1A7C78-2CED-9CB6-858E-ADF910354118}"/>
              </a:ext>
            </a:extLst>
          </p:cNvPr>
          <p:cNvSpPr txBox="1"/>
          <p:nvPr/>
        </p:nvSpPr>
        <p:spPr>
          <a:xfrm>
            <a:off x="0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10584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A271E-2251-4637-E83A-8412B1446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80C-A2A8-F289-9754-054C355D1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4C172-3FD7-3611-F13A-564734FBAA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écrit dans </a:t>
            </a:r>
            <a:r>
              <a:rPr lang="fr-FR" dirty="0"/>
              <a:t>/home/temp</a:t>
            </a:r>
            <a:r>
              <a:rPr lang="fr-FR" sz="2400" dirty="0"/>
              <a:t>. Que se passe-t-il en scale-out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Fichier partagé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Chaque instance a son propre stockage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synchronise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Erreur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8569D96-6780-B3E3-0931-DDBDE077888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9347F84-6737-9281-86B5-12187D783D11}"/>
              </a:ext>
            </a:extLst>
          </p:cNvPr>
          <p:cNvSpPr txBox="1"/>
          <p:nvPr/>
        </p:nvSpPr>
        <p:spPr>
          <a:xfrm>
            <a:off x="0" y="24208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854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A23D1-767F-7B13-9267-C8160976E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0EF49-F63D-D8EE-7F7D-F29F5875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AF994-21DA-3668-4A6F-983A77FA18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avez ajouté :</a:t>
            </a:r>
          </a:p>
          <a:p>
            <a:pPr marL="0" indent="0">
              <a:buNone/>
            </a:pPr>
            <a:r>
              <a:rPr lang="fr-FR" sz="2400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AddAzureWebAppDiagnostics</a:t>
            </a:r>
            <a:r>
              <a:rPr lang="fr-FR" sz="2400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fr-FR" sz="2400" dirty="0"/>
              <a:t>Mais aucun log n’apparaît.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</a:t>
            </a:r>
            <a:r>
              <a:rPr lang="fr-FR" sz="2400" dirty="0" err="1"/>
              <a:t>ILogger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Mauvais niveau log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Mauvais port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Logs non activés côté Azure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F15D9A7-7208-D947-AB4B-9656F5ED205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DF86FA4-9231-C7C0-6D09-E7E46A956F5C}"/>
              </a:ext>
            </a:extLst>
          </p:cNvPr>
          <p:cNvSpPr txBox="1"/>
          <p:nvPr/>
        </p:nvSpPr>
        <p:spPr>
          <a:xfrm>
            <a:off x="0" y="422108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A527965-B87A-9096-E013-E1A870747ED1}"/>
              </a:ext>
            </a:extLst>
          </p:cNvPr>
          <p:cNvSpPr txBox="1"/>
          <p:nvPr/>
        </p:nvSpPr>
        <p:spPr>
          <a:xfrm>
            <a:off x="1331640" y="5517232"/>
            <a:ext cx="4631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Par défaut les logs azure ne sont pas activés</a:t>
            </a:r>
          </a:p>
        </p:txBody>
      </p:sp>
    </p:spTree>
    <p:extLst>
      <p:ext uri="{BB962C8B-B14F-4D97-AF65-F5344CB8AC3E}">
        <p14:creationId xmlns:p14="http://schemas.microsoft.com/office/powerpoint/2010/main" val="317924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833D-55D4-7348-DDCB-C611753E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9F017-8097-1101-4005-A0653C7DA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042D3-DDDB-E856-2F48-99EE2BA0C39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Dans Azure App Service, vous ouvrez une session SSH depuis le portail.</a:t>
            </a:r>
          </a:p>
          <a:p>
            <a:pPr marL="0" indent="0">
              <a:buNone/>
            </a:pPr>
            <a:r>
              <a:rPr lang="fr-FR" sz="2400" dirty="0"/>
              <a:t>Quelle est la différence entre </a:t>
            </a:r>
            <a:r>
              <a:rPr lang="fr-FR" sz="2400" b="1" dirty="0"/>
              <a:t>“SSH to Application”</a:t>
            </a:r>
            <a:r>
              <a:rPr lang="fr-FR" sz="2400" dirty="0"/>
              <a:t> et </a:t>
            </a:r>
            <a:r>
              <a:rPr lang="fr-FR" sz="2400" b="1" dirty="0"/>
              <a:t>“SSH to Kudu”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Il n’y a aucune différence, ce sont deux interfaces identiques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permet d’exécuter des commandes Azure CLI, tandis que “SSH to Kudu” est limité aux logs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Kudu” accède au conteneur de production, tandis que “SSH to Application” accède à un environnement isolé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“SSH to Application” accède au conteneur de l’application, tandis que “SSH to Kudu” accède à l’environnement de gestion (Kudu)</a:t>
            </a:r>
          </a:p>
          <a:p>
            <a:pPr>
              <a:buFont typeface="+mj-lt"/>
              <a:buAutoNum type="arabicPeriod"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4A74DB8-B69F-22F8-FFD1-1E07AC6C729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6D5E3F6-EF41-56FD-0D39-7295D1EEE832}"/>
              </a:ext>
            </a:extLst>
          </p:cNvPr>
          <p:cNvSpPr txBox="1"/>
          <p:nvPr/>
        </p:nvSpPr>
        <p:spPr>
          <a:xfrm>
            <a:off x="0" y="450912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86367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CCFD-B449-4957-FFCC-FB05B2F1C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B3984-C3A0-DF26-20D6-3B48D9196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733AD7-BB8D-5C79-0F5A-50D5B88A22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Vous modifiez un fichier via “SSH to Kudu”, mais votre application ne voit pas le changement.</a:t>
            </a:r>
          </a:p>
          <a:p>
            <a:pPr marL="0" indent="0">
              <a:buNone/>
            </a:pPr>
            <a:r>
              <a:rPr lang="fr-FR" sz="2400" dirty="0"/>
              <a:t>Pourquoi ?</a:t>
            </a:r>
          </a:p>
          <a:p>
            <a:pPr marL="0" indent="0">
              <a:buNone/>
            </a:pP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Kudu utilise un environnement différent de l’application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Les fichiers modifiés via Kudu ne sont jamais persistés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L’application est en lecture seule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Le cache Azure empêche la lecture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F361DC5-2304-8071-67B4-BD9BC8085F5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E79E7AA-0FBC-E1EC-D235-77C3A456DEF7}"/>
              </a:ext>
            </a:extLst>
          </p:cNvPr>
          <p:cNvSpPr txBox="1"/>
          <p:nvPr/>
        </p:nvSpPr>
        <p:spPr>
          <a:xfrm>
            <a:off x="35496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1B75B17-F156-BE7D-8F01-CFF934566328}"/>
              </a:ext>
            </a:extLst>
          </p:cNvPr>
          <p:cNvSpPr txBox="1"/>
          <p:nvPr/>
        </p:nvSpPr>
        <p:spPr>
          <a:xfrm>
            <a:off x="1331640" y="5517232"/>
            <a:ext cx="552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Il faut utiliser SSH to Application et non SSH to Kudu</a:t>
            </a:r>
          </a:p>
        </p:txBody>
      </p:sp>
    </p:spTree>
    <p:extLst>
      <p:ext uri="{BB962C8B-B14F-4D97-AF65-F5344CB8AC3E}">
        <p14:creationId xmlns:p14="http://schemas.microsoft.com/office/powerpoint/2010/main" val="960965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B1E7-1ED5-A2D0-2929-AE1C5107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5D7ECF3-A59D-BBBF-9190-1B28B13D924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7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2406FBA-2E0B-E39C-843C-8F8F676F73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/>
              <a:t>Custom </a:t>
            </a:r>
            <a:r>
              <a:rPr lang="fr-FR" dirty="0" err="1"/>
              <a:t>domain</a:t>
            </a:r>
            <a:r>
              <a:rPr lang="fr-FR" dirty="0"/>
              <a:t> and Certificates</a:t>
            </a:r>
          </a:p>
        </p:txBody>
      </p:sp>
    </p:spTree>
    <p:extLst>
      <p:ext uri="{BB962C8B-B14F-4D97-AF65-F5344CB8AC3E}">
        <p14:creationId xmlns:p14="http://schemas.microsoft.com/office/powerpoint/2010/main" val="29079420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0E5E4-E644-CD85-B6CC-10B074F9C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0280B-4EAB-3744-2A07-007DBB7B6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9960E-CED1-3C12-22AD-40DBB8CBA7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bouton </a:t>
            </a:r>
            <a:r>
              <a:rPr lang="fr-FR" sz="2400" b="1" dirty="0" err="1"/>
              <a:t>Add</a:t>
            </a:r>
            <a:r>
              <a:rPr lang="fr-FR" sz="2400" b="1" dirty="0"/>
              <a:t> custom </a:t>
            </a:r>
            <a:r>
              <a:rPr lang="fr-FR" sz="2400" b="1" dirty="0" err="1"/>
              <a:t>domain</a:t>
            </a:r>
            <a:r>
              <a:rPr lang="fr-FR" sz="2400" dirty="0"/>
              <a:t> peut-il être grisé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domaine n’est pas valide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en Free ou </a:t>
            </a:r>
            <a:r>
              <a:rPr lang="fr-FR" sz="2000" dirty="0" err="1"/>
              <a:t>Shared</a:t>
            </a:r>
            <a:r>
              <a:rPr lang="fr-FR" sz="20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DNS n’est pas configuré</a:t>
            </a:r>
          </a:p>
          <a:p>
            <a:pPr marL="0" indent="0">
              <a:buNone/>
            </a:pPr>
            <a:endParaRPr lang="fr-FR" sz="24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E551A1A-7737-3745-1DC0-C1418FE765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2" y="3068960"/>
            <a:ext cx="5652120" cy="280276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0612EEA-020A-54BD-7764-FD47020F549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E8A022E-C2CE-6F39-924D-6371BAA19576}"/>
              </a:ext>
            </a:extLst>
          </p:cNvPr>
          <p:cNvSpPr txBox="1"/>
          <p:nvPr/>
        </p:nvSpPr>
        <p:spPr>
          <a:xfrm>
            <a:off x="44624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2FE0DEF-90E4-F336-07D9-63A44CEAD816}"/>
              </a:ext>
            </a:extLst>
          </p:cNvPr>
          <p:cNvSpPr txBox="1"/>
          <p:nvPr/>
        </p:nvSpPr>
        <p:spPr>
          <a:xfrm>
            <a:off x="683568" y="6109812"/>
            <a:ext cx="667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Les plans Free et </a:t>
            </a:r>
            <a:r>
              <a:rPr lang="fr-FR" dirty="0" err="1"/>
              <a:t>Shared</a:t>
            </a:r>
            <a:r>
              <a:rPr lang="fr-FR" dirty="0"/>
              <a:t> ne supportent pas les custom </a:t>
            </a:r>
            <a:r>
              <a:rPr lang="fr-FR" dirty="0" err="1"/>
              <a:t>domains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5395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8BA7B-BA64-D231-11CB-8369C045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24F3F-926B-C2B0-5175-1DF76C07C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0F76FB-0E68-ADEB-8362-C36666A268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est le rôle principal de l’enregistrement </a:t>
            </a:r>
            <a:r>
              <a:rPr lang="fr-FR" sz="2400" b="1" dirty="0"/>
              <a:t>TXT (</a:t>
            </a:r>
            <a:r>
              <a:rPr lang="fr-FR" sz="2400" b="1" dirty="0" err="1"/>
              <a:t>asuid</a:t>
            </a:r>
            <a:r>
              <a:rPr lang="fr-FR" sz="2400" b="1" dirty="0"/>
              <a:t>)</a:t>
            </a:r>
            <a:r>
              <a:rPr lang="fr-FR" sz="2400" dirty="0"/>
              <a:t>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Valider la propriété du domaine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Rediriger le trafic vers Azure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Activer HTTPS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Configurer le firewall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767F819-2818-4962-E52E-6383A92DF55F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1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B5347C-C3C7-83A0-B6EC-54CFDCEAA15B}"/>
              </a:ext>
            </a:extLst>
          </p:cNvPr>
          <p:cNvSpPr txBox="1"/>
          <p:nvPr/>
        </p:nvSpPr>
        <p:spPr>
          <a:xfrm>
            <a:off x="35496" y="151788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97D67B4-6F0D-060A-B222-F5F0417CD8FE}"/>
              </a:ext>
            </a:extLst>
          </p:cNvPr>
          <p:cNvSpPr txBox="1"/>
          <p:nvPr/>
        </p:nvSpPr>
        <p:spPr>
          <a:xfrm>
            <a:off x="107504" y="4509120"/>
            <a:ext cx="7670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Le TXT sert uniquement à prouver que vous êtes propriétaire du domaine.</a:t>
            </a:r>
          </a:p>
          <a:p>
            <a:r>
              <a:rPr lang="fr-FR" dirty="0"/>
              <a:t>Le CNAME permet de rediriger vers azurewebsites.net.</a:t>
            </a:r>
          </a:p>
        </p:txBody>
      </p:sp>
    </p:spTree>
    <p:extLst>
      <p:ext uri="{BB962C8B-B14F-4D97-AF65-F5344CB8AC3E}">
        <p14:creationId xmlns:p14="http://schemas.microsoft.com/office/powerpoint/2010/main" val="3704579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4D2A9-670C-5048-A37F-5C495AF79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66E2-DE11-6F40-4747-CD6D6D9FF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DA1CB-9EF6-DD83-E525-2CB8805297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de certificat est utilisé dans la démo ?</a:t>
            </a:r>
          </a:p>
          <a:p>
            <a:pPr>
              <a:buFont typeface="+mj-lt"/>
              <a:buAutoNum type="arabicPeriod"/>
            </a:pPr>
            <a:r>
              <a:rPr lang="fr-FR" sz="2400" dirty="0" err="1"/>
              <a:t>Wildcard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Self-</a:t>
            </a:r>
            <a:r>
              <a:rPr lang="fr-FR" sz="2400" dirty="0" err="1"/>
              <a:t>signed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Azure Key Vault </a:t>
            </a:r>
            <a:r>
              <a:rPr lang="fr-FR" sz="2400" dirty="0" err="1"/>
              <a:t>certificate</a:t>
            </a:r>
            <a:endParaRPr lang="fr-FR" sz="2400" dirty="0"/>
          </a:p>
          <a:p>
            <a:pPr>
              <a:buFont typeface="+mj-lt"/>
              <a:buAutoNum type="arabicPeriod"/>
            </a:pPr>
            <a:r>
              <a:rPr lang="fr-FR" sz="2400" dirty="0"/>
              <a:t>App Service </a:t>
            </a:r>
            <a:r>
              <a:rPr lang="fr-FR" sz="2400" dirty="0" err="1"/>
              <a:t>Managed</a:t>
            </a:r>
            <a:r>
              <a:rPr lang="fr-FR" sz="2400" dirty="0"/>
              <a:t> </a:t>
            </a:r>
            <a:r>
              <a:rPr lang="fr-FR" sz="2400" dirty="0" err="1"/>
              <a:t>Certificate</a:t>
            </a:r>
            <a:r>
              <a:rPr lang="fr-FR" sz="2400" dirty="0"/>
              <a:t> 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D290A78-4E14-8D62-BB59-CD9DF1EC7FD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0B007DF-8DEE-8987-7E7A-FD4B3BE6F3F2}"/>
              </a:ext>
            </a:extLst>
          </p:cNvPr>
          <p:cNvSpPr txBox="1"/>
          <p:nvPr/>
        </p:nvSpPr>
        <p:spPr>
          <a:xfrm>
            <a:off x="-36512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31CC5BC-7AB1-C64E-9B4F-51214D7EEAA4}"/>
              </a:ext>
            </a:extLst>
          </p:cNvPr>
          <p:cNvSpPr txBox="1"/>
          <p:nvPr/>
        </p:nvSpPr>
        <p:spPr>
          <a:xfrm>
            <a:off x="107504" y="4509120"/>
            <a:ext cx="3589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Certificat gratuit fourni par Azure.</a:t>
            </a:r>
          </a:p>
        </p:txBody>
      </p:sp>
    </p:spTree>
    <p:extLst>
      <p:ext uri="{BB962C8B-B14F-4D97-AF65-F5344CB8AC3E}">
        <p14:creationId xmlns:p14="http://schemas.microsoft.com/office/powerpoint/2010/main" val="2218610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15EE-0A04-4005-9D6A-EADEBF08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C1264-EC7A-3E73-4056-CAF29102A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63585-BEF1-DED3-2A4A-EF16CAFFCC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363272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type SSL est utilisé avec un certificat gratuit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IP-</a:t>
            </a:r>
            <a:r>
              <a:rPr lang="fr-FR" sz="2000" dirty="0" err="1"/>
              <a:t>based</a:t>
            </a:r>
            <a:r>
              <a:rPr lang="fr-FR" sz="2000" dirty="0"/>
              <a:t>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SNI SSL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TLS 1.0 </a:t>
            </a:r>
          </a:p>
          <a:p>
            <a:pPr>
              <a:buFont typeface="+mj-lt"/>
              <a:buAutoNum type="arabicPeriod"/>
            </a:pPr>
            <a:r>
              <a:rPr lang="fr-FR" sz="2000" dirty="0" err="1"/>
              <a:t>Mutual</a:t>
            </a:r>
            <a:r>
              <a:rPr lang="fr-FR" sz="2000" dirty="0"/>
              <a:t> TLS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EF75DD8-A1F4-5D9F-FE6A-724A4858563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C12690-E282-9C5A-752C-83FE0E0EEE82}"/>
              </a:ext>
            </a:extLst>
          </p:cNvPr>
          <p:cNvSpPr txBox="1"/>
          <p:nvPr/>
        </p:nvSpPr>
        <p:spPr>
          <a:xfrm>
            <a:off x="65220" y="191683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E0D387D-70E6-B30A-E3EC-B0712A99EEC2}"/>
              </a:ext>
            </a:extLst>
          </p:cNvPr>
          <p:cNvSpPr txBox="1"/>
          <p:nvPr/>
        </p:nvSpPr>
        <p:spPr>
          <a:xfrm>
            <a:off x="107504" y="4509120"/>
            <a:ext cx="634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SNI SSL est le mode standard (multi-domaines sur même IP).</a:t>
            </a:r>
          </a:p>
          <a:p>
            <a:r>
              <a:rPr lang="fr-FR" dirty="0"/>
              <a:t>SNI SSL est gratuit</a:t>
            </a:r>
          </a:p>
          <a:p>
            <a:r>
              <a:rPr lang="fr-FR" dirty="0"/>
              <a:t>IP-</a:t>
            </a:r>
            <a:r>
              <a:rPr lang="fr-FR" dirty="0" err="1"/>
              <a:t>based</a:t>
            </a:r>
            <a:r>
              <a:rPr lang="fr-FR" dirty="0"/>
              <a:t> SSL est payant, mais plus sécurisé</a:t>
            </a:r>
          </a:p>
        </p:txBody>
      </p:sp>
    </p:spTree>
    <p:extLst>
      <p:ext uri="{BB962C8B-B14F-4D97-AF65-F5344CB8AC3E}">
        <p14:creationId xmlns:p14="http://schemas.microsoft.com/office/powerpoint/2010/main" val="84836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221B2-F87B-ABE3-5941-1CE2F807F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2CECE-870B-90C7-5AE3-BB2D2894C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95792-9A22-2520-45D5-102BE291E3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le type </a:t>
            </a:r>
            <a:r>
              <a:rPr lang="fr-FR" sz="2400" b="1" dirty="0"/>
              <a:t>IP-</a:t>
            </a:r>
            <a:r>
              <a:rPr lang="fr-FR" sz="2400" b="1" dirty="0" err="1"/>
              <a:t>based</a:t>
            </a:r>
            <a:r>
              <a:rPr lang="fr-FR" sz="2400" b="1" dirty="0"/>
              <a:t> SSL</a:t>
            </a:r>
            <a:r>
              <a:rPr lang="fr-FR" sz="2400" dirty="0"/>
              <a:t> est rarement utilisé ?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fonctionne pas avec Azure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est moins sécurisé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consomme une IP dédiée (coût supplémentaire) </a:t>
            </a:r>
          </a:p>
          <a:p>
            <a:pPr>
              <a:buFont typeface="+mj-lt"/>
              <a:buAutoNum type="arabicPeriod"/>
            </a:pPr>
            <a:r>
              <a:rPr lang="fr-FR" sz="2400" dirty="0"/>
              <a:t>Il ne supporte pas HTTPS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AE78491-3644-7E96-7E47-E45FC50DCDCC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A018BB6-9066-4040-C259-12BFF4E87CC5}"/>
              </a:ext>
            </a:extLst>
          </p:cNvPr>
          <p:cNvSpPr txBox="1"/>
          <p:nvPr/>
        </p:nvSpPr>
        <p:spPr>
          <a:xfrm>
            <a:off x="51757" y="241862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F05964F-B67E-CE70-D3DE-71FA291002C5}"/>
              </a:ext>
            </a:extLst>
          </p:cNvPr>
          <p:cNvSpPr txBox="1"/>
          <p:nvPr/>
        </p:nvSpPr>
        <p:spPr>
          <a:xfrm>
            <a:off x="107504" y="4509120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9184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E6CD6-0837-2413-A6D0-BF83D3CF4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5C05C-FFBA-E5F4-51CB-EF667E3A1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3ABD0-A1D6-D860-8943-2BFB3FAC76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 fait l’action </a:t>
            </a:r>
            <a:r>
              <a:rPr lang="fr-FR" sz="2400" b="1" dirty="0" err="1"/>
              <a:t>Validate</a:t>
            </a:r>
            <a:r>
              <a:rPr lang="fr-FR" sz="2400" dirty="0"/>
              <a:t> dans Azure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Configure automatiquement le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Vérifie la présence des enregistrements DNS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Déploie l’application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Active le SSL 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6B8E1D-248D-0E24-05D6-541473F0E50E}"/>
              </a:ext>
            </a:extLst>
          </p:cNvPr>
          <p:cNvSpPr txBox="1"/>
          <p:nvPr/>
        </p:nvSpPr>
        <p:spPr>
          <a:xfrm>
            <a:off x="1547664" y="3356992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AB2DEE5-CF47-D30F-202F-A545E05C5796}"/>
              </a:ext>
            </a:extLst>
          </p:cNvPr>
          <p:cNvSpPr txBox="1"/>
          <p:nvPr/>
        </p:nvSpPr>
        <p:spPr>
          <a:xfrm>
            <a:off x="26583" y="198884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0579161-495C-3C27-1DE9-3A21D17F9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79" y="2276872"/>
            <a:ext cx="5602957" cy="4348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621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5A00B-C8BF-FBC6-982A-20D48A410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56E2E-1E57-CE02-58BA-615B720AF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04B42-8EE8-5319-A8F5-F3D068908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Une Web App fonctionne en HTTP mais pas en HTTPS après ajout du domaine. Pourquoi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TXT est manquant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CNAME est incorrect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certificat SSL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est incorrect</a:t>
            </a:r>
          </a:p>
          <a:p>
            <a:pPr marL="0" indent="0">
              <a:buNone/>
            </a:pP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F2C0912E-81AB-E58D-022C-FB945A8C704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23752D-7B85-4AD2-9146-E3DAB6801B0A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1D5AEAA-1B3E-10B7-64F9-C56BF082C432}"/>
              </a:ext>
            </a:extLst>
          </p:cNvPr>
          <p:cNvSpPr txBox="1"/>
          <p:nvPr/>
        </p:nvSpPr>
        <p:spPr>
          <a:xfrm>
            <a:off x="1763688" y="4653136"/>
            <a:ext cx="3468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HTTPS nécessite un binding SSL.</a:t>
            </a:r>
          </a:p>
        </p:txBody>
      </p:sp>
    </p:spTree>
    <p:extLst>
      <p:ext uri="{BB962C8B-B14F-4D97-AF65-F5344CB8AC3E}">
        <p14:creationId xmlns:p14="http://schemas.microsoft.com/office/powerpoint/2010/main" val="401320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F900-559C-CDA2-E3AA-2218D71A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B3F1-B0A8-E400-1720-680AA80C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FA842-F4BE-FD74-6284-90BA9124D3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Azure recommande le certificat </a:t>
            </a:r>
            <a:r>
              <a:rPr lang="fr-FR" dirty="0" err="1"/>
              <a:t>Managed</a:t>
            </a:r>
            <a:r>
              <a:rPr lang="fr-FR" dirty="0"/>
              <a:t> </a:t>
            </a:r>
            <a:r>
              <a:rPr lang="fr-FR" dirty="0" err="1"/>
              <a:t>Certificate</a:t>
            </a:r>
            <a:r>
              <a:rPr lang="fr-FR" dirty="0"/>
              <a:t>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rapide que DNS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Gratuit et auto-renouvelé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Plus sécurisé que tous les autres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Obligatoire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7EB274-DEF1-C628-65C4-FF5EEA65D294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4B94BB-4044-82E8-C796-5669F6867A1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F981DFD-B1CF-75A1-28C0-90BE53B84657}"/>
              </a:ext>
            </a:extLst>
          </p:cNvPr>
          <p:cNvSpPr txBox="1"/>
          <p:nvPr/>
        </p:nvSpPr>
        <p:spPr>
          <a:xfrm>
            <a:off x="52565" y="249289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C4AE393-BAD3-68D9-3932-3CCFD43D9DAA}"/>
              </a:ext>
            </a:extLst>
          </p:cNvPr>
          <p:cNvSpPr txBox="1"/>
          <p:nvPr/>
        </p:nvSpPr>
        <p:spPr>
          <a:xfrm>
            <a:off x="1043608" y="3775675"/>
            <a:ext cx="4771756" cy="30777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fr-FR" sz="1600" dirty="0"/>
              <a:t>Azure crée le certificat SSL pour votre domaine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besoin d’acheter ou d’importer un certificat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Le certificat est automatiquement : </a:t>
            </a:r>
          </a:p>
          <a:p>
            <a:pPr lvl="1"/>
            <a:r>
              <a:rPr lang="fr-FR" sz="1600" dirty="0"/>
              <a:t>lié à votre Web App </a:t>
            </a:r>
          </a:p>
          <a:p>
            <a:pPr lvl="1"/>
            <a:r>
              <a:rPr lang="fr-FR" sz="1600" dirty="0"/>
              <a:t>configuré avec le bon binding </a:t>
            </a:r>
          </a:p>
          <a:p>
            <a:r>
              <a:rPr lang="fr-FR" sz="1600" b="1" dirty="0">
                <a:solidFill>
                  <a:srgbClr val="00B050"/>
                </a:solidFill>
              </a:rPr>
              <a:t>✔</a:t>
            </a:r>
            <a:r>
              <a:rPr lang="fr-FR" sz="1600" b="1" dirty="0"/>
              <a:t> Renouvellement automatique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Azure renouvelle le certificat avant expiration 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Zéro maintenance côté développeur</a:t>
            </a:r>
          </a:p>
          <a:p>
            <a:r>
              <a:rPr lang="fr-FR" sz="1600" b="1" dirty="0"/>
              <a:t>❌</a:t>
            </a:r>
            <a:r>
              <a:rPr lang="fr-FR" sz="1600" dirty="0"/>
              <a:t> Il y a des limitations :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de </a:t>
            </a:r>
            <a:r>
              <a:rPr lang="fr-FR" sz="1600" dirty="0" err="1"/>
              <a:t>wildcard</a:t>
            </a:r>
            <a:r>
              <a:rPr lang="fr-FR" sz="1600" dirty="0"/>
              <a:t> (*.mondomaine.fr)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exportable</a:t>
            </a:r>
          </a:p>
          <a:p>
            <a:pPr marL="285750" indent="-285750">
              <a:buFontTx/>
              <a:buChar char="-"/>
            </a:pPr>
            <a:r>
              <a:rPr lang="fr-FR" sz="1600" dirty="0"/>
              <a:t>Pas utilisable ailleurs qu’Azure App Service</a:t>
            </a:r>
          </a:p>
        </p:txBody>
      </p:sp>
    </p:spTree>
    <p:extLst>
      <p:ext uri="{BB962C8B-B14F-4D97-AF65-F5344CB8AC3E}">
        <p14:creationId xmlns:p14="http://schemas.microsoft.com/office/powerpoint/2010/main" val="149899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2C516-0518-CD17-DE63-407FCF07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82C4D-2389-6591-5A0F-6CE8754E4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5947B-5AA8-CBCC-4508-875B3C897B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000" dirty="0"/>
              <a:t>Vous devez configurer un domaine personnalisé pour une Azure Web App :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api.mondomaine.fr </a:t>
            </a:r>
            <a:r>
              <a:rPr lang="fr-FR" sz="2000" dirty="0"/>
              <a:t>(sous-domaine) </a:t>
            </a:r>
          </a:p>
          <a:p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mondomaine.fr </a:t>
            </a:r>
            <a:r>
              <a:rPr lang="fr-FR" sz="2000" dirty="0"/>
              <a:t>(domaine racine) </a:t>
            </a:r>
          </a:p>
          <a:p>
            <a:pPr marL="0" indent="0">
              <a:buNone/>
            </a:pPr>
            <a:r>
              <a:rPr lang="fr-FR" sz="2000" dirty="0"/>
              <a:t>Quelle configuration DNS est correcte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A record</a:t>
            </a:r>
            <a:r>
              <a:rPr lang="fr-FR" sz="2000" dirty="0"/>
              <a:t> pour les deux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CNAME pour api.mondomaine.fr</a:t>
            </a:r>
            <a:r>
              <a:rPr lang="fr-FR" sz="2000" dirty="0"/>
              <a:t> et un </a:t>
            </a:r>
            <a:r>
              <a:rPr lang="fr-FR" sz="2000" b="1" dirty="0"/>
              <a:t>A record pour mondomaine.fr</a:t>
            </a:r>
            <a:r>
              <a:rPr lang="fr-FR" sz="20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000" dirty="0"/>
              <a:t>Utiliser un </a:t>
            </a:r>
            <a:r>
              <a:rPr lang="fr-FR" sz="2000" b="1" dirty="0"/>
              <a:t>TXT pour api.mondomaine.fr</a:t>
            </a:r>
            <a:r>
              <a:rPr lang="fr-FR" sz="2000" dirty="0"/>
              <a:t> et un </a:t>
            </a:r>
            <a:r>
              <a:rPr lang="fr-FR" sz="2000" b="1" dirty="0"/>
              <a:t>CNAME pour mondomaine.fr</a:t>
            </a:r>
            <a:endParaRPr lang="fr-FR" sz="20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3B18BB-8292-CA91-383B-BF5D8549159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5CB4739-4E19-13FC-84BD-67913D4D78F8}"/>
              </a:ext>
            </a:extLst>
          </p:cNvPr>
          <p:cNvSpPr txBox="1"/>
          <p:nvPr/>
        </p:nvSpPr>
        <p:spPr>
          <a:xfrm>
            <a:off x="7380312" y="209342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2753437-DB90-184F-4ED3-60F4A67D1163}"/>
              </a:ext>
            </a:extLst>
          </p:cNvPr>
          <p:cNvSpPr txBox="1"/>
          <p:nvPr/>
        </p:nvSpPr>
        <p:spPr>
          <a:xfrm>
            <a:off x="39452" y="357301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6F07437-7A8D-9FAB-C3F8-EBA1AA68BF3E}"/>
              </a:ext>
            </a:extLst>
          </p:cNvPr>
          <p:cNvSpPr txBox="1"/>
          <p:nvPr/>
        </p:nvSpPr>
        <p:spPr>
          <a:xfrm>
            <a:off x="179512" y="5214275"/>
            <a:ext cx="361509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b="1" dirty="0"/>
              <a:t>Sous-domaine (api.mondomaine.fr)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CNAME</a:t>
            </a:r>
            <a:br>
              <a:rPr lang="fr-FR" sz="1600" dirty="0"/>
            </a:br>
            <a:r>
              <a:rPr lang="fr-FR" sz="1600" dirty="0"/>
              <a:t>→ flexible et recommandé par Azure</a:t>
            </a:r>
            <a:br>
              <a:rPr lang="fr-FR" sz="1600" dirty="0"/>
            </a:br>
            <a:r>
              <a:rPr lang="fr-FR" sz="1600" dirty="0"/>
              <a:t>→ pointe vers *.azurewebsites.net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2733C9A7-CE0F-F9AA-F74C-D0D2C74B59D7}"/>
              </a:ext>
            </a:extLst>
          </p:cNvPr>
          <p:cNvSpPr txBox="1"/>
          <p:nvPr/>
        </p:nvSpPr>
        <p:spPr>
          <a:xfrm>
            <a:off x="5004048" y="5214275"/>
            <a:ext cx="3600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Domaine racine (mondomaine.fr)</a:t>
            </a:r>
            <a:br>
              <a:rPr lang="fr-FR" sz="1600" dirty="0"/>
            </a:br>
            <a:r>
              <a:rPr lang="fr-FR" sz="1600" dirty="0"/>
              <a:t>❌ Impossible d’utiliser un CNAME (limitation DNS standard)</a:t>
            </a:r>
            <a:br>
              <a:rPr lang="fr-FR" sz="1600" dirty="0"/>
            </a:br>
            <a:r>
              <a:rPr lang="fr-FR" sz="1600" dirty="0">
                <a:solidFill>
                  <a:srgbClr val="00B050"/>
                </a:solidFill>
              </a:rPr>
              <a:t>✔</a:t>
            </a:r>
            <a:r>
              <a:rPr lang="fr-FR" sz="1600" dirty="0"/>
              <a:t> Utiliser un </a:t>
            </a:r>
            <a:r>
              <a:rPr lang="fr-FR" sz="1600" b="1" dirty="0"/>
              <a:t>A record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353763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C438F-270F-F962-15BF-131D144B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0273E-90A7-8944-A76F-852BD9C01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FA923-7CFB-D6E3-E112-AE1C70006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Vous configurez :</a:t>
            </a:r>
          </a:p>
          <a:p>
            <a:pPr marL="0" indent="0">
              <a:buNone/>
            </a:pP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azurequizlab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→ A → IP Azure</a:t>
            </a:r>
          </a:p>
          <a:p>
            <a:pPr marL="0" indent="0">
              <a:buNone/>
            </a:pPr>
            <a:r>
              <a:rPr lang="fr-FR" dirty="0"/>
              <a:t>Quel est le problème ?</a:t>
            </a:r>
          </a:p>
          <a:p>
            <a:r>
              <a:rPr lang="fr-FR" dirty="0"/>
              <a:t>Aucun </a:t>
            </a:r>
          </a:p>
          <a:p>
            <a:r>
              <a:rPr lang="fr-FR" dirty="0"/>
              <a:t>L’IP peut changer </a:t>
            </a:r>
          </a:p>
          <a:p>
            <a:r>
              <a:rPr lang="fr-FR" dirty="0"/>
              <a:t>Le SSL ne fonctionne pas </a:t>
            </a:r>
          </a:p>
          <a:p>
            <a:r>
              <a:rPr lang="fr-FR" dirty="0"/>
              <a:t>Le TXT devient inutile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4555DEC-A7AB-23AE-1B1F-780E18B1EC8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11BBFBF-F2DE-001A-3E1E-B44A8D217F71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C5E2846-167F-364E-4583-72BA5556D0D1}"/>
              </a:ext>
            </a:extLst>
          </p:cNvPr>
          <p:cNvSpPr txBox="1"/>
          <p:nvPr/>
        </p:nvSpPr>
        <p:spPr>
          <a:xfrm>
            <a:off x="35496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361FD18-F886-5C32-EA78-D05C1E6D7FCD}"/>
              </a:ext>
            </a:extLst>
          </p:cNvPr>
          <p:cNvSpPr txBox="1"/>
          <p:nvPr/>
        </p:nvSpPr>
        <p:spPr>
          <a:xfrm>
            <a:off x="1763688" y="5487415"/>
            <a:ext cx="4386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Azure peut changer l’IP → casse la config.</a:t>
            </a:r>
          </a:p>
        </p:txBody>
      </p:sp>
    </p:spTree>
    <p:extLst>
      <p:ext uri="{BB962C8B-B14F-4D97-AF65-F5344CB8AC3E}">
        <p14:creationId xmlns:p14="http://schemas.microsoft.com/office/powerpoint/2010/main" val="170114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6F3F-C11F-D91F-4956-D7982E49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446DF-0EEC-3D99-315D-7681CBF94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CDBCA-4A54-4DAD-ABA8-B3C836887F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800" dirty="0"/>
              <a:t>Dans Azure App Service, vous voyez les options suivantes pour les certificats :</a:t>
            </a:r>
          </a:p>
          <a:p>
            <a:r>
              <a:rPr lang="fr-FR" sz="1800" b="1" dirty="0" err="1"/>
              <a:t>Managed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dirty="0"/>
              <a:t> </a:t>
            </a:r>
          </a:p>
          <a:p>
            <a:r>
              <a:rPr lang="fr-FR" sz="1800" b="1" dirty="0" err="1"/>
              <a:t>Bring</a:t>
            </a:r>
            <a:r>
              <a:rPr lang="fr-FR" sz="1800" b="1" dirty="0"/>
              <a:t> </a:t>
            </a:r>
            <a:r>
              <a:rPr lang="fr-FR" sz="1800" b="1" dirty="0" err="1"/>
              <a:t>your</a:t>
            </a:r>
            <a:r>
              <a:rPr lang="fr-FR" sz="1800" b="1" dirty="0"/>
              <a:t> </a:t>
            </a:r>
            <a:r>
              <a:rPr lang="fr-FR" sz="1800" b="1" dirty="0" err="1"/>
              <a:t>own</a:t>
            </a:r>
            <a:r>
              <a:rPr lang="fr-FR" sz="1800" b="1" dirty="0"/>
              <a:t>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pfx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r>
              <a:rPr lang="fr-FR" sz="1800" b="1" dirty="0"/>
              <a:t>Public key </a:t>
            </a:r>
            <a:r>
              <a:rPr lang="fr-FR" sz="1800" b="1" dirty="0" err="1"/>
              <a:t>certificates</a:t>
            </a:r>
            <a:r>
              <a:rPr lang="fr-FR" sz="1800" b="1" dirty="0"/>
              <a:t> (.</a:t>
            </a:r>
            <a:r>
              <a:rPr lang="fr-FR" sz="1800" b="1" dirty="0" err="1"/>
              <a:t>cer</a:t>
            </a:r>
            <a:r>
              <a:rPr lang="fr-FR" sz="1800" b="1" dirty="0"/>
              <a:t>)</a:t>
            </a:r>
            <a:r>
              <a:rPr lang="fr-FR" sz="1800" dirty="0"/>
              <a:t> </a:t>
            </a:r>
          </a:p>
          <a:p>
            <a:pPr marL="0" indent="0">
              <a:buNone/>
            </a:pPr>
            <a:r>
              <a:rPr lang="fr-FR" sz="1800" dirty="0"/>
              <a:t>Quelle est la différence principale entre ces types de certificats ?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sont payants, les autres gratuits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cer</a:t>
            </a:r>
            <a:r>
              <a:rPr lang="fr-FR" sz="1800" dirty="0"/>
              <a:t> permettent le HTTPS, contrairement aux .</a:t>
            </a:r>
            <a:r>
              <a:rPr lang="fr-FR" sz="1800" dirty="0" err="1"/>
              <a:t>pfx</a:t>
            </a:r>
            <a:r>
              <a:rPr lang="fr-FR" sz="1800" dirty="0"/>
              <a:t>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</a:t>
            </a:r>
            <a:r>
              <a:rPr lang="fr-FR" sz="1800" dirty="0" err="1"/>
              <a:t>Managed</a:t>
            </a:r>
            <a:r>
              <a:rPr lang="fr-FR" sz="1800" dirty="0"/>
              <a:t> et .</a:t>
            </a:r>
            <a:r>
              <a:rPr lang="fr-FR" sz="1800" dirty="0" err="1"/>
              <a:t>pfx</a:t>
            </a:r>
            <a:r>
              <a:rPr lang="fr-FR" sz="1800" dirty="0"/>
              <a:t> peuvent être utilisés pour HTTPS, mais les .</a:t>
            </a:r>
            <a:r>
              <a:rPr lang="fr-FR" sz="1800" dirty="0" err="1"/>
              <a:t>cer</a:t>
            </a:r>
            <a:r>
              <a:rPr lang="fr-FR" sz="1800" dirty="0"/>
              <a:t> servent uniquement à des usages internes (ex : authentification) </a:t>
            </a:r>
          </a:p>
          <a:p>
            <a:pPr>
              <a:buFont typeface="+mj-lt"/>
              <a:buAutoNum type="arabicPeriod"/>
            </a:pPr>
            <a:r>
              <a:rPr lang="fr-FR" sz="1800" dirty="0"/>
              <a:t>Les certificats .</a:t>
            </a:r>
            <a:r>
              <a:rPr lang="fr-FR" sz="1800" dirty="0" err="1"/>
              <a:t>pfx</a:t>
            </a:r>
            <a:r>
              <a:rPr lang="fr-FR" sz="1800" dirty="0"/>
              <a:t> ne peuvent pas être utilisés avec Azure App Service</a:t>
            </a:r>
          </a:p>
          <a:p>
            <a:pPr marL="0" indent="0">
              <a:buNone/>
            </a:pPr>
            <a:endParaRPr lang="fr-FR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3E131-9AE7-45DB-CBFE-8D766E15357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220F559-DB01-E8D6-A017-B0D0CFE77529}"/>
              </a:ext>
            </a:extLst>
          </p:cNvPr>
          <p:cNvSpPr txBox="1"/>
          <p:nvPr/>
        </p:nvSpPr>
        <p:spPr>
          <a:xfrm>
            <a:off x="7524328" y="4459358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96E700D-66D7-6FAC-509C-C6A288CBAD98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26AA6A3-4714-CA0C-A115-A4AAC4DFFDAE}"/>
              </a:ext>
            </a:extLst>
          </p:cNvPr>
          <p:cNvSpPr txBox="1"/>
          <p:nvPr/>
        </p:nvSpPr>
        <p:spPr>
          <a:xfrm>
            <a:off x="7019419" y="5512676"/>
            <a:ext cx="1890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Voir slide suivant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8315A9F-3608-7A35-5B3C-6058A55E8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437112"/>
            <a:ext cx="6342547" cy="2302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64A94-B957-54EE-12F8-943CF59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E3B87-9150-A1C2-1C80-A72FE320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Certificats</a:t>
            </a:r>
            <a:r>
              <a:rPr lang="en-US" dirty="0"/>
              <a:t>, explications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06BBB-822F-1C82-13CD-3314F6FDB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b="1" dirty="0" err="1"/>
              <a:t>Managed</a:t>
            </a:r>
            <a:r>
              <a:rPr lang="fr-FR" sz="1600" b="1" dirty="0"/>
              <a:t> </a:t>
            </a:r>
            <a:r>
              <a:rPr lang="fr-FR" sz="1600" b="1" dirty="0" err="1"/>
              <a:t>certificates</a:t>
            </a:r>
            <a:endParaRPr lang="fr-FR" sz="1600" b="1" dirty="0"/>
          </a:p>
          <a:p>
            <a:r>
              <a:rPr lang="fr-FR" sz="1600" dirty="0"/>
              <a:t>Fournis par Azure </a:t>
            </a:r>
          </a:p>
          <a:p>
            <a:r>
              <a:rPr lang="fr-FR" sz="1600" dirty="0"/>
              <a:t>Gratuits </a:t>
            </a:r>
          </a:p>
          <a:p>
            <a:r>
              <a:rPr lang="fr-FR" sz="1600" dirty="0"/>
              <a:t>Renouvellement automatique </a:t>
            </a:r>
          </a:p>
          <a:p>
            <a:r>
              <a:rPr lang="fr-FR" sz="1600" dirty="0"/>
              <a:t>Utilisés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Limitations (pas </a:t>
            </a:r>
            <a:r>
              <a:rPr lang="fr-FR" sz="1600" dirty="0" err="1"/>
              <a:t>wildcard</a:t>
            </a:r>
            <a:r>
              <a:rPr lang="fr-FR" sz="1600" dirty="0"/>
              <a:t>, pas apex </a:t>
            </a:r>
            <a:r>
              <a:rPr lang="fr-FR" sz="1600" dirty="0" err="1"/>
              <a:t>domain</a:t>
            </a:r>
            <a:r>
              <a:rPr lang="fr-FR" sz="1600" dirty="0"/>
              <a:t> parfois) </a:t>
            </a:r>
          </a:p>
          <a:p>
            <a:pPr marL="0" indent="0">
              <a:buNone/>
            </a:pPr>
            <a:r>
              <a:rPr lang="fr-FR" sz="1600" b="1" dirty="0" err="1"/>
              <a:t>Bring</a:t>
            </a:r>
            <a:r>
              <a:rPr lang="fr-FR" sz="1600" b="1" dirty="0"/>
              <a:t> </a:t>
            </a:r>
            <a:r>
              <a:rPr lang="fr-FR" sz="1600" b="1" dirty="0" err="1"/>
              <a:t>your</a:t>
            </a:r>
            <a:r>
              <a:rPr lang="fr-FR" sz="1600" b="1" dirty="0"/>
              <a:t> </a:t>
            </a:r>
            <a:r>
              <a:rPr lang="fr-FR" sz="1600" b="1" dirty="0" err="1"/>
              <a:t>own</a:t>
            </a:r>
            <a:r>
              <a:rPr lang="fr-FR" sz="1600" b="1" dirty="0"/>
              <a:t> (.</a:t>
            </a:r>
            <a:r>
              <a:rPr lang="fr-FR" sz="1600" b="1" dirty="0" err="1"/>
              <a:t>pfx</a:t>
            </a:r>
            <a:r>
              <a:rPr lang="fr-FR" sz="1600" b="1" dirty="0"/>
              <a:t>)</a:t>
            </a:r>
          </a:p>
          <a:p>
            <a:r>
              <a:rPr lang="fr-FR" sz="1600" dirty="0"/>
              <a:t>Certificat complet (clé privée incluse) </a:t>
            </a:r>
          </a:p>
          <a:p>
            <a:r>
              <a:rPr lang="fr-FR" sz="1600" dirty="0"/>
              <a:t>Importé par vous </a:t>
            </a:r>
          </a:p>
          <a:p>
            <a:r>
              <a:rPr lang="fr-FR" sz="1600" dirty="0"/>
              <a:t>Utilisé pour </a:t>
            </a:r>
            <a:r>
              <a:rPr lang="fr-FR" sz="1600" b="1" dirty="0"/>
              <a:t>HTTPS (TLS/SSL)</a:t>
            </a:r>
            <a:r>
              <a:rPr lang="fr-FR" sz="1600" dirty="0"/>
              <a:t> </a:t>
            </a:r>
          </a:p>
          <a:p>
            <a:r>
              <a:rPr lang="fr-FR" sz="1600" dirty="0"/>
              <a:t>Plus flexible (</a:t>
            </a:r>
            <a:r>
              <a:rPr lang="fr-FR" sz="1600" dirty="0" err="1"/>
              <a:t>wildcard</a:t>
            </a:r>
            <a:r>
              <a:rPr lang="fr-FR" sz="1600" dirty="0"/>
              <a:t>, EV, etc.) </a:t>
            </a:r>
          </a:p>
          <a:p>
            <a:pPr marL="0" indent="0">
              <a:buNone/>
            </a:pPr>
            <a:r>
              <a:rPr lang="fr-FR" sz="1600" b="1" dirty="0"/>
              <a:t>Public key (.</a:t>
            </a:r>
            <a:r>
              <a:rPr lang="fr-FR" sz="1600" b="1" dirty="0" err="1"/>
              <a:t>cer</a:t>
            </a:r>
            <a:r>
              <a:rPr lang="fr-FR" sz="1600" b="1" dirty="0"/>
              <a:t>)</a:t>
            </a:r>
          </a:p>
          <a:p>
            <a:r>
              <a:rPr lang="fr-FR" sz="1600" b="1" dirty="0"/>
              <a:t>Sans clé privée</a:t>
            </a:r>
            <a:r>
              <a:rPr lang="fr-FR" sz="1600" dirty="0"/>
              <a:t> </a:t>
            </a:r>
          </a:p>
          <a:p>
            <a:r>
              <a:rPr lang="fr-FR" sz="1600" dirty="0"/>
              <a:t>❌ Ne permet PAS HTTPS </a:t>
            </a:r>
          </a:p>
          <a:p>
            <a:r>
              <a:rPr lang="fr-FR" sz="1600" dirty="0"/>
              <a:t>Sert pour : </a:t>
            </a:r>
          </a:p>
          <a:p>
            <a:pPr lvl="1"/>
            <a:r>
              <a:rPr lang="fr-FR" sz="1400" dirty="0"/>
              <a:t>authentification </a:t>
            </a:r>
          </a:p>
          <a:p>
            <a:pPr lvl="1"/>
            <a:r>
              <a:rPr lang="fr-FR" sz="1400" dirty="0"/>
              <a:t>validation d’API </a:t>
            </a:r>
          </a:p>
          <a:p>
            <a:pPr lvl="1"/>
            <a:r>
              <a:rPr lang="fr-FR" sz="1400" dirty="0"/>
              <a:t>communication sécurisée interne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35F0D55-C162-7B04-8E20-437B52CFBBA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CE9FC0E-8731-CF1C-584C-FACA3332C58D}"/>
              </a:ext>
            </a:extLst>
          </p:cNvPr>
          <p:cNvSpPr txBox="1"/>
          <p:nvPr/>
        </p:nvSpPr>
        <p:spPr>
          <a:xfrm>
            <a:off x="4283968" y="4365104"/>
            <a:ext cx="43629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👉 HTTPS nécessite toujours une clé privée </a:t>
            </a:r>
            <a:r>
              <a:rPr lang="fr-FR" sz="1600" dirty="0"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fr-FR" sz="1600" dirty="0">
                <a:sym typeface="Wingdings" panose="05000000000000000000" pitchFamily="2" charset="2"/>
              </a:rPr>
              <a:t>.</a:t>
            </a:r>
            <a:r>
              <a:rPr lang="fr-FR" sz="1600" dirty="0" err="1">
                <a:sym typeface="Wingdings" panose="05000000000000000000" pitchFamily="2" charset="2"/>
              </a:rPr>
              <a:t>pfx</a:t>
            </a:r>
            <a:r>
              <a:rPr lang="fr-FR" sz="1600" dirty="0">
                <a:sym typeface="Wingdings" panose="05000000000000000000" pitchFamily="2" charset="2"/>
              </a:rPr>
              <a:t> ou</a:t>
            </a:r>
          </a:p>
          <a:p>
            <a:pPr marL="285750" indent="-285750">
              <a:buFontTx/>
              <a:buChar char="-"/>
            </a:pPr>
            <a:r>
              <a:rPr lang="fr-FR" sz="1600" dirty="0" err="1">
                <a:sym typeface="Wingdings" panose="05000000000000000000" pitchFamily="2" charset="2"/>
              </a:rPr>
              <a:t>managed</a:t>
            </a:r>
            <a:r>
              <a:rPr lang="fr-FR" sz="1600" dirty="0">
                <a:sym typeface="Wingdings" panose="05000000000000000000" pitchFamily="2" charset="2"/>
              </a:rPr>
              <a:t> </a:t>
            </a:r>
            <a:r>
              <a:rPr lang="fr-FR" sz="1600" dirty="0" err="1">
                <a:sym typeface="Wingdings" panose="05000000000000000000" pitchFamily="2" charset="2"/>
              </a:rPr>
              <a:t>certificates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6251706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3FBC2-F320-D2EC-4C09-A5C8CD3EE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5D59AF6-2F99-7CF9-4BD9-9D2762CCA1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8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7617D3-89B5-42FE-7BE5-2413EE0C676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r>
              <a:rPr lang="fr-FR" dirty="0" err="1"/>
              <a:t>Deployment</a:t>
            </a:r>
            <a:r>
              <a:rPr lang="fr-FR" dirty="0"/>
              <a:t> slots</a:t>
            </a:r>
          </a:p>
        </p:txBody>
      </p:sp>
    </p:spTree>
    <p:extLst>
      <p:ext uri="{BB962C8B-B14F-4D97-AF65-F5344CB8AC3E}">
        <p14:creationId xmlns:p14="http://schemas.microsoft.com/office/powerpoint/2010/main" val="33394149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BD7E-0F1A-9CDA-CF04-3C010469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81DE5-5A84-D5A8-4EFF-BC3B9499F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F40B8-856C-EAFC-673C-A50F8FC9D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Pourquoi est-il déconseillé de déployer directement sur le slot production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 GitHub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provoque un coût plus élevé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peut provoquer du </a:t>
            </a:r>
            <a:r>
              <a:rPr lang="fr-FR" sz="2400" dirty="0" err="1"/>
              <a:t>downtime</a:t>
            </a:r>
            <a:r>
              <a:rPr lang="fr-FR" sz="2400" dirty="0"/>
              <a:t> et des fichiers verrouillés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Cela empêche l'utilisation des variables d’environnement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7FF7DD-7B55-03FC-5AC8-AB5AB8398982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8A8573-7F38-3F42-D3C6-D9AB09392877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C63D06C-05CC-3809-AF17-5124A930BA50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78AD2AE-B667-3E86-55D1-D1F431405C83}"/>
              </a:ext>
            </a:extLst>
          </p:cNvPr>
          <p:cNvSpPr txBox="1"/>
          <p:nvPr/>
        </p:nvSpPr>
        <p:spPr>
          <a:xfrm>
            <a:off x="639725" y="4806774"/>
            <a:ext cx="804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Déploiement direct = restart + risque de fichiers verrouillés → état incohérent</a:t>
            </a:r>
          </a:p>
        </p:txBody>
      </p:sp>
    </p:spTree>
    <p:extLst>
      <p:ext uri="{BB962C8B-B14F-4D97-AF65-F5344CB8AC3E}">
        <p14:creationId xmlns:p14="http://schemas.microsoft.com/office/powerpoint/2010/main" val="149771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12E3-FA17-D9A7-85D8-39D3739F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03F0-33BA-4BD6-7D08-1533E865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03356-9F31-0F6C-9AE2-87D01E9760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Quel est le principal avantage des </a:t>
            </a:r>
            <a:r>
              <a:rPr lang="fr-FR" dirty="0" err="1"/>
              <a:t>deployment</a:t>
            </a:r>
            <a:r>
              <a:rPr lang="fr-FR" dirty="0"/>
              <a:t> slots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Réduire le coût de l’application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multi-threading</a:t>
            </a:r>
            <a:r>
              <a:rPr lang="fr-FR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le </a:t>
            </a:r>
            <a:r>
              <a:rPr lang="fr-FR" dirty="0" err="1"/>
              <a:t>scaling</a:t>
            </a:r>
            <a:r>
              <a:rPr lang="fr-FR" dirty="0"/>
              <a:t> automatique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Permettre des déploiements sans interruption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FA1FB6-A220-2B7E-C42F-5CAF7405B9F6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C9EC485-C94B-B095-4C9D-3480E8C629E0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CCF6B69-D58C-9355-56E1-EB04F0FD4578}"/>
              </a:ext>
            </a:extLst>
          </p:cNvPr>
          <p:cNvSpPr txBox="1"/>
          <p:nvPr/>
        </p:nvSpPr>
        <p:spPr>
          <a:xfrm>
            <a:off x="35496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A28CAF1-0CF9-20DD-8156-A8BF80B28E2C}"/>
              </a:ext>
            </a:extLst>
          </p:cNvPr>
          <p:cNvSpPr txBox="1"/>
          <p:nvPr/>
        </p:nvSpPr>
        <p:spPr>
          <a:xfrm>
            <a:off x="1763688" y="4653136"/>
            <a:ext cx="5556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swap permet un </a:t>
            </a:r>
            <a:r>
              <a:rPr lang="fr-FR" b="1" dirty="0" err="1"/>
              <a:t>zero</a:t>
            </a:r>
            <a:r>
              <a:rPr lang="fr-FR" b="1" dirty="0"/>
              <a:t> </a:t>
            </a:r>
            <a:r>
              <a:rPr lang="fr-FR" b="1" dirty="0" err="1"/>
              <a:t>downtime</a:t>
            </a:r>
            <a:r>
              <a:rPr lang="fr-FR" b="1" dirty="0"/>
              <a:t> </a:t>
            </a:r>
            <a:r>
              <a:rPr lang="fr-FR" b="1" dirty="0" err="1"/>
              <a:t>deployment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7008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BBBDD-0598-2389-6250-A64EF326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123A9-6EA4-EF59-6DBC-8C6A52FF7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1FF92-6935-6366-F2C9-CBCB401FF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Lors d’un déploiement direct sur un App Service en production, une erreur apparaît :</a:t>
            </a:r>
          </a:p>
          <a:p>
            <a:pPr marL="0" indent="0">
              <a:buNone/>
            </a:pPr>
            <a:r>
              <a:rPr lang="fr-FR" sz="2400" i="1" dirty="0"/>
              <a:t>“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The process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cannot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the file 'MyApp.dll'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because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being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used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by </a:t>
            </a:r>
            <a:r>
              <a:rPr lang="fr-FR" sz="20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another</a:t>
            </a:r>
            <a:r>
              <a:rPr lang="fr-FR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 process</a:t>
            </a:r>
            <a:r>
              <a:rPr lang="fr-FR" sz="2400" i="1" dirty="0"/>
              <a:t>”</a:t>
            </a:r>
            <a:endParaRPr lang="fr-FR" sz="2400" dirty="0"/>
          </a:p>
          <a:p>
            <a:pPr marL="0" indent="0">
              <a:buNone/>
            </a:pPr>
            <a:r>
              <a:rPr lang="fr-FR" sz="2400" dirty="0"/>
              <a:t>Quelle situation explique le mieux cette erreur ?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La base de données est en cours de migration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L’application en cours d’exécution utilise la DLL, empêchant son remplacement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slot de </a:t>
            </a:r>
            <a:r>
              <a:rPr lang="fr-FR" sz="2000" dirty="0" err="1"/>
              <a:t>staging</a:t>
            </a:r>
            <a:r>
              <a:rPr lang="fr-FR" sz="2000" dirty="0"/>
              <a:t> n’est pas configuré </a:t>
            </a:r>
          </a:p>
          <a:p>
            <a:pPr>
              <a:buFont typeface="+mj-lt"/>
              <a:buAutoNum type="arabicPeriod"/>
            </a:pPr>
            <a:r>
              <a:rPr lang="fr-FR" sz="2000" dirty="0"/>
              <a:t>Le plan App Service ne supporte pas le déploiement continu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417F22-4688-9BFE-4C63-653211714D2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77C2871-7AFF-355F-7930-6EC163FCB31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2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C461C47-6D5E-C287-228A-10B0A3504DB5}"/>
              </a:ext>
            </a:extLst>
          </p:cNvPr>
          <p:cNvSpPr txBox="1"/>
          <p:nvPr/>
        </p:nvSpPr>
        <p:spPr>
          <a:xfrm>
            <a:off x="0" y="364502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923AB07-05CB-D27C-96AC-FC1C3683DD3E}"/>
              </a:ext>
            </a:extLst>
          </p:cNvPr>
          <p:cNvSpPr txBox="1"/>
          <p:nvPr/>
        </p:nvSpPr>
        <p:spPr>
          <a:xfrm>
            <a:off x="1683946" y="5411450"/>
            <a:ext cx="4594848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👉 Dans un App Service en production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l’application est </a:t>
            </a:r>
            <a:r>
              <a:rPr lang="fr-FR" sz="1200" b="1" dirty="0"/>
              <a:t>déjà en train de tourner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les fichiers .dll sont </a:t>
            </a:r>
            <a:r>
              <a:rPr lang="fr-FR" sz="1200" b="1" dirty="0"/>
              <a:t>chargés par le runtime (.NET / </a:t>
            </a:r>
            <a:r>
              <a:rPr lang="fr-FR" sz="1200" b="1" dirty="0" err="1"/>
              <a:t>Kestrel</a:t>
            </a:r>
            <a:r>
              <a:rPr lang="fr-FR" sz="1200" b="1" dirty="0"/>
              <a:t>)</a:t>
            </a:r>
            <a:r>
              <a:rPr lang="fr-FR" sz="1200" dirty="0"/>
              <a:t> </a:t>
            </a:r>
          </a:p>
          <a:p>
            <a:r>
              <a:rPr lang="fr-FR" sz="1200" dirty="0"/>
              <a:t>👉 Lors du déploiement :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Azure tente de </a:t>
            </a:r>
            <a:r>
              <a:rPr lang="fr-FR" sz="1200" b="1" dirty="0"/>
              <a:t>écraser les fichiers existants</a:t>
            </a:r>
            <a:r>
              <a:rPr lang="fr-FR" sz="1200" dirty="0"/>
              <a:t> </a:t>
            </a:r>
          </a:p>
          <a:p>
            <a:pPr marL="285750" indent="-285750">
              <a:buFontTx/>
              <a:buChar char="-"/>
            </a:pPr>
            <a:r>
              <a:rPr lang="fr-FR" sz="1200" dirty="0"/>
              <a:t>mais la DLL est </a:t>
            </a:r>
            <a:r>
              <a:rPr lang="fr-FR" sz="1200" b="1" dirty="0"/>
              <a:t>verrouillée par le processus actif</a:t>
            </a:r>
            <a:endParaRPr lang="fr-FR" sz="12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37518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46070-B722-1430-7DB0-C45F5A18C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48FDA-DE78-1196-6A9A-56B52E657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DEA3D-9E1A-C33E-E438-E262AB7431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Que se passe-t-il si une </a:t>
            </a:r>
            <a:r>
              <a:rPr lang="fr-FR" dirty="0" err="1"/>
              <a:t>connection</a:t>
            </a:r>
            <a:r>
              <a:rPr lang="fr-FR" dirty="0"/>
              <a:t> string est marquée "</a:t>
            </a:r>
            <a:r>
              <a:rPr lang="fr-FR" dirty="0" err="1"/>
              <a:t>Deployment</a:t>
            </a:r>
            <a:r>
              <a:rPr lang="fr-FR" dirty="0"/>
              <a:t> slot setting"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supprimée lors du swap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copiée dans tous les slots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reste attachée à son slot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Elle est chiffrée automatiquement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225190-EBA0-7A83-03FD-47996B77E6A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0BBDB62-6252-FADD-7250-2D6D37F66EBE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DEFE363-E306-670C-72DC-D4E5F290788A}"/>
              </a:ext>
            </a:extLst>
          </p:cNvPr>
          <p:cNvSpPr txBox="1"/>
          <p:nvPr/>
        </p:nvSpPr>
        <p:spPr>
          <a:xfrm>
            <a:off x="26164" y="314096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FCD8D2A-F632-467F-02EA-6C346F75A439}"/>
              </a:ext>
            </a:extLst>
          </p:cNvPr>
          <p:cNvSpPr txBox="1"/>
          <p:nvPr/>
        </p:nvSpPr>
        <p:spPr>
          <a:xfrm>
            <a:off x="305068" y="5013176"/>
            <a:ext cx="5975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Elle ne suit pas l’application → elle reste dans son slot</a:t>
            </a:r>
          </a:p>
        </p:txBody>
      </p:sp>
    </p:spTree>
    <p:extLst>
      <p:ext uri="{BB962C8B-B14F-4D97-AF65-F5344CB8AC3E}">
        <p14:creationId xmlns:p14="http://schemas.microsoft.com/office/powerpoint/2010/main" val="367390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225E5-C6AF-B754-C152-90114763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59938-744F-C7A4-09E2-580BF535D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0BA3E-0A10-9714-86E1-DB197B0208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199" y="1066800"/>
            <a:ext cx="8635043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1600" dirty="0"/>
              <a:t>Lors d’un </a:t>
            </a:r>
            <a:r>
              <a:rPr lang="fr-FR" sz="1600" b="1" dirty="0"/>
              <a:t>swap entre un slot </a:t>
            </a:r>
            <a:r>
              <a:rPr lang="fr-FR" sz="1600" b="1" dirty="0" err="1"/>
              <a:t>staging</a:t>
            </a:r>
            <a:r>
              <a:rPr lang="fr-FR" sz="1600" b="1" dirty="0"/>
              <a:t> (source)</a:t>
            </a:r>
            <a:r>
              <a:rPr lang="fr-FR" sz="1600" dirty="0"/>
              <a:t> et un </a:t>
            </a:r>
            <a:r>
              <a:rPr lang="fr-FR" sz="1600" b="1" dirty="0"/>
              <a:t>slot production (</a:t>
            </a:r>
            <a:r>
              <a:rPr lang="fr-FR" sz="1600" b="1" dirty="0" err="1"/>
              <a:t>target</a:t>
            </a:r>
            <a:r>
              <a:rPr lang="fr-FR" sz="1600" b="1" dirty="0"/>
              <a:t>)</a:t>
            </a:r>
            <a:r>
              <a:rPr lang="fr-FR" sz="1600" dirty="0"/>
              <a:t> dans Azure App Service, certains éléments sont échangés, d’autres non, et certains sont temporairement appliqués. </a:t>
            </a:r>
            <a:r>
              <a:rPr lang="fr-FR" sz="1600" dirty="0">
                <a:hlinkClick r:id="rId3"/>
              </a:rPr>
              <a:t>https://learn.microsoft.com/fr-fr/azure/app-service/deploy-staging-slots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r>
              <a:rPr lang="fr-FR" sz="1600" dirty="0"/>
              <a:t>👉 Complétez le tableau suivant en indiquant pour chaque élément :</a:t>
            </a:r>
          </a:p>
          <a:p>
            <a:r>
              <a:rPr lang="fr-FR" sz="1600" b="1" dirty="0"/>
              <a:t>Échangé (Swap)</a:t>
            </a:r>
            <a:r>
              <a:rPr lang="fr-FR" sz="1600" dirty="0"/>
              <a:t> </a:t>
            </a:r>
          </a:p>
          <a:p>
            <a:r>
              <a:rPr lang="fr-FR" sz="1600" b="1" dirty="0"/>
              <a:t>Non échangé</a:t>
            </a:r>
            <a:r>
              <a:rPr lang="fr-FR" sz="1600" dirty="0"/>
              <a:t> </a:t>
            </a:r>
          </a:p>
          <a:p>
            <a:pPr marL="0" indent="0">
              <a:buNone/>
            </a:pPr>
            <a:endParaRPr lang="fr-FR" sz="1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1D27D6-A864-0EEE-BC10-DB1C9E25F905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02C02A71-C09A-64C0-34B5-7BF0B1E85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897220"/>
              </p:ext>
            </p:extLst>
          </p:nvPr>
        </p:nvGraphicFramePr>
        <p:xfrm>
          <a:off x="971600" y="2780928"/>
          <a:ext cx="5918200" cy="3130550"/>
        </p:xfrm>
        <a:graphic>
          <a:graphicData uri="http://schemas.openxmlformats.org/drawingml/2006/table">
            <a:tbl>
              <a:tblPr/>
              <a:tblGrid>
                <a:gridCol w="3276600">
                  <a:extLst>
                    <a:ext uri="{9D8B030D-6E8A-4147-A177-3AD203B41FA5}">
                      <a16:colId xmlns:a16="http://schemas.microsoft.com/office/drawing/2014/main" val="2939840499"/>
                    </a:ext>
                  </a:extLst>
                </a:gridCol>
                <a:gridCol w="2641600">
                  <a:extLst>
                    <a:ext uri="{9D8B030D-6E8A-4147-A177-3AD203B41FA5}">
                      <a16:colId xmlns:a16="http://schemas.microsoft.com/office/drawing/2014/main" val="1641491000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Élément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Comportement lors du swap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3085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de l’application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52321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Version du runtime (.NET, Node…)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87701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nb-NO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6990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App settings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12740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(marquées deployment slot setting)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623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Connection strings (non marquées)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1910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Continuous deployment (Deployment Center)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47466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Configuration d’authentification (Easy Auth)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 (*)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809621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Custom </a:t>
                      </a:r>
                      <a:r>
                        <a:rPr lang="fr-F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Domains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89248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TLS / SSL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8664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Managed Identity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16331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Restrictions IP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05925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sngStrike" baseline="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</a:t>
                      </a:r>
                      <a:r>
                        <a:rPr lang="fr-FR" sz="1100" b="0" i="0" u="none" strike="sngStrike" baseline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settings (nombre d’instances)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7596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WebJobs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185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Handler mappings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812286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Certificats publics (uploadés)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Échangé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EA9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961457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C7D5932-31E8-60EE-D8D6-C425422317E3}"/>
              </a:ext>
            </a:extLst>
          </p:cNvPr>
          <p:cNvSpPr/>
          <p:nvPr/>
        </p:nvSpPr>
        <p:spPr>
          <a:xfrm>
            <a:off x="4225505" y="2959150"/>
            <a:ext cx="2664296" cy="2952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???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CF8993-835C-8A99-B451-316AA229BBC5}"/>
              </a:ext>
            </a:extLst>
          </p:cNvPr>
          <p:cNvSpPr txBox="1"/>
          <p:nvPr/>
        </p:nvSpPr>
        <p:spPr>
          <a:xfrm>
            <a:off x="611560" y="5911478"/>
            <a:ext cx="761420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(*) = Appliqué temporairement depuis le slot cible vers la source (phase de </a:t>
            </a:r>
            <a:r>
              <a:rPr lang="fr-FR" sz="1400" dirty="0" err="1"/>
              <a:t>preview</a:t>
            </a:r>
            <a:r>
              <a:rPr lang="fr-FR" sz="1400" dirty="0"/>
              <a:t>)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contenu</a:t>
            </a:r>
            <a:r>
              <a:rPr lang="fr-FR" sz="1400" dirty="0"/>
              <a:t> et à la </a:t>
            </a:r>
            <a:r>
              <a:rPr lang="fr-FR" sz="1400" b="1" dirty="0"/>
              <a:t>logique de l'application </a:t>
            </a:r>
            <a:r>
              <a:rPr lang="fr-FR" sz="1400" dirty="0"/>
              <a:t>est </a:t>
            </a:r>
            <a:r>
              <a:rPr lang="fr-FR" sz="1400" b="1" dirty="0"/>
              <a:t>échangé</a:t>
            </a:r>
            <a:r>
              <a:rPr lang="fr-FR" sz="1400" dirty="0"/>
              <a:t>. </a:t>
            </a:r>
          </a:p>
          <a:p>
            <a:r>
              <a:rPr lang="fr-FR" sz="1400" dirty="0"/>
              <a:t>Tout ce qui touche au </a:t>
            </a:r>
            <a:r>
              <a:rPr lang="fr-FR" sz="1400" b="1" dirty="0"/>
              <a:t>réseau</a:t>
            </a:r>
            <a:r>
              <a:rPr lang="fr-FR" sz="1400" dirty="0"/>
              <a:t>, à la </a:t>
            </a:r>
            <a:r>
              <a:rPr lang="fr-FR" sz="1400" b="1" dirty="0"/>
              <a:t>sécurité </a:t>
            </a:r>
            <a:r>
              <a:rPr lang="fr-FR" sz="1400" dirty="0"/>
              <a:t>d'accès et à la </a:t>
            </a:r>
            <a:r>
              <a:rPr lang="fr-FR" sz="1400" b="1" dirty="0"/>
              <a:t>capacité machine reste sur le slot.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17351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A0BFC-30C1-08FF-9316-23BAA39C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0925-C196-EA96-A923-838700C65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DEF75-651E-C158-1CB6-7A0A0400F9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Lors d’un swap, quel élément est échangé ?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 err="1"/>
              <a:t>Managed</a:t>
            </a:r>
            <a:r>
              <a:rPr lang="fr-FR" dirty="0"/>
              <a:t> Identity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Restrictions IP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Domaines personnalisés </a:t>
            </a:r>
          </a:p>
          <a:p>
            <a:pPr marL="514350" indent="-514350">
              <a:buFont typeface="+mj-lt"/>
              <a:buAutoNum type="arabicPeriod"/>
            </a:pPr>
            <a:r>
              <a:rPr lang="fr-FR" dirty="0"/>
              <a:t>Code de l’application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C10781-D025-CFDE-7A86-CEBE71272429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BD1623-64D0-8363-566E-702C24371373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865D218-718E-A140-D8E1-F25B9EB12F97}"/>
              </a:ext>
            </a:extLst>
          </p:cNvPr>
          <p:cNvSpPr txBox="1"/>
          <p:nvPr/>
        </p:nvSpPr>
        <p:spPr>
          <a:xfrm>
            <a:off x="584" y="321297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326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8D83-36DC-408A-FDCB-509545537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8254F-F295-7BA2-EFC8-5BB0FF8F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98681-A497-E92A-2B0D-8460331C42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Quel élément n’est PAS échangé lors d’un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WebJobs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Handler </a:t>
            </a:r>
            <a:r>
              <a:rPr lang="fr-FR" sz="2400" dirty="0" err="1"/>
              <a:t>mappings</a:t>
            </a:r>
            <a:r>
              <a:rPr lang="fr-FR" sz="2400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Certificats publics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 err="1"/>
              <a:t>Scale</a:t>
            </a:r>
            <a:r>
              <a:rPr lang="fr-FR" sz="2400" dirty="0"/>
              <a:t> settings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ACF203B-BBB7-FF4B-FE7A-8B07E78434EF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E1CEFC5-CE9D-E173-FF49-7B109002AF25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4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66E9277-BFEA-F009-569D-62D2E19CB63F}"/>
              </a:ext>
            </a:extLst>
          </p:cNvPr>
          <p:cNvSpPr txBox="1"/>
          <p:nvPr/>
        </p:nvSpPr>
        <p:spPr>
          <a:xfrm>
            <a:off x="0" y="292494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245EE9E-D237-0D8F-E91C-C40200B7954B}"/>
              </a:ext>
            </a:extLst>
          </p:cNvPr>
          <p:cNvSpPr txBox="1"/>
          <p:nvPr/>
        </p:nvSpPr>
        <p:spPr>
          <a:xfrm>
            <a:off x="755576" y="5118083"/>
            <a:ext cx="4221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Le </a:t>
            </a:r>
            <a:r>
              <a:rPr lang="fr-FR" dirty="0" err="1"/>
              <a:t>scaling</a:t>
            </a:r>
            <a:r>
              <a:rPr lang="fr-FR" dirty="0"/>
              <a:t> est lié au plan, pas au slot</a:t>
            </a:r>
          </a:p>
        </p:txBody>
      </p:sp>
    </p:spTree>
    <p:extLst>
      <p:ext uri="{BB962C8B-B14F-4D97-AF65-F5344CB8AC3E}">
        <p14:creationId xmlns:p14="http://schemas.microsoft.com/office/powerpoint/2010/main" val="3663063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F6C91-94BF-68DC-2343-B916CCCD0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E7920-073A-F878-DE6F-687A1D01C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D37D-7A24-F763-061E-456E317F9C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sz="2400" dirty="0"/>
              <a:t>Pourquoi Azure applique temporairement lors certaines configurations du slot cible vers la source avant le swap ?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réduire le coût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accélérer le déploiement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tester l’application dans les conditions de production </a:t>
            </a:r>
          </a:p>
          <a:p>
            <a:pPr marL="514350" indent="-514350">
              <a:buFont typeface="+mj-lt"/>
              <a:buAutoNum type="arabicPeriod"/>
            </a:pPr>
            <a:r>
              <a:rPr lang="fr-FR" sz="2400" dirty="0"/>
              <a:t>Pour synchroniser les logs</a:t>
            </a:r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87C77CB-E124-86E5-9BEB-CF4370DE6E4A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9F01FFE-C3F4-F48C-55D6-DBEC622A99BD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3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BBF2F68-1323-1DFC-5A75-917FB0EF5381}"/>
              </a:ext>
            </a:extLst>
          </p:cNvPr>
          <p:cNvSpPr txBox="1"/>
          <p:nvPr/>
        </p:nvSpPr>
        <p:spPr>
          <a:xfrm>
            <a:off x="-29467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4BD490A-7622-146C-602F-B846D1D6FE34}"/>
              </a:ext>
            </a:extLst>
          </p:cNvPr>
          <p:cNvSpPr txBox="1"/>
          <p:nvPr/>
        </p:nvSpPr>
        <p:spPr>
          <a:xfrm>
            <a:off x="1331640" y="5606534"/>
            <a:ext cx="4942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💡 Phase de warm-up → simulation de la prod</a:t>
            </a:r>
          </a:p>
        </p:txBody>
      </p:sp>
    </p:spTree>
    <p:extLst>
      <p:ext uri="{BB962C8B-B14F-4D97-AF65-F5344CB8AC3E}">
        <p14:creationId xmlns:p14="http://schemas.microsoft.com/office/powerpoint/2010/main" val="3476317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connection string est marquée comme 'Deployment slot setting'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supprimée lors du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copiée dans tous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reste associée à son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Elle est automatiquement chiffrée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Elle reste liée à son slot et n’est pas échangée.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10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Pourquoi utiliser une base de données différente pour le slot staging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améliorer les performances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réduire les coûts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activer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Pour éviter d’impacter les données de production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164288" y="3515277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lang="fr-FR" dirty="0"/>
              <a:t>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staging doit être isolé de la production pour éviter tout impact sur les données réelles.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63691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11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le comportement par défaut du trafic vers un nouveau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50%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100%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Dépend du pricing tier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228184" y="3573398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6" y="4930239"/>
            <a:ext cx="58510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Par défaut, aucun trafic n’est dirigé vers un nouveau slot.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12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fonctionnalité permet de diriger une partie du trafic vers un slot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Canary </a:t>
            </a:r>
            <a:r>
              <a:rPr lang="fr-FR" sz="2000" dirty="0" err="1"/>
              <a:t>testing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Auto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 err="1"/>
              <a:t>Scale</a:t>
            </a:r>
            <a:r>
              <a:rPr lang="fr-FR" sz="2000" dirty="0"/>
              <a:t> out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Deployment Center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798743" y="4149080"/>
            <a:ext cx="142763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</a:t>
            </a:r>
            <a:r>
              <a:rPr dirty="0"/>
              <a:t> </a:t>
            </a:r>
            <a:r>
              <a:rPr lang="fr-FR" dirty="0"/>
              <a:t>1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7835928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canary testing permet de diriger un pourcentage du trafic vers un slot.</a:t>
            </a:r>
            <a:endParaRPr lang="fr-FR" dirty="0"/>
          </a:p>
          <a:p>
            <a:pPr>
              <a:defRPr sz="1600"/>
            </a:pPr>
            <a:r>
              <a:rPr lang="fr-FR" dirty="0"/>
              <a:t>Cela fait référence aux canaries utilisés dans les mines pour détecter les gaz toxiques.</a:t>
            </a:r>
          </a:p>
          <a:p>
            <a:pPr>
              <a:defRPr sz="1600"/>
            </a:pPr>
            <a:r>
              <a:rPr lang="fr-FR" dirty="0"/>
              <a:t>Appelé aussi « </a:t>
            </a:r>
            <a:r>
              <a:rPr lang="fr-FR" dirty="0" err="1"/>
              <a:t>Testing</a:t>
            </a:r>
            <a:r>
              <a:rPr lang="fr-FR" dirty="0"/>
              <a:t> in Production » (</a:t>
            </a:r>
            <a:r>
              <a:rPr lang="fr-FR" dirty="0" err="1"/>
              <a:t>TiP</a:t>
            </a:r>
            <a:r>
              <a:rPr lang="fr-FR" dirty="0"/>
              <a:t>)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1628800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3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header permet de cibler un slot spécifique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x-slot-routing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x-ms-routing-name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x-azure-slot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x-appservice-slot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660232" y="3402244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6848350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header x-ms-routing-name permet de diriger vers un slot </a:t>
            </a:r>
            <a:r>
              <a:rPr dirty="0" err="1"/>
              <a:t>spécifique</a:t>
            </a:r>
            <a:r>
              <a:rPr dirty="0"/>
              <a:t>.</a:t>
            </a:r>
            <a:endParaRPr lang="fr-FR" dirty="0"/>
          </a:p>
          <a:p>
            <a:pPr>
              <a:defRPr sz="1600"/>
            </a:pPr>
            <a:r>
              <a:rPr lang="fr-FR" dirty="0"/>
              <a:t>On fournit le nom du slot</a:t>
            </a:r>
          </a:p>
          <a:p>
            <a:pPr>
              <a:defRPr sz="1600"/>
            </a:pPr>
            <a:r>
              <a:rPr lang="fr-FR" dirty="0"/>
              <a:t>Exemple : </a:t>
            </a:r>
          </a:p>
          <a:p>
            <a:pPr>
              <a:defRPr sz="1600"/>
            </a:pPr>
            <a:r>
              <a:rPr lang="fr-FR" dirty="0"/>
              <a:t>x-ms-</a:t>
            </a:r>
            <a:r>
              <a:rPr lang="fr-FR" dirty="0" err="1"/>
              <a:t>routing</a:t>
            </a:r>
            <a:r>
              <a:rPr lang="fr-FR" dirty="0"/>
              <a:t>-</a:t>
            </a:r>
            <a:r>
              <a:rPr lang="fr-FR" dirty="0" err="1"/>
              <a:t>name</a:t>
            </a:r>
            <a:r>
              <a:rPr lang="fr-FR" dirty="0"/>
              <a:t>: </a:t>
            </a:r>
            <a:r>
              <a:rPr lang="fr-FR" dirty="0" err="1"/>
              <a:t>staging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Cette </a:t>
            </a:r>
            <a:r>
              <a:rPr lang="fr-FR" sz="1600" dirty="0"/>
              <a:t>fonctionnalité permet d’associer des utilisateurs spécifiques à un slot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27314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4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Vous avez déployé une nouvelle version via un slot </a:t>
            </a:r>
            <a:r>
              <a:rPr lang="fr-FR" sz="2000" dirty="0" err="1"/>
              <a:t>staging</a:t>
            </a:r>
            <a:r>
              <a:rPr lang="fr-FR" sz="2000" dirty="0"/>
              <a:t>. </a:t>
            </a:r>
          </a:p>
          <a:p>
            <a:pPr>
              <a:defRPr sz="2400"/>
            </a:pPr>
            <a:r>
              <a:rPr lang="fr-FR" sz="2000" dirty="0"/>
              <a:t>Après le swap, un bug critique apparaît en production. </a:t>
            </a:r>
          </a:p>
          <a:p>
            <a:pPr>
              <a:defRPr sz="2400"/>
            </a:pPr>
            <a:r>
              <a:rPr lang="fr-FR" sz="2000" dirty="0"/>
              <a:t>Quelle est l’action la plus rapide pour revenir à la version précédente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Redéployer l’ancienne version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Restaurer la base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Effectuer un swap inverse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Redémarrer l’application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rollback consiste à faire un swap inverse.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33481" y="2852936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5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fait Auto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 les anciens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Déploie directement en production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Déclenche automatiquement un swap après déploiement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 les bases de données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5576" y="558924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déclenche automatiquement un swap après déploiement et warm-up.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63398" y="2317469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6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Quelle est une limitation importante d’Auto Swap ?</a:t>
            </a:r>
            <a:r>
              <a:rPr lang="fr-FR" sz="2000" dirty="0"/>
              <a:t> </a:t>
            </a:r>
          </a:p>
          <a:p>
            <a:pPr>
              <a:defRPr sz="2400"/>
            </a:pPr>
            <a:r>
              <a:rPr lang="fr-FR" sz="2000" i="1" dirty="0"/>
              <a:t>(Plusieurs réponses possibles)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GitHub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SQL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sur Linux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avec les Containers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Ne fonctionne pas en Premium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190372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  <a:r>
              <a:rPr lang="fr-FR" dirty="0"/>
              <a:t> et 4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Auto Swap n’est pas supporté sur les App Services Linux.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2276872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3C3C20C-5C4A-C1A3-6711-89B6BBFB953C}"/>
              </a:ext>
            </a:extLst>
          </p:cNvPr>
          <p:cNvSpPr txBox="1"/>
          <p:nvPr/>
        </p:nvSpPr>
        <p:spPr>
          <a:xfrm>
            <a:off x="35496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  <p:bldP spid="4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7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35337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</a:t>
            </a:r>
            <a:r>
              <a:rPr sz="2000" dirty="0" err="1"/>
              <a:t>permet</a:t>
            </a:r>
            <a:r>
              <a:rPr sz="2000" dirty="0"/>
              <a:t> </a:t>
            </a:r>
            <a:r>
              <a:rPr lang="fr-FR" sz="2000" dirty="0"/>
              <a:t>réellement </a:t>
            </a:r>
            <a:r>
              <a:rPr sz="2000" dirty="0" err="1"/>
              <a:t>l’option</a:t>
            </a:r>
            <a:r>
              <a:rPr sz="2000" dirty="0"/>
              <a:t> 'Swap with preview'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Finaliser immédiatement le swap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Tester l’application avec les paramètres du slot cible avant la bascule finale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Supprimer automatiquement le slot source après validation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Dupliquer la configuration entre les slots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876256" y="2893666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84" y="3262998"/>
            <a:ext cx="66554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Permet de tester la configuration du slot cible avant de finaliser le swap.</a:t>
            </a:r>
            <a:endParaRPr lang="fr-FR" dirty="0"/>
          </a:p>
          <a:p>
            <a:pPr>
              <a:defRPr sz="1600"/>
            </a:pP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-70920" y="1333903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B8C02-27E5-404E-F59F-69ACFC9CD5A9}"/>
              </a:ext>
            </a:extLst>
          </p:cNvPr>
          <p:cNvSpPr txBox="1"/>
          <p:nvPr/>
        </p:nvSpPr>
        <p:spPr>
          <a:xfrm>
            <a:off x="251520" y="3595003"/>
            <a:ext cx="465356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1 — Préparation (</a:t>
            </a:r>
            <a:r>
              <a:rPr lang="fr-FR" sz="1400" b="1" dirty="0" err="1"/>
              <a:t>preview</a:t>
            </a:r>
            <a:r>
              <a:rPr lang="fr-FR" sz="1400" b="1" dirty="0"/>
              <a:t>)</a:t>
            </a:r>
          </a:p>
          <a:p>
            <a:pPr>
              <a:buNone/>
            </a:pPr>
            <a:r>
              <a:rPr lang="fr-FR" sz="1400" dirty="0"/>
              <a:t>Azure : applique </a:t>
            </a:r>
            <a:r>
              <a:rPr lang="fr-FR" sz="1400" b="1" dirty="0"/>
              <a:t>temporairement</a:t>
            </a:r>
            <a:r>
              <a:rPr lang="fr-FR" sz="14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App Settings du </a:t>
            </a:r>
            <a:r>
              <a:rPr lang="fr-FR" sz="1400" b="1" dirty="0"/>
              <a:t>slot cible (production)</a:t>
            </a:r>
            <a:r>
              <a:rPr lang="fr-FR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Connection Strings du </a:t>
            </a:r>
            <a:r>
              <a:rPr lang="fr-FR" sz="1400" b="1" dirty="0"/>
              <a:t>slot cible</a:t>
            </a:r>
            <a:r>
              <a:rPr lang="fr-FR" sz="1400" dirty="0"/>
              <a:t> </a:t>
            </a:r>
          </a:p>
          <a:p>
            <a:pPr>
              <a:buNone/>
            </a:pPr>
            <a:r>
              <a:rPr lang="fr-FR" sz="1400" dirty="0"/>
              <a:t>MAIS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 trafic reste sur production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rien n’est encore basculé </a:t>
            </a:r>
          </a:p>
          <a:p>
            <a:pPr>
              <a:buNone/>
            </a:pPr>
            <a:r>
              <a:rPr lang="fr-FR" sz="1400" dirty="0"/>
              <a:t>👉 Résultat :</a:t>
            </a:r>
          </a:p>
          <a:p>
            <a:pPr>
              <a:buNone/>
            </a:pPr>
            <a:r>
              <a:rPr lang="fr-FR" sz="1400" dirty="0"/>
              <a:t>✔️ Le slot </a:t>
            </a:r>
            <a:r>
              <a:rPr lang="fr-FR" sz="1400" dirty="0" err="1"/>
              <a:t>staging</a:t>
            </a:r>
            <a:r>
              <a:rPr lang="fr-FR" sz="1400" dirty="0"/>
              <a:t> tourne </a:t>
            </a:r>
            <a:r>
              <a:rPr lang="fr-FR" sz="1400" b="1" dirty="0"/>
              <a:t>dans les conditions réelles de production</a:t>
            </a:r>
            <a:br>
              <a:rPr lang="fr-FR" sz="1400" dirty="0"/>
            </a:br>
            <a:r>
              <a:rPr lang="fr-FR" sz="1400" dirty="0"/>
              <a:t>✔️ Tu peux tester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config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accès DB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 err="1"/>
              <a:t>auth</a:t>
            </a:r>
            <a:r>
              <a:rPr lang="fr-FR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comportement réel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D19C272-E668-2E3A-E696-6BA3224E9764}"/>
              </a:ext>
            </a:extLst>
          </p:cNvPr>
          <p:cNvSpPr txBox="1"/>
          <p:nvPr/>
        </p:nvSpPr>
        <p:spPr>
          <a:xfrm>
            <a:off x="5292080" y="3717032"/>
            <a:ext cx="331236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400" b="1" dirty="0"/>
              <a:t>🔹 Phase 2 — Commit</a:t>
            </a:r>
          </a:p>
          <a:p>
            <a:pPr>
              <a:buNone/>
            </a:pPr>
            <a:r>
              <a:rPr lang="fr-FR" sz="1400" dirty="0"/>
              <a:t>👉 Si tout est OK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tu finalises le swap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les slots sont échangés </a:t>
            </a:r>
          </a:p>
          <a:p>
            <a:pPr>
              <a:buNone/>
            </a:pPr>
            <a:endParaRPr lang="fr-FR" sz="1400" dirty="0"/>
          </a:p>
          <a:p>
            <a:pPr>
              <a:buNone/>
            </a:pPr>
            <a:r>
              <a:rPr lang="fr-FR" sz="1400" b="1" dirty="0"/>
              <a:t>🔹 Possibilité d’annuler</a:t>
            </a:r>
          </a:p>
          <a:p>
            <a:pPr>
              <a:buNone/>
            </a:pPr>
            <a:r>
              <a:rPr lang="fr-FR" sz="1400" dirty="0"/>
              <a:t>👉 Si problème :</a:t>
            </a:r>
          </a:p>
          <a:p>
            <a:pPr>
              <a:buNone/>
            </a:pPr>
            <a:r>
              <a:rPr lang="fr-FR" sz="1400" dirty="0"/>
              <a:t>✔️ tu annules</a:t>
            </a:r>
            <a:br>
              <a:rPr lang="fr-FR" sz="1400" dirty="0"/>
            </a:br>
            <a:r>
              <a:rPr lang="fr-FR" sz="1400" dirty="0"/>
              <a:t>✔️ aucun impact sur la 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5" grpId="0"/>
      <p:bldP spid="7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18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 se passe-t-il si une application met trop de temps à démarrer lors d’un swap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est ignoré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Azure redémarre automatiquement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swap peut échouer (timeout)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slot est supprimé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Un timeout peut provoquer l’échec du swap.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112057" y="2564904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7876375-F899-D6BF-2736-31DF82633A13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/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1</a:t>
            </a:r>
            <a:r>
              <a:rPr lang="fr-FR" sz="3200" dirty="0"/>
              <a:t>9</a:t>
            </a:r>
            <a:endParaRPr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467096" y="1324006"/>
            <a:ext cx="8431481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sz="2000" dirty="0"/>
              <a:t>Quel est l’impact du scaling sur les deployment slots ?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a son propre scaling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s’applique à tous les slots du plan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ne fonctionne pas avec les slots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 scaling supprime les slots</a:t>
            </a:r>
          </a:p>
          <a:p>
            <a:pPr>
              <a:defRPr sz="2400"/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237" y="4930239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Le scaling est au niveau du App Service Plan.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725EF7-87C3-CDD6-A02E-8E79EB6F99D4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7A2F-0A81-FBAA-5CF9-1A16CB3A9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3719933-B3AE-44F7-7628-FCC3D4BD2A25}"/>
              </a:ext>
            </a:extLst>
          </p:cNvPr>
          <p:cNvSpPr/>
          <p:nvPr/>
        </p:nvSpPr>
        <p:spPr>
          <a:xfrm>
            <a:off x="0" y="0"/>
            <a:ext cx="9144000" cy="9539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2ED855-4882-CA9D-DFA2-21A461F64F61}"/>
              </a:ext>
            </a:extLst>
          </p:cNvPr>
          <p:cNvSpPr/>
          <p:nvPr/>
        </p:nvSpPr>
        <p:spPr>
          <a:xfrm>
            <a:off x="114794" y="0"/>
            <a:ext cx="8835241" cy="9539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200" dirty="0"/>
              <a:t>Question </a:t>
            </a:r>
            <a:r>
              <a:rPr lang="fr-FR" sz="3200" dirty="0"/>
              <a:t>20</a:t>
            </a:r>
            <a:endParaRPr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93A00-D578-0FDE-44ED-3E4DC1276211}"/>
              </a:ext>
            </a:extLst>
          </p:cNvPr>
          <p:cNvSpPr txBox="1"/>
          <p:nvPr/>
        </p:nvSpPr>
        <p:spPr>
          <a:xfrm>
            <a:off x="467096" y="1324006"/>
            <a:ext cx="843148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/>
            </a:pPr>
            <a:r>
              <a:rPr lang="fr-FR" sz="2000" dirty="0"/>
              <a:t>Comment fonctionnent les </a:t>
            </a:r>
            <a:r>
              <a:rPr lang="fr-FR" sz="2000" dirty="0" err="1"/>
              <a:t>hostnames</a:t>
            </a:r>
            <a:r>
              <a:rPr lang="fr-FR" sz="2000" dirty="0"/>
              <a:t> (URL) avec les </a:t>
            </a:r>
            <a:r>
              <a:rPr lang="fr-FR" sz="2000" dirty="0" err="1"/>
              <a:t>deployment</a:t>
            </a:r>
            <a:r>
              <a:rPr lang="fr-FR" sz="2000" dirty="0"/>
              <a:t> slots dans Azure App Service ?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Tous les slots partagent le même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Chaque slot possède un </a:t>
            </a:r>
            <a:r>
              <a:rPr lang="fr-FR" sz="2000" dirty="0" err="1"/>
              <a:t>hostname</a:t>
            </a:r>
            <a:r>
              <a:rPr lang="fr-FR" sz="2000" dirty="0"/>
              <a:t> unique basé sur le nom du slot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Seul le slot production possède un </a:t>
            </a:r>
            <a:r>
              <a:rPr lang="fr-FR" sz="2000" dirty="0" err="1"/>
              <a:t>hostname</a:t>
            </a:r>
            <a:endParaRPr lang="fr-FR" sz="2000" dirty="0"/>
          </a:p>
          <a:p>
            <a:pPr marL="457200" indent="-457200">
              <a:buFont typeface="+mj-lt"/>
              <a:buAutoNum type="arabicPeriod"/>
              <a:defRPr sz="2400"/>
            </a:pPr>
            <a:r>
              <a:rPr lang="fr-FR" sz="2000" dirty="0"/>
              <a:t>Les </a:t>
            </a:r>
            <a:r>
              <a:rPr lang="fr-FR" sz="2000" dirty="0" err="1"/>
              <a:t>hostnames</a:t>
            </a:r>
            <a:r>
              <a:rPr lang="fr-FR" sz="2000" dirty="0"/>
              <a:t> changent automatiquement après chaque déploiement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AD3CC-52C8-1AAC-AAE0-E522D89CAC14}"/>
              </a:ext>
            </a:extLst>
          </p:cNvPr>
          <p:cNvSpPr txBox="1"/>
          <p:nvPr/>
        </p:nvSpPr>
        <p:spPr>
          <a:xfrm>
            <a:off x="6151418" y="5029200"/>
            <a:ext cx="234525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rPr u="sng" dirty="0" err="1"/>
              <a:t>Réponse</a:t>
            </a:r>
            <a:r>
              <a:rPr u="sng" dirty="0"/>
              <a:t> : </a:t>
            </a:r>
            <a:r>
              <a:rPr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57D7DF-B5EC-9BA7-F032-9F94A49EA45E}"/>
              </a:ext>
            </a:extLst>
          </p:cNvPr>
          <p:cNvSpPr txBox="1"/>
          <p:nvPr/>
        </p:nvSpPr>
        <p:spPr>
          <a:xfrm>
            <a:off x="1025237" y="4930239"/>
            <a:ext cx="35685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lang="fr-FR" dirty="0"/>
              <a:t>Chaque slot possède </a:t>
            </a:r>
            <a:r>
              <a:rPr lang="fr-FR" b="1" dirty="0"/>
              <a:t>sa propre URL</a:t>
            </a:r>
            <a:endParaRPr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DE420D1-19F0-75C8-F2B4-A03D63FFD22B}"/>
              </a:ext>
            </a:extLst>
          </p:cNvPr>
          <p:cNvSpPr txBox="1"/>
          <p:nvPr/>
        </p:nvSpPr>
        <p:spPr>
          <a:xfrm>
            <a:off x="35496" y="1954948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70228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3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7423B-33F3-285C-81C4-0CC3C92D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5FEFD975-28A2-2749-5905-8C198630D8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FR" dirty="0"/>
              <a:t>Quizz à venir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484D9A-53DD-BB7C-0611-FF7F11F510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604868" y="3501008"/>
            <a:ext cx="5624732" cy="143256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1479556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F50A2-51EE-3DD0-939F-AF87EC7A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3BC7-BABA-15D5-5CAA-9769C747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XXX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AACFF-2479-13B1-CAE6-A64140DFCB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fr-FR" dirty="0"/>
              <a:t>XXX</a:t>
            </a:r>
            <a:endParaRPr lang="fr-FR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0EFF51-1EA4-8F8F-F375-67690A6A6623}"/>
              </a:ext>
            </a:extLst>
          </p:cNvPr>
          <p:cNvSpPr txBox="1">
            <a:spLocks/>
          </p:cNvSpPr>
          <p:nvPr/>
        </p:nvSpPr>
        <p:spPr>
          <a:xfrm>
            <a:off x="457200" y="1066800"/>
            <a:ext cx="8229600" cy="5314528"/>
          </a:xfrm>
          <a:prstGeom prst="rect">
            <a:avLst/>
          </a:prstGeom>
        </p:spPr>
        <p:txBody>
          <a:bodyPr/>
          <a:lstStyle>
            <a:lvl1pPr marL="457200" indent="-4572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8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  <a:lvl2pPr marL="8001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4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rgbClr val="0070C0"/>
              </a:buClr>
              <a:buFont typeface="Arial" pitchFamily="34" charset="0"/>
              <a:buChar char="•"/>
              <a:defRPr sz="2000" b="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fr-FR" sz="2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609132-3E70-8C41-7A9A-265F02874E5A}"/>
              </a:ext>
            </a:extLst>
          </p:cNvPr>
          <p:cNvSpPr txBox="1"/>
          <p:nvPr/>
        </p:nvSpPr>
        <p:spPr>
          <a:xfrm>
            <a:off x="7524328" y="5487415"/>
            <a:ext cx="12304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/>
              <a:t>Réponse :</a:t>
            </a:r>
          </a:p>
          <a:p>
            <a:r>
              <a:rPr lang="fr-FR" dirty="0"/>
              <a:t>XXX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8FB2D96-A8F8-F8C8-9F49-64377DF5DEED}"/>
              </a:ext>
            </a:extLst>
          </p:cNvPr>
          <p:cNvSpPr txBox="1"/>
          <p:nvPr/>
        </p:nvSpPr>
        <p:spPr>
          <a:xfrm>
            <a:off x="51757" y="2659981"/>
            <a:ext cx="55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✅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E21CA9D-BEF6-8B15-33E6-8C43A97A0EF2}"/>
              </a:ext>
            </a:extLst>
          </p:cNvPr>
          <p:cNvSpPr txBox="1"/>
          <p:nvPr/>
        </p:nvSpPr>
        <p:spPr>
          <a:xfrm>
            <a:off x="1475656" y="5733256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XXX</a:t>
            </a:r>
          </a:p>
        </p:txBody>
      </p:sp>
    </p:spTree>
    <p:extLst>
      <p:ext uri="{BB962C8B-B14F-4D97-AF65-F5344CB8AC3E}">
        <p14:creationId xmlns:p14="http://schemas.microsoft.com/office/powerpoint/2010/main" val="2363418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UIDATA" val="&lt;database version=&quot;8.0&quot;&gt;&lt;object type=&quot;1&quot; unique_id=&quot;10001&quot;&gt;&lt;object type=&quot;2&quot; unique_id=&quot;10002&quot;&gt;&lt;object type=&quot;3&quot; unique_id=&quot;10003&quot;&gt;&lt;property id=&quot;20148&quot; value=&quot;5&quot;/&gt;&lt;property id=&quot;20300&quot; value=&quot;Slide 1&quot;/&gt;&lt;property id=&quot;20307&quot; value=&quot;269&quot;/&gt;&lt;/object&gt;&lt;object type=&quot;3&quot; unique_id=&quot;10004&quot;&gt;&lt;property id=&quot;20148&quot; value=&quot;5&quot;/&gt;&lt;property id=&quot;20300&quot; value=&quot;Slide 2 - &amp;quot;Welcome!&amp;quot;&quot;/&gt;&lt;property id=&quot;20307&quot; value=&quot;263&quot;/&gt;&lt;/object&gt;&lt;object type=&quot;3&quot; unique_id=&quot;10005&quot;&gt;&lt;property id=&quot;20148&quot; value=&quot;5&quot;/&gt;&lt;property id=&quot;20300&quot; value=&quot;Slide 3 - &amp;quot;Hello&amp;quot;&quot;/&gt;&lt;property id=&quot;20307&quot; value=&quot;266&quot;/&gt;&lt;/object&gt;&lt;object type=&quot;3&quot; unique_id=&quot;10006&quot;&gt;&lt;property id=&quot;20148&quot; value=&quot;5&quot;/&gt;&lt;property id=&quot;20300&quot; value=&quot;Slide 4 - &amp;quot;Facilities&amp;quot;&quot;/&gt;&lt;property id=&quot;20307&quot; value=&quot;262&quot;/&gt;&lt;/object&gt;&lt;object type=&quot;3&quot; unique_id=&quot;10007&quot;&gt;&lt;property id=&quot;20148&quot; value=&quot;5&quot;/&gt;&lt;property id=&quot;20300&quot; value=&quot;Slide 5 - &amp;quot;About This Course&amp;quot;&quot;/&gt;&lt;property id=&quot;20307&quot; value=&quot;264&quot;/&gt;&lt;/object&gt;&lt;object type=&quot;3&quot; unique_id=&quot;10008&quot;&gt;&lt;property id=&quot;20148&quot; value=&quot;5&quot;/&gt;&lt;property id=&quot;20300&quot; value=&quot;Slide 6 - &amp;quot;Hidden Slide&amp;quot;&quot;/&gt;&lt;property id=&quot;20307&quot; value=&quot;278&quot;/&gt;&lt;/object&gt;&lt;object type=&quot;3&quot; unique_id=&quot;10009&quot;&gt;&lt;property id=&quot;20148&quot; value=&quot;5&quot;/&gt;&lt;property id=&quot;20300&quot; value=&quot;Slide 7 - &amp;quot;Hidden Slide&amp;quot;&quot;/&gt;&lt;property id=&quot;20307&quot; value=&quot;279&quot;/&gt;&lt;/object&gt;&lt;object type=&quot;3&quot; unique_id=&quot;10010&quot;&gt;&lt;property id=&quot;20148&quot; value=&quot;5&quot;/&gt;&lt;property id=&quot;20300&quot; value=&quot;Slide 8 - &amp;quot;Your Course Materials&amp;quot;&quot;/&gt;&lt;property id=&quot;20307&quot; value=&quot;276&quot;/&gt;&lt;/object&gt;&lt;object type=&quot;3&quot; unique_id=&quot;10011&quot;&gt;&lt;property id=&quot;20148&quot; value=&quot;5&quot;/&gt;&lt;property id=&quot;20300&quot; value=&quot;Slide 9 - &amp;quot;Course Outline&amp;quot;&quot;/&gt;&lt;property id=&quot;20307&quot; value=&quot;271&quot;/&gt;&lt;/object&gt;&lt;object type=&quot;3&quot; unique_id=&quot;10012&quot;&gt;&lt;property id=&quot;20148&quot; value=&quot;5&quot;/&gt;&lt;property id=&quot;20300&quot; value=&quot;Slide 10 - &amp;quot;Course Outline (continued)&amp;quot;&quot;/&gt;&lt;property id=&quot;20307&quot; value=&quot;272&quot;/&gt;&lt;/object&gt;&lt;object type=&quot;3&quot; unique_id=&quot;10013&quot;&gt;&lt;property id=&quot;20148&quot; value=&quot;5&quot;/&gt;&lt;property id=&quot;20300&quot; value=&quot;Slide 11 - &amp;quot;Related Courses&amp;quot;&quot;/&gt;&lt;property id=&quot;20307&quot; value=&quot;259&quot;/&gt;&lt;/object&gt;&lt;object type=&quot;3&quot; unique_id=&quot;10014&quot;&gt;&lt;property id=&quot;20148&quot; value=&quot;5&quot;/&gt;&lt;property id=&quot;20300&quot; value=&quot;Slide 12 - &amp;quot;Microsoft Certification Program&amp;quot;&quot;/&gt;&lt;property id=&quot;20307&quot; value=&quot;260&quot;/&gt;&lt;/object&gt;&lt;object type=&quot;3&quot; unique_id=&quot;10015&quot;&gt;&lt;property id=&quot;20148&quot; value=&quot;5&quot;/&gt;&lt;property id=&quot;20300&quot; value=&quot;Slide 13 - &amp;quot;Preparing for the Labs&amp;quot;&quot;/&gt;&lt;property id=&quot;20307&quot; value=&quot;275&quot;/&gt;&lt;/object&gt;&lt;object type=&quot;3&quot; unique_id=&quot;10016&quot;&gt;&lt;property id=&quot;20148&quot; value=&quot;5&quot;/&gt;&lt;property id=&quot;20300&quot; value=&quot;Slide 14 - &amp;quot;Virtual Machine Environment&amp;quot;&quot;/&gt;&lt;property id=&quot;20307&quot; value=&quot;274&quot;/&gt;&lt;/object&gt;&lt;object type=&quot;3&quot; unique_id=&quot;10017&quot;&gt;&lt;property id=&quot;20148&quot; value=&quot;5&quot;/&gt;&lt;property id=&quot;20300&quot; value=&quot;Slide 15 - &amp;quot;Demonstration: Using Hyper-V Manager&amp;quot;&quot;/&gt;&lt;property id=&quot;20307&quot; value=&quot;277&quot;/&gt;&lt;/object&gt;&lt;/object&gt;&lt;object type=&quot;8&quot; unique_id=&quot;10034&quot;&gt;&lt;/object&gt;&lt;/object&gt;&lt;/database&gt;"/>
  <p:tag name="MMPROD_NEXTUNIQUEID" val="10009"/>
  <p:tag name="SECTOMILLISECCONVERTED" val="1"/>
</p:tagLst>
</file>

<file path=ppt/theme/theme1.xml><?xml version="1.0" encoding="utf-8"?>
<a:theme xmlns:a="http://schemas.openxmlformats.org/drawingml/2006/main" name="Module 0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OC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Trebuchet MS"/>
        <a:ea typeface=""/>
        <a:cs typeface=""/>
      </a:majorFont>
      <a:minorFont>
        <a:latin typeface="Trebuchet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6104AB67EA0840A5368495ED48DE27" ma:contentTypeVersion="0" ma:contentTypeDescription="Create a new document." ma:contentTypeScope="" ma:versionID="26623300cf3c9a1314ffde8268b9cf10">
  <xsd:schema xmlns:xsd="http://www.w3.org/2001/XMLSchema" xmlns:p="http://schemas.microsoft.com/office/2006/metadata/properties" targetNamespace="http://schemas.microsoft.com/office/2006/metadata/properties" ma:root="true" ma:fieldsID="4aeb20c0e3442673af7ee10786458764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Props1.xml><?xml version="1.0" encoding="utf-8"?>
<ds:datastoreItem xmlns:ds="http://schemas.openxmlformats.org/officeDocument/2006/customXml" ds:itemID="{5F5AAB2B-289B-4A4A-91D1-6C05C68C709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28F5E6C-95F4-4526-9FF0-0DA8E7745FA9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47E99D0-EB5B-490A-9F3A-614690962B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Module 0 Template</Template>
  <TotalTime>0</TotalTime>
  <Words>7535</Words>
  <Application>Microsoft Office PowerPoint</Application>
  <PresentationFormat>Affichage à l'écran (4:3)</PresentationFormat>
  <Paragraphs>1542</Paragraphs>
  <Slides>95</Slides>
  <Notes>73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3</vt:i4>
      </vt:variant>
      <vt:variant>
        <vt:lpstr>Titres des diapositives</vt:lpstr>
      </vt:variant>
      <vt:variant>
        <vt:i4>95</vt:i4>
      </vt:variant>
    </vt:vector>
  </HeadingPairs>
  <TitlesOfParts>
    <vt:vector size="106" baseType="lpstr">
      <vt:lpstr>Arial</vt:lpstr>
      <vt:lpstr>Arial Black</vt:lpstr>
      <vt:lpstr>Calibri</vt:lpstr>
      <vt:lpstr>Courier New</vt:lpstr>
      <vt:lpstr>Segoe UI</vt:lpstr>
      <vt:lpstr>Segoe UI Light</vt:lpstr>
      <vt:lpstr>Trebuchet MS</vt:lpstr>
      <vt:lpstr>Wingdings</vt:lpstr>
      <vt:lpstr>Module 0 Template</vt:lpstr>
      <vt:lpstr>Custom Design</vt:lpstr>
      <vt:lpstr>1_Custom Design</vt:lpstr>
      <vt:lpstr>Présentation PowerPoint</vt:lpstr>
      <vt:lpstr>Index</vt:lpstr>
      <vt:lpstr>Présentation PowerPoint</vt:lpstr>
      <vt:lpstr>AzureQuizLab </vt:lpstr>
      <vt:lpstr>Prochaines sessions </vt:lpstr>
      <vt:lpstr>Présentation PowerPoint</vt:lpstr>
      <vt:lpstr>On Premises vs Iaas vs Paas vs Saas</vt:lpstr>
      <vt:lpstr>Question 1 </vt:lpstr>
      <vt:lpstr>Question 2 </vt:lpstr>
      <vt:lpstr>Question 3</vt:lpstr>
      <vt:lpstr>Question 4</vt:lpstr>
      <vt:lpstr>Question 5 </vt:lpstr>
      <vt:lpstr>Question 6 </vt:lpstr>
      <vt:lpstr>Question 7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 </vt:lpstr>
      <vt:lpstr>Question 8</vt:lpstr>
      <vt:lpstr>Présentation PowerPoint</vt:lpstr>
      <vt:lpstr>Question 1</vt:lpstr>
      <vt:lpstr>Question 2</vt:lpstr>
      <vt:lpstr>Question 3 </vt:lpstr>
      <vt:lpstr>Question 3 bis </vt:lpstr>
      <vt:lpstr>Question 4 </vt:lpstr>
      <vt:lpstr>Question 5</vt:lpstr>
      <vt:lpstr>Question 6</vt:lpstr>
      <vt:lpstr>Scale Up / Scale Out</vt:lpstr>
      <vt:lpstr>Azure Autoscale vs  Web App Automatic Scaling</vt:lpstr>
      <vt:lpstr>Présentation PowerPoint</vt:lpstr>
      <vt:lpstr>Question  1</vt:lpstr>
      <vt:lpstr>Question 2 </vt:lpstr>
      <vt:lpstr>Question 3</vt:lpstr>
      <vt:lpstr>Question 4</vt:lpstr>
      <vt:lpstr>Question 5</vt:lpstr>
      <vt:lpstr>Question 6</vt:lpstr>
      <vt:lpstr>Question 7 </vt:lpstr>
      <vt:lpstr>Question 8 </vt:lpstr>
      <vt:lpstr>Question 9 </vt:lpstr>
      <vt:lpstr>Question 10 </vt:lpstr>
      <vt:lpstr>Présentation PowerPoint</vt:lpstr>
      <vt:lpstr>Question 1 </vt:lpstr>
      <vt:lpstr>Question 2 </vt:lpstr>
      <vt:lpstr>Question 3 </vt:lpstr>
      <vt:lpstr>Question 4</vt:lpstr>
      <vt:lpstr>Question 5</vt:lpstr>
      <vt:lpstr>Question 6 </vt:lpstr>
      <vt:lpstr>Présentation PowerPoint</vt:lpstr>
      <vt:lpstr>Question  1</vt:lpstr>
      <vt:lpstr>Question 2 </vt:lpstr>
      <vt:lpstr>Question 3 </vt:lpstr>
      <vt:lpstr>Question 4</vt:lpstr>
      <vt:lpstr>Question 5</vt:lpstr>
      <vt:lpstr>Question 6 </vt:lpstr>
      <vt:lpstr>Question 7 </vt:lpstr>
      <vt:lpstr>Présentation PowerPoint</vt:lpstr>
      <vt:lpstr>Question 1</vt:lpstr>
      <vt:lpstr>Question  2</vt:lpstr>
      <vt:lpstr>Question  3</vt:lpstr>
      <vt:lpstr>Question  4</vt:lpstr>
      <vt:lpstr>Question  5</vt:lpstr>
      <vt:lpstr>Question  6</vt:lpstr>
      <vt:lpstr>Question  7</vt:lpstr>
      <vt:lpstr>Question 8</vt:lpstr>
      <vt:lpstr>Question 9</vt:lpstr>
      <vt:lpstr>Question 10</vt:lpstr>
      <vt:lpstr>Question 11</vt:lpstr>
      <vt:lpstr>Certificats, explications</vt:lpstr>
      <vt:lpstr>Présentation PowerPoint</vt:lpstr>
      <vt:lpstr>Question 1</vt:lpstr>
      <vt:lpstr>Question 2</vt:lpstr>
      <vt:lpstr>Question 3</vt:lpstr>
      <vt:lpstr>Question 4</vt:lpstr>
      <vt:lpstr>Question 5</vt:lpstr>
      <vt:lpstr>Question 6</vt:lpstr>
      <vt:lpstr>Question 7</vt:lpstr>
      <vt:lpstr>Question 8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Question XXX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</dc:creator>
  <cp:lastModifiedBy>PLANAS Jean Pierre [EXT]</cp:lastModifiedBy>
  <cp:revision>362</cp:revision>
  <cp:lastPrinted>2012-08-28T00:39:50Z</cp:lastPrinted>
  <dcterms:created xsi:type="dcterms:W3CDTF">2012-09-10T15:00:36Z</dcterms:created>
  <dcterms:modified xsi:type="dcterms:W3CDTF">2026-03-25T09:23:22Z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0x010100396104AB67EA0840A5368495ED48DE27</vt:lpwstr>
  </property>
</Properties>
</file>