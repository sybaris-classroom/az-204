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209"/>
  </p:notesMasterIdLst>
  <p:handoutMasterIdLst>
    <p:handoutMasterId r:id="rId210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85" r:id="rId100"/>
    <p:sldId id="256" r:id="rId101"/>
    <p:sldId id="257" r:id="rId102"/>
    <p:sldId id="258" r:id="rId103"/>
    <p:sldId id="259" r:id="rId104"/>
    <p:sldId id="272" r:id="rId105"/>
    <p:sldId id="795" r:id="rId106"/>
    <p:sldId id="260" r:id="rId107"/>
    <p:sldId id="793" r:id="rId108"/>
    <p:sldId id="269" r:id="rId109"/>
    <p:sldId id="798" r:id="rId110"/>
    <p:sldId id="788" r:id="rId111"/>
    <p:sldId id="789" r:id="rId112"/>
    <p:sldId id="790" r:id="rId113"/>
    <p:sldId id="791" r:id="rId114"/>
    <p:sldId id="792" r:id="rId115"/>
    <p:sldId id="794" r:id="rId116"/>
    <p:sldId id="271" r:id="rId117"/>
    <p:sldId id="273" r:id="rId118"/>
    <p:sldId id="274" r:id="rId119"/>
    <p:sldId id="275" r:id="rId120"/>
    <p:sldId id="276" r:id="rId121"/>
    <p:sldId id="796" r:id="rId122"/>
    <p:sldId id="797" r:id="rId123"/>
    <p:sldId id="799" r:id="rId124"/>
    <p:sldId id="800" r:id="rId125"/>
    <p:sldId id="801" r:id="rId126"/>
    <p:sldId id="802" r:id="rId127"/>
    <p:sldId id="809" r:id="rId128"/>
    <p:sldId id="804" r:id="rId129"/>
    <p:sldId id="805" r:id="rId130"/>
    <p:sldId id="803" r:id="rId131"/>
    <p:sldId id="806" r:id="rId132"/>
    <p:sldId id="807" r:id="rId133"/>
    <p:sldId id="810" r:id="rId134"/>
    <p:sldId id="814" r:id="rId135"/>
    <p:sldId id="811" r:id="rId136"/>
    <p:sldId id="812" r:id="rId137"/>
    <p:sldId id="813" r:id="rId138"/>
    <p:sldId id="815" r:id="rId139"/>
    <p:sldId id="816" r:id="rId140"/>
    <p:sldId id="817" r:id="rId141"/>
    <p:sldId id="818" r:id="rId142"/>
    <p:sldId id="819" r:id="rId143"/>
    <p:sldId id="820" r:id="rId144"/>
    <p:sldId id="821" r:id="rId145"/>
    <p:sldId id="822" r:id="rId146"/>
    <p:sldId id="823" r:id="rId147"/>
    <p:sldId id="824" r:id="rId148"/>
    <p:sldId id="825" r:id="rId149"/>
    <p:sldId id="826" r:id="rId150"/>
    <p:sldId id="827" r:id="rId151"/>
    <p:sldId id="828" r:id="rId152"/>
    <p:sldId id="829" r:id="rId153"/>
    <p:sldId id="830" r:id="rId154"/>
    <p:sldId id="831" r:id="rId155"/>
    <p:sldId id="832" r:id="rId156"/>
    <p:sldId id="833" r:id="rId157"/>
    <p:sldId id="834" r:id="rId158"/>
    <p:sldId id="835" r:id="rId159"/>
    <p:sldId id="836" r:id="rId160"/>
    <p:sldId id="837" r:id="rId161"/>
    <p:sldId id="838" r:id="rId162"/>
    <p:sldId id="839" r:id="rId163"/>
    <p:sldId id="840" r:id="rId164"/>
    <p:sldId id="841" r:id="rId165"/>
    <p:sldId id="842" r:id="rId166"/>
    <p:sldId id="843" r:id="rId167"/>
    <p:sldId id="844" r:id="rId168"/>
    <p:sldId id="845" r:id="rId169"/>
    <p:sldId id="846" r:id="rId170"/>
    <p:sldId id="847" r:id="rId171"/>
    <p:sldId id="848" r:id="rId172"/>
    <p:sldId id="857" r:id="rId173"/>
    <p:sldId id="849" r:id="rId174"/>
    <p:sldId id="850" r:id="rId175"/>
    <p:sldId id="851" r:id="rId176"/>
    <p:sldId id="852" r:id="rId177"/>
    <p:sldId id="853" r:id="rId178"/>
    <p:sldId id="854" r:id="rId179"/>
    <p:sldId id="855" r:id="rId180"/>
    <p:sldId id="856" r:id="rId181"/>
    <p:sldId id="858" r:id="rId182"/>
    <p:sldId id="859" r:id="rId183"/>
    <p:sldId id="860" r:id="rId184"/>
    <p:sldId id="861" r:id="rId185"/>
    <p:sldId id="862" r:id="rId186"/>
    <p:sldId id="863" r:id="rId187"/>
    <p:sldId id="864" r:id="rId188"/>
    <p:sldId id="865" r:id="rId189"/>
    <p:sldId id="866" r:id="rId190"/>
    <p:sldId id="867" r:id="rId191"/>
    <p:sldId id="868" r:id="rId192"/>
    <p:sldId id="869" r:id="rId193"/>
    <p:sldId id="880" r:id="rId194"/>
    <p:sldId id="870" r:id="rId195"/>
    <p:sldId id="871" r:id="rId196"/>
    <p:sldId id="881" r:id="rId197"/>
    <p:sldId id="872" r:id="rId198"/>
    <p:sldId id="873" r:id="rId199"/>
    <p:sldId id="882" r:id="rId200"/>
    <p:sldId id="883" r:id="rId201"/>
    <p:sldId id="884" r:id="rId202"/>
    <p:sldId id="877" r:id="rId203"/>
    <p:sldId id="878" r:id="rId204"/>
    <p:sldId id="879" r:id="rId205"/>
    <p:sldId id="704" r:id="rId206"/>
    <p:sldId id="756" r:id="rId207"/>
    <p:sldId id="808" r:id="rId208"/>
  </p:sldIdLst>
  <p:sldSz cx="9144000" cy="6858000" type="screen4x3"/>
  <p:notesSz cx="7023100" cy="9309100"/>
  <p:custDataLst>
    <p:tags r:id="rId21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9" id="{58F12FDE-D556-42EF-8AC3-F7F555F694EC}">
          <p14:sldIdLst>
            <p14:sldId id="785"/>
            <p14:sldId id="256"/>
            <p14:sldId id="257"/>
            <p14:sldId id="258"/>
            <p14:sldId id="259"/>
            <p14:sldId id="272"/>
            <p14:sldId id="795"/>
            <p14:sldId id="260"/>
            <p14:sldId id="793"/>
            <p14:sldId id="269"/>
            <p14:sldId id="798"/>
            <p14:sldId id="788"/>
            <p14:sldId id="789"/>
            <p14:sldId id="790"/>
            <p14:sldId id="791"/>
            <p14:sldId id="792"/>
            <p14:sldId id="794"/>
            <p14:sldId id="271"/>
            <p14:sldId id="273"/>
            <p14:sldId id="274"/>
            <p14:sldId id="275"/>
            <p14:sldId id="276"/>
            <p14:sldId id="796"/>
            <p14:sldId id="797"/>
            <p14:sldId id="799"/>
            <p14:sldId id="800"/>
            <p14:sldId id="801"/>
            <p14:sldId id="802"/>
          </p14:sldIdLst>
        </p14:section>
        <p14:section name="Clés asymétriques" id="{A9BD5DDD-8564-4000-A824-269A0A0AC22D}">
          <p14:sldIdLst>
            <p14:sldId id="809"/>
            <p14:sldId id="804"/>
            <p14:sldId id="805"/>
            <p14:sldId id="803"/>
            <p14:sldId id="806"/>
            <p14:sldId id="807"/>
            <p14:sldId id="810"/>
            <p14:sldId id="814"/>
            <p14:sldId id="811"/>
            <p14:sldId id="812"/>
            <p14:sldId id="813"/>
          </p14:sldIdLst>
        </p14:section>
        <p14:section name="quiz10" id="{20941169-1845-41FC-9D92-4A2D87420A14}">
          <p14:sldIdLst>
            <p14:sldId id="815"/>
            <p14:sldId id="816"/>
            <p14:sldId id="817"/>
            <p14:sldId id="818"/>
            <p14:sldId id="819"/>
            <p14:sldId id="820"/>
            <p14:sldId id="821"/>
            <p14:sldId id="822"/>
            <p14:sldId id="823"/>
            <p14:sldId id="824"/>
            <p14:sldId id="825"/>
            <p14:sldId id="826"/>
            <p14:sldId id="827"/>
            <p14:sldId id="828"/>
            <p14:sldId id="829"/>
            <p14:sldId id="830"/>
            <p14:sldId id="831"/>
            <p14:sldId id="832"/>
            <p14:sldId id="833"/>
            <p14:sldId id="834"/>
            <p14:sldId id="835"/>
          </p14:sldIdLst>
        </p14:section>
        <p14:section name="quiz11" id="{36274EC8-C7F8-428F-8013-3FB42E28D0B7}">
          <p14:sldIdLst>
            <p14:sldId id="836"/>
            <p14:sldId id="837"/>
            <p14:sldId id="838"/>
            <p14:sldId id="839"/>
            <p14:sldId id="840"/>
            <p14:sldId id="841"/>
            <p14:sldId id="842"/>
            <p14:sldId id="843"/>
            <p14:sldId id="844"/>
            <p14:sldId id="845"/>
            <p14:sldId id="846"/>
            <p14:sldId id="847"/>
            <p14:sldId id="848"/>
            <p14:sldId id="857"/>
            <p14:sldId id="849"/>
            <p14:sldId id="850"/>
            <p14:sldId id="851"/>
            <p14:sldId id="852"/>
            <p14:sldId id="853"/>
            <p14:sldId id="854"/>
            <p14:sldId id="855"/>
            <p14:sldId id="856"/>
            <p14:sldId id="858"/>
          </p14:sldIdLst>
        </p14:section>
        <p14:section name="quiz12" id="{587ACA08-3417-46CA-84CD-55E1AA27674F}">
          <p14:sldIdLst>
            <p14:sldId id="859"/>
            <p14:sldId id="860"/>
            <p14:sldId id="861"/>
            <p14:sldId id="862"/>
            <p14:sldId id="863"/>
            <p14:sldId id="864"/>
            <p14:sldId id="865"/>
            <p14:sldId id="866"/>
            <p14:sldId id="867"/>
            <p14:sldId id="868"/>
            <p14:sldId id="869"/>
            <p14:sldId id="880"/>
            <p14:sldId id="870"/>
            <p14:sldId id="871"/>
            <p14:sldId id="881"/>
            <p14:sldId id="872"/>
            <p14:sldId id="873"/>
            <p14:sldId id="882"/>
            <p14:sldId id="883"/>
            <p14:sldId id="884"/>
            <p14:sldId id="877"/>
            <p14:sldId id="878"/>
            <p14:sldId id="879"/>
          </p14:sldIdLst>
        </p14:section>
        <p14:section name="quizAVenir" id="{BEF1AD5F-0008-433C-9B6F-B813F94E6E0F}">
          <p14:sldIdLst>
            <p14:sldId id="704"/>
            <p14:sldId id="756"/>
            <p14:sldId id="80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58" autoAdjust="0"/>
    <p:restoredTop sz="89038" autoAdjust="0"/>
  </p:normalViewPr>
  <p:slideViewPr>
    <p:cSldViewPr>
      <p:cViewPr varScale="1">
        <p:scale>
          <a:sx n="152" d="100"/>
          <a:sy n="152" d="100"/>
        </p:scale>
        <p:origin x="1932" y="92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1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63" Type="http://schemas.openxmlformats.org/officeDocument/2006/relationships/slide" Target="slides/slide57.xml"/><Relationship Id="rId84" Type="http://schemas.openxmlformats.org/officeDocument/2006/relationships/slide" Target="slides/slide78.xml"/><Relationship Id="rId138" Type="http://schemas.openxmlformats.org/officeDocument/2006/relationships/slide" Target="slides/slide132.xml"/><Relationship Id="rId159" Type="http://schemas.openxmlformats.org/officeDocument/2006/relationships/slide" Target="slides/slide153.xml"/><Relationship Id="rId170" Type="http://schemas.openxmlformats.org/officeDocument/2006/relationships/slide" Target="slides/slide164.xml"/><Relationship Id="rId191" Type="http://schemas.openxmlformats.org/officeDocument/2006/relationships/slide" Target="slides/slide185.xml"/><Relationship Id="rId205" Type="http://schemas.openxmlformats.org/officeDocument/2006/relationships/slide" Target="slides/slide199.xml"/><Relationship Id="rId107" Type="http://schemas.openxmlformats.org/officeDocument/2006/relationships/slide" Target="slides/slide101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102" Type="http://schemas.openxmlformats.org/officeDocument/2006/relationships/slide" Target="slides/slide96.xml"/><Relationship Id="rId123" Type="http://schemas.openxmlformats.org/officeDocument/2006/relationships/slide" Target="slides/slide117.xml"/><Relationship Id="rId128" Type="http://schemas.openxmlformats.org/officeDocument/2006/relationships/slide" Target="slides/slide122.xml"/><Relationship Id="rId144" Type="http://schemas.openxmlformats.org/officeDocument/2006/relationships/slide" Target="slides/slide138.xml"/><Relationship Id="rId149" Type="http://schemas.openxmlformats.org/officeDocument/2006/relationships/slide" Target="slides/slide143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60" Type="http://schemas.openxmlformats.org/officeDocument/2006/relationships/slide" Target="slides/slide154.xml"/><Relationship Id="rId165" Type="http://schemas.openxmlformats.org/officeDocument/2006/relationships/slide" Target="slides/slide159.xml"/><Relationship Id="rId181" Type="http://schemas.openxmlformats.org/officeDocument/2006/relationships/slide" Target="slides/slide175.xml"/><Relationship Id="rId186" Type="http://schemas.openxmlformats.org/officeDocument/2006/relationships/slide" Target="slides/slide180.xml"/><Relationship Id="rId216" Type="http://schemas.openxmlformats.org/officeDocument/2006/relationships/tableStyles" Target="tableStyles.xml"/><Relationship Id="rId211" Type="http://schemas.openxmlformats.org/officeDocument/2006/relationships/tags" Target="tags/tag1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113" Type="http://schemas.openxmlformats.org/officeDocument/2006/relationships/slide" Target="slides/slide107.xml"/><Relationship Id="rId118" Type="http://schemas.openxmlformats.org/officeDocument/2006/relationships/slide" Target="slides/slide112.xml"/><Relationship Id="rId134" Type="http://schemas.openxmlformats.org/officeDocument/2006/relationships/slide" Target="slides/slide128.xml"/><Relationship Id="rId139" Type="http://schemas.openxmlformats.org/officeDocument/2006/relationships/slide" Target="slides/slide133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150" Type="http://schemas.openxmlformats.org/officeDocument/2006/relationships/slide" Target="slides/slide144.xml"/><Relationship Id="rId155" Type="http://schemas.openxmlformats.org/officeDocument/2006/relationships/slide" Target="slides/slide149.xml"/><Relationship Id="rId171" Type="http://schemas.openxmlformats.org/officeDocument/2006/relationships/slide" Target="slides/slide165.xml"/><Relationship Id="rId176" Type="http://schemas.openxmlformats.org/officeDocument/2006/relationships/slide" Target="slides/slide170.xml"/><Relationship Id="rId192" Type="http://schemas.openxmlformats.org/officeDocument/2006/relationships/slide" Target="slides/slide186.xml"/><Relationship Id="rId197" Type="http://schemas.openxmlformats.org/officeDocument/2006/relationships/slide" Target="slides/slide191.xml"/><Relationship Id="rId206" Type="http://schemas.openxmlformats.org/officeDocument/2006/relationships/slide" Target="slides/slide200.xml"/><Relationship Id="rId201" Type="http://schemas.openxmlformats.org/officeDocument/2006/relationships/slide" Target="slides/slide195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59" Type="http://schemas.openxmlformats.org/officeDocument/2006/relationships/slide" Target="slides/slide53.xml"/><Relationship Id="rId103" Type="http://schemas.openxmlformats.org/officeDocument/2006/relationships/slide" Target="slides/slide97.xml"/><Relationship Id="rId108" Type="http://schemas.openxmlformats.org/officeDocument/2006/relationships/slide" Target="slides/slide102.xml"/><Relationship Id="rId124" Type="http://schemas.openxmlformats.org/officeDocument/2006/relationships/slide" Target="slides/slide118.xml"/><Relationship Id="rId129" Type="http://schemas.openxmlformats.org/officeDocument/2006/relationships/slide" Target="slides/slide123.xml"/><Relationship Id="rId54" Type="http://schemas.openxmlformats.org/officeDocument/2006/relationships/slide" Target="slides/slide48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40" Type="http://schemas.openxmlformats.org/officeDocument/2006/relationships/slide" Target="slides/slide134.xml"/><Relationship Id="rId145" Type="http://schemas.openxmlformats.org/officeDocument/2006/relationships/slide" Target="slides/slide139.xml"/><Relationship Id="rId161" Type="http://schemas.openxmlformats.org/officeDocument/2006/relationships/slide" Target="slides/slide155.xml"/><Relationship Id="rId166" Type="http://schemas.openxmlformats.org/officeDocument/2006/relationships/slide" Target="slides/slide160.xml"/><Relationship Id="rId182" Type="http://schemas.openxmlformats.org/officeDocument/2006/relationships/slide" Target="slides/slide176.xml"/><Relationship Id="rId187" Type="http://schemas.openxmlformats.org/officeDocument/2006/relationships/slide" Target="slides/slide18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212" Type="http://schemas.openxmlformats.org/officeDocument/2006/relationships/commentAuthors" Target="commentAuthors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49" Type="http://schemas.openxmlformats.org/officeDocument/2006/relationships/slide" Target="slides/slide43.xml"/><Relationship Id="rId114" Type="http://schemas.openxmlformats.org/officeDocument/2006/relationships/slide" Target="slides/slide108.xml"/><Relationship Id="rId119" Type="http://schemas.openxmlformats.org/officeDocument/2006/relationships/slide" Target="slides/slide113.xml"/><Relationship Id="rId44" Type="http://schemas.openxmlformats.org/officeDocument/2006/relationships/slide" Target="slides/slide38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130" Type="http://schemas.openxmlformats.org/officeDocument/2006/relationships/slide" Target="slides/slide124.xml"/><Relationship Id="rId135" Type="http://schemas.openxmlformats.org/officeDocument/2006/relationships/slide" Target="slides/slide129.xml"/><Relationship Id="rId151" Type="http://schemas.openxmlformats.org/officeDocument/2006/relationships/slide" Target="slides/slide145.xml"/><Relationship Id="rId156" Type="http://schemas.openxmlformats.org/officeDocument/2006/relationships/slide" Target="slides/slide150.xml"/><Relationship Id="rId177" Type="http://schemas.openxmlformats.org/officeDocument/2006/relationships/slide" Target="slides/slide171.xml"/><Relationship Id="rId198" Type="http://schemas.openxmlformats.org/officeDocument/2006/relationships/slide" Target="slides/slide192.xml"/><Relationship Id="rId172" Type="http://schemas.openxmlformats.org/officeDocument/2006/relationships/slide" Target="slides/slide166.xml"/><Relationship Id="rId193" Type="http://schemas.openxmlformats.org/officeDocument/2006/relationships/slide" Target="slides/slide187.xml"/><Relationship Id="rId202" Type="http://schemas.openxmlformats.org/officeDocument/2006/relationships/slide" Target="slides/slide196.xml"/><Relationship Id="rId207" Type="http://schemas.openxmlformats.org/officeDocument/2006/relationships/slide" Target="slides/slide201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slide" Target="slides/slide10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slide" Target="slides/slide98.xml"/><Relationship Id="rId120" Type="http://schemas.openxmlformats.org/officeDocument/2006/relationships/slide" Target="slides/slide114.xml"/><Relationship Id="rId125" Type="http://schemas.openxmlformats.org/officeDocument/2006/relationships/slide" Target="slides/slide119.xml"/><Relationship Id="rId141" Type="http://schemas.openxmlformats.org/officeDocument/2006/relationships/slide" Target="slides/slide135.xml"/><Relationship Id="rId146" Type="http://schemas.openxmlformats.org/officeDocument/2006/relationships/slide" Target="slides/slide140.xml"/><Relationship Id="rId167" Type="http://schemas.openxmlformats.org/officeDocument/2006/relationships/slide" Target="slides/slide161.xml"/><Relationship Id="rId188" Type="http://schemas.openxmlformats.org/officeDocument/2006/relationships/slide" Target="slides/slide182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Relationship Id="rId162" Type="http://schemas.openxmlformats.org/officeDocument/2006/relationships/slide" Target="slides/slide156.xml"/><Relationship Id="rId183" Type="http://schemas.openxmlformats.org/officeDocument/2006/relationships/slide" Target="slides/slide177.xml"/><Relationship Id="rId213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slide" Target="slides/slide81.xml"/><Relationship Id="rId110" Type="http://schemas.openxmlformats.org/officeDocument/2006/relationships/slide" Target="slides/slide104.xml"/><Relationship Id="rId115" Type="http://schemas.openxmlformats.org/officeDocument/2006/relationships/slide" Target="slides/slide109.xml"/><Relationship Id="rId131" Type="http://schemas.openxmlformats.org/officeDocument/2006/relationships/slide" Target="slides/slide125.xml"/><Relationship Id="rId136" Type="http://schemas.openxmlformats.org/officeDocument/2006/relationships/slide" Target="slides/slide130.xml"/><Relationship Id="rId157" Type="http://schemas.openxmlformats.org/officeDocument/2006/relationships/slide" Target="slides/slide151.xml"/><Relationship Id="rId178" Type="http://schemas.openxmlformats.org/officeDocument/2006/relationships/slide" Target="slides/slide172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152" Type="http://schemas.openxmlformats.org/officeDocument/2006/relationships/slide" Target="slides/slide146.xml"/><Relationship Id="rId173" Type="http://schemas.openxmlformats.org/officeDocument/2006/relationships/slide" Target="slides/slide167.xml"/><Relationship Id="rId194" Type="http://schemas.openxmlformats.org/officeDocument/2006/relationships/slide" Target="slides/slide188.xml"/><Relationship Id="rId199" Type="http://schemas.openxmlformats.org/officeDocument/2006/relationships/slide" Target="slides/slide193.xml"/><Relationship Id="rId203" Type="http://schemas.openxmlformats.org/officeDocument/2006/relationships/slide" Target="slides/slide197.xml"/><Relationship Id="rId208" Type="http://schemas.openxmlformats.org/officeDocument/2006/relationships/slide" Target="slides/slide202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56" Type="http://schemas.openxmlformats.org/officeDocument/2006/relationships/slide" Target="slides/slide50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slide" Target="slides/slide99.xml"/><Relationship Id="rId126" Type="http://schemas.openxmlformats.org/officeDocument/2006/relationships/slide" Target="slides/slide120.xml"/><Relationship Id="rId147" Type="http://schemas.openxmlformats.org/officeDocument/2006/relationships/slide" Target="slides/slide141.xml"/><Relationship Id="rId168" Type="http://schemas.openxmlformats.org/officeDocument/2006/relationships/slide" Target="slides/slide162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121" Type="http://schemas.openxmlformats.org/officeDocument/2006/relationships/slide" Target="slides/slide115.xml"/><Relationship Id="rId142" Type="http://schemas.openxmlformats.org/officeDocument/2006/relationships/slide" Target="slides/slide136.xml"/><Relationship Id="rId163" Type="http://schemas.openxmlformats.org/officeDocument/2006/relationships/slide" Target="slides/slide157.xml"/><Relationship Id="rId184" Type="http://schemas.openxmlformats.org/officeDocument/2006/relationships/slide" Target="slides/slide178.xml"/><Relationship Id="rId189" Type="http://schemas.openxmlformats.org/officeDocument/2006/relationships/slide" Target="slides/slide183.xml"/><Relationship Id="rId3" Type="http://schemas.openxmlformats.org/officeDocument/2006/relationships/customXml" Target="../customXml/item3.xml"/><Relationship Id="rId214" Type="http://schemas.openxmlformats.org/officeDocument/2006/relationships/viewProps" Target="viewProps.xml"/><Relationship Id="rId25" Type="http://schemas.openxmlformats.org/officeDocument/2006/relationships/slide" Target="slides/slide19.xml"/><Relationship Id="rId46" Type="http://schemas.openxmlformats.org/officeDocument/2006/relationships/slide" Target="slides/slide40.xml"/><Relationship Id="rId67" Type="http://schemas.openxmlformats.org/officeDocument/2006/relationships/slide" Target="slides/slide61.xml"/><Relationship Id="rId116" Type="http://schemas.openxmlformats.org/officeDocument/2006/relationships/slide" Target="slides/slide110.xml"/><Relationship Id="rId137" Type="http://schemas.openxmlformats.org/officeDocument/2006/relationships/slide" Target="slides/slide131.xml"/><Relationship Id="rId158" Type="http://schemas.openxmlformats.org/officeDocument/2006/relationships/slide" Target="slides/slide152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62" Type="http://schemas.openxmlformats.org/officeDocument/2006/relationships/slide" Target="slides/slide56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111" Type="http://schemas.openxmlformats.org/officeDocument/2006/relationships/slide" Target="slides/slide105.xml"/><Relationship Id="rId132" Type="http://schemas.openxmlformats.org/officeDocument/2006/relationships/slide" Target="slides/slide126.xml"/><Relationship Id="rId153" Type="http://schemas.openxmlformats.org/officeDocument/2006/relationships/slide" Target="slides/slide147.xml"/><Relationship Id="rId174" Type="http://schemas.openxmlformats.org/officeDocument/2006/relationships/slide" Target="slides/slide168.xml"/><Relationship Id="rId179" Type="http://schemas.openxmlformats.org/officeDocument/2006/relationships/slide" Target="slides/slide173.xml"/><Relationship Id="rId195" Type="http://schemas.openxmlformats.org/officeDocument/2006/relationships/slide" Target="slides/slide189.xml"/><Relationship Id="rId209" Type="http://schemas.openxmlformats.org/officeDocument/2006/relationships/notesMaster" Target="notesMasters/notesMaster1.xml"/><Relationship Id="rId190" Type="http://schemas.openxmlformats.org/officeDocument/2006/relationships/slide" Target="slides/slide184.xml"/><Relationship Id="rId204" Type="http://schemas.openxmlformats.org/officeDocument/2006/relationships/slide" Target="slides/slide198.xml"/><Relationship Id="rId15" Type="http://schemas.openxmlformats.org/officeDocument/2006/relationships/slide" Target="slides/slide9.xml"/><Relationship Id="rId36" Type="http://schemas.openxmlformats.org/officeDocument/2006/relationships/slide" Target="slides/slide30.xml"/><Relationship Id="rId57" Type="http://schemas.openxmlformats.org/officeDocument/2006/relationships/slide" Target="slides/slide51.xml"/><Relationship Id="rId106" Type="http://schemas.openxmlformats.org/officeDocument/2006/relationships/slide" Target="slides/slide100.xml"/><Relationship Id="rId127" Type="http://schemas.openxmlformats.org/officeDocument/2006/relationships/slide" Target="slides/slide12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52" Type="http://schemas.openxmlformats.org/officeDocument/2006/relationships/slide" Target="slides/slide46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122" Type="http://schemas.openxmlformats.org/officeDocument/2006/relationships/slide" Target="slides/slide116.xml"/><Relationship Id="rId143" Type="http://schemas.openxmlformats.org/officeDocument/2006/relationships/slide" Target="slides/slide137.xml"/><Relationship Id="rId148" Type="http://schemas.openxmlformats.org/officeDocument/2006/relationships/slide" Target="slides/slide142.xml"/><Relationship Id="rId164" Type="http://schemas.openxmlformats.org/officeDocument/2006/relationships/slide" Target="slides/slide158.xml"/><Relationship Id="rId169" Type="http://schemas.openxmlformats.org/officeDocument/2006/relationships/slide" Target="slides/slide163.xml"/><Relationship Id="rId185" Type="http://schemas.openxmlformats.org/officeDocument/2006/relationships/slide" Target="slides/slide179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80" Type="http://schemas.openxmlformats.org/officeDocument/2006/relationships/slide" Target="slides/slide174.xml"/><Relationship Id="rId210" Type="http://schemas.openxmlformats.org/officeDocument/2006/relationships/handoutMaster" Target="handoutMasters/handoutMaster1.xml"/><Relationship Id="rId215" Type="http://schemas.openxmlformats.org/officeDocument/2006/relationships/theme" Target="theme/theme1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68" Type="http://schemas.openxmlformats.org/officeDocument/2006/relationships/slide" Target="slides/slide62.xml"/><Relationship Id="rId89" Type="http://schemas.openxmlformats.org/officeDocument/2006/relationships/slide" Target="slides/slide83.xml"/><Relationship Id="rId112" Type="http://schemas.openxmlformats.org/officeDocument/2006/relationships/slide" Target="slides/slide106.xml"/><Relationship Id="rId133" Type="http://schemas.openxmlformats.org/officeDocument/2006/relationships/slide" Target="slides/slide127.xml"/><Relationship Id="rId154" Type="http://schemas.openxmlformats.org/officeDocument/2006/relationships/slide" Target="slides/slide148.xml"/><Relationship Id="rId175" Type="http://schemas.openxmlformats.org/officeDocument/2006/relationships/slide" Target="slides/slide169.xml"/><Relationship Id="rId196" Type="http://schemas.openxmlformats.org/officeDocument/2006/relationships/slide" Target="slides/slide190.xml"/><Relationship Id="rId200" Type="http://schemas.openxmlformats.org/officeDocument/2006/relationships/slide" Target="slides/slide194.xml"/><Relationship Id="rId16" Type="http://schemas.openxmlformats.org/officeDocument/2006/relationships/slide" Target="slides/slide10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6" Type="http://schemas.openxmlformats.org/officeDocument/2006/relationships/slide" Target="slides/slide125.xml"/><Relationship Id="rId84" Type="http://schemas.openxmlformats.org/officeDocument/2006/relationships/slide" Target="slides/slide202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74" Type="http://schemas.openxmlformats.org/officeDocument/2006/relationships/slide" Target="slides/slide123.xml"/><Relationship Id="rId79" Type="http://schemas.openxmlformats.org/officeDocument/2006/relationships/slide" Target="slides/slide128.xml"/><Relationship Id="rId5" Type="http://schemas.openxmlformats.org/officeDocument/2006/relationships/slide" Target="slides/slide7.xml"/><Relationship Id="rId61" Type="http://schemas.openxmlformats.org/officeDocument/2006/relationships/slide" Target="slides/slide69.xml"/><Relationship Id="rId82" Type="http://schemas.openxmlformats.org/officeDocument/2006/relationships/slide" Target="slides/slide132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100.xml"/><Relationship Id="rId78" Type="http://schemas.openxmlformats.org/officeDocument/2006/relationships/slide" Target="slides/slide127.xml"/><Relationship Id="rId81" Type="http://schemas.openxmlformats.org/officeDocument/2006/relationships/slide" Target="slides/slide131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77" Type="http://schemas.openxmlformats.org/officeDocument/2006/relationships/slide" Target="slides/slide126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80" Type="http://schemas.openxmlformats.org/officeDocument/2006/relationships/slide" Target="slides/slide130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75" Type="http://schemas.openxmlformats.org/officeDocument/2006/relationships/slide" Target="slides/slide124.xml"/><Relationship Id="rId83" Type="http://schemas.openxmlformats.org/officeDocument/2006/relationships/slide" Target="slides/slide201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AD1F5-61CE-92BD-0BEE-8581FE909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A0A0-13E8-9ADE-C660-5DBC99E29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2AE6A-A05F-6949-85B1-85BCDDF83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32F6-7B03-AB40-9AA2-D70270239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161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u="none" dirty="0" err="1"/>
              <a:t>Consumption</a:t>
            </a:r>
            <a:endParaRPr lang="fr-FR" b="1" u="none" dirty="0"/>
          </a:p>
          <a:p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→ 💰 économie </a:t>
            </a:r>
          </a:p>
          <a:p>
            <a:r>
              <a:rPr lang="fr-FR" dirty="0" err="1"/>
              <a:t>scaling</a:t>
            </a:r>
            <a:r>
              <a:rPr lang="fr-FR" dirty="0"/>
              <a:t> 100% automatique </a:t>
            </a:r>
          </a:p>
          <a:p>
            <a:r>
              <a:rPr lang="fr-FR" dirty="0"/>
              <a:t>❗ cold start</a:t>
            </a:r>
          </a:p>
          <a:p>
            <a:endParaRPr lang="fr-FR" dirty="0"/>
          </a:p>
          <a:p>
            <a:r>
              <a:rPr lang="fr-FR" b="1" dirty="0"/>
              <a:t>Premium</a:t>
            </a:r>
          </a:p>
          <a:p>
            <a:r>
              <a:rPr lang="fr-FR" dirty="0"/>
              <a:t>pas de cold start </a:t>
            </a:r>
          </a:p>
          <a:p>
            <a:r>
              <a:rPr lang="fr-FR" dirty="0"/>
              <a:t>instances préchauffées </a:t>
            </a:r>
          </a:p>
          <a:p>
            <a:r>
              <a:rPr lang="fr-FR" dirty="0" err="1"/>
              <a:t>scaling</a:t>
            </a:r>
            <a:r>
              <a:rPr lang="fr-FR" dirty="0"/>
              <a:t> automatique + contrôle </a:t>
            </a:r>
          </a:p>
          <a:p>
            <a:r>
              <a:rPr lang="fr-FR" dirty="0"/>
              <a:t>💰 plus cher</a:t>
            </a:r>
          </a:p>
          <a:p>
            <a:endParaRPr lang="fr-FR" dirty="0"/>
          </a:p>
          <a:p>
            <a:r>
              <a:rPr lang="fr-FR" b="1" dirty="0"/>
              <a:t>App Service</a:t>
            </a:r>
          </a:p>
          <a:p>
            <a:r>
              <a:rPr lang="fr-FR" dirty="0"/>
              <a:t>pas </a:t>
            </a:r>
            <a:r>
              <a:rPr lang="fr-FR" dirty="0" err="1"/>
              <a:t>serverless</a:t>
            </a:r>
            <a:r>
              <a:rPr lang="fr-FR" dirty="0"/>
              <a:t> </a:t>
            </a:r>
          </a:p>
          <a:p>
            <a:r>
              <a:rPr lang="fr-FR" dirty="0"/>
              <a:t>pas de </a:t>
            </a:r>
            <a:r>
              <a:rPr lang="fr-FR" dirty="0" err="1"/>
              <a:t>scale</a:t>
            </a:r>
            <a:r>
              <a:rPr lang="fr-FR" dirty="0"/>
              <a:t> to </a:t>
            </a:r>
            <a:r>
              <a:rPr lang="fr-FR" dirty="0" err="1"/>
              <a:t>zero</a:t>
            </a:r>
            <a:r>
              <a:rPr lang="fr-FR" dirty="0"/>
              <a:t> </a:t>
            </a:r>
          </a:p>
          <a:p>
            <a:r>
              <a:rPr lang="fr-FR" dirty="0" err="1"/>
              <a:t>scaling</a:t>
            </a:r>
            <a:r>
              <a:rPr lang="fr-FR" dirty="0"/>
              <a:t> manuel ou via règles Azure Monitor </a:t>
            </a:r>
          </a:p>
          <a:p>
            <a:r>
              <a:rPr lang="fr-FR" dirty="0"/>
              <a:t>utilisé si infra déjà existante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3369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https://learn.microsoft.com/en-us/azure/azure-functions/functions-scale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94590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Un NSG agit comme un </a:t>
            </a:r>
            <a:r>
              <a:rPr lang="fr-FR" b="1" dirty="0"/>
              <a:t>pare-feu réseau</a:t>
            </a:r>
            <a:endParaRPr lang="fr-FR" dirty="0"/>
          </a:p>
          <a:p>
            <a:r>
              <a:rPr lang="fr-FR" dirty="0"/>
              <a:t>Il permet de dire :</a:t>
            </a:r>
          </a:p>
          <a:p>
            <a:r>
              <a:rPr lang="fr-FR" dirty="0"/>
              <a:t>✔ autoriser IP X </a:t>
            </a:r>
          </a:p>
          <a:p>
            <a:r>
              <a:rPr lang="fr-FR" dirty="0"/>
              <a:t>❌ bloquer IP Y </a:t>
            </a:r>
          </a:p>
          <a:p>
            <a:r>
              <a:rPr lang="fr-FR" dirty="0"/>
              <a:t>✔ autoriser port 80 / 443 </a:t>
            </a:r>
          </a:p>
          <a:p>
            <a:r>
              <a:rPr lang="fr-FR" dirty="0"/>
              <a:t>❌ bloquer le reste</a:t>
            </a:r>
            <a:br>
              <a:rPr lang="fr-FR" dirty="0"/>
            </a:br>
            <a:br>
              <a:rPr lang="fr-FR" dirty="0"/>
            </a:br>
            <a:r>
              <a:rPr lang="fr-FR" b="1" dirty="0"/>
              <a:t>Où on utilise un NSG ?</a:t>
            </a:r>
          </a:p>
          <a:p>
            <a:r>
              <a:rPr lang="fr-FR" dirty="0"/>
              <a:t>👉 Sur :</a:t>
            </a:r>
          </a:p>
          <a:p>
            <a:r>
              <a:rPr lang="fr-FR" dirty="0"/>
              <a:t>une </a:t>
            </a:r>
            <a:r>
              <a:rPr lang="fr-FR" b="1" dirty="0"/>
              <a:t>VM</a:t>
            </a:r>
            <a:r>
              <a:rPr lang="fr-FR" dirty="0"/>
              <a:t> </a:t>
            </a:r>
          </a:p>
          <a:p>
            <a:r>
              <a:rPr lang="fr-FR" dirty="0"/>
              <a:t>un </a:t>
            </a:r>
            <a:r>
              <a:rPr lang="fr-FR" b="1" dirty="0" err="1"/>
              <a:t>subnet</a:t>
            </a:r>
            <a:r>
              <a:rPr lang="fr-FR" b="1" dirty="0"/>
              <a:t> (</a:t>
            </a:r>
            <a:r>
              <a:rPr lang="fr-FR" b="1" dirty="0" err="1"/>
              <a:t>VNet</a:t>
            </a:r>
            <a:r>
              <a:rPr lang="fr-FR" b="1" dirty="0"/>
              <a:t>)</a:t>
            </a:r>
            <a:r>
              <a:rPr lang="fr-FR" dirty="0"/>
              <a:t> </a:t>
            </a:r>
          </a:p>
          <a:p>
            <a:r>
              <a:rPr lang="fr-FR" dirty="0"/>
              <a:t>une </a:t>
            </a:r>
            <a:r>
              <a:rPr lang="fr-FR" b="1" dirty="0"/>
              <a:t>interface réseau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13597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6805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8D1-21FF-C25C-34F0-5E602180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5C1A67-6B99-485F-4CA0-D4246A151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2CFEA5-85E9-8481-612D-0F669DDE3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B99C8C-FE52-4443-13CB-C0E3749F9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7732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83B63-379A-5D4C-23BC-7721333E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0F5776-08AA-2D32-FF7D-F643F662E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382792-C6CE-2AC1-81AC-4032565D1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7B215D-FA24-DB33-A997-51B529E2C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3208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A666-80E3-4769-DBB0-04209FD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8B47FB-D9D9-C1BE-16B5-7FEC21B65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9AA4E41-7C33-314D-D369-D00D61C9B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start</a:t>
            </a:r>
            <a:endParaRPr lang="fr-FR" b="1" dirty="0"/>
          </a:p>
          <a:p>
            <a:r>
              <a:rPr lang="fr-FR" dirty="0"/>
              <a:t>👉 lance en local uniquement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webapp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</a:t>
            </a:r>
            <a:endParaRPr lang="fr-FR" b="1" dirty="0"/>
          </a:p>
          <a:p>
            <a:r>
              <a:rPr lang="fr-FR" dirty="0"/>
              <a:t>👉 déploie une Web App classique (pas spécifique </a:t>
            </a:r>
            <a:r>
              <a:rPr lang="fr-FR" dirty="0" err="1"/>
              <a:t>Functions</a:t>
            </a:r>
            <a:r>
              <a:rPr lang="fr-FR" dirty="0"/>
              <a:t>)</a:t>
            </a:r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❌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dotnet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publish</a:t>
            </a:r>
            <a:endParaRPr lang="fr-FR" b="1" dirty="0"/>
          </a:p>
          <a:p>
            <a:r>
              <a:rPr lang="fr-FR" dirty="0"/>
              <a:t>👉 compile le projet mais ne le déploie pas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39C08F-120A-6A79-C3BB-FFF0BB63C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35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ADFF2-E19B-336B-2872-535559BFB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66A73-7036-4E1B-654B-235DE9E04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9458E-98BF-1D97-F02B-7361B276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2386F-B4C5-0417-CE62-A44A39F7B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0015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10B8E-835B-95C5-16F7-D4308F45B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408777-6CBB-177F-C1F5-E1002DDC6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47C87-1CFB-6D96-4765-9122DA82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🔓 Le serveur envoie sa </a:t>
            </a:r>
            <a:r>
              <a:rPr lang="fr-FR" b="1" dirty="0"/>
              <a:t>clé publique</a:t>
            </a:r>
            <a:r>
              <a:rPr lang="fr-FR" dirty="0"/>
              <a:t> </a:t>
            </a:r>
          </a:p>
          <a:p>
            <a:r>
              <a:rPr lang="fr-FR" dirty="0"/>
              <a:t>🔐 Le client génère une </a:t>
            </a:r>
            <a:r>
              <a:rPr lang="fr-FR" b="1" dirty="0"/>
              <a:t>clé symétrique</a:t>
            </a:r>
            <a:r>
              <a:rPr lang="fr-FR" dirty="0"/>
              <a:t> </a:t>
            </a:r>
          </a:p>
          <a:p>
            <a:r>
              <a:rPr lang="fr-FR" dirty="0"/>
              <a:t>🔒 Le client chiffre cette clé avec la clé publique </a:t>
            </a:r>
          </a:p>
          <a:p>
            <a:r>
              <a:rPr lang="fr-FR" dirty="0"/>
              <a:t>🔓 Le serveur déchiffre avec sa clé privée </a:t>
            </a:r>
          </a:p>
          <a:p>
            <a:r>
              <a:rPr lang="fr-FR" dirty="0"/>
              <a:t>⚡ Les échanges utilisent la clé symétrique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25B21C-1DEB-5492-4EE2-5BCCE13CC9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749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AABF0-3F1C-6B48-088B-7572844E9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73732D-5A76-939D-680D-47427945D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14F04-4CD2-B102-D70F-1C24978A3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C6C60-30D6-BD80-C870-9C003808B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48694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67EDD-07D3-C56D-3C54-68D6403A0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39559-DDB1-E87C-F0CC-69D7D4E59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4A31A4-1F15-E339-0C68-7033A1022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82F5B-FF12-78BA-089C-C7E580344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2481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3C7DC-A109-A9D5-D419-A98CBE53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5F1090-E041-59A9-3C85-15CAAAE09A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CF1D1B-212B-E2D9-C44C-9AD5F1C35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70C09-B9A5-9792-BBB0-36A160C63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76537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8D9-F548-0E3A-9DBA-AD6D60D5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A820AE-CDDA-0F96-6D4A-9A4B0D1868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05F82-3E2F-A4DB-A49F-5F1AB623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0216D-EF6D-C255-D9E6-FC2912C428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0746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8AA7-792A-6634-FB07-E98B4221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44F62-AA82-9BBF-CCEB-86ACD7B66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180EA0-8882-6EBD-CEE8-06C84484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72D2-DDB1-4C85-9A62-5375DBD3ED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20413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4A99E-370E-D5E9-4E4A-B00C26328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2B190-C5F9-EEDD-CE17-CCBEB440C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0BABB-8885-EC1A-8814-098744629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C4CDE-1AB4-0F94-749B-11F2030578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8841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D03BA-B2BD-939F-65FB-13EF6363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DA2BB-494A-D47C-2779-E87000278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2EEDE-1345-F9A5-43FB-E0B4DE194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70BB1-8459-C27D-FF09-B0FEA9110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484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https://azure.microsoft.com/fr-fr/pricing/details/storage/blobs/</a:t>
            </a:r>
          </a:p>
          <a:p>
            <a:endParaRPr lang="fr-FR" sz="1200" i="1" kern="1200" dirty="0">
              <a:solidFill>
                <a:schemeClr val="tx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Tier    | Accès    | Coût stockage (€/Go/mois) | Coût accès (lecture)               | Usage    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Hot     | immédiat | ~0,018 €                  | très faible (~0,004 €/10k)         | accès fréquent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Cool    | immédiat | ~0,01 €                   | plus élevé (~0,01 €/10k)           | accès occasionnel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 Archive | lent     | ~0,002 €                  | élevé + réhydratation (~0,02 €/Go) | archivage         |</a:t>
            </a:r>
          </a:p>
          <a:p>
            <a:r>
              <a:rPr lang="fr-FR" sz="1200" i="1" kern="1200" dirty="0">
                <a:solidFill>
                  <a:schemeClr val="tx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+---------+----------+---------------------------+------------------------------------+-------------------+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3598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04181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678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Deux types : Metric alerts et Log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en debug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B517D-066A-3097-DB88-5DC1A45E9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3416E0-000F-8758-6CED-CFD3107D1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DCFBD-E570-54D6-3D25-ACB157059E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Important pour réduire les coûts.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A19EF-D372-A19D-C287-4E2819EBD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8054929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Requêtes, exceptions, dépendances,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utile pour diagnostiquer les lenteurs.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Très important pour diagnostiquer les performances.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Visualisation globale de l’architecture.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Différent d’Application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Attention à ne pas utiliser l’interpolation de chaîne ($"").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Ensuite, on configure les ressources pour envoyer leurs logs vers ce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Application Insights est centré application, pas multi-ressources global.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Utilisé avec KQL.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Associé aux alertes.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Préférer Blob ou Application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D17AB-168B-5481-D8F3-55371232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B2B6C-DA8A-1A9D-F477-FFC93D9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E2BF7-C29D-018D-1A46-7AD92AACC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E391C-8AE1-9F51-F47C-C940FF683E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2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8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1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  <p:sldLayoutId id="2147483694" r:id="rId8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18" Type="http://schemas.openxmlformats.org/officeDocument/2006/relationships/slide" Target="slide3.xml"/><Relationship Id="rId26" Type="http://schemas.openxmlformats.org/officeDocument/2006/relationships/slide" Target="slide73.xml"/><Relationship Id="rId3" Type="http://schemas.openxmlformats.org/officeDocument/2006/relationships/image" Target="../media/image11.png"/><Relationship Id="rId21" Type="http://schemas.openxmlformats.org/officeDocument/2006/relationships/slide" Target="slide24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image" Target="../media/image25.png"/><Relationship Id="rId25" Type="http://schemas.openxmlformats.org/officeDocument/2006/relationships/slide" Target="slide60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4.png"/><Relationship Id="rId20" Type="http://schemas.openxmlformats.org/officeDocument/2006/relationships/slide" Target="slide15.xml"/><Relationship Id="rId29" Type="http://schemas.openxmlformats.org/officeDocument/2006/relationships/slide" Target="slide13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24" Type="http://schemas.openxmlformats.org/officeDocument/2006/relationships/slide" Target="slide52.xml"/><Relationship Id="rId32" Type="http://schemas.openxmlformats.org/officeDocument/2006/relationships/slide" Target="slide200.xml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23" Type="http://schemas.openxmlformats.org/officeDocument/2006/relationships/slide" Target="slide45.xml"/><Relationship Id="rId28" Type="http://schemas.openxmlformats.org/officeDocument/2006/relationships/slide" Target="slide122.xml"/><Relationship Id="rId10" Type="http://schemas.openxmlformats.org/officeDocument/2006/relationships/image" Target="../media/image18.png"/><Relationship Id="rId19" Type="http://schemas.openxmlformats.org/officeDocument/2006/relationships/slide" Target="slide6.xml"/><Relationship Id="rId31" Type="http://schemas.openxmlformats.org/officeDocument/2006/relationships/slide" Target="slide177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Relationship Id="rId22" Type="http://schemas.openxmlformats.org/officeDocument/2006/relationships/slide" Target="slide34.xml"/><Relationship Id="rId27" Type="http://schemas.openxmlformats.org/officeDocument/2006/relationships/slide" Target="slide94.xml"/><Relationship Id="rId30" Type="http://schemas.openxmlformats.org/officeDocument/2006/relationships/slide" Target="slide15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zure-functions/functions-scale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8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8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8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8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8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8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emf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8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emf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8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emf"/><Relationship Id="rId1" Type="http://schemas.openxmlformats.org/officeDocument/2006/relationships/slideLayout" Target="../slideLayouts/slideLayout8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8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8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8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8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8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8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8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8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8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8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8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8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8.xml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8.emf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8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8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8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4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74597615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6536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1425398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F12FDE-D556-42EF-8AC3-F7F555F694EC}">
                    <psuz:zmPr id="{2737CF0F-7E28-4F2B-BF25-083F50916074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9BD5DDD-8564-4000-A824-269A0A0AC22D}">
                    <psuz:zmPr id="{42A19E90-0172-47B6-A3B9-0D9036D7FC77}" transitionDur="1000">
                      <p166:blipFill xmlns:p166="http://schemas.microsoft.com/office/powerpoint/2016/6/main">
                        <a:blip r:embed="rId1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0941169-1845-41FC-9D92-4A2D87420A14}">
                    <psuz:zmPr id="{CEBAB7FC-3943-4DF8-AAA9-7D29928BBD58}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714914" y="2704260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6274EC8-C7F8-428F-8013-3FB42E28D0B7}">
                    <psuz:zmPr id="{343A1210-326F-4BE8-B982-78BA33EE4293}" transitionDur="1000">
                      <p166:blipFill xmlns:p166="http://schemas.microsoft.com/office/powerpoint/2016/6/main">
                        <a:blip r:embed="rId1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79396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87ACA08-3417-46CA-84CD-55E1AA27674F}">
                    <psuz:zmPr id="{767FE17E-9B52-4E19-BFB6-CA3483B61783}" transitionDur="1000">
                      <p166:blipFill xmlns:p166="http://schemas.microsoft.com/office/powerpoint/2016/6/main">
                        <a:blip r:embed="rId1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357902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36408" y="3983122"/>
                          <a:ext cx="1598577" cy="119893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30916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609422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87928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66434" y="1127264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30916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2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09422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2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87928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966434" y="2406126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30916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609422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5" name="Image 15">
                  <a:hlinkClick r:id="rId2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87928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6" name="Image 16">
                  <a:hlinkClick r:id="rId2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66434" y="3684988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7" name="Image 17">
                  <a:hlinkClick r:id="rId3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0916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8" name="Image 18">
                  <a:hlinkClick r:id="rId3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609422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9" name="Image 19">
                  <a:hlinkClick r:id="rId3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87928" y="4963850"/>
                  <a:ext cx="1598577" cy="119893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883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  <a:br>
              <a:rPr lang="fr-FR" dirty="0"/>
            </a:br>
            <a:r>
              <a:rPr lang="it-IT" dirty="0"/>
              <a:t>App Service → Monitoring → App Service logs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Azure App Service</a:t>
            </a:r>
          </a:p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2365" y="33547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9665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109665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22627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FB51-7170-13CF-721F-19FE0442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E26593A4-3F45-9CE0-6457-1C739B2A45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9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D34495-1657-C5F8-0961-3A9063792D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138546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principal d’un trigger dans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 plan tarifaire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Déclencher l’exécution de la fonction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trigger détermine quand la fonction s’exécute.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le plan Consumption, comment est facturée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la seconde d’exécution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nombre de 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À l’exécution + temps + mémoire utilisée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Forfait mensuel fixe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4316611"/>
            <a:ext cx="2740558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</a:t>
            </a:r>
            <a:r>
              <a:rPr dirty="0" err="1"/>
              <a:t>facturation</a:t>
            </a:r>
            <a:r>
              <a:rPr dirty="0"/>
              <a:t> </a:t>
            </a:r>
            <a:r>
              <a:rPr dirty="0" err="1"/>
              <a:t>dépend</a:t>
            </a:r>
            <a:r>
              <a:rPr dirty="0"/>
              <a:t> </a:t>
            </a:r>
            <a:r>
              <a:rPr lang="fr-FR" dirty="0"/>
              <a:t>:</a:t>
            </a:r>
          </a:p>
          <a:p>
            <a:pPr marL="285750" indent="-285750">
              <a:buFontTx/>
              <a:buChar char="-"/>
              <a:defRPr sz="1600"/>
            </a:pPr>
            <a:r>
              <a:rPr dirty="0"/>
              <a:t>du nombre d’exécutions,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du temps d’exécution et </a:t>
            </a:r>
            <a:endParaRPr lang="fr-FR" dirty="0"/>
          </a:p>
          <a:p>
            <a:pPr marL="285750" indent="-285750">
              <a:buFontTx/>
              <a:buChar char="-"/>
              <a:defRPr sz="1600"/>
            </a:pPr>
            <a:r>
              <a:rPr dirty="0"/>
              <a:t>de la mémoire utilisée.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un trigger HTTP et un trigger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est 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est synchrone, la queue est asynchrone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HTTP ne supporte pas 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trigger Queue nécessite un App Service Plan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HTTP est synchrone, Queue est asynchrone.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binding permet d’écrire automatiquement un message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Trigger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Output binding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Logging binding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9549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272575"/>
            <a:ext cx="5668090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output binding permet d’écrire sans gérer </a:t>
            </a:r>
            <a:r>
              <a:rPr dirty="0" err="1"/>
              <a:t>l’infrastructure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sans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avec output binding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 exemple avec trigger binding :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4435" y="260009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6FAAC1A-E228-FACD-2304-D5904C161A4F}"/>
              </a:ext>
            </a:extLst>
          </p:cNvPr>
          <p:cNvSpPr txBox="1"/>
          <p:nvPr/>
        </p:nvSpPr>
        <p:spPr>
          <a:xfrm>
            <a:off x="518562" y="4063118"/>
            <a:ext cx="56166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var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new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QueueClient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connectionString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 err="1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await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client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SendMessageAsync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  <a:endParaRPr lang="fr-FR" sz="12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5B7720B-D5DD-E62C-55F8-7C84D00592F5}"/>
              </a:ext>
            </a:extLst>
          </p:cNvPr>
          <p:cNvSpPr txBox="1"/>
          <p:nvPr/>
        </p:nvSpPr>
        <p:spPr>
          <a:xfrm>
            <a:off x="179512" y="5048898"/>
            <a:ext cx="46535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en-US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QueueOutput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maqueue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(...)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F08C4"/>
                </a:solidFill>
                <a:effectLst/>
                <a:latin typeface="Cascadia Mono" panose="020B0609020000020004" pitchFamily="49" charset="0"/>
              </a:rPr>
              <a:t>return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"hello"</a:t>
            </a: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en-US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228C342A-75F9-BBB6-D8D2-0AFAF5B82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79046"/>
              </p:ext>
            </p:extLst>
          </p:nvPr>
        </p:nvGraphicFramePr>
        <p:xfrm>
          <a:off x="3840428" y="4793315"/>
          <a:ext cx="5400600" cy="1203960"/>
        </p:xfrm>
        <a:graphic>
          <a:graphicData uri="http://schemas.openxmlformats.org/drawingml/2006/table">
            <a:tbl>
              <a:tblPr/>
              <a:tblGrid>
                <a:gridCol w="1800200">
                  <a:extLst>
                    <a:ext uri="{9D8B030D-6E8A-4147-A177-3AD203B41FA5}">
                      <a16:colId xmlns:a16="http://schemas.microsoft.com/office/drawing/2014/main" val="665652088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318308423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1607395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/>
                        <a:t>Rôle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Exemple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900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 dirty="0"/>
                        <a:t>Trigger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Démarre la fonction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HTTP, Queue, </a:t>
                      </a:r>
                      <a:r>
                        <a:rPr lang="fr-FR" sz="1100" dirty="0" err="1"/>
                        <a:t>Timer</a:t>
                      </a:r>
                      <a:endParaRPr lang="fr-FR" sz="11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427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Input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Lire un blob, lire une 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3137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b="1"/>
                        <a:t>Output binding</a:t>
                      </a:r>
                      <a:endParaRPr lang="fr-FR" sz="11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Écrit des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00" dirty="0"/>
                        <a:t>Écrire dans queue, 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67298"/>
                  </a:ext>
                </a:extLst>
              </a:tr>
            </a:tbl>
          </a:graphicData>
        </a:graphic>
      </p:graphicFrame>
      <p:sp>
        <p:nvSpPr>
          <p:cNvPr id="17" name="Rectangle 1">
            <a:extLst>
              <a:ext uri="{FF2B5EF4-FFF2-40B4-BE49-F238E27FC236}">
                <a16:creationId xmlns:a16="http://schemas.microsoft.com/office/drawing/2014/main" id="{8E4A391D-1AF4-0682-9634-CF67F92FC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4544" y="4437112"/>
            <a:ext cx="2799164" cy="2539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5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🎯 Les 3 types de bindings à connaître :</a:t>
            </a:r>
            <a:endParaRPr kumimoji="0" lang="fr-FR" altLang="fr-FR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4264EC8-034F-6D50-41C2-9D0805FBD84E}"/>
              </a:ext>
            </a:extLst>
          </p:cNvPr>
          <p:cNvSpPr txBox="1"/>
          <p:nvPr/>
        </p:nvSpPr>
        <p:spPr>
          <a:xfrm>
            <a:off x="-156638" y="6528802"/>
            <a:ext cx="9457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"quiz-queue"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message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  <a:endParaRPr lang="fr-FR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12" grpId="0"/>
      <p:bldP spid="15" grpId="0"/>
      <p:bldP spid="17" grpId="0"/>
      <p:bldP spid="19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4 bis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l’avantage principal des bindings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de code technique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de CPU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bindings simplifient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3819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3D26A-8399-8142-0DA0-57F17DEB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D1FF0-4AD2-5DF2-FE03-65A3AD248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B9F00-5409-1223-91E5-F88D9989C1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comportement de la fonction Azure suivante ?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Elle est déclenchée par une requête HTTP et écrit dans une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un message depuis une queue et écrit dans une autre queue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écrit uniquement dans une queue sans déclencheur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Elle lit et écrit dans la même queue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6A5872-B06F-FA4C-5F7A-50EB4EC0D81B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9FBE1F-0A2B-8B54-A073-B334C89CCF8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712103-A5F8-397A-B05D-98EA5752A3A3}"/>
              </a:ext>
            </a:extLst>
          </p:cNvPr>
          <p:cNvSpPr txBox="1"/>
          <p:nvPr/>
        </p:nvSpPr>
        <p:spPr>
          <a:xfrm>
            <a:off x="7225" y="370363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0E0AC48-DF47-9679-6B93-71ED48E2F74E}"/>
              </a:ext>
            </a:extLst>
          </p:cNvPr>
          <p:cNvSpPr txBox="1"/>
          <p:nvPr/>
        </p:nvSpPr>
        <p:spPr>
          <a:xfrm>
            <a:off x="323528" y="5058802"/>
            <a:ext cx="687931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💡 Explication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QueueTrigger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déclenche la fonction</a:t>
            </a:r>
            <a:r>
              <a:rPr lang="fr-FR" sz="1600" dirty="0"/>
              <a:t> lorsqu’un message arrive dans la queue </a:t>
            </a:r>
            <a:r>
              <a:rPr lang="fr-FR" sz="1600" dirty="0" err="1"/>
              <a:t>orders</a:t>
            </a:r>
            <a:r>
              <a:rPr lang="fr-FR" sz="1600" dirty="0"/>
              <a:t> </a:t>
            </a:r>
          </a:p>
          <a:p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fr-FR" sz="1600" dirty="0">
                <a:solidFill>
                  <a:srgbClr val="2B91AF"/>
                </a:solidFill>
                <a:latin typeface="Cascadia Mono" panose="020B0609020000020004" pitchFamily="49" charset="0"/>
              </a:rPr>
              <a:t>Queue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processed-orders</a:t>
            </a:r>
            <a:r>
              <a:rPr lang="fr-FR" sz="16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16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  <a:br>
              <a:rPr lang="fr-FR" sz="1600" dirty="0"/>
            </a:br>
            <a:r>
              <a:rPr lang="fr-FR" sz="1600" dirty="0"/>
              <a:t>👉 </a:t>
            </a:r>
            <a:r>
              <a:rPr lang="fr-FR" sz="1600" b="1" dirty="0"/>
              <a:t>output binding</a:t>
            </a:r>
            <a:r>
              <a:rPr lang="fr-FR" sz="1600" dirty="0"/>
              <a:t> → écrit automatiquement dans une autre queue</a:t>
            </a:r>
          </a:p>
          <a:p>
            <a:endParaRPr lang="fr-FR" sz="16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16865DE-A7F3-9ECF-F909-A5AD20AD7B43}"/>
              </a:ext>
            </a:extLst>
          </p:cNvPr>
          <p:cNvSpPr txBox="1"/>
          <p:nvPr/>
        </p:nvSpPr>
        <p:spPr>
          <a:xfrm>
            <a:off x="755576" y="1526375"/>
            <a:ext cx="66247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2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2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2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20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Processing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= 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$"</a:t>
            </a:r>
            <a:r>
              <a:rPr lang="fr-FR" sz="12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  <a:r>
              <a:rPr lang="fr-FR" sz="12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order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r>
              <a:rPr lang="fr-FR" sz="12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;</a:t>
            </a:r>
          </a:p>
          <a:p>
            <a:pPr>
              <a:buNone/>
            </a:pPr>
            <a:r>
              <a:rPr lang="fr-FR" sz="12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416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votre scénario AzureQuizLab, pourquoi utiliser une Azure Function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la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requêtes HTTP du site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Traiter des tâches en arrière-plan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le frontend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Azure Functions sont idéales pour les traitements asynchrones.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Azure Functions, que signifie cold start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Première exécution lente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Fonction en erreur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Timeout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Problème de scaling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première exécution peut être lente.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352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solution permet d’éviter les cold starts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le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Passer en Premium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Ajouter un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Blob Storage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plan Premium garde des instances chaudes.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55977-0F42-8E24-EFC3-BAD51FF61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CB5EAF1-A9C7-F833-565B-08CE313B1506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04B018E-92A2-5DC2-A6DB-5C92CF02012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</a:t>
            </a:r>
            <a:r>
              <a:rPr lang="fr-FR" sz="3200" dirty="0" err="1"/>
              <a:t>Functions</a:t>
            </a:r>
            <a:r>
              <a:rPr lang="fr-FR" sz="3200" dirty="0"/>
              <a:t> </a:t>
            </a:r>
            <a:r>
              <a:rPr lang="fr-FR" sz="3200" dirty="0" err="1"/>
              <a:t>Hosting</a:t>
            </a:r>
            <a:r>
              <a:rPr lang="fr-FR" sz="3200" dirty="0"/>
              <a:t> Plans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9F7800-C5E0-CCAD-013A-3BA2BAEDF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26" y="953984"/>
            <a:ext cx="7956376" cy="541228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D36F6056-7573-C862-FDB6-B5000EBE75F6}"/>
              </a:ext>
            </a:extLst>
          </p:cNvPr>
          <p:cNvSpPr txBox="1"/>
          <p:nvPr/>
        </p:nvSpPr>
        <p:spPr>
          <a:xfrm>
            <a:off x="7236296" y="6309320"/>
            <a:ext cx="10871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Le moins cher 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auto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089FA74-298E-28A5-E036-1E53CFEB7444}"/>
              </a:ext>
            </a:extLst>
          </p:cNvPr>
          <p:cNvSpPr txBox="1"/>
          <p:nvPr/>
        </p:nvSpPr>
        <p:spPr>
          <a:xfrm>
            <a:off x="1979712" y="6337792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Réduction du </a:t>
            </a:r>
          </a:p>
          <a:p>
            <a:r>
              <a:rPr lang="fr-FR" sz="1100" dirty="0"/>
              <a:t>cold start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00580D8-C1E9-3F7C-DD3C-727B66780F1E}"/>
              </a:ext>
            </a:extLst>
          </p:cNvPr>
          <p:cNvSpPr txBox="1"/>
          <p:nvPr/>
        </p:nvSpPr>
        <p:spPr>
          <a:xfrm>
            <a:off x="4463501" y="6278914"/>
            <a:ext cx="14798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Coûts prévisibles</a:t>
            </a:r>
          </a:p>
          <a:p>
            <a:r>
              <a:rPr lang="fr-FR" sz="1100" dirty="0" err="1"/>
              <a:t>Workload</a:t>
            </a:r>
            <a:r>
              <a:rPr lang="fr-FR" sz="1100" dirty="0"/>
              <a:t> lourds</a:t>
            </a:r>
          </a:p>
          <a:p>
            <a:r>
              <a:rPr lang="fr-FR" sz="1100" dirty="0" err="1"/>
              <a:t>Scaling</a:t>
            </a:r>
            <a:r>
              <a:rPr lang="fr-FR" sz="1100" dirty="0"/>
              <a:t> manuel/</a:t>
            </a:r>
            <a:r>
              <a:rPr lang="fr-FR" sz="1100" dirty="0" err="1"/>
              <a:t>rules</a:t>
            </a:r>
            <a:endParaRPr lang="fr-FR" sz="1100" dirty="0"/>
          </a:p>
          <a:p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45406362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4304" y="1125409"/>
            <a:ext cx="84314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les azure </a:t>
            </a:r>
            <a:r>
              <a:rPr lang="fr-FR" sz="2000" dirty="0" err="1"/>
              <a:t>function</a:t>
            </a:r>
            <a:r>
              <a:rPr lang="fr-FR" sz="2000" dirty="0"/>
              <a:t> comment se passent le </a:t>
            </a:r>
            <a:r>
              <a:rPr lang="fr-FR" sz="2000" dirty="0" err="1"/>
              <a:t>scale</a:t>
            </a:r>
            <a:r>
              <a:rPr lang="fr-FR" sz="2000" dirty="0"/>
              <a:t> out ?</a:t>
            </a:r>
          </a:p>
          <a:p>
            <a:pPr>
              <a:defRPr sz="2400"/>
            </a:pPr>
            <a:endParaRPr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66DE71E9-64F9-AFBC-010B-4FAE52C14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531965"/>
              </p:ext>
            </p:extLst>
          </p:nvPr>
        </p:nvGraphicFramePr>
        <p:xfrm>
          <a:off x="316982" y="1854512"/>
          <a:ext cx="8431481" cy="814596"/>
        </p:xfrm>
        <a:graphic>
          <a:graphicData uri="http://schemas.openxmlformats.org/drawingml/2006/table">
            <a:tbl>
              <a:tblPr/>
              <a:tblGrid>
                <a:gridCol w="2022770">
                  <a:extLst>
                    <a:ext uri="{9D8B030D-6E8A-4147-A177-3AD203B41FA5}">
                      <a16:colId xmlns:a16="http://schemas.microsoft.com/office/drawing/2014/main" val="1682933850"/>
                    </a:ext>
                  </a:extLst>
                </a:gridCol>
                <a:gridCol w="2003924">
                  <a:extLst>
                    <a:ext uri="{9D8B030D-6E8A-4147-A177-3AD203B41FA5}">
                      <a16:colId xmlns:a16="http://schemas.microsoft.com/office/drawing/2014/main" val="2961641166"/>
                    </a:ext>
                  </a:extLst>
                </a:gridCol>
                <a:gridCol w="2930223">
                  <a:extLst>
                    <a:ext uri="{9D8B030D-6E8A-4147-A177-3AD203B41FA5}">
                      <a16:colId xmlns:a16="http://schemas.microsoft.com/office/drawing/2014/main" val="2432108569"/>
                    </a:ext>
                  </a:extLst>
                </a:gridCol>
                <a:gridCol w="1474564">
                  <a:extLst>
                    <a:ext uri="{9D8B030D-6E8A-4147-A177-3AD203B41FA5}">
                      <a16:colId xmlns:a16="http://schemas.microsoft.com/office/drawing/2014/main" val="2088396984"/>
                    </a:ext>
                  </a:extLst>
                </a:gridCol>
              </a:tblGrid>
              <a:tr h="27153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Critère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Premium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App Service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Consumption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957262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to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zero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(Oui/Non)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❌ Non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✅ Oui </a:t>
                      </a:r>
                      <a:r>
                        <a:rPr lang="fr-FR" sz="1100" dirty="0"/>
                        <a:t>❗ cold start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86484"/>
                  </a:ext>
                </a:extLst>
              </a:tr>
              <a:tr h="27153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out (Automatique/Manuel)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 (configurable)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Manuel / Autoscale à configurer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Automatique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361767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8DF50FB5-8252-E61F-221D-B60DB639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2739104"/>
            <a:ext cx="3744416" cy="242010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942E6A-ED16-39E2-AAAF-D706A498F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11" y="2924944"/>
            <a:ext cx="3602721" cy="3804598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435ECF1-49CF-1EC2-5491-CC80F8354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16" y="5301208"/>
            <a:ext cx="4006588" cy="1481242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17E54588-CB4C-1F99-37BB-CF50C6EF2DBA}"/>
              </a:ext>
            </a:extLst>
          </p:cNvPr>
          <p:cNvSpPr txBox="1"/>
          <p:nvPr/>
        </p:nvSpPr>
        <p:spPr>
          <a:xfrm>
            <a:off x="2555776" y="4672861"/>
            <a:ext cx="1095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Premium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0FB0B4FD-96F6-8C62-B1A5-8138F637512A}"/>
              </a:ext>
            </a:extLst>
          </p:cNvPr>
          <p:cNvSpPr txBox="1"/>
          <p:nvPr/>
        </p:nvSpPr>
        <p:spPr>
          <a:xfrm>
            <a:off x="7236296" y="3645024"/>
            <a:ext cx="13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App Service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9A68332-44CE-4964-8119-03BBF529798F}"/>
              </a:ext>
            </a:extLst>
          </p:cNvPr>
          <p:cNvSpPr txBox="1"/>
          <p:nvPr/>
        </p:nvSpPr>
        <p:spPr>
          <a:xfrm>
            <a:off x="3219121" y="5373216"/>
            <a:ext cx="1553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solidFill>
                  <a:schemeClr val="tx2"/>
                </a:solidFill>
              </a:rPr>
              <a:t>Consumption</a:t>
            </a:r>
            <a:endParaRPr lang="fr-FR" dirty="0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B482B9-D153-5850-3660-F4C980398DD0}"/>
              </a:ext>
            </a:extLst>
          </p:cNvPr>
          <p:cNvSpPr/>
          <p:nvPr/>
        </p:nvSpPr>
        <p:spPr>
          <a:xfrm>
            <a:off x="2256349" y="2150686"/>
            <a:ext cx="6610283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limite du plan Consumption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Temps d’exécution limité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3703" y="256490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3429000"/>
            <a:ext cx="3716082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temps d’exécution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limité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10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Autres plans :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Par défaut : 30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Maximum configurable : C.F. </a:t>
            </a:r>
            <a:r>
              <a:rPr lang="fr-FR" dirty="0">
                <a:hlinkClick r:id="rId3"/>
              </a:rPr>
              <a:t>doc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 marL="285750" indent="-285750">
              <a:buFontTx/>
              <a:buChar char="-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fichier permet de configurer les bindings dans une Azure Function (modèle classique)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appsettings.json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host.json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bindings.json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092280" y="184482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45423" y="3379215"/>
            <a:ext cx="3320140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function.json contient les bindings.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7356" y="257845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4FA31BD-0E11-2782-1439-1B37E15C8179}"/>
              </a:ext>
            </a:extLst>
          </p:cNvPr>
          <p:cNvSpPr txBox="1"/>
          <p:nvPr/>
        </p:nvSpPr>
        <p:spPr>
          <a:xfrm>
            <a:off x="299441" y="4077072"/>
            <a:ext cx="2952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"bindings"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[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connection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"type"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"queue"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queueName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"direction"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"out"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]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50BE510-94D3-07C8-F724-015885C57E1F}"/>
              </a:ext>
            </a:extLst>
          </p:cNvPr>
          <p:cNvSpPr txBox="1"/>
          <p:nvPr/>
        </p:nvSpPr>
        <p:spPr>
          <a:xfrm>
            <a:off x="4932040" y="3408810"/>
            <a:ext cx="2412135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Version moderne en C# :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4267611-22FC-F80B-4C79-7EEBF1D58F74}"/>
              </a:ext>
            </a:extLst>
          </p:cNvPr>
          <p:cNvSpPr txBox="1"/>
          <p:nvPr/>
        </p:nvSpPr>
        <p:spPr>
          <a:xfrm>
            <a:off x="4211960" y="4298960"/>
            <a:ext cx="48245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ProcessOrder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Connection =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AzureWebJobsStorage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[</a:t>
            </a:r>
            <a:r>
              <a:rPr lang="fr-FR" sz="900" dirty="0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Queue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processed-orders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out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string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fr-FR" sz="90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outputQueueItem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90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/>
      <p:bldP spid="14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du fichier host.json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le runtime global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routes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les variables d’environnement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Configurer la CI/CD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27584" y="3140968"/>
            <a:ext cx="41894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host.json configure le comportement global.</a:t>
            </a:r>
            <a:br>
              <a:rPr lang="fr-FR" dirty="0"/>
            </a:br>
            <a:r>
              <a:rPr lang="fr-FR" dirty="0"/>
              <a:t>Exemple : 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302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5EBF0D6-D545-EFC0-5ADF-A79CCD0A14F3}"/>
              </a:ext>
            </a:extLst>
          </p:cNvPr>
          <p:cNvSpPr txBox="1"/>
          <p:nvPr/>
        </p:nvSpPr>
        <p:spPr>
          <a:xfrm>
            <a:off x="899592" y="3861048"/>
            <a:ext cx="4720106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"version"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"2.0"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"00:10:00"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logging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logLevel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"default"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"Information"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Error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"extensions"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"queues"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{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batchSize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16,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maxDequeueCount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5,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visibilityTimeout</a:t>
            </a:r>
            <a:r>
              <a:rPr lang="fr-FR" sz="900" dirty="0">
                <a:solidFill>
                  <a:srgbClr val="2E75B6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: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"00:01:00"</a:t>
            </a: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}</a:t>
            </a:r>
          </a:p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option permet de sécuriser une Azure Function HTTP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Firewall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NSG (Network Security Group)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Function</a:t>
            </a:r>
            <a:r>
              <a:rPr lang="fr-FR" sz="2000" dirty="0"/>
              <a:t> Key / </a:t>
            </a:r>
            <a:r>
              <a:rPr lang="fr-FR" sz="2000" dirty="0" err="1"/>
              <a:t>Auth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187624" y="2996952"/>
            <a:ext cx="343735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Function Keys contrôlent </a:t>
            </a:r>
            <a:r>
              <a:rPr dirty="0" err="1"/>
              <a:t>l’accès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028436B-3115-7281-BDBC-414BF08CF1AB}"/>
              </a:ext>
            </a:extLst>
          </p:cNvPr>
          <p:cNvSpPr txBox="1"/>
          <p:nvPr/>
        </p:nvSpPr>
        <p:spPr>
          <a:xfrm>
            <a:off x="755576" y="3579160"/>
            <a:ext cx="79928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.Anonymous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// Aucune clé requise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.Function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// Clé passée en 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query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string</a:t>
            </a:r>
          </a:p>
          <a:p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 [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HttpTrigger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fr-FR" sz="9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AuthorizationLevel</a:t>
            </a:r>
            <a:r>
              <a:rPr lang="fr-FR" sz="9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.Admin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get</a:t>
            </a:r>
            <a:r>
              <a:rPr lang="fr-FR" sz="9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fr-FR" sz="900" dirty="0">
                <a:solidFill>
                  <a:srgbClr val="000000"/>
                </a:solidFill>
                <a:latin typeface="Cascadia Mono" panose="020B0609020000020004" pitchFamily="49" charset="0"/>
              </a:rPr>
              <a:t>)]     // Clé master</a:t>
            </a:r>
          </a:p>
          <a:p>
            <a:pPr>
              <a:buNone/>
            </a:pPr>
            <a:endParaRPr lang="fr-FR" sz="900" dirty="0">
              <a:solidFill>
                <a:srgbClr val="000000"/>
              </a:solidFill>
              <a:effectLst/>
              <a:latin typeface="Cascadia Mono" panose="020B06090200000200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la fonction Azure suivante :</a:t>
            </a:r>
            <a:br>
              <a:rPr lang="fr-FR" sz="2000" dirty="0"/>
            </a:br>
            <a:r>
              <a:rPr lang="fr-FR" sz="2000" dirty="0"/>
              <a:t>À quelle fréquence cette fonction est-elle exécutée ?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heures à la 5ème minute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Toutes les 5 minutes uniquement entre minuit et 1h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948264" y="25598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343677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Timer Trigger utilise CRON.</a:t>
            </a:r>
            <a:endParaRPr lang="fr-FR" dirty="0"/>
          </a:p>
          <a:p>
            <a:pPr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{secondes} {minutes} {heures} {jour} {mois} {jour-semaine}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0 ? à la seconde 0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*/5 ? toutes les 5 minutes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* ? toutes les heures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34706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272A708-1566-FD29-0B08-574D6ABC2D87}"/>
              </a:ext>
            </a:extLst>
          </p:cNvPr>
          <p:cNvSpPr txBox="1"/>
          <p:nvPr/>
        </p:nvSpPr>
        <p:spPr>
          <a:xfrm>
            <a:off x="509654" y="2132856"/>
            <a:ext cx="4720106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Function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CleanupJob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public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static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0000FF"/>
                </a:solidFill>
                <a:effectLst/>
                <a:latin typeface="Cascadia Mono" panose="020B0609020000020004" pitchFamily="49" charset="0"/>
              </a:rPr>
              <a:t>void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Run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[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TimerTrigger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"0 */5 * * * *"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)]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TimerInfo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myTimer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,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</a:t>
            </a:r>
            <a:r>
              <a:rPr lang="fr-FR" sz="1050" dirty="0" err="1">
                <a:solidFill>
                  <a:srgbClr val="2B91AF"/>
                </a:solidFill>
                <a:effectLst/>
                <a:latin typeface="Cascadia Mono" panose="020B0609020000020004" pitchFamily="49" charset="0"/>
              </a:rPr>
              <a:t>ILogger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</a:t>
            </a:r>
            <a:r>
              <a:rPr lang="fr-FR" sz="1050" dirty="0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{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    </a:t>
            </a:r>
            <a:r>
              <a:rPr lang="fr-FR" sz="1050" dirty="0" err="1">
                <a:solidFill>
                  <a:srgbClr val="1F377F"/>
                </a:solidFill>
                <a:effectLst/>
                <a:latin typeface="Cascadia Mono" panose="020B0609020000020004" pitchFamily="49" charset="0"/>
              </a:rPr>
              <a:t>log</a:t>
            </a:r>
            <a:r>
              <a:rPr lang="fr-FR" sz="105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.</a:t>
            </a:r>
            <a:r>
              <a:rPr lang="fr-FR" sz="1050" dirty="0" err="1">
                <a:solidFill>
                  <a:srgbClr val="74531F"/>
                </a:solidFill>
                <a:effectLst/>
                <a:latin typeface="Cascadia Mono" panose="020B0609020000020004" pitchFamily="49" charset="0"/>
              </a:rPr>
              <a:t>LogInformation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(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"</a:t>
            </a:r>
            <a:r>
              <a:rPr lang="fr-FR" sz="1050" dirty="0" err="1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Cleanup</a:t>
            </a:r>
            <a:r>
              <a:rPr lang="fr-FR" sz="1050" dirty="0">
                <a:solidFill>
                  <a:srgbClr val="A31515"/>
                </a:solidFill>
                <a:effectLst/>
                <a:latin typeface="Cascadia Mono" panose="020B0609020000020004" pitchFamily="49" charset="0"/>
              </a:rPr>
              <a:t> exécuté"</a:t>
            </a: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);</a:t>
            </a:r>
          </a:p>
          <a:p>
            <a:pPr>
              <a:buNone/>
            </a:pPr>
            <a:r>
              <a:rPr lang="fr-FR" sz="1050" dirty="0">
                <a:solidFill>
                  <a:srgbClr val="000000"/>
                </a:solidFill>
                <a:effectLst/>
                <a:latin typeface="Cascadia Mono" panose="020B0609020000020004" pitchFamily="49" charset="0"/>
              </a:rPr>
              <a:t>    }</a:t>
            </a:r>
            <a:endParaRPr lang="fr-FR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Qui envoie un message dans une queue dans un scénario classique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application (ex: Web App)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application envoie le message.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391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in-process et isolated worker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Langage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Runtime séparé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trigger en isolated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de scaling en isolated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60" y="3324554"/>
            <a:ext cx="546059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Isolated = runtime </a:t>
            </a:r>
            <a:r>
              <a:rPr dirty="0" err="1"/>
              <a:t>séparé</a:t>
            </a:r>
            <a:r>
              <a:rPr dirty="0"/>
              <a:t>.</a:t>
            </a:r>
            <a:r>
              <a:rPr lang="fr-FR" dirty="0"/>
              <a:t> Mode recommandé aujourd’hui</a:t>
            </a:r>
          </a:p>
          <a:p>
            <a:pPr>
              <a:defRPr sz="1600"/>
            </a:pPr>
            <a:r>
              <a:rPr lang="fr-FR" dirty="0"/>
              <a:t>In process = le code tourne dans le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4387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8D0F096C-B333-2614-3472-C50676CCF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882614"/>
              </p:ext>
            </p:extLst>
          </p:nvPr>
        </p:nvGraphicFramePr>
        <p:xfrm>
          <a:off x="899592" y="4005064"/>
          <a:ext cx="6336704" cy="70993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184140">
                  <a:extLst>
                    <a:ext uri="{9D8B030D-6E8A-4147-A177-3AD203B41FA5}">
                      <a16:colId xmlns:a16="http://schemas.microsoft.com/office/drawing/2014/main" val="750286432"/>
                    </a:ext>
                  </a:extLst>
                </a:gridCol>
                <a:gridCol w="4152564">
                  <a:extLst>
                    <a:ext uri="{9D8B030D-6E8A-4147-A177-3AD203B41FA5}">
                      <a16:colId xmlns:a16="http://schemas.microsoft.com/office/drawing/2014/main" val="3237237841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Modèle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Où tourne ton code ?</a:t>
                      </a:r>
                      <a:endParaRPr lang="fr-FR" sz="11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52255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In-process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le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</a:t>
                      </a:r>
                      <a:r>
                        <a:rPr lang="fr-FR" sz="1100" u="none" strike="noStrike" dirty="0">
                          <a:effectLst/>
                          <a:sym typeface="Wingdings" panose="05000000000000000000" pitchFamily="2" charset="2"/>
                        </a:rPr>
                        <a:t> Bientôt </a:t>
                      </a:r>
                      <a:r>
                        <a:rPr lang="fr-FR" sz="1100" u="none" strike="noStrike" dirty="0" err="1">
                          <a:effectLst/>
                          <a:sym typeface="Wingdings" panose="05000000000000000000" pitchFamily="2" charset="2"/>
                        </a:rPr>
                        <a:t>depreacted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8452227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Isolated worker</a:t>
                      </a:r>
                      <a:endParaRPr lang="fr-FR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Dans un process séparé (2 process : celui du runtime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&amp; le process des Azure </a:t>
                      </a:r>
                      <a:r>
                        <a:rPr lang="fr-FR" sz="1100" u="none" strike="noStrike" dirty="0" err="1">
                          <a:effectLst/>
                        </a:rPr>
                        <a:t>Functions</a:t>
                      </a:r>
                      <a:r>
                        <a:rPr lang="fr-FR" sz="1100" u="none" strike="noStrike" dirty="0">
                          <a:effectLst/>
                        </a:rPr>
                        <a:t> (ton code))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1433305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Considérez une Azure </a:t>
            </a:r>
            <a:r>
              <a:rPr lang="fr-FR" sz="2000" dirty="0" err="1"/>
              <a:t>Function</a:t>
            </a:r>
            <a:r>
              <a:rPr lang="fr-FR" sz="2000" dirty="0"/>
              <a:t> déclenchée par une queue.</a:t>
            </a:r>
          </a:p>
          <a:p>
            <a:pPr>
              <a:defRPr sz="2400"/>
            </a:pPr>
            <a:r>
              <a:rPr lang="fr-FR" sz="2000" dirty="0"/>
              <a:t>Que se passe-t-il si une exception est levée pendant l’exécution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perdu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fonction est arrêtée définitivement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message est automatiquement réessayé (</a:t>
            </a:r>
            <a:r>
              <a:rPr lang="fr-FR" sz="2000" dirty="0" err="1"/>
              <a:t>retry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queue est bloquée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505817"/>
            <a:ext cx="5453224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retry</a:t>
            </a:r>
            <a:r>
              <a:rPr lang="fr-FR" dirty="0"/>
              <a:t> fonctionne uniquement si une exception est levée.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Azure considère que le traitement a échoué</a:t>
            </a:r>
          </a:p>
          <a:p>
            <a:pPr>
              <a:defRPr sz="1600"/>
            </a:pPr>
            <a:r>
              <a:rPr lang="fr-FR" dirty="0"/>
              <a:t>- le message est remis dans la queue</a:t>
            </a:r>
          </a:p>
          <a:p>
            <a:pPr>
              <a:defRPr sz="1600"/>
            </a:pPr>
            <a:r>
              <a:rPr lang="fr-FR" dirty="0"/>
              <a:t>- il sera réessayé automatiquement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 err="1"/>
              <a:t>QueueTrigger</a:t>
            </a:r>
            <a:r>
              <a:rPr lang="fr-FR" dirty="0"/>
              <a:t> : Par défaut 5 tentatives</a:t>
            </a:r>
          </a:p>
          <a:p>
            <a:pPr>
              <a:defRPr sz="1600"/>
            </a:pPr>
            <a:r>
              <a:rPr lang="fr-FR" dirty="0" err="1"/>
              <a:t>ServiceBusTrigger</a:t>
            </a:r>
            <a:r>
              <a:rPr lang="fr-FR" dirty="0"/>
              <a:t> : Par défaut 10 tentatives</a:t>
            </a:r>
          </a:p>
          <a:p>
            <a:pPr>
              <a:defRPr sz="1600"/>
            </a:pP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devient un message en échec répété dans une queue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Envoyé en Dead Letter Queue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Relancé indéfiniment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messages échoués vont en DLQ.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635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d’appeler directement une API externe depuis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Trop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Risque de blocage utilisateur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Pas compatible Azure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Peut bloquer l’utilisateur.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A68D-B939-4CF7-9187-0095C6C52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0BCEC2-F570-9030-5C53-2CFBC1AD7A20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ED11D-4DD0-35F9-30B3-F915DF474E1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CE90EC-B758-D47A-36C4-B99AD20CF04C}"/>
              </a:ext>
            </a:extLst>
          </p:cNvPr>
          <p:cNvSpPr txBox="1"/>
          <p:nvPr/>
        </p:nvSpPr>
        <p:spPr>
          <a:xfrm>
            <a:off x="467096" y="1324006"/>
            <a:ext cx="84314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Associez chaque service Azure à sa description.</a:t>
            </a:r>
          </a:p>
          <a:p>
            <a:pPr>
              <a:defRPr sz="2400"/>
            </a:pPr>
            <a:endParaRPr lang="fr-FR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684D0F-E20D-D2C8-DB82-BF046D1299AF}"/>
              </a:ext>
            </a:extLst>
          </p:cNvPr>
          <p:cNvSpPr txBox="1"/>
          <p:nvPr/>
        </p:nvSpPr>
        <p:spPr>
          <a:xfrm>
            <a:off x="7713799" y="5373216"/>
            <a:ext cx="123623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br>
              <a:rPr lang="fr-FR" u="sng" dirty="0"/>
            </a:br>
            <a:r>
              <a:rPr lang="pt-BR" dirty="0"/>
              <a:t>1 → B</a:t>
            </a:r>
            <a:br>
              <a:rPr lang="pt-BR" dirty="0"/>
            </a:br>
            <a:r>
              <a:rPr lang="pt-BR" dirty="0"/>
              <a:t>2 → A</a:t>
            </a:r>
            <a:br>
              <a:rPr lang="pt-BR" dirty="0"/>
            </a:br>
            <a:r>
              <a:rPr lang="pt-BR" dirty="0"/>
              <a:t>3 → C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A387D2-1EA2-B9AC-A7A2-1CA113448B32}"/>
              </a:ext>
            </a:extLst>
          </p:cNvPr>
          <p:cNvSpPr txBox="1"/>
          <p:nvPr/>
        </p:nvSpPr>
        <p:spPr>
          <a:xfrm>
            <a:off x="323528" y="5596418"/>
            <a:ext cx="714650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Azure Functions </a:t>
            </a:r>
            <a:r>
              <a:rPr lang="fr-FR" dirty="0"/>
              <a:t>→</a:t>
            </a:r>
            <a:r>
              <a:rPr lang="en-US" dirty="0"/>
              <a:t> event-driven + code-first + court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/>
              <a:t>Logic Apps </a:t>
            </a:r>
            <a:r>
              <a:rPr lang="fr-FR" dirty="0"/>
              <a:t>→</a:t>
            </a:r>
            <a:r>
              <a:rPr lang="en-US" dirty="0"/>
              <a:t> event-driven + orchestration + low-code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en-US" dirty="0" err="1"/>
              <a:t>WebJobs</a:t>
            </a:r>
            <a:r>
              <a:rPr lang="en-US" dirty="0"/>
              <a:t> </a:t>
            </a:r>
            <a:r>
              <a:rPr lang="fr-FR" dirty="0"/>
              <a:t>→</a:t>
            </a:r>
            <a:r>
              <a:rPr lang="en-US" dirty="0"/>
              <a:t> long-running + App Service (+ event-driven possible via SDK)</a:t>
            </a:r>
            <a:endParaRPr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C41EB6-018E-5575-3E18-601157427A58}"/>
              </a:ext>
            </a:extLst>
          </p:cNvPr>
          <p:cNvSpPr txBox="1"/>
          <p:nvPr/>
        </p:nvSpPr>
        <p:spPr>
          <a:xfrm>
            <a:off x="2887918" y="1835428"/>
            <a:ext cx="601065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🅱️ Descriptions</a:t>
            </a:r>
          </a:p>
          <a:p>
            <a:br>
              <a:rPr lang="fr-FR" dirty="0"/>
            </a:br>
            <a:r>
              <a:rPr lang="fr-FR" dirty="0"/>
              <a:t>A. Service </a:t>
            </a:r>
            <a:r>
              <a:rPr lang="fr-FR" dirty="0" err="1"/>
              <a:t>low</a:t>
            </a:r>
            <a:r>
              <a:rPr lang="fr-FR" dirty="0"/>
              <a:t>-code orienté workflows, avec designer visuel et connecteurs pour orchestrer des processus </a:t>
            </a:r>
            <a:r>
              <a:rPr lang="fr-FR" dirty="0" err="1"/>
              <a:t>event-driven</a:t>
            </a:r>
            <a:r>
              <a:rPr lang="fr-FR" dirty="0"/>
              <a:t> et intégrer des systèmes</a:t>
            </a:r>
          </a:p>
          <a:p>
            <a:endParaRPr lang="fr-FR" dirty="0"/>
          </a:p>
          <a:p>
            <a:r>
              <a:rPr lang="fr-FR" dirty="0"/>
              <a:t>B. Plateforme </a:t>
            </a:r>
            <a:r>
              <a:rPr lang="fr-FR" dirty="0" err="1"/>
              <a:t>serverless</a:t>
            </a:r>
            <a:r>
              <a:rPr lang="fr-FR" dirty="0"/>
              <a:t> code-first, adaptée aux traitements courts </a:t>
            </a:r>
            <a:r>
              <a:rPr lang="fr-FR" dirty="0" err="1"/>
              <a:t>event-driven</a:t>
            </a:r>
            <a:r>
              <a:rPr lang="fr-FR" dirty="0"/>
              <a:t> avec </a:t>
            </a:r>
            <a:r>
              <a:rPr lang="fr-FR" dirty="0" err="1"/>
              <a:t>scaling</a:t>
            </a:r>
            <a:r>
              <a:rPr lang="fr-FR" dirty="0"/>
              <a:t> automatique</a:t>
            </a:r>
          </a:p>
          <a:p>
            <a:endParaRPr lang="fr-FR" dirty="0"/>
          </a:p>
          <a:p>
            <a:r>
              <a:rPr lang="fr-FR" dirty="0"/>
              <a:t>C. Tâches de fond longues ou planifiées, exécutées dans un App Service avec un </a:t>
            </a:r>
            <a:r>
              <a:rPr lang="fr-FR" dirty="0" err="1"/>
              <a:t>scaling</a:t>
            </a:r>
            <a:r>
              <a:rPr lang="fr-FR" dirty="0"/>
              <a:t> dépendant du plan, pouvant aussi gérer des traitements </a:t>
            </a:r>
            <a:r>
              <a:rPr lang="fr-FR" dirty="0" err="1"/>
              <a:t>event-driven</a:t>
            </a:r>
            <a:r>
              <a:rPr lang="fr-FR" dirty="0"/>
              <a:t> via SDK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9B68D4-748F-70DF-B513-C3A50868CC21}"/>
              </a:ext>
            </a:extLst>
          </p:cNvPr>
          <p:cNvSpPr txBox="1"/>
          <p:nvPr/>
        </p:nvSpPr>
        <p:spPr>
          <a:xfrm>
            <a:off x="539552" y="1851680"/>
            <a:ext cx="21130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🅰️ Services</a:t>
            </a:r>
          </a:p>
          <a:p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Azure </a:t>
            </a:r>
            <a:r>
              <a:rPr lang="fr-FR" dirty="0" err="1"/>
              <a:t>functions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Logic Apps</a:t>
            </a:r>
          </a:p>
          <a:p>
            <a:pPr marL="342900" indent="-342900">
              <a:buFont typeface="+mj-lt"/>
              <a:buAutoNum type="arabicPeriod"/>
            </a:pP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WebJobs</a:t>
            </a:r>
            <a:endParaRPr lang="fr-FR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10A0588-EA2C-4F59-A8D3-1D9031B90835}"/>
              </a:ext>
            </a:extLst>
          </p:cNvPr>
          <p:cNvCxnSpPr/>
          <p:nvPr/>
        </p:nvCxnSpPr>
        <p:spPr>
          <a:xfrm>
            <a:off x="2555776" y="2780928"/>
            <a:ext cx="332142" cy="936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A2CD1CDA-9A91-24EB-645B-8A6DF32E68AA}"/>
              </a:ext>
            </a:extLst>
          </p:cNvPr>
          <p:cNvCxnSpPr>
            <a:cxnSpLocks/>
          </p:cNvCxnSpPr>
          <p:nvPr/>
        </p:nvCxnSpPr>
        <p:spPr>
          <a:xfrm flipV="1">
            <a:off x="2195736" y="2614955"/>
            <a:ext cx="748680" cy="5260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10F3FFF-C52D-EF34-264A-53CBE48D2C58}"/>
              </a:ext>
            </a:extLst>
          </p:cNvPr>
          <p:cNvCxnSpPr>
            <a:cxnSpLocks/>
          </p:cNvCxnSpPr>
          <p:nvPr/>
        </p:nvCxnSpPr>
        <p:spPr>
          <a:xfrm>
            <a:off x="1979712" y="3724031"/>
            <a:ext cx="908206" cy="105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956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939D7-1407-4E55-6089-24F4EB90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3900B2-5914-ACBF-F299-A5432BF6C88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E7626B-81AE-EA32-5B2A-9B76D8B57F5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AE27-62EB-C967-C1B1-8B2B43CA6D27}"/>
              </a:ext>
            </a:extLst>
          </p:cNvPr>
          <p:cNvSpPr txBox="1"/>
          <p:nvPr/>
        </p:nvSpPr>
        <p:spPr>
          <a:xfrm>
            <a:off x="467096" y="1324006"/>
            <a:ext cx="843148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le rôle principal d’Azurite dans le développement Azure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Fournir un service de stockage Azure hautement disponible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Azure Service Bus pour les tests unitaires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Permettre le déploiement automatique sur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Simuler les services Azure Storage en local pour le développement et les tests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D59F8-471D-D7B6-DC23-748FED028CC5}"/>
              </a:ext>
            </a:extLst>
          </p:cNvPr>
          <p:cNvSpPr txBox="1"/>
          <p:nvPr/>
        </p:nvSpPr>
        <p:spPr>
          <a:xfrm>
            <a:off x="7380312" y="34290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C2E7E6-92C3-B36A-07CE-DA4D7DBAC6C4}"/>
              </a:ext>
            </a:extLst>
          </p:cNvPr>
          <p:cNvSpPr txBox="1"/>
          <p:nvPr/>
        </p:nvSpPr>
        <p:spPr>
          <a:xfrm>
            <a:off x="500632" y="3717032"/>
            <a:ext cx="4402167" cy="24622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dirty="0"/>
              <a:t>👉 </a:t>
            </a:r>
            <a:r>
              <a:rPr lang="fr-FR" sz="1400" b="1" dirty="0"/>
              <a:t>Azurite</a:t>
            </a:r>
            <a:r>
              <a:rPr lang="fr-FR" sz="1400" dirty="0"/>
              <a:t> est un </a:t>
            </a:r>
            <a:r>
              <a:rPr lang="fr-FR" sz="1400" b="1" dirty="0"/>
              <a:t>émulateur local d’Azure Storage</a:t>
            </a:r>
            <a:endParaRPr lang="fr-FR" sz="1400" dirty="0"/>
          </a:p>
          <a:p>
            <a:r>
              <a:rPr lang="fr-FR" sz="1400" dirty="0"/>
              <a:t>Il permet de simuler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Blob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Queue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Table Storage </a:t>
            </a:r>
          </a:p>
          <a:p>
            <a:r>
              <a:rPr lang="fr-FR" sz="1400" dirty="0"/>
              <a:t>👉 sans connexion à Azure</a:t>
            </a:r>
          </a:p>
          <a:p>
            <a:br>
              <a:rPr lang="fr-FR" sz="1400" dirty="0"/>
            </a:br>
            <a:endParaRPr lang="fr-FR" sz="1400" dirty="0"/>
          </a:p>
          <a:p>
            <a:r>
              <a:rPr lang="fr-FR" sz="1400" b="1" dirty="0"/>
              <a:t>🧠 Exemple concret</a:t>
            </a:r>
          </a:p>
          <a:p>
            <a:r>
              <a:rPr lang="fr-FR" sz="1400" dirty="0"/>
              <a:t>👉 En local : 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fr-FR" sz="1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fr-FR" sz="1400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400" dirty="0"/>
              <a:t>👉 ta </a:t>
            </a:r>
            <a:r>
              <a:rPr lang="fr-FR" sz="1400" dirty="0" err="1"/>
              <a:t>Function</a:t>
            </a:r>
            <a:r>
              <a:rPr lang="fr-FR" sz="1400" dirty="0"/>
              <a:t> utilise Azurite au lieu d’Azure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E96DC34-B9AE-DE8C-AD53-9EE9D0E4336E}"/>
              </a:ext>
            </a:extLst>
          </p:cNvPr>
          <p:cNvSpPr txBox="1"/>
          <p:nvPr/>
        </p:nvSpPr>
        <p:spPr>
          <a:xfrm>
            <a:off x="24397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1ADA9BDA-3652-70BC-74F7-C039401FB5C6}"/>
              </a:ext>
            </a:extLst>
          </p:cNvPr>
          <p:cNvSpPr txBox="1"/>
          <p:nvPr/>
        </p:nvSpPr>
        <p:spPr>
          <a:xfrm>
            <a:off x="5126408" y="3873322"/>
            <a:ext cx="3932487" cy="289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1400" b="1" dirty="0"/>
              <a:t>⚠️ Pourquoi c’est important</a:t>
            </a:r>
          </a:p>
          <a:p>
            <a:r>
              <a:rPr lang="fr-FR" sz="1400" dirty="0"/>
              <a:t>✔ développement offline</a:t>
            </a:r>
            <a:br>
              <a:rPr lang="fr-FR" sz="1400" dirty="0"/>
            </a:br>
            <a:r>
              <a:rPr lang="fr-FR" sz="1400" dirty="0"/>
              <a:t>✔ pas de coût Azure</a:t>
            </a:r>
            <a:br>
              <a:rPr lang="fr-FR" sz="1400" dirty="0"/>
            </a:br>
            <a:r>
              <a:rPr lang="fr-FR" sz="1400" dirty="0"/>
              <a:t>✔ tests rapides</a:t>
            </a:r>
          </a:p>
          <a:p>
            <a:endParaRPr lang="fr-FR" sz="1400" dirty="0"/>
          </a:p>
          <a:p>
            <a:r>
              <a:rPr lang="fr-FR" sz="1400" dirty="0"/>
              <a:t>👉 </a:t>
            </a:r>
            <a:r>
              <a:rPr lang="fr-FR" sz="1400" b="1" dirty="0"/>
              <a:t>Comment voir son Storage avec Azurite :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Azure Storage Explorer </a:t>
            </a:r>
          </a:p>
          <a:p>
            <a:pPr marL="285750" indent="-285750">
              <a:buFontTx/>
              <a:buChar char="-"/>
            </a:pPr>
            <a:r>
              <a:rPr lang="fr-FR" sz="1400" dirty="0"/>
              <a:t>CLI 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queue list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--connection-string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UseDevelopmentStorage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=true"</a:t>
            </a:r>
            <a:endParaRPr lang="fr-FR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Tx/>
              <a:buChar char="-"/>
            </a:pPr>
            <a:r>
              <a:rPr lang="fr-FR" sz="1400" dirty="0"/>
              <a:t>Extension VS Code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899632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D6C-B629-1A97-CDA0-4C38456D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9650DC-798C-89B2-DCFA-21119E4CCF9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B44073-BE4A-527C-6345-F8B420C32C8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22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E4B481-4188-3717-8E4D-C2A03ECBE410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souhaitez déployer votre projet Azure </a:t>
            </a:r>
            <a:r>
              <a:rPr lang="fr-FR" sz="2000" dirty="0" err="1"/>
              <a:t>Functions</a:t>
            </a:r>
            <a:r>
              <a:rPr lang="fr-FR" sz="2000" dirty="0"/>
              <a:t> local vers Azure à l’aide des Azure </a:t>
            </a:r>
            <a:r>
              <a:rPr lang="fr-FR" sz="2000" dirty="0" err="1"/>
              <a:t>Functions</a:t>
            </a:r>
            <a:r>
              <a:rPr lang="fr-FR" sz="2000" dirty="0"/>
              <a:t> </a:t>
            </a:r>
            <a:r>
              <a:rPr lang="fr-FR" sz="2000" dirty="0" err="1"/>
              <a:t>Core</a:t>
            </a:r>
            <a:r>
              <a:rPr lang="fr-FR" sz="2000" dirty="0"/>
              <a:t> Tools.</a:t>
            </a:r>
            <a:br>
              <a:rPr lang="fr-FR" sz="2000" dirty="0"/>
            </a:br>
            <a:r>
              <a:rPr lang="fr-FR" sz="2000" dirty="0"/>
              <a:t>Quelle commande devez-vous utiliser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start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azure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NomFunctionApp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webapp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dotnet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publish</a:t>
            </a:r>
            <a:endParaRPr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EAFFF1-E01D-B45A-3DA6-1EDFDD7AFC64}"/>
              </a:ext>
            </a:extLst>
          </p:cNvPr>
          <p:cNvSpPr txBox="1"/>
          <p:nvPr/>
        </p:nvSpPr>
        <p:spPr>
          <a:xfrm>
            <a:off x="6151418" y="5029200"/>
            <a:ext cx="143340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B7EA8D-E645-B05F-704D-F0AF22FB7E91}"/>
              </a:ext>
            </a:extLst>
          </p:cNvPr>
          <p:cNvSpPr txBox="1"/>
          <p:nvPr/>
        </p:nvSpPr>
        <p:spPr>
          <a:xfrm>
            <a:off x="1025237" y="4930239"/>
            <a:ext cx="479650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dirty="0"/>
              <a:t>Permet de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</a:t>
            </a:r>
            <a:r>
              <a:rPr lang="fr-FR" dirty="0" err="1"/>
              <a:t>build</a:t>
            </a:r>
            <a:r>
              <a:rPr lang="fr-FR" dirty="0"/>
              <a:t> le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le publier sur Azure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de mettre à jour la </a:t>
            </a:r>
            <a:r>
              <a:rPr lang="fr-FR" dirty="0" err="1"/>
              <a:t>Function</a:t>
            </a:r>
            <a:r>
              <a:rPr lang="fr-FR" dirty="0"/>
              <a:t> App existante 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D501E20-DEAD-4ACE-A47C-3A796A59D0E2}"/>
              </a:ext>
            </a:extLst>
          </p:cNvPr>
          <p:cNvSpPr txBox="1"/>
          <p:nvPr/>
        </p:nvSpPr>
        <p:spPr>
          <a:xfrm>
            <a:off x="10750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42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146EE-4ECA-E30F-21C7-F496EF02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7ADDF56-BD54-B430-9E5D-823C7400CB2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60C04E-1456-47A7-1106-D693E23A98DD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CLI : </a:t>
            </a:r>
            <a:r>
              <a:rPr lang="fr-FR" sz="3200" dirty="0" err="1"/>
              <a:t>func</a:t>
            </a:r>
            <a:endParaRPr sz="3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095D1AD-386B-03F0-7754-C38E2AC7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353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38924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464DE-A0CB-4E5B-4B67-ACFA41400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5540B53-3B8E-F872-A852-E493DA0785F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82B207-26DA-3FB8-47C2-34113C90928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1/2</a:t>
            </a:r>
            <a:endParaRPr sz="32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3BD6DF-C213-77C9-92A1-0B025B6D1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40768"/>
            <a:ext cx="9144000" cy="473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9869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D408F-0FF7-0FD2-0E2D-2011993E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59C202-C0B9-69AA-9DB0-6CC76B529ADB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24F743-7337-EDEC-63F2-4EDE56161E72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fr-FR" sz="3200" dirty="0"/>
              <a:t>Azure Durable </a:t>
            </a:r>
            <a:r>
              <a:rPr lang="fr-FR" sz="3200" dirty="0" err="1"/>
              <a:t>Functions</a:t>
            </a:r>
            <a:r>
              <a:rPr lang="fr-FR" sz="3200" dirty="0"/>
              <a:t> 2/2</a:t>
            </a:r>
            <a:endParaRPr sz="3200" dirty="0"/>
          </a:p>
        </p:txBody>
      </p:sp>
      <p:pic>
        <p:nvPicPr>
          <p:cNvPr id="1026" name="Picture 2" descr="Azure Functions – fonctions serverless dans Computing | Microsoft Azure">
            <a:extLst>
              <a:ext uri="{FF2B5EF4-FFF2-40B4-BE49-F238E27FC236}">
                <a16:creationId xmlns:a16="http://schemas.microsoft.com/office/drawing/2014/main" id="{B48015FA-0C2C-F0F6-74CE-D5643DB0A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229" y="1196752"/>
            <a:ext cx="7049541" cy="5604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398949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09B-4E63-F92C-E3B2-EACE821B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F5F17C7A-00D7-642A-61A2-5F9E0D70C4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Clés asymétriques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C12A6E-5074-5A02-C4C5-A6BFA689BF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082035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54126-62A6-7BDA-9A8B-C5FD78A2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0C483-C56F-F470-902D-51F76ED13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Symétique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3130ED9-A880-BF69-435B-E56C1B166E3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64D55D7-306D-4E36-E580-D095BE26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760" y="908720"/>
            <a:ext cx="3702434" cy="3168352"/>
          </a:xfrm>
          <a:prstGeom prst="rect">
            <a:avLst/>
          </a:prstGeom>
        </p:spPr>
      </p:pic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F220A22D-9FF0-A6CE-048D-8803B6ADA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476904"/>
              </p:ext>
            </p:extLst>
          </p:nvPr>
        </p:nvGraphicFramePr>
        <p:xfrm>
          <a:off x="683568" y="4235152"/>
          <a:ext cx="7886700" cy="22860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67349978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0343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679453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Critère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011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Nombre de clés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47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Performance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⚡ Très rapide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🐢 Plus lent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43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Sécurité échange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❌ Difficile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✅ 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78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Usage typique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 /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684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Exemples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AES (standard actuel)</a:t>
                      </a:r>
                      <a:br>
                        <a:rPr lang="fr-FR" sz="1600" dirty="0"/>
                      </a:br>
                      <a:r>
                        <a:rPr lang="fr-FR" sz="1600" dirty="0"/>
                        <a:t>DES (obsolète)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RSA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8143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64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B91F4-930B-1A0E-F553-6AC012090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0A4EC-8C2F-A9F6-204A-09CB326D2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Utilisation</a:t>
            </a:r>
            <a:r>
              <a:rPr lang="en-US" dirty="0"/>
              <a:t> des 2 : </a:t>
            </a:r>
            <a:r>
              <a:rPr lang="en-US" dirty="0" err="1"/>
              <a:t>Symétrique</a:t>
            </a:r>
            <a:r>
              <a:rPr lang="en-US" dirty="0"/>
              <a:t> et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F45C-3C7E-BC14-1A6A-80B7B2C323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9552" y="5070501"/>
            <a:ext cx="8229600" cy="1392340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1800" dirty="0"/>
              <a:t>Exemple : HTTPS (TLS) – </a:t>
            </a:r>
            <a:r>
              <a:rPr lang="fr-FR" sz="1600" i="1" dirty="0"/>
              <a:t>Rappel : HTTPS = HTTP + TLS (Transport Layer Security)</a:t>
            </a:r>
          </a:p>
          <a:p>
            <a:pPr>
              <a:buFontTx/>
              <a:buChar char="-"/>
            </a:pPr>
            <a:r>
              <a:rPr lang="fr-FR" sz="1600" dirty="0"/>
              <a:t>TLS successeur de SSL :</a:t>
            </a:r>
            <a:endParaRPr lang="fr-FR" altLang="fr-FR" sz="1400" dirty="0"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2.0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SSL 3.0 ❌ (cassé)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1.0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1.1 ❌ (obsolète)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1.2 ✅ (encore utilisé)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fr-FR" altLang="fr-FR" sz="900" i="1" dirty="0">
                <a:latin typeface="Arial" panose="020B0604020202020204" pitchFamily="34" charset="0"/>
              </a:rPr>
              <a:t> TLS 1.3 ✅ (standard moderne)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fr-FR" altLang="fr-FR" sz="1600" dirty="0">
              <a:latin typeface="Arial" panose="020B0604020202020204" pitchFamily="34" charset="0"/>
            </a:endParaRPr>
          </a:p>
          <a:p>
            <a:pPr>
              <a:buFontTx/>
              <a:buChar char="-"/>
            </a:pPr>
            <a:endParaRPr lang="fr-FR" sz="1600" dirty="0"/>
          </a:p>
          <a:p>
            <a:pPr>
              <a:buFontTx/>
              <a:buChar char="-"/>
            </a:pPr>
            <a:endParaRPr lang="fr-FR" sz="1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E315FE2-4C91-EA8A-3BBE-0A45838B290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3AAFC6D-43CD-2055-CD85-1243C4B3C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980728"/>
            <a:ext cx="4824536" cy="291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A9A0773-E311-4F10-563E-F0D9C8222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971492"/>
              </p:ext>
            </p:extLst>
          </p:nvPr>
        </p:nvGraphicFramePr>
        <p:xfrm>
          <a:off x="539552" y="3973781"/>
          <a:ext cx="7886700" cy="100584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326523378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1038278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Étape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 utilisé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2093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22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Échange de données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Symétrique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03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84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D5FE-0D9D-29FE-FB8E-89B61FBA0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2FA0-7CC7-8D2D-BA56-FEB75C23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DDC0-7E32-062F-B3EA-3F4F556FF3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>
              <a:buFontTx/>
              <a:buChar char="-"/>
            </a:pPr>
            <a:r>
              <a:rPr lang="fr-FR" sz="2400" dirty="0"/>
              <a:t>Clé publique </a:t>
            </a:r>
            <a:r>
              <a:rPr lang="fr-FR" sz="2400" dirty="0">
                <a:sym typeface="Wingdings" panose="05000000000000000000" pitchFamily="2" charset="2"/>
              </a:rPr>
              <a:t> On peut donner à tout le monde</a:t>
            </a:r>
          </a:p>
          <a:p>
            <a:pPr>
              <a:buFontTx/>
              <a:buChar char="-"/>
            </a:pPr>
            <a:r>
              <a:rPr lang="fr-FR" sz="2400" dirty="0">
                <a:sym typeface="Wingdings" panose="05000000000000000000" pitchFamily="2" charset="2"/>
              </a:rPr>
              <a:t>Clé privée  On doit la garder secrète</a:t>
            </a: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endParaRPr lang="fr-FR" sz="2400" dirty="0">
              <a:sym typeface="Wingdings" panose="05000000000000000000" pitchFamily="2" charset="2"/>
            </a:endParaRPr>
          </a:p>
          <a:p>
            <a:pPr>
              <a:buFontTx/>
              <a:buChar char="-"/>
            </a:pPr>
            <a:r>
              <a:rPr lang="fr-FR" sz="2400" u="sng" dirty="0">
                <a:sym typeface="Wingdings" panose="05000000000000000000" pitchFamily="2" charset="2"/>
              </a:rPr>
              <a:t>Chiffrement :</a:t>
            </a:r>
            <a:r>
              <a:rPr lang="fr-FR" sz="2400" dirty="0">
                <a:sym typeface="Wingdings" panose="05000000000000000000" pitchFamily="2" charset="2"/>
              </a:rPr>
              <a:t> </a:t>
            </a:r>
            <a:r>
              <a:rPr lang="fr-FR" sz="1800" i="1" dirty="0">
                <a:sym typeface="Wingdings" panose="05000000000000000000" pitchFamily="2" charset="2"/>
              </a:rPr>
              <a:t>personne ne peut lire sauf le destinataire</a:t>
            </a:r>
            <a:endParaRPr lang="fr-FR" sz="2400" i="1" dirty="0">
              <a:sym typeface="Wingdings" panose="05000000000000000000" pitchFamily="2" charset="2"/>
            </a:endParaRPr>
          </a:p>
          <a:p>
            <a:pPr lvl="1">
              <a:buFontTx/>
              <a:buChar char="-"/>
            </a:pPr>
            <a:r>
              <a:rPr lang="fr-FR" sz="1800" dirty="0"/>
              <a:t>Tu prends la </a:t>
            </a:r>
            <a:r>
              <a:rPr lang="fr-FR" sz="1800" b="1" dirty="0"/>
              <a:t>clé publique du destinataire</a:t>
            </a:r>
          </a:p>
          <a:p>
            <a:pPr lvl="1">
              <a:buFontTx/>
              <a:buChar char="-"/>
            </a:pPr>
            <a:r>
              <a:rPr lang="fr-FR" sz="1800" dirty="0"/>
              <a:t>Tu chiffres le message avec</a:t>
            </a:r>
          </a:p>
          <a:p>
            <a:pPr lvl="1">
              <a:buFontTx/>
              <a:buChar char="-"/>
            </a:pPr>
            <a:r>
              <a:rPr lang="fr-FR" sz="1800" dirty="0"/>
              <a:t>Seul le destinataire peut déchiffrer avec sa </a:t>
            </a:r>
            <a:r>
              <a:rPr lang="fr-FR" sz="1800" b="1" dirty="0"/>
              <a:t>clé privée</a:t>
            </a:r>
          </a:p>
          <a:p>
            <a:pPr>
              <a:buFontTx/>
              <a:buChar char="-"/>
            </a:pPr>
            <a:r>
              <a:rPr lang="fr-FR" sz="2400" u="sng" dirty="0"/>
              <a:t>Signature :</a:t>
            </a:r>
            <a:r>
              <a:rPr lang="fr-FR" sz="2400" dirty="0"/>
              <a:t> </a:t>
            </a:r>
            <a:r>
              <a:rPr lang="fr-FR" sz="1800" i="1" dirty="0"/>
              <a:t>prouver qui a envoyé + garantir que ça n’a pas été modifié</a:t>
            </a:r>
          </a:p>
          <a:p>
            <a:pPr lvl="1">
              <a:buFontTx/>
              <a:buChar char="-"/>
            </a:pPr>
            <a:r>
              <a:rPr lang="fr-FR" sz="1800" dirty="0"/>
              <a:t>Tu signes avec ta </a:t>
            </a:r>
            <a:r>
              <a:rPr lang="fr-FR" sz="1800" b="1" dirty="0"/>
              <a:t>clé privée</a:t>
            </a:r>
          </a:p>
          <a:p>
            <a:pPr lvl="1">
              <a:buFontTx/>
              <a:buChar char="-"/>
            </a:pPr>
            <a:r>
              <a:rPr lang="fr-FR" sz="1800" dirty="0"/>
              <a:t>Les autres vérifient avec ta </a:t>
            </a:r>
            <a:r>
              <a:rPr lang="fr-FR" sz="1800" b="1" dirty="0"/>
              <a:t>clé publique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F1A5204-3542-9020-2890-0DBC0329C47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EB80357E-30B6-D8F0-1E11-2DEFFEE4B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28351"/>
              </p:ext>
            </p:extLst>
          </p:nvPr>
        </p:nvGraphicFramePr>
        <p:xfrm>
          <a:off x="457200" y="2060848"/>
          <a:ext cx="7886700" cy="1097280"/>
        </p:xfrm>
        <a:graphic>
          <a:graphicData uri="http://schemas.openxmlformats.org/drawingml/2006/table">
            <a:tbl>
              <a:tblPr/>
              <a:tblGrid>
                <a:gridCol w="2088232">
                  <a:extLst>
                    <a:ext uri="{9D8B030D-6E8A-4147-A177-3AD203B41FA5}">
                      <a16:colId xmlns:a16="http://schemas.microsoft.com/office/drawing/2014/main" val="3815023786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3201563465"/>
                    </a:ext>
                  </a:extLst>
                </a:gridCol>
                <a:gridCol w="3134172">
                  <a:extLst>
                    <a:ext uri="{9D8B030D-6E8A-4147-A177-3AD203B41FA5}">
                      <a16:colId xmlns:a16="http://schemas.microsoft.com/office/drawing/2014/main" val="18295141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Clé utilisée pour faire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 utilisée pour vérifier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06148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🔒 Chiffrement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930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✍️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privée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Clé publique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612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231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1F2BE-16B4-50F3-0CCB-7ABFAE03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58A81-1336-F0CA-15B6-DB7656E91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r>
              <a:rPr lang="en-US" dirty="0"/>
              <a:t> - Principes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None/>
                </a:pPr>
                <a:r>
                  <a:rPr lang="fr-FR" sz="1800" b="1" dirty="0"/>
                  <a:t>🧠 Principe (RSA)</a:t>
                </a:r>
              </a:p>
              <a:p>
                <a:r>
                  <a:rPr lang="fr-FR" sz="1800" dirty="0"/>
                  <a:t>Choisir 2 nombres premiers : </a:t>
                </a:r>
                <a:r>
                  <a:rPr lang="fr-FR" sz="1800" b="1" dirty="0"/>
                  <a:t>p</a:t>
                </a:r>
                <a:r>
                  <a:rPr lang="fr-FR" sz="1800" dirty="0"/>
                  <a:t> et </a:t>
                </a:r>
                <a:r>
                  <a:rPr lang="fr-FR" sz="1800" b="1" dirty="0"/>
                  <a:t>q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Calculer :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240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fr-FR" sz="1600" dirty="0"/>
              </a:p>
              <a:p>
                <a:r>
                  <a:rPr lang="fr-FR" sz="1800" dirty="0"/>
                  <a:t>Publier </a:t>
                </a:r>
                <a:r>
                  <a:rPr lang="fr-FR" sz="1800" b="1" dirty="0"/>
                  <a:t>n</a:t>
                </a:r>
                <a:r>
                  <a:rPr lang="fr-FR" sz="1800" dirty="0"/>
                  <a:t> (clé publique)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🔥 Idée clé : </a:t>
                </a:r>
                <a:r>
                  <a:rPr lang="fr-FR" sz="1800" dirty="0"/>
                  <a:t>“Créer est facile, inverser est (quasi) impossible.”</a:t>
                </a:r>
                <a:endParaRPr lang="fr-FR" sz="1800" b="1" dirty="0"/>
              </a:p>
              <a:p>
                <a:r>
                  <a:rPr lang="fr-FR" sz="1800" dirty="0"/>
                  <a:t>💡 </a:t>
                </a:r>
                <a:r>
                  <a:rPr lang="fr-FR" sz="1800" b="1" dirty="0"/>
                  <a:t>Multiplier est facile</a:t>
                </a:r>
                <a:br>
                  <a:rPr lang="fr-FR" sz="1800" dirty="0"/>
                </a:br>
                <a:r>
                  <a:rPr lang="fr-FR" sz="1800" dirty="0"/>
                  <a:t>❌ </a:t>
                </a:r>
                <a:r>
                  <a:rPr lang="fr-FR" sz="1800" b="1" dirty="0"/>
                  <a:t>Factoriser est très difficile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b="1" dirty="0"/>
                  <a:t>⚡ Exemple simple</a:t>
                </a:r>
              </a:p>
              <a:p>
                <a:r>
                  <a:rPr lang="fr-FR" sz="1800" dirty="0"/>
                  <a:t>p = 3, q = 11 → n = 33 ✅ </a:t>
                </a:r>
              </a:p>
              <a:p>
                <a:r>
                  <a:rPr lang="fr-FR" sz="1800" dirty="0"/>
                  <a:t>n = 33 → retrouver p et q ❓ (plus difficile) </a:t>
                </a:r>
              </a:p>
              <a:p>
                <a:pPr marL="0" indent="0">
                  <a:buNone/>
                </a:pPr>
                <a:r>
                  <a:rPr lang="fr-FR" sz="1800" b="1" dirty="0"/>
                  <a:t>🚀 Dans la réalité</a:t>
                </a:r>
              </a:p>
              <a:p>
                <a:r>
                  <a:rPr lang="fr-FR" sz="1800" dirty="0"/>
                  <a:t>p et q = </a:t>
                </a:r>
                <a:r>
                  <a:rPr lang="fr-FR" sz="1800" b="1" dirty="0"/>
                  <a:t>très grands nombres premiers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n = </a:t>
                </a:r>
                <a:r>
                  <a:rPr lang="fr-FR" sz="1800" b="1" dirty="0"/>
                  <a:t>plus de 600 chiffres</a:t>
                </a:r>
                <a:r>
                  <a:rPr lang="fr-FR" sz="1800" dirty="0"/>
                  <a:t> </a:t>
                </a:r>
              </a:p>
              <a:p>
                <a:r>
                  <a:rPr lang="fr-FR" sz="1800" dirty="0"/>
                  <a:t>👉 Factorisation = </a:t>
                </a:r>
                <a:r>
                  <a:rPr lang="fr-FR" sz="1800" b="1" dirty="0"/>
                  <a:t>impraticable</a:t>
                </a:r>
                <a:endParaRPr lang="fr-FR" sz="1800" dirty="0"/>
              </a:p>
              <a:p>
                <a:pPr marL="0" indent="0">
                  <a:buNone/>
                </a:pPr>
                <a:r>
                  <a:rPr lang="fr-FR" sz="1800" dirty="0"/>
                  <a:t>🔐 La sécurité repose sur un problème mathématique difficile :</a:t>
                </a:r>
                <a:br>
                  <a:rPr lang="fr-FR" sz="1800" dirty="0"/>
                </a:br>
                <a:r>
                  <a:rPr lang="fr-FR" sz="1800" b="1" dirty="0"/>
                  <a:t>retrouver p et q à partir de 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011876-1563-3807-5E38-8A0BF265C3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57200" y="1066800"/>
                <a:ext cx="8229600" cy="5314528"/>
              </a:xfrm>
              <a:prstGeom prst="rect">
                <a:avLst/>
              </a:prstGeom>
              <a:blipFill>
                <a:blip r:embed="rId3"/>
                <a:stretch>
                  <a:fillRect l="-593" t="-459" b="-172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2DDB19-ED4B-986A-2F0B-0CAFBEDAD4EC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158353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5D290-4650-8EB3-A178-E2D34F9D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54936-45BA-777E-4DE1-80E511FF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7423C-D257-D44C-D6A9-1E12CD28AB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👉 </a:t>
            </a:r>
            <a:r>
              <a:rPr lang="fr-FR" sz="1800" b="1" dirty="0"/>
              <a:t>Principe</a:t>
            </a:r>
            <a:endParaRPr lang="fr-FR" sz="1800" dirty="0"/>
          </a:p>
          <a:p>
            <a:r>
              <a:rPr lang="fr-FR" sz="1800" dirty="0"/>
              <a:t>🔓 </a:t>
            </a:r>
            <a:r>
              <a:rPr lang="fr-FR" sz="1800" b="1" dirty="0"/>
              <a:t>Clé publique = cadenas ouvert</a:t>
            </a:r>
            <a:r>
              <a:rPr lang="fr-FR" sz="1800" dirty="0"/>
              <a:t> </a:t>
            </a:r>
          </a:p>
          <a:p>
            <a:r>
              <a:rPr lang="fr-FR" sz="1800" dirty="0"/>
              <a:t>🔐 </a:t>
            </a:r>
            <a:r>
              <a:rPr lang="fr-FR" sz="1800" b="1" dirty="0"/>
              <a:t>Clé privée = la seule clé qui ouvre ce cadenas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🎯 Fonctionnement</a:t>
            </a:r>
          </a:p>
          <a:p>
            <a:r>
              <a:rPr lang="fr-FR" sz="1800" dirty="0"/>
              <a:t>Tu distribues des </a:t>
            </a:r>
            <a:r>
              <a:rPr lang="fr-FR" sz="1800" b="1" dirty="0"/>
              <a:t>cadenas ouverts</a:t>
            </a:r>
            <a:r>
              <a:rPr lang="fr-FR" sz="1800" dirty="0"/>
              <a:t> </a:t>
            </a:r>
          </a:p>
          <a:p>
            <a:r>
              <a:rPr lang="fr-FR" sz="1800" dirty="0"/>
              <a:t>N’importe qui peut : </a:t>
            </a:r>
          </a:p>
          <a:p>
            <a:pPr lvl="1"/>
            <a:r>
              <a:rPr lang="fr-FR" sz="1600" dirty="0"/>
              <a:t>🔒 mettre un message dedans et fermer </a:t>
            </a:r>
          </a:p>
          <a:p>
            <a:r>
              <a:rPr lang="fr-FR" sz="2200" dirty="0"/>
              <a:t>👉 </a:t>
            </a:r>
            <a:r>
              <a:rPr lang="fr-FR" sz="1800" dirty="0"/>
              <a:t>MAIS : Seul toi peux ouvrir avec ta </a:t>
            </a:r>
            <a:r>
              <a:rPr lang="fr-FR" sz="1800" b="1" dirty="0"/>
              <a:t>clé privée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endParaRPr lang="fr-FR" sz="1800" b="1" dirty="0"/>
          </a:p>
          <a:p>
            <a:pPr marL="0" indent="0">
              <a:buNone/>
            </a:pPr>
            <a:r>
              <a:rPr lang="fr-FR" sz="1800" b="1" dirty="0"/>
              <a:t>💡 Message clé</a:t>
            </a:r>
          </a:p>
          <a:p>
            <a:r>
              <a:rPr lang="fr-FR" sz="1800" dirty="0"/>
              <a:t>🔐 Tout le monde peut envoyer un message sécurisé</a:t>
            </a:r>
            <a:br>
              <a:rPr lang="fr-FR" sz="1800" dirty="0"/>
            </a:br>
            <a:r>
              <a:rPr lang="fr-FR" sz="1800" dirty="0"/>
              <a:t>❌ Mais seul le propriétaire peut le lire</a:t>
            </a:r>
          </a:p>
          <a:p>
            <a:pPr marL="0" indent="0">
              <a:buNone/>
            </a:pPr>
            <a:endParaRPr lang="fr-FR" sz="1800" dirty="0"/>
          </a:p>
          <a:p>
            <a:pPr marL="0" indent="0">
              <a:buNone/>
            </a:pPr>
            <a:r>
              <a:rPr lang="fr-FR" sz="1800" b="1" dirty="0"/>
              <a:t>🎤 Résumé:</a:t>
            </a:r>
          </a:p>
          <a:p>
            <a:r>
              <a:rPr lang="fr-FR" sz="1800" dirty="0"/>
              <a:t>“On partage le cadenas, jamais la clé.”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F05D1-89E3-5959-40B9-30300B686ADE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979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733E-4363-F6D3-4FC9-E325931A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0C44D-FE54-B26C-889D-65062CFA9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Signature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8ABEF-076D-B60A-14EA-B74DC45456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400" dirty="0"/>
              <a:t>👉 </a:t>
            </a:r>
            <a:r>
              <a:rPr lang="fr-FR" sz="1400" b="1" dirty="0"/>
              <a:t>Signer un document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🔐 </a:t>
            </a:r>
            <a:r>
              <a:rPr lang="fr-FR" sz="1400" b="1" dirty="0"/>
              <a:t>la clé privée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prend le document </a:t>
            </a:r>
          </a:p>
          <a:p>
            <a:r>
              <a:rPr lang="fr-FR" sz="1400" dirty="0"/>
              <a:t>🧮 On calcule une </a:t>
            </a:r>
            <a:r>
              <a:rPr lang="fr-FR" sz="1400" b="1" dirty="0"/>
              <a:t>empreinte (hash/</a:t>
            </a:r>
            <a:r>
              <a:rPr lang="fr-FR" sz="1400" b="1" dirty="0" err="1"/>
              <a:t>crc</a:t>
            </a:r>
            <a:r>
              <a:rPr lang="fr-FR" sz="1400" b="1" dirty="0"/>
              <a:t>)</a:t>
            </a:r>
            <a:r>
              <a:rPr lang="fr-FR" sz="1400" dirty="0"/>
              <a:t> - </a:t>
            </a:r>
            <a:r>
              <a:rPr lang="fr-FR" sz="1200" i="1" dirty="0"/>
              <a:t>“On ne signe pas le document, on signe son empreinte.”</a:t>
            </a:r>
          </a:p>
          <a:p>
            <a:r>
              <a:rPr lang="fr-FR" sz="1400" dirty="0"/>
              <a:t>🔐 On chiffre cette empreinte avec la </a:t>
            </a:r>
            <a:r>
              <a:rPr lang="fr-FR" sz="1400" b="1" dirty="0"/>
              <a:t>clé privée</a:t>
            </a:r>
            <a:r>
              <a:rPr lang="fr-FR" sz="1400" dirty="0"/>
              <a:t> </a:t>
            </a:r>
          </a:p>
          <a:p>
            <a:r>
              <a:rPr lang="fr-FR" sz="1400" dirty="0"/>
              <a:t>✍️ Résultat : </a:t>
            </a:r>
            <a:r>
              <a:rPr lang="fr-FR" sz="1400" b="1" dirty="0"/>
              <a:t>la signature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🔍 Vérifier la signature</a:t>
            </a:r>
            <a:r>
              <a:rPr lang="fr-FR" sz="1400" dirty="0"/>
              <a:t>, on utilise :</a:t>
            </a:r>
          </a:p>
          <a:p>
            <a:r>
              <a:rPr lang="fr-FR" sz="1400" dirty="0"/>
              <a:t>🔓 </a:t>
            </a:r>
            <a:r>
              <a:rPr lang="fr-FR" sz="1400" b="1" dirty="0"/>
              <a:t>la clé publique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🎯 Étapes</a:t>
            </a:r>
          </a:p>
          <a:p>
            <a:r>
              <a:rPr lang="fr-FR" sz="1400" dirty="0"/>
              <a:t>📄 On reprend le document </a:t>
            </a:r>
          </a:p>
          <a:p>
            <a:r>
              <a:rPr lang="fr-FR" sz="1400" dirty="0"/>
              <a:t>🧮 On recalcule son hash/</a:t>
            </a:r>
            <a:r>
              <a:rPr lang="fr-FR" sz="1400" dirty="0" err="1"/>
              <a:t>crc</a:t>
            </a:r>
            <a:endParaRPr lang="fr-FR" sz="1400" dirty="0"/>
          </a:p>
          <a:p>
            <a:r>
              <a:rPr lang="fr-FR" sz="1400" dirty="0"/>
              <a:t>🔓 On déchiffre la signature avec la clé publique </a:t>
            </a:r>
          </a:p>
          <a:p>
            <a:r>
              <a:rPr lang="fr-FR" sz="1400" dirty="0"/>
              <a:t>🔄 On compare les deux </a:t>
            </a:r>
            <a:r>
              <a:rPr lang="fr-FR" sz="1400" dirty="0" err="1"/>
              <a:t>hashes</a:t>
            </a:r>
            <a:r>
              <a:rPr lang="fr-FR" sz="1400" dirty="0"/>
              <a:t> </a:t>
            </a:r>
          </a:p>
          <a:p>
            <a:r>
              <a:rPr lang="fr-FR" sz="1400" b="1" dirty="0"/>
              <a:t>✅ Résultat</a:t>
            </a:r>
          </a:p>
          <a:p>
            <a:pPr lvl="1"/>
            <a:r>
              <a:rPr lang="fr-FR" sz="1000" dirty="0"/>
              <a:t>✔️ Hash identique → signature valide </a:t>
            </a:r>
          </a:p>
          <a:p>
            <a:pPr lvl="1"/>
            <a:r>
              <a:rPr lang="fr-FR" sz="1000" dirty="0"/>
              <a:t>❌ Différent → document modifié ou faux</a:t>
            </a:r>
            <a:endParaRPr lang="fr-FR" sz="1400" dirty="0"/>
          </a:p>
          <a:p>
            <a:pPr marL="0" indent="0">
              <a:buNone/>
            </a:pPr>
            <a:r>
              <a:rPr lang="fr-FR" sz="1400" b="1" dirty="0"/>
              <a:t>🧠 A noter :</a:t>
            </a:r>
          </a:p>
          <a:p>
            <a:r>
              <a:rPr lang="fr-FR" sz="1400" dirty="0"/>
              <a:t>seule la </a:t>
            </a:r>
            <a:r>
              <a:rPr lang="fr-FR" sz="1400" b="1" dirty="0"/>
              <a:t>clé privée</a:t>
            </a:r>
            <a:r>
              <a:rPr lang="fr-FR" sz="1400" dirty="0"/>
              <a:t> peut créer la signature </a:t>
            </a:r>
          </a:p>
          <a:p>
            <a:r>
              <a:rPr lang="fr-FR" sz="1400" dirty="0"/>
              <a:t>tout le monde peut vérifier avec la </a:t>
            </a:r>
            <a:r>
              <a:rPr lang="fr-FR" sz="1400" b="1" dirty="0"/>
              <a:t>clé publique</a:t>
            </a:r>
          </a:p>
          <a:p>
            <a:r>
              <a:rPr lang="fr-FR" sz="1400" dirty="0"/>
              <a:t>la signature ne porte pas sur le document entier, mais sur son </a:t>
            </a:r>
            <a:r>
              <a:rPr lang="fr-FR" sz="1400" b="1" dirty="0"/>
              <a:t>empreinte unique</a:t>
            </a:r>
          </a:p>
          <a:p>
            <a:pPr marL="0" indent="0">
              <a:buNone/>
            </a:pPr>
            <a:endParaRPr lang="fr-FR" sz="1400" dirty="0"/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0AA3BB2-B4E2-98D5-917E-3F338BB5CA6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1C8D95A-3155-6F88-B179-D95589600835}"/>
              </a:ext>
            </a:extLst>
          </p:cNvPr>
          <p:cNvSpPr txBox="1"/>
          <p:nvPr/>
        </p:nvSpPr>
        <p:spPr>
          <a:xfrm>
            <a:off x="4139952" y="4653136"/>
            <a:ext cx="439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fr-FR" sz="1600" dirty="0"/>
              <a:t>🔥 </a:t>
            </a:r>
            <a:r>
              <a:rPr lang="fr-FR" sz="1600" b="1" dirty="0"/>
              <a:t>Conséquence : </a:t>
            </a:r>
            <a:r>
              <a:rPr lang="fr-FR" sz="1600" dirty="0"/>
              <a:t>Si on modifie 1 caractère 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hash change complètement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fr-FR" sz="1000" dirty="0"/>
              <a:t>signature devient invalide</a:t>
            </a:r>
          </a:p>
        </p:txBody>
      </p:sp>
    </p:spTree>
    <p:extLst>
      <p:ext uri="{BB962C8B-B14F-4D97-AF65-F5344CB8AC3E}">
        <p14:creationId xmlns:p14="http://schemas.microsoft.com/office/powerpoint/2010/main" val="119634314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A2199-F42F-EAF8-7583-5F7CE2E6D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Clés</a:t>
            </a:r>
            <a:r>
              <a:rPr lang="en-US" dirty="0"/>
              <a:t> </a:t>
            </a:r>
            <a:r>
              <a:rPr lang="en-US" dirty="0" err="1"/>
              <a:t>publiques</a:t>
            </a:r>
            <a:r>
              <a:rPr lang="en-US" dirty="0"/>
              <a:t> / </a:t>
            </a:r>
            <a:r>
              <a:rPr lang="en-US" dirty="0" err="1"/>
              <a:t>privées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9BD607E-F4F1-3C51-8E03-200279EB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129</a:t>
            </a:fld>
            <a:endParaRPr lang="en-US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6D497D1-8BD3-0ACE-174B-035B0FD05B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Chiffrement symétrique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Chiffrement asymétrique :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0A0CCCE-F75D-CB36-D8DB-3F87B58DBDE0}"/>
              </a:ext>
            </a:extLst>
          </p:cNvPr>
          <p:cNvSpPr txBox="1"/>
          <p:nvPr/>
        </p:nvSpPr>
        <p:spPr>
          <a:xfrm>
            <a:off x="251520" y="6309320"/>
            <a:ext cx="8803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https://fr.wikipedia.org/wiki/Certificat_%C3%A9lectronique</a:t>
            </a:r>
          </a:p>
        </p:txBody>
      </p:sp>
      <p:pic>
        <p:nvPicPr>
          <p:cNvPr id="7170" name="Picture 2" descr="Clés symétriques">
            <a:extLst>
              <a:ext uri="{FF2B5EF4-FFF2-40B4-BE49-F238E27FC236}">
                <a16:creationId xmlns:a16="http://schemas.microsoft.com/office/drawing/2014/main" id="{5228E90B-10F0-3CC4-7968-624D1A188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26" y="1642647"/>
            <a:ext cx="4392488" cy="10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ssymétrie signature vs chiffrement.">
            <a:extLst>
              <a:ext uri="{FF2B5EF4-FFF2-40B4-BE49-F238E27FC236}">
                <a16:creationId xmlns:a16="http://schemas.microsoft.com/office/drawing/2014/main" id="{4681797A-4D97-2F0D-D1E0-3AB6DEFC4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097987"/>
            <a:ext cx="4608512" cy="2340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C9C7AAC-275E-6108-8310-0D2FDBB32FD0}"/>
              </a:ext>
            </a:extLst>
          </p:cNvPr>
          <p:cNvSpPr txBox="1"/>
          <p:nvPr/>
        </p:nvSpPr>
        <p:spPr>
          <a:xfrm>
            <a:off x="5508104" y="2760591"/>
            <a:ext cx="35471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u="sng" dirty="0"/>
              <a:t>Clé publique : </a:t>
            </a:r>
            <a:r>
              <a:rPr lang="fr-FR" sz="2400" i="1" dirty="0"/>
              <a:t>Comment être sûr qu’il s’agit de la clé de Anne ?</a:t>
            </a:r>
          </a:p>
          <a:p>
            <a:endParaRPr lang="fr-FR" sz="2400" i="1" dirty="0"/>
          </a:p>
          <a:p>
            <a:r>
              <a:rPr lang="fr-FR" sz="2400" dirty="0"/>
              <a:t>=&gt; Solution : Certificats</a:t>
            </a:r>
          </a:p>
        </p:txBody>
      </p:sp>
    </p:spTree>
    <p:extLst>
      <p:ext uri="{BB962C8B-B14F-4D97-AF65-F5344CB8AC3E}">
        <p14:creationId xmlns:p14="http://schemas.microsoft.com/office/powerpoint/2010/main" val="130202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ED40-785B-7FD5-B72C-6F6CFA360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2286-7D8C-CE29-408B-3C129828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63CD6-7E05-E929-83E6-263BBEE96B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/>
              <a:t>🧾 Un certificat est un document signé par une autorité de certification (CA)</a:t>
            </a:r>
          </a:p>
          <a:p>
            <a:r>
              <a:rPr lang="fr-FR" sz="1600" dirty="0"/>
              <a:t>👉 Il contient :</a:t>
            </a:r>
          </a:p>
          <a:p>
            <a:pPr lvl="1"/>
            <a:r>
              <a:rPr lang="fr-FR" sz="1200" dirty="0"/>
              <a:t>🔓 une </a:t>
            </a:r>
            <a:r>
              <a:rPr lang="fr-FR" sz="1200" b="1" dirty="0"/>
              <a:t>clé publique</a:t>
            </a:r>
            <a:r>
              <a:rPr lang="fr-FR" sz="1200" dirty="0"/>
              <a:t> (</a:t>
            </a:r>
            <a:r>
              <a:rPr lang="fr-FR" sz="1200" i="1" dirty="0"/>
              <a:t>du site</a:t>
            </a:r>
            <a:r>
              <a:rPr lang="fr-FR" sz="1200" dirty="0"/>
              <a:t>)</a:t>
            </a:r>
          </a:p>
          <a:p>
            <a:pPr lvl="1"/>
            <a:r>
              <a:rPr lang="fr-FR" sz="1200" dirty="0"/>
              <a:t>🌐 une </a:t>
            </a:r>
            <a:r>
              <a:rPr lang="fr-FR" sz="1200" b="1" dirty="0"/>
              <a:t>identité</a:t>
            </a:r>
            <a:r>
              <a:rPr lang="fr-FR" sz="1200" dirty="0"/>
              <a:t> (ex : </a:t>
            </a:r>
            <a:r>
              <a:rPr lang="fr-FR" sz="1200" i="1" dirty="0"/>
              <a:t>www.monsite.com</a:t>
            </a:r>
            <a:r>
              <a:rPr lang="fr-FR" sz="1200" dirty="0"/>
              <a:t>) </a:t>
            </a:r>
          </a:p>
          <a:p>
            <a:pPr lvl="1"/>
            <a:r>
              <a:rPr lang="fr-FR" sz="1200" dirty="0"/>
              <a:t>📅 une </a:t>
            </a:r>
            <a:r>
              <a:rPr lang="fr-FR" sz="1200" b="1" dirty="0"/>
              <a:t>date de validité</a:t>
            </a:r>
            <a:r>
              <a:rPr lang="fr-FR" sz="1200" dirty="0"/>
              <a:t> </a:t>
            </a:r>
          </a:p>
          <a:p>
            <a:pPr lvl="1"/>
            <a:r>
              <a:rPr lang="fr-FR" sz="1200" dirty="0"/>
              <a:t>🏛️ le nom de l’émetteur</a:t>
            </a:r>
          </a:p>
          <a:p>
            <a:pPr lvl="1"/>
            <a:r>
              <a:rPr lang="fr-FR" sz="1200" dirty="0"/>
              <a:t>🏢 des informations (organisation…) </a:t>
            </a:r>
          </a:p>
          <a:p>
            <a:r>
              <a:rPr lang="fr-FR" sz="1600" b="1" dirty="0"/>
              <a:t>✍️</a:t>
            </a:r>
            <a:r>
              <a:rPr lang="fr-FR" sz="2000" b="1" dirty="0"/>
              <a:t> </a:t>
            </a:r>
            <a:r>
              <a:rPr lang="fr-FR" sz="1600" dirty="0"/>
              <a:t>Il est signé par une autorité de certification (CA : </a:t>
            </a:r>
            <a:r>
              <a:rPr lang="fr-FR" sz="1600" dirty="0" err="1"/>
              <a:t>Certificate</a:t>
            </a:r>
            <a:r>
              <a:rPr lang="fr-FR" sz="1600" dirty="0"/>
              <a:t> </a:t>
            </a:r>
            <a:r>
              <a:rPr lang="fr-FR" sz="1600" dirty="0" err="1"/>
              <a:t>Authority</a:t>
            </a:r>
            <a:r>
              <a:rPr lang="fr-FR" sz="1600" dirty="0"/>
              <a:t>)</a:t>
            </a:r>
          </a:p>
          <a:p>
            <a:pPr lvl="1"/>
            <a:r>
              <a:rPr lang="fr-FR" sz="1200" dirty="0"/>
              <a:t>🔍 vérifie l’identité du site </a:t>
            </a:r>
          </a:p>
          <a:p>
            <a:pPr lvl="1"/>
            <a:r>
              <a:rPr lang="fr-FR" sz="1200" dirty="0"/>
              <a:t>🔐 signe le certificat avec la </a:t>
            </a:r>
            <a:r>
              <a:rPr lang="fr-FR" sz="1200" b="1" dirty="0"/>
              <a:t>clé privée du CA</a:t>
            </a:r>
            <a:endParaRPr lang="fr-FR" sz="1200" dirty="0"/>
          </a:p>
          <a:p>
            <a:pPr marL="0" indent="0">
              <a:buNone/>
            </a:pPr>
            <a:r>
              <a:rPr lang="fr-FR" sz="1600" b="1" dirty="0"/>
              <a:t>🔍 Le navigateur vérifie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🔓 possède la </a:t>
            </a:r>
            <a:r>
              <a:rPr lang="fr-FR" sz="1600" b="1" dirty="0"/>
              <a:t>clé publique de la CA</a:t>
            </a:r>
            <a:r>
              <a:rPr lang="fr-FR" sz="1600" dirty="0"/>
              <a:t> (déjà installée)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📜 reçoit le certificat du site </a:t>
            </a:r>
          </a:p>
          <a:p>
            <a:pPr>
              <a:buFont typeface="+mj-lt"/>
              <a:buAutoNum type="arabicPeriod"/>
            </a:pPr>
            <a:r>
              <a:rPr lang="fr-FR" sz="1600" dirty="0"/>
              <a:t>✍️ vérifie la signature </a:t>
            </a:r>
          </a:p>
          <a:p>
            <a:pPr marL="0" indent="0">
              <a:buNone/>
            </a:pPr>
            <a:r>
              <a:rPr lang="fr-FR" sz="1400" b="1" dirty="0"/>
              <a:t>      ✅ Résultat</a:t>
            </a:r>
          </a:p>
          <a:p>
            <a:pPr lvl="1"/>
            <a:r>
              <a:rPr lang="fr-FR" sz="1200" dirty="0"/>
              <a:t>✔️ Signature valide → confiance </a:t>
            </a:r>
          </a:p>
          <a:p>
            <a:pPr lvl="1"/>
            <a:r>
              <a:rPr lang="fr-FR" sz="1200" dirty="0"/>
              <a:t>❌ Signature invalide → alerte sécurité </a:t>
            </a:r>
          </a:p>
          <a:p>
            <a:pPr marL="0" indent="0">
              <a:buNone/>
            </a:pPr>
            <a:r>
              <a:rPr lang="fr-FR" sz="1600" b="1" dirty="0"/>
              <a:t>🎤 A noter </a:t>
            </a:r>
          </a:p>
          <a:p>
            <a:r>
              <a:rPr lang="fr-FR" sz="1600" dirty="0"/>
              <a:t>📜 Un certificat = </a:t>
            </a:r>
            <a:r>
              <a:rPr lang="fr-FR" sz="1600" b="1" dirty="0"/>
              <a:t>clé publique + identité + signature vérifiable</a:t>
            </a:r>
            <a:endParaRPr lang="fr-FR" sz="1600" dirty="0"/>
          </a:p>
          <a:p>
            <a:r>
              <a:rPr lang="fr-FR" sz="1600" dirty="0"/>
              <a:t>“</a:t>
            </a:r>
            <a:r>
              <a:rPr lang="fr-FR" sz="1600" i="1" dirty="0"/>
              <a:t>On ne fait pas confiance au site, on fait confiance à celui qui l’a signé.</a:t>
            </a:r>
            <a:r>
              <a:rPr lang="fr-FR" sz="1600" dirty="0"/>
              <a:t>”</a:t>
            </a:r>
          </a:p>
          <a:p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C890727-7D93-9392-4C1A-A23ECA97B9F1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5270138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AA1D3-AAD4-6115-C965-EF19BC70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4BDC-5B5F-CC0C-FA34-21562C27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 et </a:t>
            </a:r>
            <a:r>
              <a:rPr lang="en-US" dirty="0" err="1"/>
              <a:t>clés</a:t>
            </a:r>
            <a:endParaRPr lang="en-US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1DB83C6-B116-CA4F-E6DB-25528B2A3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082439"/>
              </p:ext>
            </p:extLst>
          </p:nvPr>
        </p:nvGraphicFramePr>
        <p:xfrm>
          <a:off x="368077" y="1052736"/>
          <a:ext cx="8407846" cy="1950720"/>
        </p:xfrm>
        <a:graphic>
          <a:graphicData uri="http://schemas.openxmlformats.org/drawingml/2006/table">
            <a:tbl>
              <a:tblPr/>
              <a:tblGrid>
                <a:gridCol w="1056508">
                  <a:extLst>
                    <a:ext uri="{9D8B030D-6E8A-4147-A177-3AD203B41FA5}">
                      <a16:colId xmlns:a16="http://schemas.microsoft.com/office/drawing/2014/main" val="1986867329"/>
                    </a:ext>
                  </a:extLst>
                </a:gridCol>
                <a:gridCol w="2149454">
                  <a:extLst>
                    <a:ext uri="{9D8B030D-6E8A-4147-A177-3AD203B41FA5}">
                      <a16:colId xmlns:a16="http://schemas.microsoft.com/office/drawing/2014/main" val="324412705"/>
                    </a:ext>
                  </a:extLst>
                </a:gridCol>
                <a:gridCol w="2753612">
                  <a:extLst>
                    <a:ext uri="{9D8B030D-6E8A-4147-A177-3AD203B41FA5}">
                      <a16:colId xmlns:a16="http://schemas.microsoft.com/office/drawing/2014/main" val="69154444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9558676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Qui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Sert à quoi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Utilisée quand 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7433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🔐 Clé privée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✍️ Signe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Création du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32364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🟣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🔍 Vérifie la signature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Navigateur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717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🔐 Clé privée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🔒 Déchiffre / prouve son identité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Connexion TLS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341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🔵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🔓 Clé publique site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📜 Incluse dans le certificat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Transmise au client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08585"/>
                  </a:ext>
                </a:extLst>
              </a:tr>
            </a:tbl>
          </a:graphicData>
        </a:graphic>
      </p:graphicFrame>
      <p:pic>
        <p:nvPicPr>
          <p:cNvPr id="7" name="Image 6">
            <a:extLst>
              <a:ext uri="{FF2B5EF4-FFF2-40B4-BE49-F238E27FC236}">
                <a16:creationId xmlns:a16="http://schemas.microsoft.com/office/drawing/2014/main" id="{A6B7E1DC-D36D-F1F9-9F51-BE5E246CF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140968"/>
            <a:ext cx="7210364" cy="3447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4379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87C87-7E83-49C3-621C-4C87815C6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1B567-A12C-C012-F14D-3FB30BB45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Chiffrement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</a:t>
            </a:r>
            <a:r>
              <a:rPr lang="en-US" dirty="0" err="1"/>
              <a:t>asymétrique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0CD08-FB56-51BE-02E9-87F0CC4D0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35490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Le tiers de confiance est celui qui va permettre d’authentifier l’identité des correspondants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RA : Vérifie l’identité du demandeur</a:t>
            </a:r>
          </a:p>
          <a:p>
            <a:pPr marL="0" indent="0">
              <a:buNone/>
            </a:pPr>
            <a:r>
              <a:rPr lang="fr-FR" sz="1600" dirty="0"/>
              <a:t>CA : Signe</a:t>
            </a:r>
          </a:p>
          <a:p>
            <a:pPr marL="0" indent="0">
              <a:buNone/>
            </a:pPr>
            <a:r>
              <a:rPr lang="fr-FR" sz="1600" dirty="0"/>
              <a:t>VA : Vérifie que c’est toujours valide (certificat non révoqué)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Ex de CA : </a:t>
            </a:r>
            <a:r>
              <a:rPr lang="fr-FR" sz="1600" dirty="0" err="1"/>
              <a:t>DigiCert</a:t>
            </a:r>
            <a:r>
              <a:rPr lang="fr-FR" sz="1600" dirty="0"/>
              <a:t> (ex </a:t>
            </a:r>
            <a:r>
              <a:rPr lang="fr-FR" sz="1600" dirty="0" err="1"/>
              <a:t>VeriSign</a:t>
            </a:r>
            <a:r>
              <a:rPr lang="fr-FR" sz="1600" dirty="0"/>
              <a:t>)</a:t>
            </a:r>
          </a:p>
          <a:p>
            <a:pPr marL="0" indent="0">
              <a:buNone/>
            </a:pPr>
            <a:endParaRPr lang="fr-FR" sz="1600" dirty="0"/>
          </a:p>
          <a:p>
            <a:pPr marL="0" indent="0">
              <a:buNone/>
            </a:pPr>
            <a:r>
              <a:rPr lang="fr-FR" sz="1600" dirty="0"/>
              <a:t>Chaine de confiance :</a:t>
            </a:r>
          </a:p>
          <a:p>
            <a:pPr marL="0" indent="0">
              <a:buNone/>
            </a:pP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Certificat du site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intermédiaire</a:t>
            </a:r>
            <a:br>
              <a:rPr lang="fr-FR" sz="1600" dirty="0"/>
            </a:br>
            <a:r>
              <a:rPr lang="fr-FR" sz="1600" dirty="0"/>
              <a:t>        ↓ </a:t>
            </a:r>
            <a:r>
              <a:rPr lang="fr-FR" sz="1400" i="1" dirty="0"/>
              <a:t>signé par</a:t>
            </a:r>
            <a:br>
              <a:rPr lang="fr-FR" sz="1600" dirty="0"/>
            </a:b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 racine (root)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2D1596-D469-028B-8CBF-7CA300CC3E2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pic>
        <p:nvPicPr>
          <p:cNvPr id="8194" name="Picture 2" descr="undefined">
            <a:extLst>
              <a:ext uri="{FF2B5EF4-FFF2-40B4-BE49-F238E27FC236}">
                <a16:creationId xmlns:a16="http://schemas.microsoft.com/office/drawing/2014/main" id="{B10692F2-ED96-FBC5-CCED-97B37E792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726075"/>
            <a:ext cx="4932040" cy="3488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8AB06DA-E1B5-BD77-561F-DE1D2AC736A5}"/>
              </a:ext>
            </a:extLst>
          </p:cNvPr>
          <p:cNvSpPr txBox="1"/>
          <p:nvPr/>
        </p:nvSpPr>
        <p:spPr>
          <a:xfrm>
            <a:off x="179512" y="6381328"/>
            <a:ext cx="90730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>
                <a:solidFill>
                  <a:schemeClr val="accent1"/>
                </a:solidFill>
              </a:rPr>
              <a:t>https://fr.wikipedia.org/wiki/Infrastructure_%C3%A0_cl%C3%A9s_publiques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D369BB6-977E-FC64-58C2-4407C5D5ED55}"/>
              </a:ext>
            </a:extLst>
          </p:cNvPr>
          <p:cNvSpPr txBox="1"/>
          <p:nvPr/>
        </p:nvSpPr>
        <p:spPr>
          <a:xfrm>
            <a:off x="4572000" y="4464113"/>
            <a:ext cx="4680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Diagramme de principe d'une autorité de certification, exemple d'infrastructure à clés publiques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CA : autorité de certification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VA : autorité de validation ;</a:t>
            </a:r>
            <a:br>
              <a:rPr lang="fr-FR" dirty="0"/>
            </a:br>
            <a:r>
              <a:rPr lang="fr-F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RA : autorité d'enregistrement.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98303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1E0FF-1964-43D9-CA40-1C604D0D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F4D8FE9-86AD-309E-6F05-7905B5A6A0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10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DC05D-F7F2-6DDE-BE47-969A47D411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identities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6872945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dans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stocké dans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identité Azure AD automatiquement gérée pour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certificat SSL pour sécuriser les échanges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compte utilisateur classique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91658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75" y="3518057"/>
            <a:ext cx="7867918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Une Managed Identity est une identité Azure AD liée à une ressource et gérée automatiquement par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classique SQL Server avec AD</a:t>
            </a:r>
            <a:br>
              <a:rPr lang="fr-FR" dirty="0"/>
            </a:b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Integrated</a:t>
            </a:r>
            <a:br>
              <a:rPr lang="fr-FR" sz="1600" dirty="0"/>
            </a:br>
            <a:r>
              <a:rPr lang="fr-FR" sz="1600" dirty="0"/>
              <a:t>👉 C’est </a:t>
            </a:r>
            <a:r>
              <a:rPr lang="fr-FR" sz="1600" b="1" dirty="0"/>
              <a:t>l’AD qui authentifie votre identité Windows</a:t>
            </a:r>
            <a:endParaRPr lang="fr-FR" sz="1600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🎯 Cas </a:t>
            </a:r>
            <a:r>
              <a:rPr lang="fr-FR" dirty="0" err="1"/>
              <a:t>Managed</a:t>
            </a:r>
            <a:r>
              <a:rPr lang="fr-FR" dirty="0"/>
              <a:t> Identity</a:t>
            </a:r>
          </a:p>
          <a:p>
            <a:pPr>
              <a:defRPr sz="1600"/>
            </a:pP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Authentication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=Active Directory Default</a:t>
            </a:r>
            <a:br>
              <a:rPr lang="fr-FR" sz="1600" dirty="0"/>
            </a:br>
            <a:r>
              <a:rPr lang="fr-FR" sz="1600" dirty="0"/>
              <a:t>👉 C’est Azure qui : </a:t>
            </a:r>
          </a:p>
          <a:p>
            <a:r>
              <a:rPr lang="fr-FR" sz="1600" dirty="0"/>
              <a:t>- identifie la ressource </a:t>
            </a:r>
          </a:p>
          <a:p>
            <a:r>
              <a:rPr lang="fr-FR" sz="1600" dirty="0"/>
              <a:t>- demande un </a:t>
            </a:r>
            <a:r>
              <a:rPr lang="fr-FR" sz="1600" dirty="0" err="1"/>
              <a:t>token</a:t>
            </a:r>
            <a:r>
              <a:rPr lang="fr-FR" sz="1600" dirty="0"/>
              <a:t> à Microsoft Entra ID </a:t>
            </a:r>
          </a:p>
          <a:p>
            <a:r>
              <a:rPr lang="fr-FR" sz="1600" dirty="0"/>
              <a:t>- envoie ce </a:t>
            </a:r>
            <a:r>
              <a:rPr lang="fr-FR" sz="1600" dirty="0" err="1"/>
              <a:t>token</a:t>
            </a:r>
            <a:r>
              <a:rPr lang="fr-FR" sz="1600" dirty="0"/>
              <a:t> à SQL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815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5B0EE99-7EDD-AA37-C026-15CA3726F1C0}"/>
              </a:ext>
            </a:extLst>
          </p:cNvPr>
          <p:cNvSpPr txBox="1"/>
          <p:nvPr/>
        </p:nvSpPr>
        <p:spPr>
          <a:xfrm>
            <a:off x="5724771" y="5164661"/>
            <a:ext cx="34192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/>
              <a:t>👉 Pas de mot de passe</a:t>
            </a:r>
            <a:br>
              <a:rPr lang="fr-FR" sz="1600" dirty="0"/>
            </a:br>
            <a:r>
              <a:rPr lang="fr-FR" sz="1600" dirty="0"/>
              <a:t>➡️ SQL Server fait confiance à l’AD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7BC9A426-2966-B617-15FE-26F650721B6E}"/>
              </a:ext>
            </a:extLst>
          </p:cNvPr>
          <p:cNvSpPr/>
          <p:nvPr/>
        </p:nvSpPr>
        <p:spPr>
          <a:xfrm>
            <a:off x="5292080" y="4149080"/>
            <a:ext cx="504056" cy="26621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l’objectif principal d’utiliser une Managed Identity dans une Web 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les coûts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le </a:t>
            </a:r>
            <a:r>
              <a:rPr lang="fr-FR" sz="2000" dirty="0" err="1"/>
              <a:t>scaling</a:t>
            </a:r>
            <a:r>
              <a:rPr lang="fr-FR" sz="2000" dirty="0"/>
              <a:t>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Éviter de stocker des identifiants dans le code ou la configuration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remplace les credentials stockés en clair.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9252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une Managed Identity System Assigned et User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partagée, User Assigned est unique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System Assigned est liée à une ressource, User Assigned est réutilisable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User Assigned est automatique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1014EB5E-7AE8-EBFD-F8F2-0271DA4E0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067382"/>
              </p:ext>
            </p:extLst>
          </p:nvPr>
        </p:nvGraphicFramePr>
        <p:xfrm>
          <a:off x="452389" y="4869160"/>
          <a:ext cx="8431481" cy="1112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088682">
                  <a:extLst>
                    <a:ext uri="{9D8B030D-6E8A-4147-A177-3AD203B41FA5}">
                      <a16:colId xmlns:a16="http://schemas.microsoft.com/office/drawing/2014/main" val="214232161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2564264040"/>
                    </a:ext>
                  </a:extLst>
                </a:gridCol>
                <a:gridCol w="3750511">
                  <a:extLst>
                    <a:ext uri="{9D8B030D-6E8A-4147-A177-3AD203B41FA5}">
                      <a16:colId xmlns:a16="http://schemas.microsoft.com/office/drawing/2014/main" val="24916351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Visible dans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5159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System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attachée à une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La ressource / 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147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dirty="0"/>
                        <a:t>User </a:t>
                      </a:r>
                      <a:r>
                        <a:rPr lang="fr-FR" sz="1600" dirty="0" err="1"/>
                        <a:t>Assigned</a:t>
                      </a:r>
                      <a:r>
                        <a:rPr lang="fr-FR" sz="160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/>
                        <a:t>peut être partagée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</a:t>
                      </a:r>
                      <a:r>
                        <a:rPr lang="fr-FR" sz="1600" dirty="0" err="1"/>
                        <a:t>Identities</a:t>
                      </a:r>
                      <a:endParaRPr lang="fr-FR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79152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vous supprimez une ressource avec une Managed Identity System Assigned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supprimée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L’identité est conservée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devient User Assigned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désactivée mais conservée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1195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La Managed Identity System Assigned est supprimée avec la ressource.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à Azure SQL échoue-t-elle avant d’avoir configuré les rôles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base n’existe pas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firewall bloque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La Managed Identity n’a pas de droits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serveur est arrêté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273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Sans rôle SQL, la Managed Identity ne peut pas accéder à la base.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commande SQL permet d’autoriser une Managed Identity à accéder à une base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GRANT LOGIN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ADD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CREATE USER FROM EXTERNAL PROVIDER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940561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346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La commande CREATE USER FROM EXTERNAL PROVIDER permet d’ajouter une identité Azure AD.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SQL est nécessaire pour lire et écrire des données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db_securityadmin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db_datareader</a:t>
            </a:r>
            <a:r>
              <a:rPr lang="fr-FR" sz="2000" dirty="0"/>
              <a:t> et </a:t>
            </a:r>
            <a:r>
              <a:rPr lang="fr-FR" sz="2000" dirty="0" err="1"/>
              <a:t>db_datawriter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29309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db_datareader permet la lecture et db_datawriter l’écriture.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64140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le paramètre </a:t>
            </a:r>
            <a:r>
              <a:rPr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Authentication=Active Directory Default </a:t>
            </a:r>
            <a:r>
              <a:rPr sz="2000" dirty="0"/>
              <a:t>dans une connection string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un mot de passe stocké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 la Managed Identity ou DefaultAzureCredential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Désactive l’authentification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Force l’authentification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480723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0559" y="3545152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permet d’utiliser Azure AD via DefaultAzureCredential.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20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C70EE86-CAD7-1CAF-2B59-D64FCAA9D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209632"/>
              </p:ext>
            </p:extLst>
          </p:nvPr>
        </p:nvGraphicFramePr>
        <p:xfrm>
          <a:off x="179512" y="4037306"/>
          <a:ext cx="8641407" cy="2225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469">
                  <a:extLst>
                    <a:ext uri="{9D8B030D-6E8A-4147-A177-3AD203B41FA5}">
                      <a16:colId xmlns:a16="http://schemas.microsoft.com/office/drawing/2014/main" val="960351827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650378711"/>
                    </a:ext>
                  </a:extLst>
                </a:gridCol>
                <a:gridCol w="2880469">
                  <a:extLst>
                    <a:ext uri="{9D8B030D-6E8A-4147-A177-3AD203B41FA5}">
                      <a16:colId xmlns:a16="http://schemas.microsoft.com/office/drawing/2014/main" val="23751186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Mécanismes testés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Identité utilisée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748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600"/>
                        <a:t>🖥️ Local (Visual Studio / dev)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Session Visual Studio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 err="1"/>
                        <a:t>az</a:t>
                      </a:r>
                      <a:r>
                        <a:rPr lang="fr-FR" sz="1600" dirty="0"/>
                        <a:t> login (Azure CLI)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fr-FR" sz="1600" dirty="0"/>
                        <a:t>Compte Windows (si applicable)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Votre compte Azure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développeur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7699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☁️ Azure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</a:t>
                      </a:r>
                      <a:r>
                        <a:rPr lang="fr-FR" sz="1600" dirty="0" err="1"/>
                        <a:t>Managed</a:t>
                      </a:r>
                      <a:r>
                        <a:rPr lang="fr-FR" sz="1600" dirty="0"/>
                        <a:t> Identity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Identité de la ressource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👉 Identité applicative</a:t>
                      </a:r>
                    </a:p>
                    <a:p>
                      <a:pPr>
                        <a:buNone/>
                      </a:pPr>
                      <a:endParaRPr lang="fr-F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43054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de Azure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Héberger des bases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applications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secrets de manière sécurisée</a:t>
            </a:r>
          </a:p>
          <a:p>
            <a:pPr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817686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Vault sert à stocker secrets, clés et certificats.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ne stocke-t-on pas de mot de passe SQL dans Key Vault dans le TP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Key Vault est payant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on utilise Managed Identity à la place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SQL n’accepte pas les mots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Car Azure interdit cela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36510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Managed Identity remplace totalement le besoin de mot de passe.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droit faut-il attribuer à une Web App pour accéder à Key Vault (RBAC)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Contributor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 Secrets User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Owner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Key Vault Secrets User permet de lire les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la Web App n’a pas accès au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ignore le secret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plante avec une erreur d’accès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utilise une valeur par défaut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redémarre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erreur d’accès (403) est générée.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.NET permet d’utiliser facilement Managed Identity en local et en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SqlConnection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AzureCredentialManager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DefaultAzureCredential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IdentityClient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75623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DefaultAzureCredential s’adapte automatiquement à l’environnement.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la connexion fonctionne en local mais pas sur Azure avant configuration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code est différent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n’a pas de réseau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identités et droits sont différents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port est bloqué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Local utilise votre compte, Azure utilise la Managed Identity.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supprimer les connection strings avec mot de passe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Améliorer la sécurité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Faciliter le debug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393132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Supprimer les secrets réduit fortement les risques de fuite.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d’erreur indique un problème de permissions avec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404 Not Found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403 Forbidden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500 Internal Server Error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200 OK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403 indique un problème d’autorisation.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Peut-on utiliser Managed Identity en local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via Visual Studio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Oui uniquement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Non, mais </a:t>
            </a:r>
            <a:r>
              <a:rPr lang="fr-FR" sz="2000" dirty="0" err="1"/>
              <a:t>DefaultAzureCredential</a:t>
            </a:r>
            <a:r>
              <a:rPr lang="fr-FR" sz="2000" dirty="0"/>
              <a:t> permet une authentification équivalente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7707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9360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Au sens strict, il n’est pas possible d’utiliser une </a:t>
            </a:r>
            <a:r>
              <a:rPr lang="fr-FR" dirty="0" err="1"/>
              <a:t>Managed</a:t>
            </a:r>
            <a:r>
              <a:rPr lang="fr-FR" dirty="0"/>
              <a:t> Identity en local.</a:t>
            </a:r>
          </a:p>
          <a:p>
            <a:pPr>
              <a:defRPr sz="1600"/>
            </a:pPr>
            <a:r>
              <a:rPr lang="fr-FR" dirty="0"/>
              <a:t>Mais vous pouvez obtenir le même résultat fonctionnel avec </a:t>
            </a:r>
            <a:r>
              <a:rPr lang="fr-FR" dirty="0" err="1"/>
              <a:t>DefaultAzureCredential</a:t>
            </a:r>
            <a:r>
              <a:rPr dirty="0"/>
              <a:t>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fournit les tokens pour Managed Identity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EntraID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Key Vault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658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60065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 err="1"/>
              <a:t>EntraID</a:t>
            </a:r>
            <a:r>
              <a:rPr lang="fr-FR" dirty="0"/>
              <a:t> (nouveau nom de </a:t>
            </a:r>
            <a:r>
              <a:rPr dirty="0"/>
              <a:t>Azure AD</a:t>
            </a:r>
            <a:r>
              <a:rPr lang="fr-FR" dirty="0"/>
              <a:t>)</a:t>
            </a:r>
            <a:r>
              <a:rPr dirty="0"/>
              <a:t> émet les tokens d’authentification.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96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principal avantage de Key Vault + Managed Identity combinés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Moins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 simple à coder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Zéro secret dans le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On élimine totalement les secrets dans le code.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6198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Dans quel cas utiliseriez-vous encore un secret dans Key Vault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Jamais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des accès externes non compatibles Managed 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Azure SQL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remplacer les logs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2210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Certains services externes nécessitent encore des secrets.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318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86A25-1117-5417-3CB2-177FEC84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0E91AC1-1251-E07E-A7DF-260A042F78C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1F6D6E-E18D-EB36-115A-D4DD2F6251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Azure blob </a:t>
            </a:r>
            <a:r>
              <a:rPr lang="fr-FR" dirty="0" err="1"/>
              <a:t>storage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73921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relationnelle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calcul serverless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service de messagerie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système de stockage d’objets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54272" y="5066897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Blob Storage est un service de stockage d’objets pour des données non structurées.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122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est adapté à Azure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Tables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Fichiers binaires volumineux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Transactions ACID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319889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5425955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optimisé pour les fichiers non structurés comme images, vidéos, documents.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Quels sont les types de blobs disponibles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Block, Append, Page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SQL, NoSQL, Graph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Hot, Cold, Archive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Queue, Table, File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7096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017" y="166067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58FB3C1B-8282-1A08-F22C-8F1EEFD11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26759"/>
              </p:ext>
            </p:extLst>
          </p:nvPr>
        </p:nvGraphicFramePr>
        <p:xfrm>
          <a:off x="114794" y="4221088"/>
          <a:ext cx="8783785" cy="20726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756757">
                  <a:extLst>
                    <a:ext uri="{9D8B030D-6E8A-4147-A177-3AD203B41FA5}">
                      <a16:colId xmlns:a16="http://schemas.microsoft.com/office/drawing/2014/main" val="113591366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3083567521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352075788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1477872219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579519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Usage principal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Mode d’écriture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Cas typique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À retenir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4964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Block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Fichiers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/>
                        <a:t>Upload</a:t>
                      </a:r>
                      <a:r>
                        <a:rPr lang="fr-FR" sz="1600" dirty="0"/>
                        <a:t> complet / blocs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Images, PDF, vidéos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- Par défaut</a:t>
                      </a:r>
                    </a:p>
                    <a:p>
                      <a:pPr>
                        <a:buNone/>
                      </a:pPr>
                      <a:r>
                        <a:rPr lang="fr-FR" sz="1600" dirty="0"/>
                        <a:t>- 90% des usages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7653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Append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 applicatifs, audit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Logs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27335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Page Blob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Accès aléatoire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Lecture/écriture ciblée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Disques VM (VHD)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Cas spécifiques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477815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2A66ACEB-EBF1-260F-4025-6B45A5F44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042" y="1716215"/>
            <a:ext cx="4058862" cy="236925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86C27AA-9043-C9F9-C59E-E4DE5409ACE3}"/>
              </a:ext>
            </a:extLst>
          </p:cNvPr>
          <p:cNvSpPr/>
          <p:nvPr/>
        </p:nvSpPr>
        <p:spPr>
          <a:xfrm>
            <a:off x="4572000" y="3645024"/>
            <a:ext cx="2376264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rôle d’un container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tables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Organiser les blobs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container est un équivalent de dossier permettant d’organiser les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niveau d’accès permet de rendre un blob accessible publiquement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Private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Secure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Encrypted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940152" y="213961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6" y="2971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niveau 'Blob' permet un accès public aux 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62164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CB692D-10E5-3355-50EA-B2EDF0016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94" y="4113814"/>
            <a:ext cx="5040560" cy="15355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E1F0B97-67D3-342C-7ED5-5A47E867C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028" y="3886200"/>
            <a:ext cx="3866142" cy="24398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SDK est utilisé en C# pour accéder à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Microsoft.Data.SqlClient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Azure.Identity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Newtonsoft.Json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Azure.Storage.Blobs</a:t>
            </a: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SDK principal est Azure.Storage.Blobs.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classe permet de manipuler un container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BlobContainerClient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StorageClient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ContainerManager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BlobContainerClient permet de manipuler un container.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981" y="19489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d’uploader un fichier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UploadAsync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SendAsync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WriteAsync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PushAsync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44363" y="3325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UploadAsync est utilisée pour envoyer un fichier dans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609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méthode permet de télécharger un blob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GetAsync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DownloadAsync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ReadAsync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FetchAsync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50991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DownloadAsync permet de récupérer un blob.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396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qu’une Managed Identity permet dans Blob Storage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une base de données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S’authentifier sans mot de passe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Compresser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69240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permet d’accéder aux ressources sans stocker de credentials.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rôle RBAC est nécessaire pour lire/écrire des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Reader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Owner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Admin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Storage Blob Data </a:t>
            </a:r>
            <a:r>
              <a:rPr lang="fr-FR" sz="2000" dirty="0" err="1"/>
              <a:t>Contributor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40852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rôle Storage Blob Data Contributor permet lecture/écriture.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1984" y="25090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entre Hot et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Hot est plus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plus cher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Archive est moins cher mais lent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386104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416" y="4930239"/>
            <a:ext cx="5258619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est moins cher mais avec un temps d’accès long.</a:t>
            </a:r>
            <a:br>
              <a:rPr lang="fr-FR" dirty="0"/>
            </a:br>
            <a:r>
              <a:rPr lang="fr-FR" dirty="0"/>
              <a:t>Il existe 3 tiers :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Hot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Cool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Cold</a:t>
            </a:r>
          </a:p>
          <a:p>
            <a:pPr marL="285750" indent="-285750">
              <a:buFontTx/>
              <a:buChar char="-"/>
              <a:defRPr sz="1600"/>
            </a:pPr>
            <a:r>
              <a:rPr lang="fr-FR" dirty="0"/>
              <a:t>Archive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47D94-DFA6-3D50-E619-A62764EDF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3F75E9C-D2F1-8468-F028-ADC65D0B188A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10A75B-E5CF-0C21-E02A-8AD55DC805BE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12</a:t>
            </a:r>
            <a:r>
              <a:rPr lang="fr-FR" sz="3200" dirty="0"/>
              <a:t> bis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2FD54-7998-C7CF-3FAB-70438D525C7A}"/>
              </a:ext>
            </a:extLst>
          </p:cNvPr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configurer le tier (</a:t>
            </a:r>
            <a:r>
              <a:rPr sz="2000" dirty="0"/>
              <a:t>Hot </a:t>
            </a:r>
            <a:r>
              <a:rPr lang="fr-FR" sz="2000" dirty="0"/>
              <a:t>/ Cool /</a:t>
            </a:r>
            <a:r>
              <a:rPr sz="2000" dirty="0"/>
              <a:t> Archive</a:t>
            </a:r>
            <a:r>
              <a:rPr lang="fr-FR" sz="2000" dirty="0"/>
              <a:t>) dans Azure Blob Storage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container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blob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du </a:t>
            </a:r>
            <a:r>
              <a:rPr lang="fr-FR" sz="2000" dirty="0" err="1"/>
              <a:t>storage</a:t>
            </a:r>
            <a:r>
              <a:rPr lang="fr-FR" sz="2000" dirty="0"/>
              <a:t> </a:t>
            </a:r>
            <a:r>
              <a:rPr lang="fr-FR" sz="2000" dirty="0" err="1"/>
              <a:t>account</a:t>
            </a:r>
            <a:r>
              <a:rPr lang="fr-FR" sz="2000" dirty="0"/>
              <a:t> et du blob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 niveau d’Azure AD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388E45-28DC-7F40-FDD3-84F18F55C9D1}"/>
              </a:ext>
            </a:extLst>
          </p:cNvPr>
          <p:cNvSpPr txBox="1"/>
          <p:nvPr/>
        </p:nvSpPr>
        <p:spPr>
          <a:xfrm>
            <a:off x="6372200" y="2935461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0147A9C-2E48-1CCA-BA84-78C71FE61EFD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43F74D8-4B00-F419-6596-C4D78DA9B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05" y="3490095"/>
            <a:ext cx="4820081" cy="108853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FDB848D-26BF-50A3-0E3F-0B587054B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05" y="5032575"/>
            <a:ext cx="4585535" cy="1852809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FBA05F3-4BAB-A44B-6C97-A39DED5C8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702" y="4833271"/>
            <a:ext cx="1646252" cy="1965977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E21435C0-FBF1-0800-26B9-17C2465B748D}"/>
              </a:ext>
            </a:extLst>
          </p:cNvPr>
          <p:cNvSpPr txBox="1"/>
          <p:nvPr/>
        </p:nvSpPr>
        <p:spPr>
          <a:xfrm>
            <a:off x="278904" y="3161333"/>
            <a:ext cx="1832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Storage </a:t>
            </a:r>
            <a:r>
              <a:rPr lang="fr-FR" u="sng" dirty="0" err="1"/>
              <a:t>account</a:t>
            </a:r>
            <a:endParaRPr lang="fr-FR" u="sng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41CEE31-E31D-B743-CC39-750C59B93C72}"/>
              </a:ext>
            </a:extLst>
          </p:cNvPr>
          <p:cNvSpPr txBox="1"/>
          <p:nvPr/>
        </p:nvSpPr>
        <p:spPr>
          <a:xfrm>
            <a:off x="263008" y="4644544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u="sng" dirty="0"/>
              <a:t>Blob</a:t>
            </a:r>
          </a:p>
        </p:txBody>
      </p:sp>
    </p:spTree>
    <p:extLst>
      <p:ext uri="{BB962C8B-B14F-4D97-AF65-F5344CB8AC3E}">
        <p14:creationId xmlns:p14="http://schemas.microsoft.com/office/powerpoint/2010/main" val="1568889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4" grpId="0"/>
      <p:bldP spid="15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temps d’accès typique du tier Archive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Instantané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secondes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Quelques minutes à heures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Plusieurs jours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7805" y="304826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568" y="3417594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Archive nécessite une réhydratation qui peut prendre plusieurs heures.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92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4E58F0C-3D61-C56F-6B9B-F6DBE78A2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076526"/>
              </p:ext>
            </p:extLst>
          </p:nvPr>
        </p:nvGraphicFramePr>
        <p:xfrm>
          <a:off x="114794" y="3953130"/>
          <a:ext cx="8921700" cy="210312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156041">
                  <a:extLst>
                    <a:ext uri="{9D8B030D-6E8A-4147-A177-3AD203B41FA5}">
                      <a16:colId xmlns:a16="http://schemas.microsoft.com/office/drawing/2014/main" val="2265568076"/>
                    </a:ext>
                  </a:extLst>
                </a:gridCol>
                <a:gridCol w="1526966">
                  <a:extLst>
                    <a:ext uri="{9D8B030D-6E8A-4147-A177-3AD203B41FA5}">
                      <a16:colId xmlns:a16="http://schemas.microsoft.com/office/drawing/2014/main" val="720263575"/>
                    </a:ext>
                  </a:extLst>
                </a:gridCol>
                <a:gridCol w="1777843">
                  <a:extLst>
                    <a:ext uri="{9D8B030D-6E8A-4147-A177-3AD203B41FA5}">
                      <a16:colId xmlns:a16="http://schemas.microsoft.com/office/drawing/2014/main" val="3931508045"/>
                    </a:ext>
                  </a:extLst>
                </a:gridCol>
                <a:gridCol w="1486950">
                  <a:extLst>
                    <a:ext uri="{9D8B030D-6E8A-4147-A177-3AD203B41FA5}">
                      <a16:colId xmlns:a16="http://schemas.microsoft.com/office/drawing/2014/main" val="1871220206"/>
                    </a:ext>
                  </a:extLst>
                </a:gridCol>
                <a:gridCol w="1749766">
                  <a:extLst>
                    <a:ext uri="{9D8B030D-6E8A-4147-A177-3AD203B41FA5}">
                      <a16:colId xmlns:a16="http://schemas.microsoft.com/office/drawing/2014/main" val="1299922055"/>
                    </a:ext>
                  </a:extLst>
                </a:gridCol>
                <a:gridCol w="1224134">
                  <a:extLst>
                    <a:ext uri="{9D8B030D-6E8A-4147-A177-3AD203B41FA5}">
                      <a16:colId xmlns:a16="http://schemas.microsoft.com/office/drawing/2014/main" val="40986466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Coût stockage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Coût accès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Usage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Durée (*)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143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fréquent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Aucune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5562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moyen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accès occasionnel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30j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49417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Cold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immédiat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accès très rare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90j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0481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faible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Très élevé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archivage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180j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5630661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E6AC5EF-63BC-139A-2672-AC31FCA9551D}"/>
              </a:ext>
            </a:extLst>
          </p:cNvPr>
          <p:cNvSpPr txBox="1"/>
          <p:nvPr/>
        </p:nvSpPr>
        <p:spPr>
          <a:xfrm>
            <a:off x="288396" y="6315494"/>
            <a:ext cx="3655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(*) : durée minimale de facturation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 container n’existe pas lors d’un upload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automatique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Création automatique toujours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Erreur sauf si CreateIfNotExists est utilisé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ignore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 faut appeler CreateIfNotExists sinon erreur.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05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principal de Blob Storage dans 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du code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des fichiers utilisateurs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sessions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Exécuter des fonctions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64929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permet de stocker les fichiers (images, docs…).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19337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Quelle est la limite classique de taille d’un Block Blob (modèle historique Azure)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256 MB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4.75 TB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 GB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Illimitée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85293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891" y="3429000"/>
            <a:ext cx="771127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Historiquement, un Block Blob est limité à environ 4.75 TB (100 </a:t>
            </a:r>
            <a:r>
              <a:rPr lang="fr-FR" dirty="0" err="1"/>
              <a:t>MiB</a:t>
            </a:r>
            <a:r>
              <a:rPr lang="fr-FR" dirty="0"/>
              <a:t> x 50 000 blocs).</a:t>
            </a:r>
          </a:p>
          <a:p>
            <a:pPr>
              <a:defRPr sz="1600"/>
            </a:pPr>
            <a:r>
              <a:rPr lang="fr-FR" dirty="0"/>
              <a:t>Aujourd’hui, avec les versions récentes de l’API, la limite peut atteindre ~190 </a:t>
            </a:r>
            <a:r>
              <a:rPr lang="fr-FR" dirty="0" err="1"/>
              <a:t>TiB</a:t>
            </a:r>
            <a:r>
              <a:rPr lang="fr-FR" dirty="0"/>
              <a:t>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746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3F7E1F0-DC41-4B16-F0D8-37B1D6A01C75}"/>
              </a:ext>
            </a:extLst>
          </p:cNvPr>
          <p:cNvSpPr txBox="1"/>
          <p:nvPr/>
        </p:nvSpPr>
        <p:spPr>
          <a:xfrm>
            <a:off x="279349" y="6237312"/>
            <a:ext cx="86265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u="sng" dirty="0">
                <a:solidFill>
                  <a:schemeClr val="tx2"/>
                </a:solidFill>
              </a:rPr>
              <a:t>https://learn.microsoft.com/en-us/rest/api/storageservices/understanding-block-blobs--append-blobs--and-page-blobs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37735CF8-6389-4D2C-531C-44796DA9B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694781"/>
              </p:ext>
            </p:extLst>
          </p:nvPr>
        </p:nvGraphicFramePr>
        <p:xfrm>
          <a:off x="464982" y="4364210"/>
          <a:ext cx="7886700" cy="14630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51837336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089362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205344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Usage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Taille max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063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Block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fichiers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4.75 TB / 190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218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Append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logs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195 GB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69029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disques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8 TB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43084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meilleure pratique pour nommer les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GUID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une structure hiérarchique logique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Utiliser des noms courts uniquement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pas nommer les blobs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24433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814" y="3933056"/>
            <a:ext cx="5746701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Une structure logique facilite l’organisation et la maintenance.</a:t>
            </a:r>
            <a:endParaRPr lang="fr-FR" dirty="0"/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images/produits/2026/04/photo1.jpg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logs/app1/2026/04/30/log.txt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clients/12345/documents/facture.pdf</a:t>
            </a:r>
            <a:br>
              <a:rPr lang="fr-FR" dirty="0"/>
            </a:b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192493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protocole est utilisé pour accéder aux blobs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SMTP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TCP brut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HTTP/HTTPS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Blob Storage est accessible via HTTP/HTTPS.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8370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SAS Token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mot de passe permanent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clé de chiffrement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accès temporaire sécurisé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identifiant utilisateur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72200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990" y="3212976"/>
            <a:ext cx="8266467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/>
              <a:t>Un SAS Token </a:t>
            </a:r>
            <a:r>
              <a:rPr lang="fr-FR" sz="1600" dirty="0"/>
              <a:t>est une </a:t>
            </a:r>
            <a:r>
              <a:rPr lang="fr-FR" sz="1600" b="1" dirty="0"/>
              <a:t>URL signée</a:t>
            </a:r>
            <a:r>
              <a:rPr lang="fr-FR" sz="1600" dirty="0"/>
              <a:t> qui donne un accès limité dans le temps à une ressource (blob, conteneur, etc.).</a:t>
            </a:r>
            <a:br>
              <a:rPr lang="fr-FR" sz="1600" dirty="0"/>
            </a:br>
            <a:br>
              <a:rPr lang="fr-FR" sz="1600" dirty="0"/>
            </a:br>
            <a:r>
              <a:rPr lang="fr-FR" sz="1600" dirty="0"/>
              <a:t>Un SAS </a:t>
            </a:r>
            <a:r>
              <a:rPr lang="fr-FR" sz="1600" dirty="0" err="1"/>
              <a:t>Token</a:t>
            </a:r>
            <a:r>
              <a:rPr lang="fr-FR" sz="1600" dirty="0"/>
              <a:t> permet de définir :</a:t>
            </a:r>
          </a:p>
          <a:p>
            <a:r>
              <a:rPr lang="fr-FR" sz="1600" dirty="0"/>
              <a:t>⏱️ </a:t>
            </a:r>
            <a:r>
              <a:rPr lang="fr-FR" sz="1600" b="1" dirty="0"/>
              <a:t>Une durée</a:t>
            </a:r>
            <a:r>
              <a:rPr lang="fr-FR" sz="1600" dirty="0"/>
              <a:t> (ex : valable 1 heure) </a:t>
            </a:r>
          </a:p>
          <a:p>
            <a:r>
              <a:rPr lang="fr-FR" sz="1600" dirty="0"/>
              <a:t>🔑 </a:t>
            </a:r>
            <a:r>
              <a:rPr lang="fr-FR" sz="1600" b="1" dirty="0"/>
              <a:t>Des permissions</a:t>
            </a:r>
            <a:r>
              <a:rPr lang="fr-FR" sz="1600" dirty="0"/>
              <a:t> (lecture, écriture, suppression…) </a:t>
            </a:r>
          </a:p>
          <a:p>
            <a:r>
              <a:rPr lang="fr-FR" sz="1600" dirty="0"/>
              <a:t>📍 </a:t>
            </a:r>
            <a:r>
              <a:rPr lang="fr-FR" sz="1600" b="1" dirty="0"/>
              <a:t>Une portée</a:t>
            </a:r>
            <a:r>
              <a:rPr lang="fr-FR" sz="1600" dirty="0"/>
              <a:t> (un blob précis ou un conteneur)</a:t>
            </a:r>
          </a:p>
          <a:p>
            <a:endParaRPr lang="fr-FR" sz="1600" b="1" dirty="0"/>
          </a:p>
          <a:p>
            <a:r>
              <a:rPr lang="fr-FR" sz="1600" b="1" dirty="0"/>
              <a:t>✅ Pourquoi c’est puissant ?</a:t>
            </a:r>
          </a:p>
          <a:p>
            <a:r>
              <a:rPr lang="fr-FR" sz="1600" dirty="0"/>
              <a:t>Pas besoin de partager la clé principale du compte (beaucoup plus risqué) </a:t>
            </a:r>
          </a:p>
          <a:p>
            <a:r>
              <a:rPr lang="fr-FR" sz="1600" dirty="0"/>
              <a:t>Idéal pour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donner accès à un fichier temporairement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permettre un </a:t>
            </a:r>
            <a:r>
              <a:rPr lang="fr-FR" sz="1600" dirty="0" err="1"/>
              <a:t>upload</a:t>
            </a:r>
            <a:r>
              <a:rPr lang="fr-FR" sz="1600" dirty="0"/>
              <a:t>/download côté client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exposer un fichier sans authentification complète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267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éviter de stocker des fichiers sur le disque local d’une WebApp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interdit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disque est volatile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C’est trop rapide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bloque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78092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37890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stockage local peut être perdu lors de redémarrage ou scaling.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757FD-C95E-6E89-990E-C17713B8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C728C-D02D-42CB-0DBF-130331F4EB59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C37F69-E3E9-039F-90A0-0BA86D63BBD3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B2CDE-9CFA-6241-D42B-8F8F27406077}"/>
              </a:ext>
            </a:extLst>
          </p:cNvPr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Quels services sont disponibles dans un Azure Storage </a:t>
            </a:r>
            <a:r>
              <a:rPr lang="fr-FR" sz="2000" dirty="0" err="1"/>
              <a:t>Account</a:t>
            </a:r>
            <a:r>
              <a:rPr lang="fr-FR" sz="2000" dirty="0"/>
              <a:t> ? 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Blob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SQL Database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Table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Queue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Service Bus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File Shares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en-US" sz="2000" dirty="0"/>
              <a:t>Azure Disks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55AF25-5101-51B1-646A-E9F9FC3C62A7}"/>
              </a:ext>
            </a:extLst>
          </p:cNvPr>
          <p:cNvSpPr txBox="1"/>
          <p:nvPr/>
        </p:nvSpPr>
        <p:spPr>
          <a:xfrm>
            <a:off x="6331647" y="2780928"/>
            <a:ext cx="20143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1,3,4,6</a:t>
            </a:r>
            <a:endParaRPr u="sng" dirty="0" err="1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ED3DEE2-405F-9ACF-EA53-360B9113A21C}"/>
              </a:ext>
            </a:extLst>
          </p:cNvPr>
          <p:cNvSpPr txBox="1"/>
          <p:nvPr/>
        </p:nvSpPr>
        <p:spPr>
          <a:xfrm>
            <a:off x="24130" y="257826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EC78C72-F644-536D-24B2-B6B74413E0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00199"/>
              </p:ext>
            </p:extLst>
          </p:nvPr>
        </p:nvGraphicFramePr>
        <p:xfrm>
          <a:off x="489689" y="4760898"/>
          <a:ext cx="6791248" cy="1676400"/>
        </p:xfrm>
        <a:graphic>
          <a:graphicData uri="http://schemas.openxmlformats.org/drawingml/2006/table">
            <a:tbl>
              <a:tblPr/>
              <a:tblGrid>
                <a:gridCol w="1197489">
                  <a:extLst>
                    <a:ext uri="{9D8B030D-6E8A-4147-A177-3AD203B41FA5}">
                      <a16:colId xmlns:a16="http://schemas.microsoft.com/office/drawing/2014/main" val="1662596606"/>
                    </a:ext>
                  </a:extLst>
                </a:gridCol>
                <a:gridCol w="2108210">
                  <a:extLst>
                    <a:ext uri="{9D8B030D-6E8A-4147-A177-3AD203B41FA5}">
                      <a16:colId xmlns:a16="http://schemas.microsoft.com/office/drawing/2014/main" val="1420361216"/>
                    </a:ext>
                  </a:extLst>
                </a:gridCol>
                <a:gridCol w="3485549">
                  <a:extLst>
                    <a:ext uri="{9D8B030D-6E8A-4147-A177-3AD203B41FA5}">
                      <a16:colId xmlns:a16="http://schemas.microsoft.com/office/drawing/2014/main" val="3667058466"/>
                    </a:ext>
                  </a:extLst>
                </a:gridCol>
              </a:tblGrid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Accès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12625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Blob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HTTP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objet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7407186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NoSQL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965514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Queue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messages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559852"/>
                  </a:ext>
                </a:extLst>
              </a:tr>
              <a:tr h="3221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File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SMB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fichiers (comme Windows)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6112520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ACADE07B-CBF6-9B05-F404-EC4D0C6FE61F}"/>
              </a:ext>
            </a:extLst>
          </p:cNvPr>
          <p:cNvSpPr txBox="1"/>
          <p:nvPr/>
        </p:nvSpPr>
        <p:spPr>
          <a:xfrm>
            <a:off x="24130" y="193931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227E39-17C3-D797-F243-9AAF114D120A}"/>
              </a:ext>
            </a:extLst>
          </p:cNvPr>
          <p:cNvSpPr txBox="1"/>
          <p:nvPr/>
        </p:nvSpPr>
        <p:spPr>
          <a:xfrm>
            <a:off x="31256" y="28743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AB88B3E-18CD-060D-0390-AA7DE5441356}"/>
              </a:ext>
            </a:extLst>
          </p:cNvPr>
          <p:cNvSpPr txBox="1"/>
          <p:nvPr/>
        </p:nvSpPr>
        <p:spPr>
          <a:xfrm>
            <a:off x="52733" y="34782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5E2A823-B9D4-75AF-21FE-2250E9D88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3663619"/>
            <a:ext cx="1876457" cy="292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60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6" grpId="0"/>
      <p:bldP spid="7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4BAD-D656-8540-FA5C-99299A8C8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24B5B9AA-0A54-FDE2-13F8-93170A666A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12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BF81DB-AB68-4A13-BBAB-19E424C4E5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Application Insights</a:t>
            </a:r>
          </a:p>
        </p:txBody>
      </p:sp>
    </p:spTree>
    <p:extLst>
      <p:ext uri="{BB962C8B-B14F-4D97-AF65-F5344CB8AC3E}">
        <p14:creationId xmlns:p14="http://schemas.microsoft.com/office/powerpoint/2010/main" val="31777557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service Azure permet de collecter les logs applicatifs, traces et métriques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Functions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12160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Azure Monitor est le service central de supervision.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5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composant Azure est utilisé pour analyser les performances d’une application web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Key Vault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CDN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endParaRPr lang="fr-FR" sz="2000" dirty="0"/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00192" y="355737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Application Insights permet de suivre les performances et les requêtes.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2942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Dans une application .NET déployée sur Azure App Service avec Application Insights, quel est le rôle de </a:t>
            </a:r>
            <a:r>
              <a:rPr lang="fr-FR" sz="2000" dirty="0" err="1"/>
              <a:t>ILogger</a:t>
            </a:r>
            <a:r>
              <a:rPr lang="fr-FR" sz="2000" dirty="0"/>
              <a:t> lorsqu’il est utilisé avec un provider configuré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Écrire des logs uniquement en local dans la console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Envoyer automatiquement des logs structurés vers Azure Monitor /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Remplacer Application Insights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Stocker les logs directement dans Azure SQL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862984" y="428835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2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647325" y="5398532"/>
            <a:ext cx="75250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 err="1"/>
              <a:t>ILogger</a:t>
            </a:r>
            <a:r>
              <a:rPr lang="fr-FR" dirty="0"/>
              <a:t>, lorsqu’il est configuré avec un provider (comme Application Insights), envoie les logs vers Azure Monitor.</a:t>
            </a:r>
            <a:br>
              <a:rPr lang="fr-FR" dirty="0"/>
            </a:br>
            <a:r>
              <a:rPr lang="fr-FR" dirty="0"/>
              <a:t>Logger est une abstraction. Le comportement dépend du provider configuré (Console, App Insights, etc.).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7089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les logs n’apparaissent pas malgré AddAzureWebAppDiagnostics()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non activés côté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ILogger</a:t>
            </a:r>
            <a:r>
              <a:rPr lang="fr-FR" sz="2000" dirty="0"/>
              <a:t> mal configuré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Port incorrect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Mauvais navigateur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253099" y="4086494"/>
            <a:ext cx="33843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logs doivent être activés dans le portail Azure.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App Service Logs → activer File System ou Blob."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2438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528CFDB-EBA8-12C2-AB34-7C6C60D8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865" y="3633455"/>
            <a:ext cx="4605712" cy="30032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différence principale entre métriques et logs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du texte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logs sont numériques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métriques sont des valeurs numériques agrégées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Aucune différence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13988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métriques sont des données numériques (CPU, temps de réponse).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6630" y="230306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langage est utilisé pour interroger les logs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LINQ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PowerShell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KQL</a:t>
            </a:r>
          </a:p>
          <a:p>
            <a:pPr>
              <a:defRPr sz="2400"/>
            </a:pPr>
            <a:endParaRPr lang="fr-FR"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874814" y="4299466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KQL (Kusto Query Language) est utilisé pour analyser les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Où peut-on créer une alerte Azure Monitor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Azure Monitor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Azure CLI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Depuis Azure Monitor ou directement depuis une ressource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dans Application Insights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95522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4270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Les alertes peuvent être créées depuis Azure Monitor ou directement depuis une ressource (App Service, Application Insights, etc.)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90712" y="25858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Sur quoi peut se baser une alerte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des métriques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sur CPU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et métriques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4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Les alertes peuvent être basées sur logs ou métriques.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Live Metrics</a:t>
            </a:r>
            <a:r>
              <a:rPr lang="fr-FR" sz="2000" dirty="0"/>
              <a:t>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historiques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données en temps réel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2559669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12" y="3955496"/>
            <a:ext cx="4751622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visualiser les métriques en temps </a:t>
            </a:r>
            <a:r>
              <a:rPr dirty="0" err="1"/>
              <a:t>réel</a:t>
            </a:r>
            <a:r>
              <a:rPr dirty="0"/>
              <a:t>.</a:t>
            </a:r>
            <a:br>
              <a:rPr lang="fr-FR" dirty="0"/>
            </a:br>
            <a:r>
              <a:rPr lang="fr-FR" dirty="0"/>
              <a:t>Pour l’activer : rajouter dans son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program.cs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:</a:t>
            </a:r>
            <a:br>
              <a:rPr lang="fr-FR" dirty="0"/>
            </a:b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defRPr sz="1600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.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AddApplicationInsightsTelemetry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0457630-B988-FD93-813B-F06DBD9932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581"/>
          <a:stretch>
            <a:fillRect/>
          </a:stretch>
        </p:blipFill>
        <p:spPr>
          <a:xfrm>
            <a:off x="5124204" y="3239713"/>
            <a:ext cx="4019796" cy="35860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Quel est l’objectif principal du sampling dans Application Insights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Réduire le volume de télémétrie tout en conservant une représentation statistique fiable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Augmenter la précision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les erreurs critiques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Crypter les données envoyées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74051" y="3453897"/>
            <a:ext cx="7435195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Le sampling réduit la quantité de données collectées pour diminuer les coûts, tout en gardant une vision représentative du comportement de l’application</a:t>
            </a:r>
            <a:br>
              <a:rPr lang="fr-FR" dirty="0"/>
            </a:br>
            <a:br>
              <a:rPr lang="fr-FR" dirty="0"/>
            </a:br>
            <a:r>
              <a:rPr lang="fr-FR" sz="1600" dirty="0"/>
              <a:t>👉 Le sampling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garde </a:t>
            </a:r>
            <a:r>
              <a:rPr lang="fr-FR" sz="1600" b="1" dirty="0"/>
              <a:t>1 requête sur N</a:t>
            </a:r>
            <a:r>
              <a:rPr lang="fr-FR" sz="16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mais </a:t>
            </a:r>
            <a:r>
              <a:rPr lang="fr-FR" sz="1600" b="1" dirty="0"/>
              <a:t>recalcule les métriques</a:t>
            </a:r>
            <a:r>
              <a:rPr lang="fr-FR" sz="1600" dirty="0"/>
              <a:t> (ex : 1 vue = 10 requêtes estimées) </a:t>
            </a:r>
          </a:p>
          <a:p>
            <a:pPr>
              <a:buNone/>
            </a:pPr>
            <a:r>
              <a:rPr lang="fr-FR" sz="1600" b="1" dirty="0"/>
              <a:t>Exemple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1000 requêtes réelles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600" dirty="0"/>
              <a:t>sampling à 10%</a:t>
            </a:r>
            <a:br>
              <a:rPr lang="fr-FR" sz="1600" dirty="0"/>
            </a:br>
            <a:r>
              <a:rPr lang="fr-FR" sz="1600" dirty="0"/>
              <a:t>👉 seulement 100 stockées</a:t>
            </a:r>
            <a:br>
              <a:rPr lang="fr-FR" sz="1600" dirty="0"/>
            </a:br>
            <a:r>
              <a:rPr lang="fr-FR" sz="1600" dirty="0"/>
              <a:t>👉 mais Azure affiche quand même ~1000</a:t>
            </a:r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9169-FCFF-4453-0A81-9DF169479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56FC11-25EF-F41C-73EC-4C596D24A5A7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495CE0-DBD6-DCA7-AE60-ADF3DAD6A920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1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64BC2B-39AF-BD11-7A4F-D4A321FBD14A}"/>
              </a:ext>
            </a:extLst>
          </p:cNvPr>
          <p:cNvSpPr txBox="1"/>
          <p:nvPr/>
        </p:nvSpPr>
        <p:spPr>
          <a:xfrm>
            <a:off x="467096" y="1324006"/>
            <a:ext cx="843148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configurer le sampling dans Application Insights en .NET </a:t>
            </a:r>
            <a:r>
              <a:rPr sz="2000" dirty="0"/>
              <a:t>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le SDK (code) ou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Uniquement via le portail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Via Azure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configurable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DA2B6F-D504-B660-24D6-01D36E014F21}"/>
              </a:ext>
            </a:extLst>
          </p:cNvPr>
          <p:cNvSpPr txBox="1"/>
          <p:nvPr/>
        </p:nvSpPr>
        <p:spPr>
          <a:xfrm>
            <a:off x="6444208" y="270892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</a:t>
            </a:r>
            <a:endParaRPr u="sng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367D7B-91DB-7E44-8E85-793F64378A1B}"/>
              </a:ext>
            </a:extLst>
          </p:cNvPr>
          <p:cNvSpPr txBox="1"/>
          <p:nvPr/>
        </p:nvSpPr>
        <p:spPr>
          <a:xfrm>
            <a:off x="474051" y="3453897"/>
            <a:ext cx="7435195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sampling peut être automatique (adaptive) ou configuré via le SDK en code.</a:t>
            </a:r>
            <a:br>
              <a:rPr lang="fr-FR" dirty="0"/>
            </a:br>
            <a:r>
              <a:rPr lang="fr-FR" dirty="0"/>
              <a:t>Le mode par défaut est l’adaptive sampling.</a:t>
            </a:r>
            <a:br>
              <a:rPr lang="fr-FR" dirty="0"/>
            </a:br>
            <a:br>
              <a:rPr lang="fr-FR" dirty="0"/>
            </a:br>
            <a:r>
              <a:rPr lang="fr-FR" dirty="0"/>
              <a:t>Exemple pour le désactiver : </a:t>
            </a:r>
            <a:br>
              <a:rPr lang="fr-FR" dirty="0"/>
            </a:b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builder.Services.AddApplicationInsightsTelemetry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(options =&gt;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options.EnableAdaptiveSampling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false;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});</a:t>
            </a:r>
          </a:p>
          <a:p>
            <a:pPr>
              <a:buNone/>
            </a:pPr>
            <a:endParaRPr lang="fr-FR" dirty="0"/>
          </a:p>
          <a:p>
            <a:r>
              <a:rPr lang="fr-FR" b="1" dirty="0"/>
              <a:t>❗ 1. Le sampling s’applique côté SDK</a:t>
            </a:r>
          </a:p>
          <a:p>
            <a:r>
              <a:rPr lang="fr-FR" dirty="0"/>
              <a:t>👉 donc : les données </a:t>
            </a:r>
            <a:r>
              <a:rPr lang="fr-FR" b="1" dirty="0"/>
              <a:t>non envoyées → non récupérables</a:t>
            </a:r>
            <a:endParaRPr lang="fr-FR" dirty="0"/>
          </a:p>
          <a:p>
            <a:pPr>
              <a:buNone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4A9CD6A-6521-E7F9-977A-3D534AEBAAAB}"/>
              </a:ext>
            </a:extLst>
          </p:cNvPr>
          <p:cNvSpPr txBox="1"/>
          <p:nvPr/>
        </p:nvSpPr>
        <p:spPr>
          <a:xfrm>
            <a:off x="114794" y="170080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9166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type de données Application Insights </a:t>
            </a:r>
            <a:r>
              <a:rPr sz="2000" dirty="0" err="1"/>
              <a:t>peut</a:t>
            </a:r>
            <a:r>
              <a:rPr sz="2000" dirty="0"/>
              <a:t>-il </a:t>
            </a:r>
            <a:r>
              <a:rPr sz="2000" dirty="0" err="1"/>
              <a:t>collecter</a:t>
            </a:r>
            <a:r>
              <a:rPr sz="2000" dirty="0"/>
              <a:t> </a:t>
            </a:r>
            <a:r>
              <a:rPr sz="2000" dirty="0" err="1"/>
              <a:t>automatiquement</a:t>
            </a:r>
            <a:r>
              <a:rPr sz="2000" dirty="0"/>
              <a:t> 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HTTP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Exceptions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Dépendances (SQL, API externes)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Logs système Windows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Requêtes SQL internes à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Traces (logs applicatifs via </a:t>
            </a:r>
            <a:r>
              <a:rPr lang="fr-FR" sz="2000" dirty="0" err="1"/>
              <a:t>ILogger</a:t>
            </a:r>
            <a:r>
              <a:rPr lang="fr-FR" sz="2000" dirty="0"/>
              <a:t>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Performances CPU du serveur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07845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1,2,3,6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7232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Application Insights collecte automatiquement les requêtes, exceptions, dépendances et traces. </a:t>
            </a:r>
          </a:p>
          <a:p>
            <a:pPr>
              <a:defRPr sz="1600"/>
            </a:pPr>
            <a:r>
              <a:rPr lang="fr-FR" dirty="0"/>
              <a:t>Les logs système ou les requêtes SQL internes ne sont pas collectés automatiquement sans instrumentation spécifique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476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9EC0A74-3BBD-C96B-6743-EA2498B74072}"/>
              </a:ext>
            </a:extLst>
          </p:cNvPr>
          <p:cNvSpPr txBox="1"/>
          <p:nvPr/>
        </p:nvSpPr>
        <p:spPr>
          <a:xfrm>
            <a:off x="24764" y="226715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76088C5-BC90-F5B2-1CD1-C22C075D6A88}"/>
              </a:ext>
            </a:extLst>
          </p:cNvPr>
          <p:cNvSpPr txBox="1"/>
          <p:nvPr/>
        </p:nvSpPr>
        <p:spPr>
          <a:xfrm>
            <a:off x="12204" y="25435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727ECB-B839-541F-E89D-5833721C574E}"/>
              </a:ext>
            </a:extLst>
          </p:cNvPr>
          <p:cNvSpPr txBox="1"/>
          <p:nvPr/>
        </p:nvSpPr>
        <p:spPr>
          <a:xfrm>
            <a:off x="12204" y="3465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  <p:bldP spid="5" grpId="0"/>
      <p:bldP spid="6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l’intérêt des "Dependency tracking"</a:t>
            </a:r>
            <a:r>
              <a:rPr lang="fr-FR" sz="2000" dirty="0"/>
              <a:t> dans Application Insights </a:t>
            </a:r>
            <a:r>
              <a:rPr sz="2000" dirty="0"/>
              <a:t>?</a:t>
            </a:r>
            <a:r>
              <a:rPr lang="fr-FR" sz="2000" dirty="0"/>
              <a:t> Plusieurs bonnes réponses.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Suivre les appels vers des services externes (API, base de données, etc.)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Analyser les performances internes du code méthode par méthode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Mesurer les interactions avec des ressources externes et leur impact sur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Tracer les actions des utilisateurs dans l’interface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4125463"/>
            <a:ext cx="16232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1,3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6512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lang="fr-FR" dirty="0"/>
              <a:t>Le </a:t>
            </a:r>
            <a:r>
              <a:rPr lang="fr-FR" dirty="0" err="1"/>
              <a:t>dependency</a:t>
            </a:r>
            <a:r>
              <a:rPr lang="fr-FR" dirty="0"/>
              <a:t> </a:t>
            </a:r>
            <a:r>
              <a:rPr lang="fr-FR" dirty="0" err="1"/>
              <a:t>tracking</a:t>
            </a:r>
            <a:r>
              <a:rPr lang="fr-FR" dirty="0"/>
              <a:t> permet de suivre les appels vers des services externes (SQL, API, etc.) et d’analyser leur impact sur les performances globales.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Attention à ne pas confondre avec le profiling interne du code ou le suivi utilisateur (User </a:t>
            </a:r>
            <a:r>
              <a:rPr lang="fr-FR" dirty="0" err="1"/>
              <a:t>telemetry</a:t>
            </a:r>
            <a:r>
              <a:rPr lang="fr-FR" dirty="0"/>
              <a:t>).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61453" y="195043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DF2640-2090-FE74-B940-B26D6C77018C}"/>
              </a:ext>
            </a:extLst>
          </p:cNvPr>
          <p:cNvSpPr txBox="1"/>
          <p:nvPr/>
        </p:nvSpPr>
        <p:spPr>
          <a:xfrm>
            <a:off x="61453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Comment identifier qu’un ralentissement d’une requête HTTP est dû à une base SQL dans Application Insights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uniquement les logs applicatifs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analysant les dependencies associées à la requête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En regardant le CPU Azure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Ce n’est pas possible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77232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Les dependencies permettent d’identifier les appels SQL et leur durée, ce qui permet de détecter un goulot d’étranglement.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8523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outil permet de visualiser la chaîne d’appels d’une requête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Metrics Explorer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Map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Log Stream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796136" y="213961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34" y="4574498"/>
            <a:ext cx="24275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Application Map montre les dépendances entre services.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5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500A1A-8306-886E-4DEB-21E45E5B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899" y="2924944"/>
            <a:ext cx="5757696" cy="38015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le Log Stream dans App Service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Voir les logs en direct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une app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Modifier le code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voir les logs en temps réel.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4794" y="15743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écriture permet de créer un </a:t>
            </a:r>
            <a:r>
              <a:rPr sz="2000" u="sng" dirty="0"/>
              <a:t>log structuré </a:t>
            </a:r>
            <a:r>
              <a:rPr sz="2000" dirty="0"/>
              <a:t>avec ILogger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logger.LogInformation($"Commande {orderId}")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" +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logger.LogInformation("Commande {OrderId}", orderId)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1900" dirty="0">
                <a:latin typeface="Courier New" panose="02070309020205020404" pitchFamily="49" charset="0"/>
                <a:cs typeface="Courier New" panose="02070309020205020404" pitchFamily="49" charset="0"/>
              </a:rPr>
              <a:t>Console.WriteLine("Commande {orderId}")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617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7" y="3367876"/>
            <a:ext cx="8431480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Seule la syntaxe avec placeholders permet de créer des propriétés structurées </a:t>
            </a:r>
            <a:r>
              <a:rPr dirty="0" err="1"/>
              <a:t>exploitables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Exemple :</a:t>
            </a:r>
          </a:p>
          <a:p>
            <a:pPr>
              <a:defRPr sz="1600"/>
            </a:pP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logger.LogInformation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("Commande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 traitée pour {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}",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600" dirty="0"/>
              <a:t>👉 Ici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/>
              <a:t> et 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/>
              <a:t> deviennent </a:t>
            </a:r>
            <a:r>
              <a:rPr lang="fr-FR" sz="1600" b="1" dirty="0"/>
              <a:t>des champs</a:t>
            </a:r>
            <a:r>
              <a:rPr lang="fr-FR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pas juste du texte </a:t>
            </a:r>
          </a:p>
          <a:p>
            <a:r>
              <a:rPr lang="fr-FR" sz="1600" dirty="0"/>
              <a:t>Dans Application Insights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message</a:t>
            </a:r>
            <a:r>
              <a:rPr lang="fr-FR" sz="1600" dirty="0"/>
              <a:t> = "Commande 123 traitée pour 456"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MAIS aussi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123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UserId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456</a:t>
            </a:r>
            <a:endParaRPr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397" y="220486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149C9D5-ABA1-6479-9397-569971550517}"/>
              </a:ext>
            </a:extLst>
          </p:cNvPr>
          <p:cNvSpPr txBox="1"/>
          <p:nvPr/>
        </p:nvSpPr>
        <p:spPr>
          <a:xfrm>
            <a:off x="5505228" y="4906759"/>
            <a:ext cx="3647152" cy="1708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OrderId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== 123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vs</a:t>
            </a:r>
          </a:p>
          <a:p>
            <a:endParaRPr lang="fr-FR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traces</a:t>
            </a:r>
          </a:p>
          <a:p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|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message </a:t>
            </a:r>
            <a:r>
              <a:rPr lang="fr-FR" sz="15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  <a:r>
              <a:rPr lang="fr-FR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 "123"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première étape pour centraliser les logs de plusieurs ressources Azure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une base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Activer 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31647" y="2969387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096" y="3540476"/>
            <a:ext cx="6410088" cy="18158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Log Analytics Workspace est le point central de stockage des logs.</a:t>
            </a:r>
            <a:endParaRPr lang="fr-FR" dirty="0"/>
          </a:p>
          <a:p>
            <a:pPr>
              <a:defRPr sz="1600"/>
            </a:pPr>
            <a:r>
              <a:rPr lang="fr-FR" dirty="0"/>
              <a:t>Dans le TP, créé automatiquement.</a:t>
            </a:r>
          </a:p>
          <a:p>
            <a:pPr>
              <a:defRPr sz="1600"/>
            </a:pPr>
            <a:endParaRPr lang="fr-FR" dirty="0"/>
          </a:p>
          <a:p>
            <a:pPr marL="342900" indent="-342900">
              <a:buAutoNum type="arabicPeriod"/>
              <a:defRPr sz="1600"/>
            </a:pPr>
            <a:r>
              <a:rPr lang="fr-FR" dirty="0"/>
              <a:t>Azure Monitor = collecte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Log Analytics = stockage + requêtes</a:t>
            </a:r>
          </a:p>
          <a:p>
            <a:pPr marL="342900" indent="-342900">
              <a:buAutoNum type="arabicPeriod"/>
              <a:defRPr sz="1600"/>
            </a:pPr>
            <a:r>
              <a:rPr lang="fr-FR" dirty="0"/>
              <a:t>Toutes les ressources ne loggent pas pareil</a:t>
            </a:r>
          </a:p>
          <a:p>
            <a:pPr marL="342900" indent="-342900">
              <a:buAutoNum type="arabicPeriod"/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0" y="1948095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C320ED1-EB38-963F-23D3-6F583698B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261877"/>
              </p:ext>
            </p:extLst>
          </p:nvPr>
        </p:nvGraphicFramePr>
        <p:xfrm>
          <a:off x="1578002" y="5085184"/>
          <a:ext cx="5285092" cy="1219200"/>
        </p:xfrm>
        <a:graphic>
          <a:graphicData uri="http://schemas.openxmlformats.org/drawingml/2006/table">
            <a:tbl>
              <a:tblPr/>
              <a:tblGrid>
                <a:gridCol w="2642546">
                  <a:extLst>
                    <a:ext uri="{9D8B030D-6E8A-4147-A177-3AD203B41FA5}">
                      <a16:colId xmlns:a16="http://schemas.microsoft.com/office/drawing/2014/main" val="4182014354"/>
                    </a:ext>
                  </a:extLst>
                </a:gridCol>
                <a:gridCol w="2642546">
                  <a:extLst>
                    <a:ext uri="{9D8B030D-6E8A-4147-A177-3AD203B41FA5}">
                      <a16:colId xmlns:a16="http://schemas.microsoft.com/office/drawing/2014/main" val="133377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Ressource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Table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0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AppRequests, AppTraces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67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AzureDiagnostics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978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 err="1"/>
                        <a:t>AzureDiagnostics</a:t>
                      </a:r>
                      <a:endParaRPr lang="fr-FR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7403110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Vous souhaitez analyser les logs d’une Web App, d’une Azure Function et d’une base SQL dans un même outil avec des requêtes KQL. Quelle solution utiliser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Storage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Monitor avec un Log Analytics Workspace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DevOps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Application Insights uniquement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84168" y="3164115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746" y="3714860"/>
            <a:ext cx="86265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Azure Monitor permet de centraliser les logs de plusieurs ressources dans un Log Analytics Workspace.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8FEC3D9-108C-D333-50EB-25EF3FBBC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" y="4362607"/>
            <a:ext cx="4283968" cy="247316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5FE2A1-5C18-E69B-D912-B85870544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1768" y="4196756"/>
            <a:ext cx="4378035" cy="26390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Qu’est-ce qu’un Log Analytics Workspace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Une base de données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stockage de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serveur web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Un outil de déploiement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66751" y="375806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C’est un espace de stockage et d’analyse des logs.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94290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permet une Action Group dans Azure Monitor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Créer des logs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Définir des actions lors d’alertes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Déployer des apps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Gérer les utilisateurs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580112" y="3354758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 :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528" y="4077072"/>
            <a:ext cx="7852342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d’envoyer emails, SMS, webhooks.</a:t>
            </a:r>
            <a:endParaRPr lang="fr-FR" dirty="0"/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Dans Application Insights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 err="1">
                <a:sym typeface="Wingdings" panose="05000000000000000000" pitchFamily="2" charset="2"/>
              </a:rPr>
              <a:t>Alerts</a:t>
            </a:r>
            <a:r>
              <a:rPr lang="fr-FR" dirty="0">
                <a:sym typeface="Wingdings" panose="05000000000000000000" pitchFamily="2" charset="2"/>
              </a:rPr>
              <a:t>  Actions  </a:t>
            </a:r>
            <a:r>
              <a:rPr lang="fr-FR" dirty="0" err="1">
                <a:sym typeface="Wingdings" panose="05000000000000000000" pitchFamily="2" charset="2"/>
              </a:rPr>
              <a:t>Create</a:t>
            </a:r>
            <a:r>
              <a:rPr lang="fr-FR" dirty="0">
                <a:sym typeface="Wingdings" panose="05000000000000000000" pitchFamily="2" charset="2"/>
              </a:rPr>
              <a:t> action group  Notifications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4462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2</a:t>
            </a:r>
            <a:r>
              <a:rPr lang="fr-FR" sz="3200" dirty="0"/>
              <a:t>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la principale limite des logs App Service (File System)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trop rapides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chiffrés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temporaires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Ils sont inutilisables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588224" y="2636912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u="sng" dirty="0"/>
              <a:t>3</a:t>
            </a:r>
            <a:endParaRPr u="sng" dirty="0" err="1"/>
          </a:p>
        </p:txBody>
      </p:sp>
      <p:sp>
        <p:nvSpPr>
          <p:cNvPr id="9" name="TextBox 8"/>
          <p:cNvSpPr txBox="1"/>
          <p:nvPr/>
        </p:nvSpPr>
        <p:spPr>
          <a:xfrm>
            <a:off x="467096" y="3058301"/>
            <a:ext cx="5015412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Ils sont </a:t>
            </a:r>
            <a:r>
              <a:rPr dirty="0" err="1"/>
              <a:t>stockés</a:t>
            </a:r>
            <a:r>
              <a:rPr dirty="0"/>
              <a:t> </a:t>
            </a:r>
            <a:r>
              <a:rPr lang="fr-FR" dirty="0"/>
              <a:t>sur disque de la machine App Service</a:t>
            </a:r>
            <a:r>
              <a:rPr dirty="0"/>
              <a:t>.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l’instance redémarre → ❌ logs perdus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/>
            </a:pPr>
            <a:r>
              <a:rPr lang="fr-FR" dirty="0"/>
              <a:t>si Azure change de machine → ❌ logs perdus</a:t>
            </a:r>
          </a:p>
          <a:p>
            <a:pPr>
              <a:defRPr sz="1600"/>
            </a:pPr>
            <a:r>
              <a:rPr lang="fr-FR" dirty="0"/>
              <a:t>Pour les voir : Log Stream</a:t>
            </a:r>
          </a:p>
          <a:p>
            <a:pPr>
              <a:defRPr sz="1600"/>
            </a:pPr>
            <a:endParaRPr lang="fr-FR" dirty="0"/>
          </a:p>
          <a:p>
            <a:pPr>
              <a:defRPr sz="1600"/>
            </a:pPr>
            <a:r>
              <a:rPr lang="fr-FR" dirty="0"/>
              <a:t>Différent de Application Insights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70842" y="22426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675BF5A8-C3F2-101C-BF55-A8C89117FA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117232"/>
              </p:ext>
            </p:extLst>
          </p:nvPr>
        </p:nvGraphicFramePr>
        <p:xfrm>
          <a:off x="454026" y="4797152"/>
          <a:ext cx="4519414" cy="1219200"/>
        </p:xfrm>
        <a:graphic>
          <a:graphicData uri="http://schemas.openxmlformats.org/drawingml/2006/table">
            <a:tbl>
              <a:tblPr/>
              <a:tblGrid>
                <a:gridCol w="919013">
                  <a:extLst>
                    <a:ext uri="{9D8B030D-6E8A-4147-A177-3AD203B41FA5}">
                      <a16:colId xmlns:a16="http://schemas.microsoft.com/office/drawing/2014/main" val="4033975775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72566701"/>
                    </a:ext>
                  </a:extLst>
                </a:gridCol>
                <a:gridCol w="2232249">
                  <a:extLst>
                    <a:ext uri="{9D8B030D-6E8A-4147-A177-3AD203B41FA5}">
                      <a16:colId xmlns:a16="http://schemas.microsoft.com/office/drawing/2014/main" val="33741954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File System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Application Insights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5208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Stockage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Local serveur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(cloud)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2004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Durée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Temporaire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Configurable (jours/mois)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9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Analyse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❌ limitée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✔ KQL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472544"/>
                  </a:ext>
                </a:extLst>
              </a:tr>
            </a:tbl>
          </a:graphicData>
        </a:graphic>
      </p:graphicFrame>
      <p:pic>
        <p:nvPicPr>
          <p:cNvPr id="6" name="Image 5">
            <a:extLst>
              <a:ext uri="{FF2B5EF4-FFF2-40B4-BE49-F238E27FC236}">
                <a16:creationId xmlns:a16="http://schemas.microsoft.com/office/drawing/2014/main" id="{9AC453C7-2385-8D9F-CD2A-705345C86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127" y="4509120"/>
            <a:ext cx="3793313" cy="2142975"/>
          </a:xfrm>
          <a:prstGeom prst="rect">
            <a:avLst/>
          </a:prstGeom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F4E4BC1B-1A3C-A479-EC7D-BE41F69DD9C9}"/>
              </a:ext>
            </a:extLst>
          </p:cNvPr>
          <p:cNvCxnSpPr>
            <a:cxnSpLocks/>
          </p:cNvCxnSpPr>
          <p:nvPr/>
        </p:nvCxnSpPr>
        <p:spPr>
          <a:xfrm flipV="1">
            <a:off x="4860032" y="4627961"/>
            <a:ext cx="1944216" cy="961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70E2-1C2C-35CC-5973-6C6A096D0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D9EEC-8AD4-D38F-E4EF-5FAA10E50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6F751-ACC4-96D9-3D48-3B274D125A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CC13E4-4D5E-91ED-58B1-DB7A6074D46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625CC5-DD6B-E9D9-0B8F-F846F6A4A96B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DEDB9A-0E93-F8E6-201E-1FC402B3C7D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180C89-C736-8A06-9D51-E02FF0D68280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54024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/>
</p:properties>
</file>

<file path=customXml/itemProps1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14671</Words>
  <Application>Microsoft Office PowerPoint</Application>
  <PresentationFormat>Affichage à l'écran (4:3)</PresentationFormat>
  <Paragraphs>3040</Paragraphs>
  <Slides>202</Slides>
  <Notes>109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202</vt:i4>
      </vt:variant>
    </vt:vector>
  </HeadingPairs>
  <TitlesOfParts>
    <vt:vector size="215" baseType="lpstr">
      <vt:lpstr>Arial</vt:lpstr>
      <vt:lpstr>Arial Black</vt:lpstr>
      <vt:lpstr>Calibri</vt:lpstr>
      <vt:lpstr>Cambria Math</vt:lpstr>
      <vt:lpstr>Cascadia Mono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5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Chiffrement Symétique et Asymétrique</vt:lpstr>
      <vt:lpstr>Utilisation des 2 : Symétrique et Asymétrique</vt:lpstr>
      <vt:lpstr>Clés publiques / privées</vt:lpstr>
      <vt:lpstr>Clés publiques / privées - Principes</vt:lpstr>
      <vt:lpstr>Chiffrement clé asymétrique</vt:lpstr>
      <vt:lpstr>Signature clé asymétrique</vt:lpstr>
      <vt:lpstr>Clés publiques / privées</vt:lpstr>
      <vt:lpstr>Certificats</vt:lpstr>
      <vt:lpstr>Certificats et clés</vt:lpstr>
      <vt:lpstr>Chiffrement clé asymétrique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391</cp:revision>
  <cp:lastPrinted>2012-08-28T00:39:50Z</cp:lastPrinted>
  <dcterms:created xsi:type="dcterms:W3CDTF">2012-09-10T15:00:36Z</dcterms:created>
  <dcterms:modified xsi:type="dcterms:W3CDTF">2026-05-20T22:03:29Z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