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163"/>
  </p:notesMasterIdLst>
  <p:handoutMasterIdLst>
    <p:handoutMasterId r:id="rId164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809" r:id="rId128"/>
    <p:sldId id="804" r:id="rId129"/>
    <p:sldId id="805" r:id="rId130"/>
    <p:sldId id="803" r:id="rId131"/>
    <p:sldId id="806" r:id="rId132"/>
    <p:sldId id="807" r:id="rId133"/>
    <p:sldId id="810" r:id="rId134"/>
    <p:sldId id="814" r:id="rId135"/>
    <p:sldId id="811" r:id="rId136"/>
    <p:sldId id="812" r:id="rId137"/>
    <p:sldId id="813" r:id="rId138"/>
    <p:sldId id="815" r:id="rId139"/>
    <p:sldId id="816" r:id="rId140"/>
    <p:sldId id="817" r:id="rId141"/>
    <p:sldId id="818" r:id="rId142"/>
    <p:sldId id="819" r:id="rId143"/>
    <p:sldId id="820" r:id="rId144"/>
    <p:sldId id="821" r:id="rId145"/>
    <p:sldId id="822" r:id="rId146"/>
    <p:sldId id="823" r:id="rId147"/>
    <p:sldId id="824" r:id="rId148"/>
    <p:sldId id="825" r:id="rId149"/>
    <p:sldId id="826" r:id="rId150"/>
    <p:sldId id="827" r:id="rId151"/>
    <p:sldId id="828" r:id="rId152"/>
    <p:sldId id="829" r:id="rId153"/>
    <p:sldId id="830" r:id="rId154"/>
    <p:sldId id="831" r:id="rId155"/>
    <p:sldId id="832" r:id="rId156"/>
    <p:sldId id="833" r:id="rId157"/>
    <p:sldId id="834" r:id="rId158"/>
    <p:sldId id="835" r:id="rId159"/>
    <p:sldId id="704" r:id="rId160"/>
    <p:sldId id="756" r:id="rId161"/>
    <p:sldId id="808" r:id="rId162"/>
  </p:sldIdLst>
  <p:sldSz cx="9144000" cy="6858000" type="screen4x3"/>
  <p:notesSz cx="7023100" cy="9309100"/>
  <p:custDataLst>
    <p:tags r:id="rId16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Clés asymétriques" id="{A9BD5DDD-8564-4000-A824-269A0A0AC22D}">
          <p14:sldIdLst>
            <p14:sldId id="809"/>
            <p14:sldId id="804"/>
            <p14:sldId id="805"/>
            <p14:sldId id="803"/>
            <p14:sldId id="806"/>
            <p14:sldId id="807"/>
            <p14:sldId id="810"/>
            <p14:sldId id="814"/>
            <p14:sldId id="811"/>
            <p14:sldId id="812"/>
            <p14:sldId id="813"/>
          </p14:sldIdLst>
        </p14:section>
        <p14:section name="quiz10" id="{20941169-1845-41FC-9D92-4A2D87420A14}">
          <p14:sldIdLst>
            <p14:sldId id="815"/>
            <p14:sldId id="816"/>
            <p14:sldId id="817"/>
            <p14:sldId id="818"/>
            <p14:sldId id="819"/>
            <p14:sldId id="820"/>
            <p14:sldId id="821"/>
            <p14:sldId id="822"/>
            <p14:sldId id="823"/>
            <p14:sldId id="824"/>
            <p14:sldId id="825"/>
            <p14:sldId id="826"/>
            <p14:sldId id="827"/>
            <p14:sldId id="828"/>
            <p14:sldId id="829"/>
            <p14:sldId id="830"/>
            <p14:sldId id="831"/>
            <p14:sldId id="832"/>
            <p14:sldId id="833"/>
            <p14:sldId id="834"/>
            <p14:sldId id="835"/>
          </p14:sldIdLst>
        </p14:section>
        <p14:section name="quizAVenir" id="{BEF1AD5F-0008-433C-9B6F-B813F94E6E0F}">
          <p14:sldIdLst>
            <p14:sldId id="704"/>
            <p14:sldId id="756"/>
            <p14:sldId id="8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58" autoAdjust="0"/>
    <p:restoredTop sz="86904" autoAdjust="0"/>
  </p:normalViewPr>
  <p:slideViewPr>
    <p:cSldViewPr>
      <p:cViewPr varScale="1">
        <p:scale>
          <a:sx n="104" d="100"/>
          <a:sy n="104" d="100"/>
        </p:scale>
        <p:origin x="918" y="102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38" Type="http://schemas.openxmlformats.org/officeDocument/2006/relationships/slide" Target="slides/slide132.xml"/><Relationship Id="rId154" Type="http://schemas.openxmlformats.org/officeDocument/2006/relationships/slide" Target="slides/slide148.xml"/><Relationship Id="rId159" Type="http://schemas.openxmlformats.org/officeDocument/2006/relationships/slide" Target="slides/slide153.xml"/><Relationship Id="rId170" Type="http://schemas.openxmlformats.org/officeDocument/2006/relationships/tableStyles" Target="tableStyles.xml"/><Relationship Id="rId16" Type="http://schemas.openxmlformats.org/officeDocument/2006/relationships/slide" Target="slides/slide10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28" Type="http://schemas.openxmlformats.org/officeDocument/2006/relationships/slide" Target="slides/slide122.xml"/><Relationship Id="rId144" Type="http://schemas.openxmlformats.org/officeDocument/2006/relationships/slide" Target="slides/slide138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60" Type="http://schemas.openxmlformats.org/officeDocument/2006/relationships/slide" Target="slides/slide154.xml"/><Relationship Id="rId165" Type="http://schemas.openxmlformats.org/officeDocument/2006/relationships/tags" Target="tags/tag1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34" Type="http://schemas.openxmlformats.org/officeDocument/2006/relationships/slide" Target="slides/slide128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slide" Target="slides/slide149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61" Type="http://schemas.openxmlformats.org/officeDocument/2006/relationships/slide" Target="slides/slide155.xml"/><Relationship Id="rId166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151" Type="http://schemas.openxmlformats.org/officeDocument/2006/relationships/slide" Target="slides/slide145.xml"/><Relationship Id="rId156" Type="http://schemas.openxmlformats.org/officeDocument/2006/relationships/slide" Target="slides/slide150.xml"/><Relationship Id="rId164" Type="http://schemas.openxmlformats.org/officeDocument/2006/relationships/handoutMaster" Target="handoutMasters/handoutMaster1.xml"/><Relationship Id="rId16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167" Type="http://schemas.openxmlformats.org/officeDocument/2006/relationships/presProps" Target="presProps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162" Type="http://schemas.openxmlformats.org/officeDocument/2006/relationships/slide" Target="slides/slide15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slide" Target="slides/slide151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168" Type="http://schemas.openxmlformats.org/officeDocument/2006/relationships/viewProps" Target="viewProp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16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slide" Target="slides/slide152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6" Type="http://schemas.openxmlformats.org/officeDocument/2006/relationships/slide" Target="slides/slide125.xml"/><Relationship Id="rId84" Type="http://schemas.openxmlformats.org/officeDocument/2006/relationships/slide" Target="slides/slide156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79" Type="http://schemas.openxmlformats.org/officeDocument/2006/relationships/slide" Target="slides/slide128.xml"/><Relationship Id="rId5" Type="http://schemas.openxmlformats.org/officeDocument/2006/relationships/slide" Target="slides/slide7.xml"/><Relationship Id="rId61" Type="http://schemas.openxmlformats.org/officeDocument/2006/relationships/slide" Target="slides/slide69.xml"/><Relationship Id="rId82" Type="http://schemas.openxmlformats.org/officeDocument/2006/relationships/slide" Target="slides/slide132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78" Type="http://schemas.openxmlformats.org/officeDocument/2006/relationships/slide" Target="slides/slide127.xml"/><Relationship Id="rId81" Type="http://schemas.openxmlformats.org/officeDocument/2006/relationships/slide" Target="slides/slide131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77" Type="http://schemas.openxmlformats.org/officeDocument/2006/relationships/slide" Target="slides/slide126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80" Type="http://schemas.openxmlformats.org/officeDocument/2006/relationships/slide" Target="slides/slide130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75" Type="http://schemas.openxmlformats.org/officeDocument/2006/relationships/slide" Target="slides/slide124.xml"/><Relationship Id="rId83" Type="http://schemas.openxmlformats.org/officeDocument/2006/relationships/slide" Target="slides/slide155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ADFF2-E19B-336B-2872-535559BF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66A73-7036-4E1B-654B-235DE9E04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9458E-98BF-1D97-F02B-7361B276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2386F-B4C5-0417-CE62-A44A39F7B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0015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10B8E-835B-95C5-16F7-D4308F45B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08777-6CBB-177F-C1F5-E1002DDC6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47C87-1CFB-6D96-4765-9122DA82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🔓 Le serveur envoie sa </a:t>
            </a:r>
            <a:r>
              <a:rPr lang="fr-FR" b="1" dirty="0"/>
              <a:t>clé publique</a:t>
            </a:r>
            <a:r>
              <a:rPr lang="fr-FR" dirty="0"/>
              <a:t> </a:t>
            </a:r>
          </a:p>
          <a:p>
            <a:r>
              <a:rPr lang="fr-FR" dirty="0"/>
              <a:t>🔐 Le client génère une </a:t>
            </a:r>
            <a:r>
              <a:rPr lang="fr-FR" b="1" dirty="0"/>
              <a:t>clé symétrique</a:t>
            </a:r>
            <a:r>
              <a:rPr lang="fr-FR" dirty="0"/>
              <a:t> </a:t>
            </a:r>
          </a:p>
          <a:p>
            <a:r>
              <a:rPr lang="fr-FR" dirty="0"/>
              <a:t>🔒 Le client chiffre cette clé avec la clé publique </a:t>
            </a:r>
          </a:p>
          <a:p>
            <a:r>
              <a:rPr lang="fr-FR" dirty="0"/>
              <a:t>🔓 Le serveur déchiffre avec sa clé privée </a:t>
            </a:r>
          </a:p>
          <a:p>
            <a:r>
              <a:rPr lang="fr-FR" dirty="0"/>
              <a:t>⚡ Les échanges utilisent la clé symétrique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5B21C-1DEB-5492-4EE2-5BCCE13CC9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749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ABF0-3F1C-6B48-088B-7572844E9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3732D-5A76-939D-680D-47427945D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14F04-4CD2-B102-D70F-1C24978A3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C6C60-30D6-BD80-C870-9C003808B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8694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67EDD-07D3-C56D-3C54-68D6403A0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39559-DDB1-E87C-F0CC-69D7D4E59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A31A4-1F15-E339-0C68-7033A1022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82F5B-FF12-78BA-089C-C7E580344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2481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7DC-A109-A9D5-D419-A98CBE53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F1090-E041-59A9-3C85-15CAAAE09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F1D1B-212B-E2D9-C44C-9AD5F1C35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70C09-B9A5-9792-BBB0-36A160C63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6537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8D9-F548-0E3A-9DBA-AD6D60D5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820AE-CDDA-0F96-6D4A-9A4B0D186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05F82-3E2F-A4DB-A49F-5F1AB623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0216D-EF6D-C255-D9E6-FC2912C428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0746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AA7-792A-6634-FB07-E98B4221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44F62-AA82-9BBF-CCEB-86ACD7B66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80EA0-8882-6EBD-CEE8-06C84484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72D2-DDB1-4C85-9A62-5375DBD3E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0413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4A99E-370E-D5E9-4E4A-B00C2632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2B190-C5F9-EEDD-CE17-CCBEB440C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0BABB-8885-EC1A-8814-098744629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C4CDE-1AB4-0F94-749B-11F2030578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884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D03BA-B2BD-939F-65FB-13EF6363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DA2BB-494A-D47C-2779-E87000278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2EEDE-1345-F9A5-43FB-E0B4DE194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70BB1-8459-C27D-FF09-B0FEA9110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484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D17AB-168B-5481-D8F3-55371232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B2B6C-DA8A-1A9D-F477-FFC93D9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E2BF7-C29D-018D-1A46-7AD92AACC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E391C-8AE1-9F51-F47C-C940FF683E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slide" Target="slide15.xml"/><Relationship Id="rId26" Type="http://schemas.openxmlformats.org/officeDocument/2006/relationships/slide" Target="slide122.xml"/><Relationship Id="rId3" Type="http://schemas.openxmlformats.org/officeDocument/2006/relationships/image" Target="../media/image11.png"/><Relationship Id="rId21" Type="http://schemas.openxmlformats.org/officeDocument/2006/relationships/slide" Target="slide45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slide" Target="slide6.xml"/><Relationship Id="rId25" Type="http://schemas.openxmlformats.org/officeDocument/2006/relationships/slide" Target="slide94.xml"/><Relationship Id="rId2" Type="http://schemas.openxmlformats.org/officeDocument/2006/relationships/notesSlide" Target="../notesSlides/notesSlide2.xml"/><Relationship Id="rId16" Type="http://schemas.openxmlformats.org/officeDocument/2006/relationships/slide" Target="slide3.xml"/><Relationship Id="rId20" Type="http://schemas.openxmlformats.org/officeDocument/2006/relationships/slide" Target="slide3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73.xml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23" Type="http://schemas.openxmlformats.org/officeDocument/2006/relationships/slide" Target="slide60.xml"/><Relationship Id="rId28" Type="http://schemas.openxmlformats.org/officeDocument/2006/relationships/slide" Target="slide154.xml"/><Relationship Id="rId10" Type="http://schemas.openxmlformats.org/officeDocument/2006/relationships/image" Target="../media/image18.png"/><Relationship Id="rId19" Type="http://schemas.openxmlformats.org/officeDocument/2006/relationships/slide" Target="slide24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slide" Target="slide52.xml"/><Relationship Id="rId27" Type="http://schemas.openxmlformats.org/officeDocument/2006/relationships/slide" Target="slide13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28077510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9BD5DDD-8564-4000-A824-269A0A0AC22D}">
                    <psuz:zmPr id="{42A19E90-0172-47B6-A3B9-0D9036D7FC77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0941169-1845-41FC-9D92-4A2D87420A14}">
                    <psuz:zmPr id="{CEBAB7FC-3943-4DF8-AAA9-7D29928BBD58}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30916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609422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87928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66434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0916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09422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87928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966434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0916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09422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2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87928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6" name="Image 16">
                  <a:hlinkClick r:id="rId2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66434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7" name="Image 17">
                  <a:hlinkClick r:id="rId2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0916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9665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109665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22627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377568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09B-4E63-F92C-E3B2-EACE821B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5F17C7A-00D7-642A-61A2-5F9E0D70C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Clés asymétriques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C12A6E-5074-5A02-C4C5-A6BFA689BF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082035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54126-62A6-7BDA-9A8B-C5FD78A2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0C483-C56F-F470-902D-51F76ED13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Symétique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130ED9-A880-BF69-435B-E56C1B166E3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64D55D7-306D-4E36-E580-D095BE26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760" y="908720"/>
            <a:ext cx="3702434" cy="3168352"/>
          </a:xfrm>
          <a:prstGeom prst="rect">
            <a:avLst/>
          </a:prstGeom>
        </p:spPr>
      </p:pic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F220A22D-9FF0-A6CE-048D-8803B6ADA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476904"/>
              </p:ext>
            </p:extLst>
          </p:nvPr>
        </p:nvGraphicFramePr>
        <p:xfrm>
          <a:off x="683568" y="4235152"/>
          <a:ext cx="7886700" cy="22860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67349978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0343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679453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Critère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011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Nombre de clés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47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⚡ Très rapide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🐢 Plus 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43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Sécurité échange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❌ Difficile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✅ 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78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Usage typique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 /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84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Exemples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AES (standard actuel)</a:t>
                      </a:r>
                      <a:br>
                        <a:rPr lang="fr-FR" sz="1600" dirty="0"/>
                      </a:br>
                      <a:r>
                        <a:rPr lang="fr-FR" sz="1600" dirty="0"/>
                        <a:t>DES (obsolète)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RSA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143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64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91F4-930B-1A0E-F553-6AC01209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A4EC-8C2F-A9F6-204A-09CB326D2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Utilisation</a:t>
            </a:r>
            <a:r>
              <a:rPr lang="en-US" dirty="0"/>
              <a:t> des 2 : </a:t>
            </a:r>
            <a:r>
              <a:rPr lang="en-US" dirty="0" err="1"/>
              <a:t>Symétrique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F45C-3C7E-BC14-1A6A-80B7B2C323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9552" y="5070501"/>
            <a:ext cx="8229600" cy="1392340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1800" dirty="0"/>
              <a:t>Exemple : HTTPS (TLS) – </a:t>
            </a:r>
            <a:r>
              <a:rPr lang="fr-FR" sz="1600" i="1" dirty="0"/>
              <a:t>Rappel : HTTPS = HTTP + TLS (Transport Layer Security)</a:t>
            </a:r>
          </a:p>
          <a:p>
            <a:pPr>
              <a:buFontTx/>
              <a:buChar char="-"/>
            </a:pPr>
            <a:r>
              <a:rPr lang="fr-FR" sz="1600" dirty="0"/>
              <a:t>TLS successeur de SSL :</a:t>
            </a:r>
            <a:endParaRPr lang="fr-FR" altLang="fr-FR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2.0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3.0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1.0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1.1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1.2 ✅ (encore utilisé)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1.3 ✅ (standard moderne)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sz="1600" dirty="0">
              <a:latin typeface="Arial" panose="020B0604020202020204" pitchFamily="34" charset="0"/>
            </a:endParaRPr>
          </a:p>
          <a:p>
            <a:pPr>
              <a:buFontTx/>
              <a:buChar char="-"/>
            </a:pPr>
            <a:endParaRPr lang="fr-FR" sz="1600" dirty="0"/>
          </a:p>
          <a:p>
            <a:pPr>
              <a:buFontTx/>
              <a:buChar char="-"/>
            </a:pPr>
            <a:endParaRPr lang="fr-FR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315FE2-4C91-EA8A-3BBE-0A45838B290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3AAFC6D-43CD-2055-CD85-1243C4B3C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80728"/>
            <a:ext cx="4824536" cy="291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A9A0773-E311-4F10-563E-F0D9C8222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71492"/>
              </p:ext>
            </p:extLst>
          </p:nvPr>
        </p:nvGraphicFramePr>
        <p:xfrm>
          <a:off x="539552" y="3973781"/>
          <a:ext cx="7886700" cy="100584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326523378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1038278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Étape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 utilisé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093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22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03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84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D5FE-0D9D-29FE-FB8E-89B61FBA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2FA0-7CC7-8D2D-BA56-FEB75C23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DDC0-7E32-062F-B3EA-3F4F556FF3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2400" dirty="0"/>
              <a:t>Clé publique </a:t>
            </a:r>
            <a:r>
              <a:rPr lang="fr-FR" sz="2400" dirty="0">
                <a:sym typeface="Wingdings" panose="05000000000000000000" pitchFamily="2" charset="2"/>
              </a:rPr>
              <a:t> On peut donner à tout le monde</a:t>
            </a:r>
          </a:p>
          <a:p>
            <a:pPr>
              <a:buFontTx/>
              <a:buChar char="-"/>
            </a:pPr>
            <a:r>
              <a:rPr lang="fr-FR" sz="2400" dirty="0">
                <a:sym typeface="Wingdings" panose="05000000000000000000" pitchFamily="2" charset="2"/>
              </a:rPr>
              <a:t>Clé privée  On doit la garder secrète</a:t>
            </a: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r>
              <a:rPr lang="fr-FR" sz="2400" u="sng" dirty="0">
                <a:sym typeface="Wingdings" panose="05000000000000000000" pitchFamily="2" charset="2"/>
              </a:rPr>
              <a:t>Chiffrement :</a:t>
            </a:r>
            <a:r>
              <a:rPr lang="fr-FR" sz="2400" dirty="0">
                <a:sym typeface="Wingdings" panose="05000000000000000000" pitchFamily="2" charset="2"/>
              </a:rPr>
              <a:t> </a:t>
            </a:r>
            <a:r>
              <a:rPr lang="fr-FR" sz="1800" i="1" dirty="0">
                <a:sym typeface="Wingdings" panose="05000000000000000000" pitchFamily="2" charset="2"/>
              </a:rPr>
              <a:t>personne ne peut lire sauf le destinataire</a:t>
            </a:r>
            <a:endParaRPr lang="fr-FR" sz="2400" i="1" dirty="0">
              <a:sym typeface="Wingdings" panose="05000000000000000000" pitchFamily="2" charset="2"/>
            </a:endParaRPr>
          </a:p>
          <a:p>
            <a:pPr lvl="1">
              <a:buFontTx/>
              <a:buChar char="-"/>
            </a:pPr>
            <a:r>
              <a:rPr lang="fr-FR" sz="1800" dirty="0"/>
              <a:t>Tu prends la </a:t>
            </a:r>
            <a:r>
              <a:rPr lang="fr-FR" sz="1800" b="1" dirty="0"/>
              <a:t>clé publique du destinataire</a:t>
            </a:r>
          </a:p>
          <a:p>
            <a:pPr lvl="1">
              <a:buFontTx/>
              <a:buChar char="-"/>
            </a:pPr>
            <a:r>
              <a:rPr lang="fr-FR" sz="1800" dirty="0"/>
              <a:t>Tu chiffres le message avec</a:t>
            </a:r>
          </a:p>
          <a:p>
            <a:pPr lvl="1">
              <a:buFontTx/>
              <a:buChar char="-"/>
            </a:pPr>
            <a:r>
              <a:rPr lang="fr-FR" sz="1800" dirty="0"/>
              <a:t>Seul le destinataire peut déchiffrer avec sa </a:t>
            </a:r>
            <a:r>
              <a:rPr lang="fr-FR" sz="1800" b="1" dirty="0"/>
              <a:t>clé privée</a:t>
            </a:r>
          </a:p>
          <a:p>
            <a:pPr>
              <a:buFontTx/>
              <a:buChar char="-"/>
            </a:pPr>
            <a:r>
              <a:rPr lang="fr-FR" sz="2400" u="sng" dirty="0"/>
              <a:t>Signature :</a:t>
            </a:r>
            <a:r>
              <a:rPr lang="fr-FR" sz="2400" dirty="0"/>
              <a:t> </a:t>
            </a:r>
            <a:r>
              <a:rPr lang="fr-FR" sz="1800" i="1" dirty="0"/>
              <a:t>prouver qui a envoyé + garantir que ça n’a pas été modifié</a:t>
            </a:r>
          </a:p>
          <a:p>
            <a:pPr lvl="1">
              <a:buFontTx/>
              <a:buChar char="-"/>
            </a:pPr>
            <a:r>
              <a:rPr lang="fr-FR" sz="1800" dirty="0"/>
              <a:t>Tu signes avec ta </a:t>
            </a:r>
            <a:r>
              <a:rPr lang="fr-FR" sz="1800" b="1" dirty="0"/>
              <a:t>clé privée</a:t>
            </a:r>
          </a:p>
          <a:p>
            <a:pPr lvl="1">
              <a:buFontTx/>
              <a:buChar char="-"/>
            </a:pPr>
            <a:r>
              <a:rPr lang="fr-FR" sz="1800" dirty="0"/>
              <a:t>Les autres vérifient avec ta </a:t>
            </a:r>
            <a:r>
              <a:rPr lang="fr-FR" sz="1800" b="1" dirty="0"/>
              <a:t>clé publique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F1A5204-3542-9020-2890-0DBC0329C47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B80357E-30B6-D8F0-1E11-2DEFFEE4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28351"/>
              </p:ext>
            </p:extLst>
          </p:nvPr>
        </p:nvGraphicFramePr>
        <p:xfrm>
          <a:off x="457200" y="2060848"/>
          <a:ext cx="7886700" cy="1097280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815023786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201563465"/>
                    </a:ext>
                  </a:extLst>
                </a:gridCol>
                <a:gridCol w="3134172">
                  <a:extLst>
                    <a:ext uri="{9D8B030D-6E8A-4147-A177-3AD203B41FA5}">
                      <a16:colId xmlns:a16="http://schemas.microsoft.com/office/drawing/2014/main" val="1829514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Clé utilisée pour faire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 utilisée pour vérifier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614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🔒 Chiffrement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0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✍️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612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3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1F2BE-16B4-50F3-0CCB-7ABFAE03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8A81-1336-F0CA-15B6-DB7656E9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r>
              <a:rPr lang="en-US" dirty="0"/>
              <a:t> - Principes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sz="1800" b="1" dirty="0"/>
                  <a:t>🧠 Principe (RSA)</a:t>
                </a:r>
              </a:p>
              <a:p>
                <a:r>
                  <a:rPr lang="fr-FR" sz="1800" dirty="0"/>
                  <a:t>Choisir 2 nombres premiers : </a:t>
                </a:r>
                <a:r>
                  <a:rPr lang="fr-FR" sz="1800" b="1" dirty="0"/>
                  <a:t>p</a:t>
                </a:r>
                <a:r>
                  <a:rPr lang="fr-FR" sz="1800" dirty="0"/>
                  <a:t> et </a:t>
                </a:r>
                <a:r>
                  <a:rPr lang="fr-FR" sz="1800" b="1" dirty="0"/>
                  <a:t>q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Calculer :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FR" sz="1600" dirty="0"/>
              </a:p>
              <a:p>
                <a:r>
                  <a:rPr lang="fr-FR" sz="1800" dirty="0"/>
                  <a:t>Publier </a:t>
                </a:r>
                <a:r>
                  <a:rPr lang="fr-FR" sz="1800" b="1" dirty="0"/>
                  <a:t>n</a:t>
                </a:r>
                <a:r>
                  <a:rPr lang="fr-FR" sz="1800" dirty="0"/>
                  <a:t> (clé publique)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🔥 Idée clé : </a:t>
                </a:r>
                <a:r>
                  <a:rPr lang="fr-FR" sz="1800" dirty="0"/>
                  <a:t>“Créer est facile, inverser est (quasi) impossible.”</a:t>
                </a:r>
                <a:endParaRPr lang="fr-FR" sz="1800" b="1" dirty="0"/>
              </a:p>
              <a:p>
                <a:r>
                  <a:rPr lang="fr-FR" sz="1800" dirty="0"/>
                  <a:t>💡 </a:t>
                </a:r>
                <a:r>
                  <a:rPr lang="fr-FR" sz="1800" b="1" dirty="0"/>
                  <a:t>Multiplier est facile</a:t>
                </a:r>
                <a:br>
                  <a:rPr lang="fr-FR" sz="1800" dirty="0"/>
                </a:br>
                <a:r>
                  <a:rPr lang="fr-FR" sz="1800" dirty="0"/>
                  <a:t>❌ </a:t>
                </a:r>
                <a:r>
                  <a:rPr lang="fr-FR" sz="1800" b="1" dirty="0"/>
                  <a:t>Factoriser est très difficile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b="1" dirty="0"/>
                  <a:t>⚡ Exemple simple</a:t>
                </a:r>
              </a:p>
              <a:p>
                <a:r>
                  <a:rPr lang="fr-FR" sz="1800" dirty="0"/>
                  <a:t>p = 3, q = 11 → n = 33 ✅ </a:t>
                </a:r>
              </a:p>
              <a:p>
                <a:r>
                  <a:rPr lang="fr-FR" sz="1800" dirty="0"/>
                  <a:t>n = 33 → retrouver p et q ❓ (plus difficile)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🚀 Dans la réalité</a:t>
                </a:r>
              </a:p>
              <a:p>
                <a:r>
                  <a:rPr lang="fr-FR" sz="1800" dirty="0"/>
                  <a:t>p et q = </a:t>
                </a:r>
                <a:r>
                  <a:rPr lang="fr-FR" sz="1800" b="1" dirty="0"/>
                  <a:t>très grands nombres premiers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n = </a:t>
                </a:r>
                <a:r>
                  <a:rPr lang="fr-FR" sz="1800" b="1" dirty="0"/>
                  <a:t>plus de 600 chiffres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👉 Factorisation = </a:t>
                </a:r>
                <a:r>
                  <a:rPr lang="fr-FR" sz="1800" b="1" dirty="0"/>
                  <a:t>impraticable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dirty="0"/>
                  <a:t>🔐 La sécurité repose sur un problème mathématique difficile :</a:t>
                </a:r>
                <a:br>
                  <a:rPr lang="fr-FR" sz="1800" dirty="0"/>
                </a:br>
                <a:r>
                  <a:rPr lang="fr-FR" sz="1800" b="1" dirty="0"/>
                  <a:t>retrouver p et q à partir de 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  <a:blipFill>
                <a:blip r:embed="rId3"/>
                <a:stretch>
                  <a:fillRect l="-593" t="-459" b="-172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2DDB19-ED4B-986A-2F0B-0CAFBEDAD4EC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835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5D290-4650-8EB3-A178-E2D34F9D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54936-45BA-777E-4DE1-80E511FF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7423C-D257-D44C-D6A9-1E12CD28AB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👉 </a:t>
            </a:r>
            <a:r>
              <a:rPr lang="fr-FR" sz="1800" b="1" dirty="0"/>
              <a:t>Principe</a:t>
            </a:r>
            <a:endParaRPr lang="fr-FR" sz="1800" dirty="0"/>
          </a:p>
          <a:p>
            <a:r>
              <a:rPr lang="fr-FR" sz="1800" dirty="0"/>
              <a:t>🔓 </a:t>
            </a:r>
            <a:r>
              <a:rPr lang="fr-FR" sz="1800" b="1" dirty="0"/>
              <a:t>Clé publique = cadenas ouvert</a:t>
            </a:r>
            <a:r>
              <a:rPr lang="fr-FR" sz="1800" dirty="0"/>
              <a:t> </a:t>
            </a:r>
          </a:p>
          <a:p>
            <a:r>
              <a:rPr lang="fr-FR" sz="1800" dirty="0"/>
              <a:t>🔐 </a:t>
            </a:r>
            <a:r>
              <a:rPr lang="fr-FR" sz="1800" b="1" dirty="0"/>
              <a:t>Clé privée = la seule clé qui ouvre ce cadenas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🎯 Fonctionnement</a:t>
            </a:r>
          </a:p>
          <a:p>
            <a:r>
              <a:rPr lang="fr-FR" sz="1800" dirty="0"/>
              <a:t>Tu distribues des </a:t>
            </a:r>
            <a:r>
              <a:rPr lang="fr-FR" sz="1800" b="1" dirty="0"/>
              <a:t>cadenas ouverts</a:t>
            </a:r>
            <a:r>
              <a:rPr lang="fr-FR" sz="1800" dirty="0"/>
              <a:t> </a:t>
            </a:r>
          </a:p>
          <a:p>
            <a:r>
              <a:rPr lang="fr-FR" sz="1800" dirty="0"/>
              <a:t>N’importe qui peut : </a:t>
            </a:r>
          </a:p>
          <a:p>
            <a:pPr lvl="1"/>
            <a:r>
              <a:rPr lang="fr-FR" sz="1600" dirty="0"/>
              <a:t>🔒 mettre un message dedans et fermer </a:t>
            </a:r>
          </a:p>
          <a:p>
            <a:r>
              <a:rPr lang="fr-FR" sz="2200" dirty="0"/>
              <a:t>👉 </a:t>
            </a:r>
            <a:r>
              <a:rPr lang="fr-FR" sz="1800" dirty="0"/>
              <a:t>MAIS : Seul toi peux ouvrir avec ta </a:t>
            </a:r>
            <a:r>
              <a:rPr lang="fr-FR" sz="1800" b="1" dirty="0"/>
              <a:t>clé privée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💡 Message clé</a:t>
            </a:r>
          </a:p>
          <a:p>
            <a:r>
              <a:rPr lang="fr-FR" sz="1800" dirty="0"/>
              <a:t>🔐 Tout le monde peut envoyer un message sécurisé</a:t>
            </a:r>
            <a:br>
              <a:rPr lang="fr-FR" sz="1800" dirty="0"/>
            </a:br>
            <a:r>
              <a:rPr lang="fr-FR" sz="1800" dirty="0"/>
              <a:t>❌ Mais seul le propriétaire peut le lire</a:t>
            </a:r>
          </a:p>
          <a:p>
            <a:pPr marL="0" indent="0">
              <a:buNone/>
            </a:pPr>
            <a:endParaRPr lang="fr-FR" sz="1800" dirty="0"/>
          </a:p>
          <a:p>
            <a:pPr marL="0" indent="0">
              <a:buNone/>
            </a:pPr>
            <a:r>
              <a:rPr lang="fr-FR" sz="1800" b="1" dirty="0"/>
              <a:t>🎤 Résumé:</a:t>
            </a:r>
          </a:p>
          <a:p>
            <a:r>
              <a:rPr lang="fr-FR" sz="1800" dirty="0"/>
              <a:t>“On partage le cadenas, jamais la clé.”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F05D1-89E3-5959-40B9-30300B686ADE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979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733E-4363-F6D3-4FC9-E325931A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C44D-FE54-B26C-889D-65062CFA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Signature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8ABEF-076D-B60A-14EA-B74DC45456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400" dirty="0"/>
              <a:t>👉 </a:t>
            </a:r>
            <a:r>
              <a:rPr lang="fr-FR" sz="1400" b="1" dirty="0"/>
              <a:t>Signer un document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🔐 </a:t>
            </a:r>
            <a:r>
              <a:rPr lang="fr-FR" sz="1400" b="1" dirty="0"/>
              <a:t>la clé privée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prend le document </a:t>
            </a:r>
          </a:p>
          <a:p>
            <a:r>
              <a:rPr lang="fr-FR" sz="1400" dirty="0"/>
              <a:t>🧮 On calcule une </a:t>
            </a:r>
            <a:r>
              <a:rPr lang="fr-FR" sz="1400" b="1" dirty="0"/>
              <a:t>empreinte (hash/</a:t>
            </a:r>
            <a:r>
              <a:rPr lang="fr-FR" sz="1400" b="1" dirty="0" err="1"/>
              <a:t>crc</a:t>
            </a:r>
            <a:r>
              <a:rPr lang="fr-FR" sz="1400" b="1" dirty="0"/>
              <a:t>)</a:t>
            </a:r>
            <a:r>
              <a:rPr lang="fr-FR" sz="1400" dirty="0"/>
              <a:t> - </a:t>
            </a:r>
            <a:r>
              <a:rPr lang="fr-FR" sz="1200" i="1" dirty="0"/>
              <a:t>“On ne signe pas le document, on signe son empreinte.”</a:t>
            </a:r>
          </a:p>
          <a:p>
            <a:r>
              <a:rPr lang="fr-FR" sz="1400" dirty="0"/>
              <a:t>🔐 On chiffre cette empreinte avec la </a:t>
            </a:r>
            <a:r>
              <a:rPr lang="fr-FR" sz="1400" b="1" dirty="0"/>
              <a:t>clé privée</a:t>
            </a:r>
            <a:r>
              <a:rPr lang="fr-FR" sz="1400" dirty="0"/>
              <a:t> </a:t>
            </a:r>
          </a:p>
          <a:p>
            <a:r>
              <a:rPr lang="fr-FR" sz="1400" dirty="0"/>
              <a:t>✍️ Résultat : </a:t>
            </a:r>
            <a:r>
              <a:rPr lang="fr-FR" sz="1400" b="1" dirty="0"/>
              <a:t>la signature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🔍 Vérifier la signature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🔓 </a:t>
            </a:r>
            <a:r>
              <a:rPr lang="fr-FR" sz="1400" b="1" dirty="0"/>
              <a:t>la clé publique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reprend le document </a:t>
            </a:r>
          </a:p>
          <a:p>
            <a:r>
              <a:rPr lang="fr-FR" sz="1400" dirty="0"/>
              <a:t>🧮 On recalcule son hash/</a:t>
            </a:r>
            <a:r>
              <a:rPr lang="fr-FR" sz="1400" dirty="0" err="1"/>
              <a:t>crc</a:t>
            </a:r>
            <a:endParaRPr lang="fr-FR" sz="1400" dirty="0"/>
          </a:p>
          <a:p>
            <a:r>
              <a:rPr lang="fr-FR" sz="1400" dirty="0"/>
              <a:t>🔓 On déchiffre la signature avec la clé publique </a:t>
            </a:r>
          </a:p>
          <a:p>
            <a:r>
              <a:rPr lang="fr-FR" sz="1400" dirty="0"/>
              <a:t>🔄 On compare les deux </a:t>
            </a:r>
            <a:r>
              <a:rPr lang="fr-FR" sz="1400" dirty="0" err="1"/>
              <a:t>hashes</a:t>
            </a:r>
            <a:r>
              <a:rPr lang="fr-FR" sz="1400" dirty="0"/>
              <a:t> </a:t>
            </a:r>
          </a:p>
          <a:p>
            <a:r>
              <a:rPr lang="fr-FR" sz="1400" b="1" dirty="0"/>
              <a:t>✅ Résultat</a:t>
            </a:r>
          </a:p>
          <a:p>
            <a:pPr lvl="1"/>
            <a:r>
              <a:rPr lang="fr-FR" sz="1000" dirty="0"/>
              <a:t>✔️ Hash identique → signature valide </a:t>
            </a:r>
          </a:p>
          <a:p>
            <a:pPr lvl="1"/>
            <a:r>
              <a:rPr lang="fr-FR" sz="1000" dirty="0"/>
              <a:t>❌ Différent → document modifié ou faux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🧠 A noter :</a:t>
            </a:r>
          </a:p>
          <a:p>
            <a:r>
              <a:rPr lang="fr-FR" sz="1400" dirty="0"/>
              <a:t>seule la </a:t>
            </a:r>
            <a:r>
              <a:rPr lang="fr-FR" sz="1400" b="1" dirty="0"/>
              <a:t>clé privée</a:t>
            </a:r>
            <a:r>
              <a:rPr lang="fr-FR" sz="1400" dirty="0"/>
              <a:t> peut créer la signature </a:t>
            </a:r>
          </a:p>
          <a:p>
            <a:r>
              <a:rPr lang="fr-FR" sz="1400" dirty="0"/>
              <a:t>tout le monde peut vérifier avec la </a:t>
            </a:r>
            <a:r>
              <a:rPr lang="fr-FR" sz="1400" b="1" dirty="0"/>
              <a:t>clé publique</a:t>
            </a:r>
          </a:p>
          <a:p>
            <a:r>
              <a:rPr lang="fr-FR" sz="1400" dirty="0"/>
              <a:t>la signature ne porte pas sur le document entier, mais sur son </a:t>
            </a:r>
            <a:r>
              <a:rPr lang="fr-FR" sz="1400" b="1" dirty="0"/>
              <a:t>empreinte unique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0AA3BB2-B4E2-98D5-917E-3F338BB5CA6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1C8D95A-3155-6F88-B179-D95589600835}"/>
              </a:ext>
            </a:extLst>
          </p:cNvPr>
          <p:cNvSpPr txBox="1"/>
          <p:nvPr/>
        </p:nvSpPr>
        <p:spPr>
          <a:xfrm>
            <a:off x="4139952" y="4653136"/>
            <a:ext cx="439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dirty="0"/>
              <a:t>🔥 </a:t>
            </a:r>
            <a:r>
              <a:rPr lang="fr-FR" sz="1600" b="1" dirty="0"/>
              <a:t>Conséquence : </a:t>
            </a:r>
            <a:r>
              <a:rPr lang="fr-FR" sz="1600" dirty="0"/>
              <a:t>Si on modifie 1 caractère 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hash change complètement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signature devient invalide</a:t>
            </a:r>
          </a:p>
        </p:txBody>
      </p:sp>
    </p:spTree>
    <p:extLst>
      <p:ext uri="{BB962C8B-B14F-4D97-AF65-F5344CB8AC3E}">
        <p14:creationId xmlns:p14="http://schemas.microsoft.com/office/powerpoint/2010/main" val="119634314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A2199-F42F-EAF8-7583-5F7CE2E6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9BD607E-F4F1-3C51-8E03-200279EB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129</a:t>
            </a:fld>
            <a:endParaRPr lang="en-US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497D1-8BD3-0ACE-174B-035B0FD05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Chiffrement symétrique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Chiffrement asymétrique :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0A0CCCE-F75D-CB36-D8DB-3F87B58DBDE0}"/>
              </a:ext>
            </a:extLst>
          </p:cNvPr>
          <p:cNvSpPr txBox="1"/>
          <p:nvPr/>
        </p:nvSpPr>
        <p:spPr>
          <a:xfrm>
            <a:off x="251520" y="6309320"/>
            <a:ext cx="8803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https://fr.wikipedia.org/wiki/Certificat_%C3%A9lectronique</a:t>
            </a:r>
          </a:p>
        </p:txBody>
      </p:sp>
      <p:pic>
        <p:nvPicPr>
          <p:cNvPr id="7170" name="Picture 2" descr="Clés symétriques">
            <a:extLst>
              <a:ext uri="{FF2B5EF4-FFF2-40B4-BE49-F238E27FC236}">
                <a16:creationId xmlns:a16="http://schemas.microsoft.com/office/drawing/2014/main" id="{5228E90B-10F0-3CC4-7968-624D1A188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26" y="1642647"/>
            <a:ext cx="4392488" cy="10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ssymétrie signature vs chiffrement.">
            <a:extLst>
              <a:ext uri="{FF2B5EF4-FFF2-40B4-BE49-F238E27FC236}">
                <a16:creationId xmlns:a16="http://schemas.microsoft.com/office/drawing/2014/main" id="{4681797A-4D97-2F0D-D1E0-3AB6DEFC4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097987"/>
            <a:ext cx="4608512" cy="234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C9C7AAC-275E-6108-8310-0D2FDBB32FD0}"/>
              </a:ext>
            </a:extLst>
          </p:cNvPr>
          <p:cNvSpPr txBox="1"/>
          <p:nvPr/>
        </p:nvSpPr>
        <p:spPr>
          <a:xfrm>
            <a:off x="5508104" y="2760591"/>
            <a:ext cx="35471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/>
              <a:t>Clé publique : </a:t>
            </a:r>
            <a:r>
              <a:rPr lang="fr-FR" sz="2400" i="1" dirty="0"/>
              <a:t>Comment être sûr qu’il s’agit de la clé de Anne ?</a:t>
            </a:r>
          </a:p>
          <a:p>
            <a:endParaRPr lang="fr-FR" sz="2400" i="1" dirty="0"/>
          </a:p>
          <a:p>
            <a:r>
              <a:rPr lang="fr-FR" sz="2400" dirty="0"/>
              <a:t>=&gt; Solution : Certificats</a:t>
            </a:r>
          </a:p>
        </p:txBody>
      </p:sp>
    </p:spTree>
    <p:extLst>
      <p:ext uri="{BB962C8B-B14F-4D97-AF65-F5344CB8AC3E}">
        <p14:creationId xmlns:p14="http://schemas.microsoft.com/office/powerpoint/2010/main" val="130202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ED40-785B-7FD5-B72C-6F6CFA36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2286-7D8C-CE29-408B-3C129828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63CD6-7E05-E929-83E6-263BBEE96B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/>
              <a:t>🧾 Un certificat est un document signé par une autorité de certification (CA)</a:t>
            </a:r>
          </a:p>
          <a:p>
            <a:r>
              <a:rPr lang="fr-FR" sz="1600" dirty="0"/>
              <a:t>👉 Il contient :</a:t>
            </a:r>
          </a:p>
          <a:p>
            <a:pPr lvl="1"/>
            <a:r>
              <a:rPr lang="fr-FR" sz="1200" dirty="0"/>
              <a:t>🔓 une </a:t>
            </a:r>
            <a:r>
              <a:rPr lang="fr-FR" sz="1200" b="1" dirty="0"/>
              <a:t>clé publique</a:t>
            </a:r>
            <a:r>
              <a:rPr lang="fr-FR" sz="1200" dirty="0"/>
              <a:t> (</a:t>
            </a:r>
            <a:r>
              <a:rPr lang="fr-FR" sz="1200" i="1" dirty="0"/>
              <a:t>du site</a:t>
            </a:r>
            <a:r>
              <a:rPr lang="fr-FR" sz="1200" dirty="0"/>
              <a:t>)</a:t>
            </a:r>
          </a:p>
          <a:p>
            <a:pPr lvl="1"/>
            <a:r>
              <a:rPr lang="fr-FR" sz="1200" dirty="0"/>
              <a:t>🌐 une </a:t>
            </a:r>
            <a:r>
              <a:rPr lang="fr-FR" sz="1200" b="1" dirty="0"/>
              <a:t>identité</a:t>
            </a:r>
            <a:r>
              <a:rPr lang="fr-FR" sz="1200" dirty="0"/>
              <a:t> (ex : </a:t>
            </a:r>
            <a:r>
              <a:rPr lang="fr-FR" sz="1200" i="1" dirty="0"/>
              <a:t>www.monsite.com</a:t>
            </a:r>
            <a:r>
              <a:rPr lang="fr-FR" sz="1200" dirty="0"/>
              <a:t>) </a:t>
            </a:r>
          </a:p>
          <a:p>
            <a:pPr lvl="1"/>
            <a:r>
              <a:rPr lang="fr-FR" sz="1200" dirty="0"/>
              <a:t>📅 une </a:t>
            </a:r>
            <a:r>
              <a:rPr lang="fr-FR" sz="1200" b="1" dirty="0"/>
              <a:t>date de validité</a:t>
            </a:r>
            <a:r>
              <a:rPr lang="fr-FR" sz="1200" dirty="0"/>
              <a:t> </a:t>
            </a:r>
          </a:p>
          <a:p>
            <a:pPr lvl="1"/>
            <a:r>
              <a:rPr lang="fr-FR" sz="1200" dirty="0"/>
              <a:t>🏛️ le nom de l’émetteur</a:t>
            </a:r>
          </a:p>
          <a:p>
            <a:pPr lvl="1"/>
            <a:r>
              <a:rPr lang="fr-FR" sz="1200" dirty="0"/>
              <a:t>🏢 des informations (organisation…) </a:t>
            </a:r>
          </a:p>
          <a:p>
            <a:r>
              <a:rPr lang="fr-FR" sz="1600" b="1" dirty="0"/>
              <a:t>✍️</a:t>
            </a:r>
            <a:r>
              <a:rPr lang="fr-FR" sz="2000" b="1" dirty="0"/>
              <a:t> </a:t>
            </a:r>
            <a:r>
              <a:rPr lang="fr-FR" sz="1600" dirty="0"/>
              <a:t>Il est signé par une autorité de certification (CA : </a:t>
            </a:r>
            <a:r>
              <a:rPr lang="fr-FR" sz="1600" dirty="0" err="1"/>
              <a:t>Certificate</a:t>
            </a:r>
            <a:r>
              <a:rPr lang="fr-FR" sz="1600" dirty="0"/>
              <a:t> </a:t>
            </a:r>
            <a:r>
              <a:rPr lang="fr-FR" sz="1600" dirty="0" err="1"/>
              <a:t>Authority</a:t>
            </a:r>
            <a:r>
              <a:rPr lang="fr-FR" sz="1600" dirty="0"/>
              <a:t>)</a:t>
            </a:r>
          </a:p>
          <a:p>
            <a:pPr lvl="1"/>
            <a:r>
              <a:rPr lang="fr-FR" sz="1200" dirty="0"/>
              <a:t>🔍 vérifie l’identité du site </a:t>
            </a:r>
          </a:p>
          <a:p>
            <a:pPr lvl="1"/>
            <a:r>
              <a:rPr lang="fr-FR" sz="1200" dirty="0"/>
              <a:t>🔐 signe le certificat avec la </a:t>
            </a:r>
            <a:r>
              <a:rPr lang="fr-FR" sz="1200" b="1" dirty="0"/>
              <a:t>clé privée du CA</a:t>
            </a:r>
            <a:endParaRPr lang="fr-FR" sz="1200" dirty="0"/>
          </a:p>
          <a:p>
            <a:pPr marL="0" indent="0">
              <a:buNone/>
            </a:pPr>
            <a:r>
              <a:rPr lang="fr-FR" sz="1600" b="1" dirty="0"/>
              <a:t>🔍 Le navigateur vérifie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🔓 possède la </a:t>
            </a:r>
            <a:r>
              <a:rPr lang="fr-FR" sz="1600" b="1" dirty="0"/>
              <a:t>clé publique de la CA</a:t>
            </a:r>
            <a:r>
              <a:rPr lang="fr-FR" sz="1600" dirty="0"/>
              <a:t> (déjà installée)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📜 reçoit le certificat du site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✍️ vérifie la signature </a:t>
            </a:r>
          </a:p>
          <a:p>
            <a:pPr marL="0" indent="0">
              <a:buNone/>
            </a:pPr>
            <a:r>
              <a:rPr lang="fr-FR" sz="1400" b="1" dirty="0"/>
              <a:t>      ✅ Résultat</a:t>
            </a:r>
          </a:p>
          <a:p>
            <a:pPr lvl="1"/>
            <a:r>
              <a:rPr lang="fr-FR" sz="1200" dirty="0"/>
              <a:t>✔️ Signature valide → confiance </a:t>
            </a:r>
          </a:p>
          <a:p>
            <a:pPr lvl="1"/>
            <a:r>
              <a:rPr lang="fr-FR" sz="1200" dirty="0"/>
              <a:t>❌ Signature invalide → alerte sécurité </a:t>
            </a:r>
          </a:p>
          <a:p>
            <a:pPr marL="0" indent="0">
              <a:buNone/>
            </a:pPr>
            <a:r>
              <a:rPr lang="fr-FR" sz="1600" b="1" dirty="0"/>
              <a:t>🎤 A noter </a:t>
            </a:r>
          </a:p>
          <a:p>
            <a:r>
              <a:rPr lang="fr-FR" sz="1600" dirty="0"/>
              <a:t>📜 Un certificat = </a:t>
            </a:r>
            <a:r>
              <a:rPr lang="fr-FR" sz="1600" b="1" dirty="0"/>
              <a:t>clé publique + identité + signature vérifiable</a:t>
            </a:r>
            <a:endParaRPr lang="fr-FR" sz="1600" dirty="0"/>
          </a:p>
          <a:p>
            <a:r>
              <a:rPr lang="fr-FR" sz="1600" dirty="0"/>
              <a:t>“</a:t>
            </a:r>
            <a:r>
              <a:rPr lang="fr-FR" sz="1600" i="1" dirty="0"/>
              <a:t>On ne fait pas confiance au site, on fait confiance à celui qui l’a signé.</a:t>
            </a:r>
            <a:r>
              <a:rPr lang="fr-FR" sz="1600" dirty="0"/>
              <a:t>”</a:t>
            </a:r>
          </a:p>
          <a:p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890727-7D93-9392-4C1A-A23ECA97B9F1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5270138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AA1D3-AAD4-6115-C965-EF19BC70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4BDC-5B5F-CC0C-FA34-21562C27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 et </a:t>
            </a:r>
            <a:r>
              <a:rPr lang="en-US" dirty="0" err="1"/>
              <a:t>clés</a:t>
            </a:r>
            <a:endParaRPr lang="en-US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1DB83C6-B116-CA4F-E6DB-25528B2A3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082439"/>
              </p:ext>
            </p:extLst>
          </p:nvPr>
        </p:nvGraphicFramePr>
        <p:xfrm>
          <a:off x="368077" y="1052736"/>
          <a:ext cx="8407846" cy="1950720"/>
        </p:xfrm>
        <a:graphic>
          <a:graphicData uri="http://schemas.openxmlformats.org/drawingml/2006/table">
            <a:tbl>
              <a:tblPr/>
              <a:tblGrid>
                <a:gridCol w="1056508">
                  <a:extLst>
                    <a:ext uri="{9D8B030D-6E8A-4147-A177-3AD203B41FA5}">
                      <a16:colId xmlns:a16="http://schemas.microsoft.com/office/drawing/2014/main" val="1986867329"/>
                    </a:ext>
                  </a:extLst>
                </a:gridCol>
                <a:gridCol w="2149454">
                  <a:extLst>
                    <a:ext uri="{9D8B030D-6E8A-4147-A177-3AD203B41FA5}">
                      <a16:colId xmlns:a16="http://schemas.microsoft.com/office/drawing/2014/main" val="324412705"/>
                    </a:ext>
                  </a:extLst>
                </a:gridCol>
                <a:gridCol w="2753612">
                  <a:extLst>
                    <a:ext uri="{9D8B030D-6E8A-4147-A177-3AD203B41FA5}">
                      <a16:colId xmlns:a16="http://schemas.microsoft.com/office/drawing/2014/main" val="69154444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9558676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Sert à quoi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Utilisée quand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433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🔐 Clé privée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✍️ Signe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Création du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236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🔍 Vérifie la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Navigateur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717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🔐 Clé privée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🔒 Déchiffre / prouve son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Connexion TLS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341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📜 Incluse dans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Transmise au client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08585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A6B7E1DC-D36D-F1F9-9F51-BE5E246CF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140968"/>
            <a:ext cx="7210364" cy="344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379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87C87-7E83-49C3-621C-4C87815C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1B567-A12C-C012-F14D-3FB30BB4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0CD08-FB56-51BE-02E9-87F0CC4D0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35490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Le tiers de confiance est celui qui va permettre d’authentifier l’identité des correspondants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RA : Vérifie l’identité du demandeur</a:t>
            </a:r>
          </a:p>
          <a:p>
            <a:pPr marL="0" indent="0">
              <a:buNone/>
            </a:pPr>
            <a:r>
              <a:rPr lang="fr-FR" sz="1600" dirty="0"/>
              <a:t>CA : Signe</a:t>
            </a:r>
          </a:p>
          <a:p>
            <a:pPr marL="0" indent="0">
              <a:buNone/>
            </a:pPr>
            <a:r>
              <a:rPr lang="fr-FR" sz="1600" dirty="0"/>
              <a:t>VA : Vérifie que c’est toujours valide (certificat non révoqué)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Ex de CA : </a:t>
            </a:r>
            <a:r>
              <a:rPr lang="fr-FR" sz="1600" dirty="0" err="1"/>
              <a:t>DigiCert</a:t>
            </a:r>
            <a:r>
              <a:rPr lang="fr-FR" sz="1600" dirty="0"/>
              <a:t> (ex </a:t>
            </a:r>
            <a:r>
              <a:rPr lang="fr-FR" sz="1600" dirty="0" err="1"/>
              <a:t>VeriSign</a:t>
            </a:r>
            <a:r>
              <a:rPr lang="fr-FR" sz="1600" dirty="0"/>
              <a:t>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Chaine de confiance 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Certificat du site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intermédiaire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racine (root)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2D1596-D469-028B-8CBF-7CA300CC3E2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B10692F2-ED96-FBC5-CCED-97B37E792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726075"/>
            <a:ext cx="4932040" cy="3488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8AB06DA-E1B5-BD77-561F-DE1D2AC736A5}"/>
              </a:ext>
            </a:extLst>
          </p:cNvPr>
          <p:cNvSpPr txBox="1"/>
          <p:nvPr/>
        </p:nvSpPr>
        <p:spPr>
          <a:xfrm>
            <a:off x="179512" y="6381328"/>
            <a:ext cx="90730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https://fr.wikipedia.org/wiki/Infrastructure_%C3%A0_cl%C3%A9s_publiques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D369BB6-977E-FC64-58C2-4407C5D5ED55}"/>
              </a:ext>
            </a:extLst>
          </p:cNvPr>
          <p:cNvSpPr txBox="1"/>
          <p:nvPr/>
        </p:nvSpPr>
        <p:spPr>
          <a:xfrm>
            <a:off x="4572000" y="4464113"/>
            <a:ext cx="4680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Diagramme de principe d'une autorité de certification, exemple d'infrastructure à clés publiques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CA : autorité de certification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VA : autorité de validation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RA : autorité d'enregistrement.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98303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E0FF-1964-43D9-CA40-1C604D0D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F4D8FE9-86AD-309E-6F05-7905B5A6A0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10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DC05D-F7F2-6DDE-BE47-969A47D411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identities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6872945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dans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stocké dans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identité Azure AD automatiquement gérée pour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certificat SSL pour sécuriser les échanges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compte utilisateur classique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91658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75" y="3518057"/>
            <a:ext cx="786791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Une Managed Identity est une identité Azure AD liée à une ressource et gérée automatiquement par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classique SQL Server avec AD</a:t>
            </a:r>
            <a:br>
              <a:rPr lang="fr-FR" dirty="0"/>
            </a:b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Integrated</a:t>
            </a:r>
            <a:br>
              <a:rPr lang="fr-FR" sz="1600" dirty="0"/>
            </a:br>
            <a:r>
              <a:rPr lang="fr-FR" sz="1600" dirty="0"/>
              <a:t>👉 C’est </a:t>
            </a:r>
            <a:r>
              <a:rPr lang="fr-FR" sz="1600" b="1" dirty="0"/>
              <a:t>l’AD qui authentifie votre identité Windows</a:t>
            </a:r>
            <a:endParaRPr lang="fr-FR" sz="1600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</a:t>
            </a:r>
            <a:r>
              <a:rPr lang="fr-FR" dirty="0" err="1"/>
              <a:t>Managed</a:t>
            </a:r>
            <a:r>
              <a:rPr lang="fr-FR" dirty="0"/>
              <a:t> Identity</a:t>
            </a:r>
          </a:p>
          <a:p>
            <a:pPr>
              <a:defRPr sz="1600"/>
            </a:pP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Default</a:t>
            </a:r>
            <a:br>
              <a:rPr lang="fr-FR" sz="1600" dirty="0"/>
            </a:br>
            <a:r>
              <a:rPr lang="fr-FR" sz="1600" dirty="0"/>
              <a:t>👉 C’est Azure qui : </a:t>
            </a:r>
          </a:p>
          <a:p>
            <a:r>
              <a:rPr lang="fr-FR" sz="1600" dirty="0"/>
              <a:t>- identifie la ressource </a:t>
            </a:r>
          </a:p>
          <a:p>
            <a:r>
              <a:rPr lang="fr-FR" sz="1600" dirty="0"/>
              <a:t>- demande un </a:t>
            </a:r>
            <a:r>
              <a:rPr lang="fr-FR" sz="1600" dirty="0" err="1"/>
              <a:t>token</a:t>
            </a:r>
            <a:r>
              <a:rPr lang="fr-FR" sz="1600" dirty="0"/>
              <a:t> à Microsoft Entra ID </a:t>
            </a:r>
          </a:p>
          <a:p>
            <a:r>
              <a:rPr lang="fr-FR" sz="1600" dirty="0"/>
              <a:t>- envoie ce </a:t>
            </a:r>
            <a:r>
              <a:rPr lang="fr-FR" sz="1600" dirty="0" err="1"/>
              <a:t>token</a:t>
            </a:r>
            <a:r>
              <a:rPr lang="fr-FR" sz="1600" dirty="0"/>
              <a:t> à SQL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815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5B0EE99-7EDD-AA37-C026-15CA3726F1C0}"/>
              </a:ext>
            </a:extLst>
          </p:cNvPr>
          <p:cNvSpPr txBox="1"/>
          <p:nvPr/>
        </p:nvSpPr>
        <p:spPr>
          <a:xfrm>
            <a:off x="5724771" y="5164661"/>
            <a:ext cx="34192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👉 Pas de mot de passe</a:t>
            </a:r>
            <a:br>
              <a:rPr lang="fr-FR" sz="1600" dirty="0"/>
            </a:br>
            <a:r>
              <a:rPr lang="fr-FR" sz="1600" dirty="0"/>
              <a:t>➡️ SQL Server fait confiance à l’AD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7BC9A426-2966-B617-15FE-26F650721B6E}"/>
              </a:ext>
            </a:extLst>
          </p:cNvPr>
          <p:cNvSpPr/>
          <p:nvPr/>
        </p:nvSpPr>
        <p:spPr>
          <a:xfrm>
            <a:off x="5292080" y="4149080"/>
            <a:ext cx="504056" cy="26621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l’objectif principal d’utiliser une Managed Identity dans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les coûts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le </a:t>
            </a:r>
            <a:r>
              <a:rPr lang="fr-FR" sz="2000" dirty="0" err="1"/>
              <a:t>scaling</a:t>
            </a:r>
            <a:r>
              <a:rPr lang="fr-FR" sz="2000" dirty="0"/>
              <a:t>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Éviter de stocker des identifiants dans le code ou la configuration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remplace les credentials stockés en clair.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9252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une Managed Identity System Assigned et User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partagée, User Assigned est unique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liée à une ressource, User Assigned est réutilisable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User Assigned est automatique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014EB5E-7AE8-EBFD-F8F2-0271DA4E0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067382"/>
              </p:ext>
            </p:extLst>
          </p:nvPr>
        </p:nvGraphicFramePr>
        <p:xfrm>
          <a:off x="452389" y="4869160"/>
          <a:ext cx="8431481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088682">
                  <a:extLst>
                    <a:ext uri="{9D8B030D-6E8A-4147-A177-3AD203B41FA5}">
                      <a16:colId xmlns:a16="http://schemas.microsoft.com/office/drawing/2014/main" val="214232161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564264040"/>
                    </a:ext>
                  </a:extLst>
                </a:gridCol>
                <a:gridCol w="3750511">
                  <a:extLst>
                    <a:ext uri="{9D8B030D-6E8A-4147-A177-3AD203B41FA5}">
                      <a16:colId xmlns:a16="http://schemas.microsoft.com/office/drawing/2014/main" val="2491635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Visible dans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159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System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attachée à une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La ressource / 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1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User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peut être partagée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</a:t>
                      </a:r>
                      <a:r>
                        <a:rPr lang="fr-FR" sz="1600" dirty="0" err="1"/>
                        <a:t>Identities</a:t>
                      </a:r>
                      <a:endParaRPr lang="fr-F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79152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vous supprimez une ressource avec une Managed Identity System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supprimée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conservée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devient User Assigned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désactivée mais conservée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1195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System Assigned est supprimée avec la ressource.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à Azure SQL échoue-t-elle avant d’avoir configuré les rôles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base n’existe pas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firewall bloque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Managed Identity n’a pas de droits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serveur est arrêté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273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Sans rôle SQL, la Managed Identity ne peut pas accéder à la base.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commande SQL permet d’autoriser une Managed Identity à accéder à une base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GRANT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ADD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USER FROM EXTERNAL PROVIDER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0561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346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La commande CREATE USER FROM EXTERNAL PROVIDER permet d’ajouter une identité Azure AD.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30901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SQL est nécessaire pour lire et écrire des données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db_securityadmin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et </a:t>
            </a:r>
            <a:r>
              <a:rPr lang="fr-FR" sz="2000" dirty="0" err="1"/>
              <a:t>db_datawriter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2930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db_datareader permet la lecture et db_datawriter l’écriture.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6414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le paramètre </a:t>
            </a:r>
            <a:r>
              <a:rPr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Authentication=Active Directory Default </a:t>
            </a:r>
            <a:r>
              <a:rPr sz="2000" dirty="0"/>
              <a:t>dans une connection string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un mot de passe stocké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la Managed Identity ou DefaultAzureCredential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Désactive l’authentification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Force l’authentification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480723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0559" y="3545152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permet d’utiliser Azure AD via DefaultAzureCredential.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20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C70EE86-CAD7-1CAF-2B59-D64FCAA9D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209632"/>
              </p:ext>
            </p:extLst>
          </p:nvPr>
        </p:nvGraphicFramePr>
        <p:xfrm>
          <a:off x="179512" y="4037306"/>
          <a:ext cx="8641407" cy="2225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469">
                  <a:extLst>
                    <a:ext uri="{9D8B030D-6E8A-4147-A177-3AD203B41FA5}">
                      <a16:colId xmlns:a16="http://schemas.microsoft.com/office/drawing/2014/main" val="960351827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650378711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375118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Mécanismes testés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Identité utilisée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748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600"/>
                        <a:t>🖥️ Local (Visual Studio / dev)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Session Visual Studio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 err="1"/>
                        <a:t>az</a:t>
                      </a:r>
                      <a:r>
                        <a:rPr lang="fr-FR" sz="1600" dirty="0"/>
                        <a:t> login (Azure CLI)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Compte Windows (si applicable)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Votre compte Azure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développeur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699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☁️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</a:t>
                      </a:r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Identité de la ressource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applicative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43054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de Azure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des bases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applications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secrets de manière sécurisée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81768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Vault sert à stocker secrets, clés et certificats.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ne stocke-t-on pas de mot de passe SQL dans Key Vault dans le 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Key Vault est payant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on utilise Managed Identity à la place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SQL n’accepte pas les mots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Azure interdit cela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36510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Managed Identity remplace totalement le besoin de mot de passe.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droit faut-il attribuer à une Web App pour accéder à Key Vault (RBAC)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Contributor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 Secrets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Owner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Key Vault Secrets User permet de lire les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la Web App n’a pas accès au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ignore le secret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plante avec une erreur d’accès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utilise une valeur par défaut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redémarre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erreur d’accès (403) est générée.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.NET permet d’utiliser facilement Managed Identity en local et en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SqlConnection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AzureCredentialManager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DefaultAzureCredential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IdentityClient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75623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DefaultAzureCredential s’adapte automatiquement à l’environnement.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fonctionne en local mais pas sur Azure avant configuration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code est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n’a pas de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identités et droits sont différents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port est bloqué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Local utilise votre compte, Azure utilise la Managed Identity.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supprimer les connection strings avec mot de passe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la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Faciliter le debug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3132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Supprimer les secrets réduit fortement les risques de fuite.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d’erreur indique un problème de permissions avec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404 Not Found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403 Forbidden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500 Internal Server Error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200 OK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403 indique un problème d’autorisation.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13961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Peut-on utiliser Managed Identity en local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Visual Studio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uniquement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Non, mais </a:t>
            </a:r>
            <a:r>
              <a:rPr lang="fr-FR" sz="2000" dirty="0" err="1"/>
              <a:t>DefaultAzureCredential</a:t>
            </a:r>
            <a:r>
              <a:rPr lang="fr-FR" sz="2000" dirty="0"/>
              <a:t> permet une authentification équivalente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9360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Au sens strict, il n’est pas possible d’utiliser une </a:t>
            </a:r>
            <a:r>
              <a:rPr lang="fr-FR" dirty="0" err="1"/>
              <a:t>Managed</a:t>
            </a:r>
            <a:r>
              <a:rPr lang="fr-FR" dirty="0"/>
              <a:t> Identity en local.</a:t>
            </a:r>
          </a:p>
          <a:p>
            <a:pPr>
              <a:defRPr sz="1600"/>
            </a:pPr>
            <a:r>
              <a:rPr lang="fr-FR" dirty="0"/>
              <a:t>Mais vous pouvez obtenir le même résultat fonctionnel avec </a:t>
            </a:r>
            <a:r>
              <a:rPr lang="fr-FR" dirty="0" err="1"/>
              <a:t>DefaultAzureCredential</a:t>
            </a:r>
            <a:r>
              <a:rPr dirty="0"/>
              <a:t>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fournit les tokens pour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EntraID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658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6006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 err="1"/>
              <a:t>EntraID</a:t>
            </a:r>
            <a:r>
              <a:rPr lang="fr-FR" dirty="0"/>
              <a:t> (nouveau nom de </a:t>
            </a:r>
            <a:r>
              <a:rPr dirty="0"/>
              <a:t>Azure AD</a:t>
            </a:r>
            <a:r>
              <a:rPr lang="fr-FR" dirty="0"/>
              <a:t>)</a:t>
            </a:r>
            <a:r>
              <a:rPr dirty="0"/>
              <a:t> émet les tokens d’authentification.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96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principal avantage de Key Vault + Managed Identity combinés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simple à coder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Zéro secret dans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On élimine totalement les secrets dans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6198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quel cas utiliseriez-vous encore un secret dans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Jamais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des accès externes non compatibles Managed 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Azure SQL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remplacer les logs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Certains services externes nécessitent encore des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318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70E2-1C2C-35CC-5973-6C6A096D0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D9EEC-8AD4-D38F-E4EF-5FAA10E50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F751-ACC4-96D9-3D48-3B274D125A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CC13E4-4D5E-91ED-58B1-DB7A6074D46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625CC5-DD6B-E9D9-0B8F-F846F6A4A96B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DEDB9A-0E93-F8E6-201E-1FC402B3C7D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180C89-C736-8A06-9D51-E02FF0D68280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54024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11808</Words>
  <Application>Microsoft Office PowerPoint</Application>
  <PresentationFormat>Affichage à l'écran (4:3)</PresentationFormat>
  <Paragraphs>2421</Paragraphs>
  <Slides>156</Slides>
  <Notes>91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156</vt:i4>
      </vt:variant>
    </vt:vector>
  </HeadingPairs>
  <TitlesOfParts>
    <vt:vector size="169" baseType="lpstr">
      <vt:lpstr>Arial</vt:lpstr>
      <vt:lpstr>Arial Black</vt:lpstr>
      <vt:lpstr>Calibri</vt:lpstr>
      <vt:lpstr>Cambria Math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Chiffrement Symétique et Asymétrique</vt:lpstr>
      <vt:lpstr>Utilisation des 2 : Symétrique et Asymétrique</vt:lpstr>
      <vt:lpstr>Clés publiques / privées</vt:lpstr>
      <vt:lpstr>Clés publiques / privées - Principes</vt:lpstr>
      <vt:lpstr>Chiffrement clé asymétrique</vt:lpstr>
      <vt:lpstr>Signature clé asymétrique</vt:lpstr>
      <vt:lpstr>Clés publiques / privées</vt:lpstr>
      <vt:lpstr>Certificats</vt:lpstr>
      <vt:lpstr>Certificats et clés</vt:lpstr>
      <vt:lpstr>Chiffrement clé asymétrique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378</cp:revision>
  <cp:lastPrinted>2012-08-28T00:39:50Z</cp:lastPrinted>
  <dcterms:created xsi:type="dcterms:W3CDTF">2012-09-10T15:00:36Z</dcterms:created>
  <dcterms:modified xsi:type="dcterms:W3CDTF">2026-04-28T16:48:25Z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