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5" r:id="rId5"/>
    <p:sldMasterId id="2147483679" r:id="rId6"/>
  </p:sldMasterIdLst>
  <p:notesMasterIdLst>
    <p:notesMasterId r:id="rId383"/>
  </p:notesMasterIdLst>
  <p:handoutMasterIdLst>
    <p:handoutMasterId r:id="rId384"/>
  </p:handoutMasterIdLst>
  <p:sldIdLst>
    <p:sldId id="283" r:id="rId7"/>
    <p:sldId id="515" r:id="rId8"/>
    <p:sldId id="717" r:id="rId9"/>
    <p:sldId id="683" r:id="rId10"/>
    <p:sldId id="716" r:id="rId11"/>
    <p:sldId id="702" r:id="rId12"/>
    <p:sldId id="676" r:id="rId13"/>
    <p:sldId id="693" r:id="rId14"/>
    <p:sldId id="694" r:id="rId15"/>
    <p:sldId id="695" r:id="rId16"/>
    <p:sldId id="696" r:id="rId17"/>
    <p:sldId id="697" r:id="rId18"/>
    <p:sldId id="698" r:id="rId19"/>
    <p:sldId id="699" r:id="rId20"/>
    <p:sldId id="703" r:id="rId21"/>
    <p:sldId id="692" r:id="rId22"/>
    <p:sldId id="677" r:id="rId23"/>
    <p:sldId id="679" r:id="rId24"/>
    <p:sldId id="680" r:id="rId25"/>
    <p:sldId id="705" r:id="rId26"/>
    <p:sldId id="681" r:id="rId27"/>
    <p:sldId id="684" r:id="rId28"/>
    <p:sldId id="682" r:id="rId29"/>
    <p:sldId id="706" r:id="rId30"/>
    <p:sldId id="707" r:id="rId31"/>
    <p:sldId id="708" r:id="rId32"/>
    <p:sldId id="709" r:id="rId33"/>
    <p:sldId id="713" r:id="rId34"/>
    <p:sldId id="710" r:id="rId35"/>
    <p:sldId id="711" r:id="rId36"/>
    <p:sldId id="712" r:id="rId37"/>
    <p:sldId id="715" r:id="rId38"/>
    <p:sldId id="714" r:id="rId39"/>
    <p:sldId id="720" r:id="rId40"/>
    <p:sldId id="690" r:id="rId41"/>
    <p:sldId id="721" r:id="rId42"/>
    <p:sldId id="722" r:id="rId43"/>
    <p:sldId id="723" r:id="rId44"/>
    <p:sldId id="724" r:id="rId45"/>
    <p:sldId id="725" r:id="rId46"/>
    <p:sldId id="726" r:id="rId47"/>
    <p:sldId id="727" r:id="rId48"/>
    <p:sldId id="728" r:id="rId49"/>
    <p:sldId id="685" r:id="rId50"/>
    <p:sldId id="718" r:id="rId51"/>
    <p:sldId id="729" r:id="rId52"/>
    <p:sldId id="730" r:id="rId53"/>
    <p:sldId id="731" r:id="rId54"/>
    <p:sldId id="691" r:id="rId55"/>
    <p:sldId id="732" r:id="rId56"/>
    <p:sldId id="686" r:id="rId57"/>
    <p:sldId id="734" r:id="rId58"/>
    <p:sldId id="735" r:id="rId59"/>
    <p:sldId id="736" r:id="rId60"/>
    <p:sldId id="741" r:id="rId61"/>
    <p:sldId id="738" r:id="rId62"/>
    <p:sldId id="737" r:id="rId63"/>
    <p:sldId id="739" r:id="rId64"/>
    <p:sldId id="740" r:id="rId65"/>
    <p:sldId id="742" r:id="rId66"/>
    <p:sldId id="688" r:id="rId67"/>
    <p:sldId id="743" r:id="rId68"/>
    <p:sldId id="747" r:id="rId69"/>
    <p:sldId id="748" r:id="rId70"/>
    <p:sldId id="749" r:id="rId71"/>
    <p:sldId id="750" r:id="rId72"/>
    <p:sldId id="751" r:id="rId73"/>
    <p:sldId id="760" r:id="rId74"/>
    <p:sldId id="758" r:id="rId75"/>
    <p:sldId id="757" r:id="rId76"/>
    <p:sldId id="761" r:id="rId77"/>
    <p:sldId id="762" r:id="rId78"/>
    <p:sldId id="763" r:id="rId79"/>
    <p:sldId id="689" r:id="rId80"/>
    <p:sldId id="753" r:id="rId81"/>
    <p:sldId id="752" r:id="rId82"/>
    <p:sldId id="764" r:id="rId83"/>
    <p:sldId id="765" r:id="rId84"/>
    <p:sldId id="766" r:id="rId85"/>
    <p:sldId id="767" r:id="rId86"/>
    <p:sldId id="768" r:id="rId87"/>
    <p:sldId id="261" r:id="rId88"/>
    <p:sldId id="262" r:id="rId89"/>
    <p:sldId id="263" r:id="rId90"/>
    <p:sldId id="264" r:id="rId91"/>
    <p:sldId id="265" r:id="rId92"/>
    <p:sldId id="266" r:id="rId93"/>
    <p:sldId id="267" r:id="rId94"/>
    <p:sldId id="268" r:id="rId95"/>
    <p:sldId id="270" r:id="rId96"/>
    <p:sldId id="772" r:id="rId97"/>
    <p:sldId id="783" r:id="rId98"/>
    <p:sldId id="784" r:id="rId99"/>
    <p:sldId id="785" r:id="rId100"/>
    <p:sldId id="256" r:id="rId101"/>
    <p:sldId id="257" r:id="rId102"/>
    <p:sldId id="258" r:id="rId103"/>
    <p:sldId id="259" r:id="rId104"/>
    <p:sldId id="272" r:id="rId105"/>
    <p:sldId id="795" r:id="rId106"/>
    <p:sldId id="260" r:id="rId107"/>
    <p:sldId id="793" r:id="rId108"/>
    <p:sldId id="269" r:id="rId109"/>
    <p:sldId id="798" r:id="rId110"/>
    <p:sldId id="788" r:id="rId111"/>
    <p:sldId id="789" r:id="rId112"/>
    <p:sldId id="790" r:id="rId113"/>
    <p:sldId id="791" r:id="rId114"/>
    <p:sldId id="792" r:id="rId115"/>
    <p:sldId id="794" r:id="rId116"/>
    <p:sldId id="271" r:id="rId117"/>
    <p:sldId id="273" r:id="rId118"/>
    <p:sldId id="274" r:id="rId119"/>
    <p:sldId id="275" r:id="rId120"/>
    <p:sldId id="276" r:id="rId121"/>
    <p:sldId id="796" r:id="rId122"/>
    <p:sldId id="797" r:id="rId123"/>
    <p:sldId id="799" r:id="rId124"/>
    <p:sldId id="800" r:id="rId125"/>
    <p:sldId id="801" r:id="rId126"/>
    <p:sldId id="802" r:id="rId127"/>
    <p:sldId id="809" r:id="rId128"/>
    <p:sldId id="804" r:id="rId129"/>
    <p:sldId id="805" r:id="rId130"/>
    <p:sldId id="803" r:id="rId131"/>
    <p:sldId id="806" r:id="rId132"/>
    <p:sldId id="807" r:id="rId133"/>
    <p:sldId id="810" r:id="rId134"/>
    <p:sldId id="814" r:id="rId135"/>
    <p:sldId id="811" r:id="rId136"/>
    <p:sldId id="812" r:id="rId137"/>
    <p:sldId id="813" r:id="rId138"/>
    <p:sldId id="815" r:id="rId139"/>
    <p:sldId id="816" r:id="rId140"/>
    <p:sldId id="817" r:id="rId141"/>
    <p:sldId id="818" r:id="rId142"/>
    <p:sldId id="819" r:id="rId143"/>
    <p:sldId id="820" r:id="rId144"/>
    <p:sldId id="821" r:id="rId145"/>
    <p:sldId id="822" r:id="rId146"/>
    <p:sldId id="823" r:id="rId147"/>
    <p:sldId id="824" r:id="rId148"/>
    <p:sldId id="825" r:id="rId149"/>
    <p:sldId id="826" r:id="rId150"/>
    <p:sldId id="827" r:id="rId151"/>
    <p:sldId id="828" r:id="rId152"/>
    <p:sldId id="829" r:id="rId153"/>
    <p:sldId id="830" r:id="rId154"/>
    <p:sldId id="831" r:id="rId155"/>
    <p:sldId id="832" r:id="rId156"/>
    <p:sldId id="833" r:id="rId157"/>
    <p:sldId id="834" r:id="rId158"/>
    <p:sldId id="835" r:id="rId159"/>
    <p:sldId id="836" r:id="rId160"/>
    <p:sldId id="837" r:id="rId161"/>
    <p:sldId id="838" r:id="rId162"/>
    <p:sldId id="839" r:id="rId163"/>
    <p:sldId id="840" r:id="rId164"/>
    <p:sldId id="841" r:id="rId165"/>
    <p:sldId id="842" r:id="rId166"/>
    <p:sldId id="843" r:id="rId167"/>
    <p:sldId id="844" r:id="rId168"/>
    <p:sldId id="845" r:id="rId169"/>
    <p:sldId id="846" r:id="rId170"/>
    <p:sldId id="847" r:id="rId171"/>
    <p:sldId id="848" r:id="rId172"/>
    <p:sldId id="857" r:id="rId173"/>
    <p:sldId id="849" r:id="rId174"/>
    <p:sldId id="850" r:id="rId175"/>
    <p:sldId id="851" r:id="rId176"/>
    <p:sldId id="852" r:id="rId177"/>
    <p:sldId id="853" r:id="rId178"/>
    <p:sldId id="854" r:id="rId179"/>
    <p:sldId id="855" r:id="rId180"/>
    <p:sldId id="856" r:id="rId181"/>
    <p:sldId id="858" r:id="rId182"/>
    <p:sldId id="859" r:id="rId183"/>
    <p:sldId id="860" r:id="rId184"/>
    <p:sldId id="861" r:id="rId185"/>
    <p:sldId id="862" r:id="rId186"/>
    <p:sldId id="896" r:id="rId187"/>
    <p:sldId id="863" r:id="rId188"/>
    <p:sldId id="864" r:id="rId189"/>
    <p:sldId id="865" r:id="rId190"/>
    <p:sldId id="866" r:id="rId191"/>
    <p:sldId id="867" r:id="rId192"/>
    <p:sldId id="868" r:id="rId193"/>
    <p:sldId id="869" r:id="rId194"/>
    <p:sldId id="880" r:id="rId195"/>
    <p:sldId id="870" r:id="rId196"/>
    <p:sldId id="871" r:id="rId197"/>
    <p:sldId id="881" r:id="rId198"/>
    <p:sldId id="872" r:id="rId199"/>
    <p:sldId id="873" r:id="rId200"/>
    <p:sldId id="882" r:id="rId201"/>
    <p:sldId id="883" r:id="rId202"/>
    <p:sldId id="884" r:id="rId203"/>
    <p:sldId id="877" r:id="rId204"/>
    <p:sldId id="878" r:id="rId205"/>
    <p:sldId id="879" r:id="rId206"/>
    <p:sldId id="885" r:id="rId207"/>
    <p:sldId id="886" r:id="rId208"/>
    <p:sldId id="887" r:id="rId209"/>
    <p:sldId id="888" r:id="rId210"/>
    <p:sldId id="889" r:id="rId211"/>
    <p:sldId id="890" r:id="rId212"/>
    <p:sldId id="891" r:id="rId213"/>
    <p:sldId id="892" r:id="rId214"/>
    <p:sldId id="893" r:id="rId215"/>
    <p:sldId id="959" r:id="rId216"/>
    <p:sldId id="960" r:id="rId217"/>
    <p:sldId id="961" r:id="rId218"/>
    <p:sldId id="962" r:id="rId219"/>
    <p:sldId id="963" r:id="rId220"/>
    <p:sldId id="964" r:id="rId221"/>
    <p:sldId id="965" r:id="rId222"/>
    <p:sldId id="966" r:id="rId223"/>
    <p:sldId id="967" r:id="rId224"/>
    <p:sldId id="968" r:id="rId225"/>
    <p:sldId id="969" r:id="rId226"/>
    <p:sldId id="970" r:id="rId227"/>
    <p:sldId id="971" r:id="rId228"/>
    <p:sldId id="972" r:id="rId229"/>
    <p:sldId id="973" r:id="rId230"/>
    <p:sldId id="974" r:id="rId231"/>
    <p:sldId id="975" r:id="rId232"/>
    <p:sldId id="976" r:id="rId233"/>
    <p:sldId id="977" r:id="rId234"/>
    <p:sldId id="978" r:id="rId235"/>
    <p:sldId id="894" r:id="rId236"/>
    <p:sldId id="897" r:id="rId237"/>
    <p:sldId id="898" r:id="rId238"/>
    <p:sldId id="899" r:id="rId239"/>
    <p:sldId id="900" r:id="rId240"/>
    <p:sldId id="901" r:id="rId241"/>
    <p:sldId id="902" r:id="rId242"/>
    <p:sldId id="903" r:id="rId243"/>
    <p:sldId id="904" r:id="rId244"/>
    <p:sldId id="905" r:id="rId245"/>
    <p:sldId id="906" r:id="rId246"/>
    <p:sldId id="907" r:id="rId247"/>
    <p:sldId id="908" r:id="rId248"/>
    <p:sldId id="909" r:id="rId249"/>
    <p:sldId id="910" r:id="rId250"/>
    <p:sldId id="911" r:id="rId251"/>
    <p:sldId id="912" r:id="rId252"/>
    <p:sldId id="913" r:id="rId253"/>
    <p:sldId id="914" r:id="rId254"/>
    <p:sldId id="915" r:id="rId255"/>
    <p:sldId id="916" r:id="rId256"/>
    <p:sldId id="917" r:id="rId257"/>
    <p:sldId id="895" r:id="rId258"/>
    <p:sldId id="918" r:id="rId259"/>
    <p:sldId id="919" r:id="rId260"/>
    <p:sldId id="920" r:id="rId261"/>
    <p:sldId id="921" r:id="rId262"/>
    <p:sldId id="922" r:id="rId263"/>
    <p:sldId id="923" r:id="rId264"/>
    <p:sldId id="924" r:id="rId265"/>
    <p:sldId id="925" r:id="rId266"/>
    <p:sldId id="926" r:id="rId267"/>
    <p:sldId id="927" r:id="rId268"/>
    <p:sldId id="928" r:id="rId269"/>
    <p:sldId id="929" r:id="rId270"/>
    <p:sldId id="930" r:id="rId271"/>
    <p:sldId id="931" r:id="rId272"/>
    <p:sldId id="932" r:id="rId273"/>
    <p:sldId id="933" r:id="rId274"/>
    <p:sldId id="934" r:id="rId275"/>
    <p:sldId id="935" r:id="rId276"/>
    <p:sldId id="936" r:id="rId277"/>
    <p:sldId id="937" r:id="rId278"/>
    <p:sldId id="938" r:id="rId279"/>
    <p:sldId id="939" r:id="rId280"/>
    <p:sldId id="940" r:id="rId281"/>
    <p:sldId id="941" r:id="rId282"/>
    <p:sldId id="942" r:id="rId283"/>
    <p:sldId id="943" r:id="rId284"/>
    <p:sldId id="944" r:id="rId285"/>
    <p:sldId id="945" r:id="rId286"/>
    <p:sldId id="946" r:id="rId287"/>
    <p:sldId id="947" r:id="rId288"/>
    <p:sldId id="948" r:id="rId289"/>
    <p:sldId id="949" r:id="rId290"/>
    <p:sldId id="950" r:id="rId291"/>
    <p:sldId id="951" r:id="rId292"/>
    <p:sldId id="952" r:id="rId293"/>
    <p:sldId id="953" r:id="rId294"/>
    <p:sldId id="954" r:id="rId295"/>
    <p:sldId id="955" r:id="rId296"/>
    <p:sldId id="956" r:id="rId297"/>
    <p:sldId id="957" r:id="rId298"/>
    <p:sldId id="958" r:id="rId299"/>
    <p:sldId id="979" r:id="rId300"/>
    <p:sldId id="980" r:id="rId301"/>
    <p:sldId id="981" r:id="rId302"/>
    <p:sldId id="982" r:id="rId303"/>
    <p:sldId id="983" r:id="rId304"/>
    <p:sldId id="984" r:id="rId305"/>
    <p:sldId id="985" r:id="rId306"/>
    <p:sldId id="986" r:id="rId307"/>
    <p:sldId id="987" r:id="rId308"/>
    <p:sldId id="988" r:id="rId309"/>
    <p:sldId id="989" r:id="rId310"/>
    <p:sldId id="990" r:id="rId311"/>
    <p:sldId id="991" r:id="rId312"/>
    <p:sldId id="992" r:id="rId313"/>
    <p:sldId id="993" r:id="rId314"/>
    <p:sldId id="994" r:id="rId315"/>
    <p:sldId id="995" r:id="rId316"/>
    <p:sldId id="996" r:id="rId317"/>
    <p:sldId id="997" r:id="rId318"/>
    <p:sldId id="998" r:id="rId319"/>
    <p:sldId id="999" r:id="rId320"/>
    <p:sldId id="1000" r:id="rId321"/>
    <p:sldId id="277" r:id="rId322"/>
    <p:sldId id="278" r:id="rId323"/>
    <p:sldId id="279" r:id="rId324"/>
    <p:sldId id="280" r:id="rId325"/>
    <p:sldId id="281" r:id="rId326"/>
    <p:sldId id="282" r:id="rId327"/>
    <p:sldId id="1001" r:id="rId328"/>
    <p:sldId id="284" r:id="rId329"/>
    <p:sldId id="285" r:id="rId330"/>
    <p:sldId id="1002" r:id="rId331"/>
    <p:sldId id="1003" r:id="rId332"/>
    <p:sldId id="1004" r:id="rId333"/>
    <p:sldId id="1005" r:id="rId334"/>
    <p:sldId id="1006" r:id="rId335"/>
    <p:sldId id="1007" r:id="rId336"/>
    <p:sldId id="1008" r:id="rId337"/>
    <p:sldId id="1009" r:id="rId338"/>
    <p:sldId id="1010" r:id="rId339"/>
    <p:sldId id="1011" r:id="rId340"/>
    <p:sldId id="1012" r:id="rId341"/>
    <p:sldId id="1013" r:id="rId342"/>
    <p:sldId id="1014" r:id="rId343"/>
    <p:sldId id="1015" r:id="rId344"/>
    <p:sldId id="1016" r:id="rId345"/>
    <p:sldId id="1017" r:id="rId346"/>
    <p:sldId id="1018" r:id="rId347"/>
    <p:sldId id="1019" r:id="rId348"/>
    <p:sldId id="1020" r:id="rId349"/>
    <p:sldId id="1021" r:id="rId350"/>
    <p:sldId id="1022" r:id="rId351"/>
    <p:sldId id="1023" r:id="rId352"/>
    <p:sldId id="1024" r:id="rId353"/>
    <p:sldId id="1025" r:id="rId354"/>
    <p:sldId id="1026" r:id="rId355"/>
    <p:sldId id="1027" r:id="rId356"/>
    <p:sldId id="1028" r:id="rId357"/>
    <p:sldId id="1029" r:id="rId358"/>
    <p:sldId id="1030" r:id="rId359"/>
    <p:sldId id="1031" r:id="rId360"/>
    <p:sldId id="1032" r:id="rId361"/>
    <p:sldId id="1033" r:id="rId362"/>
    <p:sldId id="1034" r:id="rId363"/>
    <p:sldId id="1035" r:id="rId364"/>
    <p:sldId id="1036" r:id="rId365"/>
    <p:sldId id="1037" r:id="rId366"/>
    <p:sldId id="1038" r:id="rId367"/>
    <p:sldId id="1039" r:id="rId368"/>
    <p:sldId id="1040" r:id="rId369"/>
    <p:sldId id="1041" r:id="rId370"/>
    <p:sldId id="1042" r:id="rId371"/>
    <p:sldId id="1043" r:id="rId372"/>
    <p:sldId id="1044" r:id="rId373"/>
    <p:sldId id="1045" r:id="rId374"/>
    <p:sldId id="1046" r:id="rId375"/>
    <p:sldId id="1047" r:id="rId376"/>
    <p:sldId id="1048" r:id="rId377"/>
    <p:sldId id="1049" r:id="rId378"/>
    <p:sldId id="1050" r:id="rId379"/>
    <p:sldId id="704" r:id="rId380"/>
    <p:sldId id="756" r:id="rId381"/>
    <p:sldId id="808" r:id="rId382"/>
  </p:sldIdLst>
  <p:sldSz cx="9144000" cy="6858000" type="screen4x3"/>
  <p:notesSz cx="7023100" cy="9309100"/>
  <p:custDataLst>
    <p:tags r:id="rId38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78DCFDFA-C649-46DB-A3ED-3FBF6C3EF1A3}">
          <p14:sldIdLst>
            <p14:sldId id="283"/>
            <p14:sldId id="515"/>
          </p14:sldIdLst>
        </p14:section>
        <p14:section name="Projet" id="{EBED56B4-3C1D-4CFD-A1D6-1A15375D1CA8}">
          <p14:sldIdLst>
            <p14:sldId id="717"/>
            <p14:sldId id="683"/>
            <p14:sldId id="716"/>
          </p14:sldIdLst>
        </p14:section>
        <p14:section name="quiz1" id="{7046F919-A105-48F5-A5F9-9DA19C9AE151}">
          <p14:sldIdLst>
            <p14:sldId id="702"/>
            <p14:sldId id="676"/>
            <p14:sldId id="693"/>
            <p14:sldId id="694"/>
            <p14:sldId id="695"/>
            <p14:sldId id="696"/>
            <p14:sldId id="697"/>
            <p14:sldId id="698"/>
            <p14:sldId id="699"/>
          </p14:sldIdLst>
        </p14:section>
        <p14:section name="quiz2" id="{7F3652BA-3E35-45E1-B71E-23B0060EE444}">
          <p14:sldIdLst>
            <p14:sldId id="703"/>
            <p14:sldId id="692"/>
            <p14:sldId id="677"/>
            <p14:sldId id="679"/>
            <p14:sldId id="680"/>
            <p14:sldId id="705"/>
            <p14:sldId id="681"/>
            <p14:sldId id="684"/>
            <p14:sldId id="682"/>
          </p14:sldIdLst>
        </p14:section>
        <p14:section name="quiz3" id="{4C473A86-CEB8-47C2-881C-D2EBC041EAD5}">
          <p14:sldIdLst>
            <p14:sldId id="706"/>
            <p14:sldId id="707"/>
            <p14:sldId id="708"/>
            <p14:sldId id="709"/>
            <p14:sldId id="713"/>
            <p14:sldId id="710"/>
            <p14:sldId id="711"/>
            <p14:sldId id="712"/>
            <p14:sldId id="715"/>
            <p14:sldId id="714"/>
          </p14:sldIdLst>
        </p14:section>
        <p14:section name="quiz4" id="{01A0A55E-AC30-4CE1-9728-6B91DC43C340}">
          <p14:sldIdLst>
            <p14:sldId id="720"/>
            <p14:sldId id="690"/>
            <p14:sldId id="721"/>
            <p14:sldId id="722"/>
            <p14:sldId id="723"/>
            <p14:sldId id="724"/>
            <p14:sldId id="725"/>
            <p14:sldId id="726"/>
            <p14:sldId id="727"/>
            <p14:sldId id="728"/>
            <p14:sldId id="685"/>
          </p14:sldIdLst>
        </p14:section>
        <p14:section name="quiz5" id="{D6C45DD4-B671-4EBA-9C29-D43279D02CB4}">
          <p14:sldIdLst>
            <p14:sldId id="718"/>
            <p14:sldId id="729"/>
            <p14:sldId id="730"/>
            <p14:sldId id="731"/>
            <p14:sldId id="691"/>
            <p14:sldId id="732"/>
            <p14:sldId id="686"/>
          </p14:sldIdLst>
        </p14:section>
        <p14:section name="Quiz6" id="{C8E57E16-58E2-45D9-8BB9-14CBAD3826FF}">
          <p14:sldIdLst>
            <p14:sldId id="734"/>
            <p14:sldId id="735"/>
            <p14:sldId id="736"/>
            <p14:sldId id="741"/>
            <p14:sldId id="738"/>
            <p14:sldId id="737"/>
            <p14:sldId id="739"/>
            <p14:sldId id="740"/>
          </p14:sldIdLst>
        </p14:section>
        <p14:section name="quiz7" id="{7D7DCE2D-6EC9-406D-9C6F-4B3C16A40121}">
          <p14:sldIdLst>
            <p14:sldId id="742"/>
            <p14:sldId id="688"/>
            <p14:sldId id="743"/>
            <p14:sldId id="747"/>
            <p14:sldId id="748"/>
            <p14:sldId id="749"/>
            <p14:sldId id="750"/>
            <p14:sldId id="751"/>
            <p14:sldId id="760"/>
            <p14:sldId id="758"/>
            <p14:sldId id="757"/>
            <p14:sldId id="761"/>
            <p14:sldId id="762"/>
          </p14:sldIdLst>
        </p14:section>
        <p14:section name="quiz8" id="{2B36A63A-8001-4B0E-A1C5-9D5D47576B16}">
          <p14:sldIdLst>
            <p14:sldId id="763"/>
            <p14:sldId id="689"/>
            <p14:sldId id="753"/>
            <p14:sldId id="752"/>
            <p14:sldId id="764"/>
            <p14:sldId id="765"/>
            <p14:sldId id="766"/>
            <p14:sldId id="767"/>
            <p14:sldId id="768"/>
            <p14:sldId id="261"/>
            <p14:sldId id="262"/>
            <p14:sldId id="263"/>
            <p14:sldId id="264"/>
            <p14:sldId id="265"/>
            <p14:sldId id="266"/>
            <p14:sldId id="267"/>
            <p14:sldId id="268"/>
            <p14:sldId id="270"/>
            <p14:sldId id="772"/>
            <p14:sldId id="783"/>
            <p14:sldId id="784"/>
          </p14:sldIdLst>
        </p14:section>
        <p14:section name="quiz9" id="{58F12FDE-D556-42EF-8AC3-F7F555F694EC}">
          <p14:sldIdLst>
            <p14:sldId id="785"/>
            <p14:sldId id="256"/>
            <p14:sldId id="257"/>
            <p14:sldId id="258"/>
            <p14:sldId id="259"/>
            <p14:sldId id="272"/>
            <p14:sldId id="795"/>
            <p14:sldId id="260"/>
            <p14:sldId id="793"/>
            <p14:sldId id="269"/>
            <p14:sldId id="798"/>
            <p14:sldId id="788"/>
            <p14:sldId id="789"/>
            <p14:sldId id="790"/>
            <p14:sldId id="791"/>
            <p14:sldId id="792"/>
            <p14:sldId id="794"/>
            <p14:sldId id="271"/>
            <p14:sldId id="273"/>
            <p14:sldId id="274"/>
            <p14:sldId id="275"/>
            <p14:sldId id="276"/>
            <p14:sldId id="796"/>
            <p14:sldId id="797"/>
            <p14:sldId id="799"/>
            <p14:sldId id="800"/>
            <p14:sldId id="801"/>
            <p14:sldId id="802"/>
          </p14:sldIdLst>
        </p14:section>
        <p14:section name="Clés asymétriques" id="{A9BD5DDD-8564-4000-A824-269A0A0AC22D}">
          <p14:sldIdLst>
            <p14:sldId id="809"/>
            <p14:sldId id="804"/>
            <p14:sldId id="805"/>
            <p14:sldId id="803"/>
            <p14:sldId id="806"/>
            <p14:sldId id="807"/>
            <p14:sldId id="810"/>
            <p14:sldId id="814"/>
            <p14:sldId id="811"/>
            <p14:sldId id="812"/>
            <p14:sldId id="813"/>
          </p14:sldIdLst>
        </p14:section>
        <p14:section name="quiz10" id="{20941169-1845-41FC-9D92-4A2D87420A14}">
          <p14:sldIdLst>
            <p14:sldId id="815"/>
            <p14:sldId id="816"/>
            <p14:sldId id="817"/>
            <p14:sldId id="818"/>
            <p14:sldId id="819"/>
            <p14:sldId id="820"/>
            <p14:sldId id="821"/>
            <p14:sldId id="822"/>
            <p14:sldId id="823"/>
            <p14:sldId id="824"/>
            <p14:sldId id="825"/>
            <p14:sldId id="826"/>
            <p14:sldId id="827"/>
            <p14:sldId id="828"/>
            <p14:sldId id="829"/>
            <p14:sldId id="830"/>
            <p14:sldId id="831"/>
            <p14:sldId id="832"/>
            <p14:sldId id="833"/>
            <p14:sldId id="834"/>
            <p14:sldId id="835"/>
          </p14:sldIdLst>
        </p14:section>
        <p14:section name="quiz11" id="{36274EC8-C7F8-428F-8013-3FB42E28D0B7}">
          <p14:sldIdLst>
            <p14:sldId id="836"/>
            <p14:sldId id="837"/>
            <p14:sldId id="838"/>
            <p14:sldId id="839"/>
            <p14:sldId id="840"/>
            <p14:sldId id="841"/>
            <p14:sldId id="842"/>
            <p14:sldId id="843"/>
            <p14:sldId id="844"/>
            <p14:sldId id="845"/>
            <p14:sldId id="846"/>
            <p14:sldId id="847"/>
            <p14:sldId id="848"/>
            <p14:sldId id="857"/>
            <p14:sldId id="849"/>
            <p14:sldId id="850"/>
            <p14:sldId id="851"/>
            <p14:sldId id="852"/>
            <p14:sldId id="853"/>
            <p14:sldId id="854"/>
            <p14:sldId id="855"/>
            <p14:sldId id="856"/>
            <p14:sldId id="858"/>
          </p14:sldIdLst>
        </p14:section>
        <p14:section name="quiz12" id="{587ACA08-3417-46CA-84CD-55E1AA27674F}">
          <p14:sldIdLst>
            <p14:sldId id="859"/>
            <p14:sldId id="860"/>
            <p14:sldId id="861"/>
            <p14:sldId id="862"/>
            <p14:sldId id="896"/>
            <p14:sldId id="863"/>
            <p14:sldId id="864"/>
            <p14:sldId id="865"/>
            <p14:sldId id="866"/>
            <p14:sldId id="867"/>
            <p14:sldId id="868"/>
            <p14:sldId id="869"/>
            <p14:sldId id="880"/>
            <p14:sldId id="870"/>
            <p14:sldId id="871"/>
            <p14:sldId id="881"/>
            <p14:sldId id="872"/>
            <p14:sldId id="873"/>
            <p14:sldId id="882"/>
            <p14:sldId id="883"/>
            <p14:sldId id="884"/>
            <p14:sldId id="877"/>
            <p14:sldId id="878"/>
            <p14:sldId id="879"/>
            <p14:sldId id="885"/>
            <p14:sldId id="886"/>
            <p14:sldId id="887"/>
            <p14:sldId id="888"/>
            <p14:sldId id="889"/>
            <p14:sldId id="890"/>
            <p14:sldId id="891"/>
            <p14:sldId id="892"/>
          </p14:sldIdLst>
        </p14:section>
        <p14:section name="quiz13" id="{5F8925C1-6F0A-421B-BD09-CC17662FDA78}">
          <p14:sldIdLst>
            <p14:sldId id="893"/>
            <p14:sldId id="959"/>
            <p14:sldId id="960"/>
            <p14:sldId id="961"/>
            <p14:sldId id="962"/>
            <p14:sldId id="963"/>
            <p14:sldId id="964"/>
            <p14:sldId id="965"/>
            <p14:sldId id="966"/>
            <p14:sldId id="967"/>
            <p14:sldId id="968"/>
            <p14:sldId id="969"/>
            <p14:sldId id="970"/>
            <p14:sldId id="971"/>
            <p14:sldId id="972"/>
            <p14:sldId id="973"/>
            <p14:sldId id="974"/>
            <p14:sldId id="975"/>
            <p14:sldId id="976"/>
            <p14:sldId id="977"/>
            <p14:sldId id="978"/>
          </p14:sldIdLst>
        </p14:section>
        <p14:section name="quiz14" id="{7023BF61-CCAF-48F6-B231-3BFEF50BC1FE}">
          <p14:sldIdLst>
            <p14:sldId id="894"/>
            <p14:sldId id="897"/>
            <p14:sldId id="898"/>
            <p14:sldId id="899"/>
            <p14:sldId id="900"/>
            <p14:sldId id="901"/>
            <p14:sldId id="902"/>
            <p14:sldId id="903"/>
            <p14:sldId id="904"/>
            <p14:sldId id="905"/>
            <p14:sldId id="906"/>
            <p14:sldId id="907"/>
            <p14:sldId id="908"/>
            <p14:sldId id="909"/>
            <p14:sldId id="910"/>
            <p14:sldId id="911"/>
            <p14:sldId id="912"/>
            <p14:sldId id="913"/>
            <p14:sldId id="914"/>
            <p14:sldId id="915"/>
            <p14:sldId id="916"/>
            <p14:sldId id="917"/>
          </p14:sldIdLst>
        </p14:section>
        <p14:section name="quiz15" id="{949E7E73-3F0C-458F-94CE-3DC2632BB6D7}">
          <p14:sldIdLst>
            <p14:sldId id="895"/>
            <p14:sldId id="918"/>
            <p14:sldId id="919"/>
            <p14:sldId id="920"/>
            <p14:sldId id="921"/>
            <p14:sldId id="922"/>
            <p14:sldId id="923"/>
            <p14:sldId id="924"/>
            <p14:sldId id="925"/>
            <p14:sldId id="926"/>
            <p14:sldId id="927"/>
            <p14:sldId id="928"/>
            <p14:sldId id="929"/>
            <p14:sldId id="930"/>
            <p14:sldId id="931"/>
            <p14:sldId id="932"/>
            <p14:sldId id="933"/>
            <p14:sldId id="934"/>
            <p14:sldId id="935"/>
            <p14:sldId id="936"/>
            <p14:sldId id="937"/>
          </p14:sldIdLst>
        </p14:section>
        <p14:section name="quiz16" id="{EAA2ED20-E926-4E7C-ACDA-7534F0D7B696}">
          <p14:sldIdLst>
            <p14:sldId id="938"/>
            <p14:sldId id="939"/>
            <p14:sldId id="940"/>
            <p14:sldId id="941"/>
            <p14:sldId id="942"/>
            <p14:sldId id="943"/>
            <p14:sldId id="944"/>
            <p14:sldId id="945"/>
            <p14:sldId id="946"/>
            <p14:sldId id="947"/>
            <p14:sldId id="948"/>
            <p14:sldId id="949"/>
            <p14:sldId id="950"/>
            <p14:sldId id="951"/>
            <p14:sldId id="952"/>
            <p14:sldId id="953"/>
            <p14:sldId id="954"/>
            <p14:sldId id="955"/>
            <p14:sldId id="956"/>
            <p14:sldId id="957"/>
            <p14:sldId id="958"/>
          </p14:sldIdLst>
        </p14:section>
        <p14:section name="quiz17" id="{73C134E1-9213-409D-847A-BDE51716CA48}">
          <p14:sldIdLst>
            <p14:sldId id="979"/>
            <p14:sldId id="980"/>
            <p14:sldId id="981"/>
            <p14:sldId id="982"/>
            <p14:sldId id="983"/>
            <p14:sldId id="984"/>
            <p14:sldId id="985"/>
            <p14:sldId id="986"/>
            <p14:sldId id="987"/>
            <p14:sldId id="988"/>
            <p14:sldId id="989"/>
            <p14:sldId id="990"/>
            <p14:sldId id="991"/>
            <p14:sldId id="992"/>
            <p14:sldId id="993"/>
            <p14:sldId id="994"/>
            <p14:sldId id="995"/>
            <p14:sldId id="996"/>
            <p14:sldId id="997"/>
            <p14:sldId id="998"/>
            <p14:sldId id="999"/>
            <p14:sldId id="1000"/>
            <p14:sldId id="277"/>
            <p14:sldId id="278"/>
            <p14:sldId id="279"/>
            <p14:sldId id="280"/>
            <p14:sldId id="281"/>
            <p14:sldId id="282"/>
            <p14:sldId id="1001"/>
            <p14:sldId id="284"/>
            <p14:sldId id="285"/>
          </p14:sldIdLst>
        </p14:section>
        <p14:section name="quiz18" id="{9B505052-75E6-4331-8FAC-E66777AEC7EB}">
          <p14:sldIdLst>
            <p14:sldId id="1002"/>
            <p14:sldId id="1003"/>
            <p14:sldId id="1004"/>
            <p14:sldId id="1005"/>
            <p14:sldId id="1006"/>
            <p14:sldId id="1007"/>
            <p14:sldId id="1008"/>
            <p14:sldId id="1009"/>
            <p14:sldId id="1010"/>
            <p14:sldId id="1011"/>
            <p14:sldId id="1012"/>
            <p14:sldId id="1013"/>
            <p14:sldId id="1014"/>
            <p14:sldId id="1015"/>
            <p14:sldId id="1016"/>
            <p14:sldId id="1017"/>
            <p14:sldId id="1018"/>
            <p14:sldId id="1019"/>
            <p14:sldId id="1020"/>
            <p14:sldId id="1021"/>
            <p14:sldId id="1022"/>
            <p14:sldId id="1023"/>
            <p14:sldId id="1024"/>
            <p14:sldId id="1025"/>
            <p14:sldId id="1026"/>
            <p14:sldId id="1027"/>
            <p14:sldId id="1028"/>
            <p14:sldId id="1029"/>
            <p14:sldId id="1030"/>
            <p14:sldId id="1031"/>
          </p14:sldIdLst>
        </p14:section>
        <p14:section name="quiz19" id="{DC5CC35C-F5CA-4B58-B97B-26EC44708D3B}">
          <p14:sldIdLst>
            <p14:sldId id="1032"/>
            <p14:sldId id="1033"/>
            <p14:sldId id="1034"/>
            <p14:sldId id="1035"/>
            <p14:sldId id="1036"/>
            <p14:sldId id="1037"/>
            <p14:sldId id="1038"/>
            <p14:sldId id="1039"/>
            <p14:sldId id="1040"/>
            <p14:sldId id="1041"/>
            <p14:sldId id="1042"/>
            <p14:sldId id="1043"/>
            <p14:sldId id="1044"/>
            <p14:sldId id="1045"/>
            <p14:sldId id="1046"/>
            <p14:sldId id="1047"/>
            <p14:sldId id="1048"/>
            <p14:sldId id="1049"/>
            <p14:sldId id="1050"/>
          </p14:sldIdLst>
        </p14:section>
        <p14:section name="quizAVenir" id="{BEF1AD5F-0008-433C-9B6F-B813F94E6E0F}">
          <p14:sldIdLst>
            <p14:sldId id="704"/>
            <p14:sldId id="756"/>
            <p14:sldId id="808"/>
          </p14:sldIdLst>
        </p14:section>
      </p14:sectionLst>
    </p:ext>
    <p:ext uri="{EFAFB233-063F-42B5-8137-9DF3F51BA10A}">
      <p15:sldGuideLst xmlns:p15="http://schemas.microsoft.com/office/powerpoint/2012/main">
        <p15:guide id="1" orient="horz">
          <p15:clr>
            <a:srgbClr val="A4A3A4"/>
          </p15:clr>
        </p15:guide>
        <p15:guide id="2" pos="5465" userDrawn="1">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ulia Stasio" initials="J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58" autoAdjust="0"/>
    <p:restoredTop sz="89038" autoAdjust="0"/>
  </p:normalViewPr>
  <p:slideViewPr>
    <p:cSldViewPr>
      <p:cViewPr varScale="1">
        <p:scale>
          <a:sx n="152" d="100"/>
          <a:sy n="152" d="100"/>
        </p:scale>
        <p:origin x="1932" y="88"/>
      </p:cViewPr>
      <p:guideLst>
        <p:guide orient="horz"/>
        <p:guide pos="5465"/>
      </p:guideLst>
    </p:cSldViewPr>
  </p:slideViewPr>
  <p:outlineViewPr>
    <p:cViewPr>
      <p:scale>
        <a:sx n="33" d="100"/>
        <a:sy n="33" d="100"/>
      </p:scale>
      <p:origin x="0" y="-13448"/>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Lst>
  </p:outlineViewPr>
  <p:notesTextViewPr>
    <p:cViewPr>
      <p:scale>
        <a:sx n="3" d="2"/>
        <a:sy n="3" d="2"/>
      </p:scale>
      <p:origin x="0" y="0"/>
    </p:cViewPr>
  </p:notesTextViewPr>
  <p:sorterViewPr>
    <p:cViewPr>
      <p:scale>
        <a:sx n="100" d="100"/>
        <a:sy n="100" d="100"/>
      </p:scale>
      <p:origin x="0" y="-29180"/>
    </p:cViewPr>
  </p:sorterViewPr>
  <p:notesViewPr>
    <p:cSldViewPr>
      <p:cViewPr varScale="1">
        <p:scale>
          <a:sx n="79" d="100"/>
          <a:sy n="79" d="100"/>
        </p:scale>
        <p:origin x="-2340" y="-90"/>
      </p:cViewPr>
      <p:guideLst>
        <p:guide orient="horz" pos="2932"/>
        <p:guide pos="2212"/>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99" Type="http://schemas.openxmlformats.org/officeDocument/2006/relationships/slide" Target="slides/slide293.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slide" Target="slides/slide153.xml"/><Relationship Id="rId324" Type="http://schemas.openxmlformats.org/officeDocument/2006/relationships/slide" Target="slides/slide318.xml"/><Relationship Id="rId345" Type="http://schemas.openxmlformats.org/officeDocument/2006/relationships/slide" Target="slides/slide339.xml"/><Relationship Id="rId366" Type="http://schemas.openxmlformats.org/officeDocument/2006/relationships/slide" Target="slides/slide360.xml"/><Relationship Id="rId387" Type="http://schemas.openxmlformats.org/officeDocument/2006/relationships/presProps" Target="presProps.xml"/><Relationship Id="rId170" Type="http://schemas.openxmlformats.org/officeDocument/2006/relationships/slide" Target="slides/slide164.xml"/><Relationship Id="rId191" Type="http://schemas.openxmlformats.org/officeDocument/2006/relationships/slide" Target="slides/slide185.xml"/><Relationship Id="rId205" Type="http://schemas.openxmlformats.org/officeDocument/2006/relationships/slide" Target="slides/slide199.xml"/><Relationship Id="rId226" Type="http://schemas.openxmlformats.org/officeDocument/2006/relationships/slide" Target="slides/slide220.xml"/><Relationship Id="rId247" Type="http://schemas.openxmlformats.org/officeDocument/2006/relationships/slide" Target="slides/slide241.xml"/><Relationship Id="rId107" Type="http://schemas.openxmlformats.org/officeDocument/2006/relationships/slide" Target="slides/slide101.xml"/><Relationship Id="rId268" Type="http://schemas.openxmlformats.org/officeDocument/2006/relationships/slide" Target="slides/slide262.xml"/><Relationship Id="rId289" Type="http://schemas.openxmlformats.org/officeDocument/2006/relationships/slide" Target="slides/slide283.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314" Type="http://schemas.openxmlformats.org/officeDocument/2006/relationships/slide" Target="slides/slide308.xml"/><Relationship Id="rId335" Type="http://schemas.openxmlformats.org/officeDocument/2006/relationships/slide" Target="slides/slide329.xml"/><Relationship Id="rId356" Type="http://schemas.openxmlformats.org/officeDocument/2006/relationships/slide" Target="slides/slide350.xml"/><Relationship Id="rId377" Type="http://schemas.openxmlformats.org/officeDocument/2006/relationships/slide" Target="slides/slide371.xml"/><Relationship Id="rId5" Type="http://schemas.openxmlformats.org/officeDocument/2006/relationships/slideMaster" Target="slideMasters/slideMaster2.xml"/><Relationship Id="rId95" Type="http://schemas.openxmlformats.org/officeDocument/2006/relationships/slide" Target="slides/slide89.xml"/><Relationship Id="rId160" Type="http://schemas.openxmlformats.org/officeDocument/2006/relationships/slide" Target="slides/slide154.xml"/><Relationship Id="rId181" Type="http://schemas.openxmlformats.org/officeDocument/2006/relationships/slide" Target="slides/slide175.xml"/><Relationship Id="rId216" Type="http://schemas.openxmlformats.org/officeDocument/2006/relationships/slide" Target="slides/slide210.xml"/><Relationship Id="rId237" Type="http://schemas.openxmlformats.org/officeDocument/2006/relationships/slide" Target="slides/slide231.xml"/><Relationship Id="rId258" Type="http://schemas.openxmlformats.org/officeDocument/2006/relationships/slide" Target="slides/slide252.xml"/><Relationship Id="rId279" Type="http://schemas.openxmlformats.org/officeDocument/2006/relationships/slide" Target="slides/slide273.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290" Type="http://schemas.openxmlformats.org/officeDocument/2006/relationships/slide" Target="slides/slide284.xml"/><Relationship Id="rId304" Type="http://schemas.openxmlformats.org/officeDocument/2006/relationships/slide" Target="slides/slide298.xml"/><Relationship Id="rId325" Type="http://schemas.openxmlformats.org/officeDocument/2006/relationships/slide" Target="slides/slide319.xml"/><Relationship Id="rId346" Type="http://schemas.openxmlformats.org/officeDocument/2006/relationships/slide" Target="slides/slide340.xml"/><Relationship Id="rId367" Type="http://schemas.openxmlformats.org/officeDocument/2006/relationships/slide" Target="slides/slide361.xml"/><Relationship Id="rId388" Type="http://schemas.openxmlformats.org/officeDocument/2006/relationships/viewProps" Target="viewProps.xml"/><Relationship Id="rId85" Type="http://schemas.openxmlformats.org/officeDocument/2006/relationships/slide" Target="slides/slide79.xml"/><Relationship Id="rId150" Type="http://schemas.openxmlformats.org/officeDocument/2006/relationships/slide" Target="slides/slide144.xml"/><Relationship Id="rId171" Type="http://schemas.openxmlformats.org/officeDocument/2006/relationships/slide" Target="slides/slide165.xml"/><Relationship Id="rId192" Type="http://schemas.openxmlformats.org/officeDocument/2006/relationships/slide" Target="slides/slide186.xml"/><Relationship Id="rId206" Type="http://schemas.openxmlformats.org/officeDocument/2006/relationships/slide" Target="slides/slide200.xml"/><Relationship Id="rId227" Type="http://schemas.openxmlformats.org/officeDocument/2006/relationships/slide" Target="slides/slide221.xml"/><Relationship Id="rId248" Type="http://schemas.openxmlformats.org/officeDocument/2006/relationships/slide" Target="slides/slide242.xml"/><Relationship Id="rId269" Type="http://schemas.openxmlformats.org/officeDocument/2006/relationships/slide" Target="slides/slide263.xml"/><Relationship Id="rId12" Type="http://schemas.openxmlformats.org/officeDocument/2006/relationships/slide" Target="slides/slide6.xml"/><Relationship Id="rId33" Type="http://schemas.openxmlformats.org/officeDocument/2006/relationships/slide" Target="slides/slide27.xml"/><Relationship Id="rId108" Type="http://schemas.openxmlformats.org/officeDocument/2006/relationships/slide" Target="slides/slide102.xml"/><Relationship Id="rId129" Type="http://schemas.openxmlformats.org/officeDocument/2006/relationships/slide" Target="slides/slide123.xml"/><Relationship Id="rId280" Type="http://schemas.openxmlformats.org/officeDocument/2006/relationships/slide" Target="slides/slide274.xml"/><Relationship Id="rId315" Type="http://schemas.openxmlformats.org/officeDocument/2006/relationships/slide" Target="slides/slide309.xml"/><Relationship Id="rId336" Type="http://schemas.openxmlformats.org/officeDocument/2006/relationships/slide" Target="slides/slide330.xml"/><Relationship Id="rId357" Type="http://schemas.openxmlformats.org/officeDocument/2006/relationships/slide" Target="slides/slide351.xml"/><Relationship Id="rId54" Type="http://schemas.openxmlformats.org/officeDocument/2006/relationships/slide" Target="slides/slide48.xml"/><Relationship Id="rId75" Type="http://schemas.openxmlformats.org/officeDocument/2006/relationships/slide" Target="slides/slide69.xml"/><Relationship Id="rId96" Type="http://schemas.openxmlformats.org/officeDocument/2006/relationships/slide" Target="slides/slide90.xml"/><Relationship Id="rId140" Type="http://schemas.openxmlformats.org/officeDocument/2006/relationships/slide" Target="slides/slide134.xml"/><Relationship Id="rId161" Type="http://schemas.openxmlformats.org/officeDocument/2006/relationships/slide" Target="slides/slide155.xml"/><Relationship Id="rId182" Type="http://schemas.openxmlformats.org/officeDocument/2006/relationships/slide" Target="slides/slide176.xml"/><Relationship Id="rId217" Type="http://schemas.openxmlformats.org/officeDocument/2006/relationships/slide" Target="slides/slide211.xml"/><Relationship Id="rId378" Type="http://schemas.openxmlformats.org/officeDocument/2006/relationships/slide" Target="slides/slide372.xml"/><Relationship Id="rId6" Type="http://schemas.openxmlformats.org/officeDocument/2006/relationships/slideMaster" Target="slideMasters/slideMaster3.xml"/><Relationship Id="rId238" Type="http://schemas.openxmlformats.org/officeDocument/2006/relationships/slide" Target="slides/slide232.xml"/><Relationship Id="rId259" Type="http://schemas.openxmlformats.org/officeDocument/2006/relationships/slide" Target="slides/slide253.xml"/><Relationship Id="rId23" Type="http://schemas.openxmlformats.org/officeDocument/2006/relationships/slide" Target="slides/slide17.xml"/><Relationship Id="rId119" Type="http://schemas.openxmlformats.org/officeDocument/2006/relationships/slide" Target="slides/slide113.xml"/><Relationship Id="rId270" Type="http://schemas.openxmlformats.org/officeDocument/2006/relationships/slide" Target="slides/slide264.xml"/><Relationship Id="rId291" Type="http://schemas.openxmlformats.org/officeDocument/2006/relationships/slide" Target="slides/slide285.xml"/><Relationship Id="rId305" Type="http://schemas.openxmlformats.org/officeDocument/2006/relationships/slide" Target="slides/slide299.xml"/><Relationship Id="rId326" Type="http://schemas.openxmlformats.org/officeDocument/2006/relationships/slide" Target="slides/slide320.xml"/><Relationship Id="rId347" Type="http://schemas.openxmlformats.org/officeDocument/2006/relationships/slide" Target="slides/slide341.xml"/><Relationship Id="rId44" Type="http://schemas.openxmlformats.org/officeDocument/2006/relationships/slide" Target="slides/slide38.xml"/><Relationship Id="rId65" Type="http://schemas.openxmlformats.org/officeDocument/2006/relationships/slide" Target="slides/slide59.xml"/><Relationship Id="rId86" Type="http://schemas.openxmlformats.org/officeDocument/2006/relationships/slide" Target="slides/slide80.xml"/><Relationship Id="rId130" Type="http://schemas.openxmlformats.org/officeDocument/2006/relationships/slide" Target="slides/slide124.xml"/><Relationship Id="rId151" Type="http://schemas.openxmlformats.org/officeDocument/2006/relationships/slide" Target="slides/slide145.xml"/><Relationship Id="rId368" Type="http://schemas.openxmlformats.org/officeDocument/2006/relationships/slide" Target="slides/slide362.xml"/><Relationship Id="rId389" Type="http://schemas.openxmlformats.org/officeDocument/2006/relationships/theme" Target="theme/theme1.xml"/><Relationship Id="rId172" Type="http://schemas.openxmlformats.org/officeDocument/2006/relationships/slide" Target="slides/slide166.xml"/><Relationship Id="rId193" Type="http://schemas.openxmlformats.org/officeDocument/2006/relationships/slide" Target="slides/slide187.xml"/><Relationship Id="rId207" Type="http://schemas.openxmlformats.org/officeDocument/2006/relationships/slide" Target="slides/slide201.xml"/><Relationship Id="rId228" Type="http://schemas.openxmlformats.org/officeDocument/2006/relationships/slide" Target="slides/slide222.xml"/><Relationship Id="rId249" Type="http://schemas.openxmlformats.org/officeDocument/2006/relationships/slide" Target="slides/slide243.xml"/><Relationship Id="rId13" Type="http://schemas.openxmlformats.org/officeDocument/2006/relationships/slide" Target="slides/slide7.xml"/><Relationship Id="rId109" Type="http://schemas.openxmlformats.org/officeDocument/2006/relationships/slide" Target="slides/slide103.xml"/><Relationship Id="rId260" Type="http://schemas.openxmlformats.org/officeDocument/2006/relationships/slide" Target="slides/slide254.xml"/><Relationship Id="rId281" Type="http://schemas.openxmlformats.org/officeDocument/2006/relationships/slide" Target="slides/slide275.xml"/><Relationship Id="rId316" Type="http://schemas.openxmlformats.org/officeDocument/2006/relationships/slide" Target="slides/slide310.xml"/><Relationship Id="rId337" Type="http://schemas.openxmlformats.org/officeDocument/2006/relationships/slide" Target="slides/slide331.xml"/><Relationship Id="rId34" Type="http://schemas.openxmlformats.org/officeDocument/2006/relationships/slide" Target="slides/slide28.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20" Type="http://schemas.openxmlformats.org/officeDocument/2006/relationships/slide" Target="slides/slide114.xml"/><Relationship Id="rId141" Type="http://schemas.openxmlformats.org/officeDocument/2006/relationships/slide" Target="slides/slide135.xml"/><Relationship Id="rId358" Type="http://schemas.openxmlformats.org/officeDocument/2006/relationships/slide" Target="slides/slide352.xml"/><Relationship Id="rId379" Type="http://schemas.openxmlformats.org/officeDocument/2006/relationships/slide" Target="slides/slide373.xml"/><Relationship Id="rId7" Type="http://schemas.openxmlformats.org/officeDocument/2006/relationships/slide" Target="slides/slide1.xml"/><Relationship Id="rId162" Type="http://schemas.openxmlformats.org/officeDocument/2006/relationships/slide" Target="slides/slide156.xml"/><Relationship Id="rId183" Type="http://schemas.openxmlformats.org/officeDocument/2006/relationships/slide" Target="slides/slide177.xml"/><Relationship Id="rId218" Type="http://schemas.openxmlformats.org/officeDocument/2006/relationships/slide" Target="slides/slide212.xml"/><Relationship Id="rId239" Type="http://schemas.openxmlformats.org/officeDocument/2006/relationships/slide" Target="slides/slide233.xml"/><Relationship Id="rId390" Type="http://schemas.openxmlformats.org/officeDocument/2006/relationships/tableStyles" Target="tableStyles.xml"/><Relationship Id="rId250" Type="http://schemas.openxmlformats.org/officeDocument/2006/relationships/slide" Target="slides/slide244.xml"/><Relationship Id="rId271" Type="http://schemas.openxmlformats.org/officeDocument/2006/relationships/slide" Target="slides/slide265.xml"/><Relationship Id="rId292" Type="http://schemas.openxmlformats.org/officeDocument/2006/relationships/slide" Target="slides/slide286.xml"/><Relationship Id="rId306" Type="http://schemas.openxmlformats.org/officeDocument/2006/relationships/slide" Target="slides/slide300.xml"/><Relationship Id="rId24" Type="http://schemas.openxmlformats.org/officeDocument/2006/relationships/slide" Target="slides/slide18.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31" Type="http://schemas.openxmlformats.org/officeDocument/2006/relationships/slide" Target="slides/slide125.xml"/><Relationship Id="rId327" Type="http://schemas.openxmlformats.org/officeDocument/2006/relationships/slide" Target="slides/slide321.xml"/><Relationship Id="rId348" Type="http://schemas.openxmlformats.org/officeDocument/2006/relationships/slide" Target="slides/slide342.xml"/><Relationship Id="rId369" Type="http://schemas.openxmlformats.org/officeDocument/2006/relationships/slide" Target="slides/slide363.xml"/><Relationship Id="rId152" Type="http://schemas.openxmlformats.org/officeDocument/2006/relationships/slide" Target="slides/slide146.xml"/><Relationship Id="rId173" Type="http://schemas.openxmlformats.org/officeDocument/2006/relationships/slide" Target="slides/slide167.xml"/><Relationship Id="rId194" Type="http://schemas.openxmlformats.org/officeDocument/2006/relationships/slide" Target="slides/slide188.xml"/><Relationship Id="rId208" Type="http://schemas.openxmlformats.org/officeDocument/2006/relationships/slide" Target="slides/slide202.xml"/><Relationship Id="rId229" Type="http://schemas.openxmlformats.org/officeDocument/2006/relationships/slide" Target="slides/slide223.xml"/><Relationship Id="rId380" Type="http://schemas.openxmlformats.org/officeDocument/2006/relationships/slide" Target="slides/slide374.xml"/><Relationship Id="rId240" Type="http://schemas.openxmlformats.org/officeDocument/2006/relationships/slide" Target="slides/slide234.xml"/><Relationship Id="rId261" Type="http://schemas.openxmlformats.org/officeDocument/2006/relationships/slide" Target="slides/slide255.xml"/><Relationship Id="rId14" Type="http://schemas.openxmlformats.org/officeDocument/2006/relationships/slide" Target="slides/slide8.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282" Type="http://schemas.openxmlformats.org/officeDocument/2006/relationships/slide" Target="slides/slide276.xml"/><Relationship Id="rId317" Type="http://schemas.openxmlformats.org/officeDocument/2006/relationships/slide" Target="slides/slide311.xml"/><Relationship Id="rId338" Type="http://schemas.openxmlformats.org/officeDocument/2006/relationships/slide" Target="slides/slide332.xml"/><Relationship Id="rId359" Type="http://schemas.openxmlformats.org/officeDocument/2006/relationships/slide" Target="slides/slide353.xml"/><Relationship Id="rId8" Type="http://schemas.openxmlformats.org/officeDocument/2006/relationships/slide" Target="slides/slide2.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slide" Target="slides/slide157.xml"/><Relationship Id="rId184" Type="http://schemas.openxmlformats.org/officeDocument/2006/relationships/slide" Target="slides/slide178.xml"/><Relationship Id="rId219" Type="http://schemas.openxmlformats.org/officeDocument/2006/relationships/slide" Target="slides/slide213.xml"/><Relationship Id="rId370" Type="http://schemas.openxmlformats.org/officeDocument/2006/relationships/slide" Target="slides/slide364.xml"/><Relationship Id="rId230" Type="http://schemas.openxmlformats.org/officeDocument/2006/relationships/slide" Target="slides/slide224.xml"/><Relationship Id="rId251" Type="http://schemas.openxmlformats.org/officeDocument/2006/relationships/slide" Target="slides/slide245.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272" Type="http://schemas.openxmlformats.org/officeDocument/2006/relationships/slide" Target="slides/slide266.xml"/><Relationship Id="rId293" Type="http://schemas.openxmlformats.org/officeDocument/2006/relationships/slide" Target="slides/slide287.xml"/><Relationship Id="rId307" Type="http://schemas.openxmlformats.org/officeDocument/2006/relationships/slide" Target="slides/slide301.xml"/><Relationship Id="rId328" Type="http://schemas.openxmlformats.org/officeDocument/2006/relationships/slide" Target="slides/slide322.xml"/><Relationship Id="rId349" Type="http://schemas.openxmlformats.org/officeDocument/2006/relationships/slide" Target="slides/slide343.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74" Type="http://schemas.openxmlformats.org/officeDocument/2006/relationships/slide" Target="slides/slide168.xml"/><Relationship Id="rId195" Type="http://schemas.openxmlformats.org/officeDocument/2006/relationships/slide" Target="slides/slide189.xml"/><Relationship Id="rId209" Type="http://schemas.openxmlformats.org/officeDocument/2006/relationships/slide" Target="slides/slide203.xml"/><Relationship Id="rId360" Type="http://schemas.openxmlformats.org/officeDocument/2006/relationships/slide" Target="slides/slide354.xml"/><Relationship Id="rId381" Type="http://schemas.openxmlformats.org/officeDocument/2006/relationships/slide" Target="slides/slide375.xml"/><Relationship Id="rId220" Type="http://schemas.openxmlformats.org/officeDocument/2006/relationships/slide" Target="slides/slide214.xml"/><Relationship Id="rId241" Type="http://schemas.openxmlformats.org/officeDocument/2006/relationships/slide" Target="slides/slide235.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262" Type="http://schemas.openxmlformats.org/officeDocument/2006/relationships/slide" Target="slides/slide256.xml"/><Relationship Id="rId283" Type="http://schemas.openxmlformats.org/officeDocument/2006/relationships/slide" Target="slides/slide277.xml"/><Relationship Id="rId318" Type="http://schemas.openxmlformats.org/officeDocument/2006/relationships/slide" Target="slides/slide312.xml"/><Relationship Id="rId339" Type="http://schemas.openxmlformats.org/officeDocument/2006/relationships/slide" Target="slides/slide333.xml"/><Relationship Id="rId78" Type="http://schemas.openxmlformats.org/officeDocument/2006/relationships/slide" Target="slides/slide72.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64" Type="http://schemas.openxmlformats.org/officeDocument/2006/relationships/slide" Target="slides/slide158.xml"/><Relationship Id="rId185" Type="http://schemas.openxmlformats.org/officeDocument/2006/relationships/slide" Target="slides/slide179.xml"/><Relationship Id="rId350" Type="http://schemas.openxmlformats.org/officeDocument/2006/relationships/slide" Target="slides/slide344.xml"/><Relationship Id="rId371" Type="http://schemas.openxmlformats.org/officeDocument/2006/relationships/slide" Target="slides/slide365.xml"/><Relationship Id="rId9" Type="http://schemas.openxmlformats.org/officeDocument/2006/relationships/slide" Target="slides/slide3.xml"/><Relationship Id="rId210" Type="http://schemas.openxmlformats.org/officeDocument/2006/relationships/slide" Target="slides/slide204.xml"/><Relationship Id="rId26" Type="http://schemas.openxmlformats.org/officeDocument/2006/relationships/slide" Target="slides/slide20.xml"/><Relationship Id="rId231" Type="http://schemas.openxmlformats.org/officeDocument/2006/relationships/slide" Target="slides/slide225.xml"/><Relationship Id="rId252" Type="http://schemas.openxmlformats.org/officeDocument/2006/relationships/slide" Target="slides/slide246.xml"/><Relationship Id="rId273" Type="http://schemas.openxmlformats.org/officeDocument/2006/relationships/slide" Target="slides/slide267.xml"/><Relationship Id="rId294" Type="http://schemas.openxmlformats.org/officeDocument/2006/relationships/slide" Target="slides/slide288.xml"/><Relationship Id="rId308" Type="http://schemas.openxmlformats.org/officeDocument/2006/relationships/slide" Target="slides/slide302.xml"/><Relationship Id="rId329" Type="http://schemas.openxmlformats.org/officeDocument/2006/relationships/slide" Target="slides/slide323.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75" Type="http://schemas.openxmlformats.org/officeDocument/2006/relationships/slide" Target="slides/slide169.xml"/><Relationship Id="rId340" Type="http://schemas.openxmlformats.org/officeDocument/2006/relationships/slide" Target="slides/slide334.xml"/><Relationship Id="rId361" Type="http://schemas.openxmlformats.org/officeDocument/2006/relationships/slide" Target="slides/slide355.xml"/><Relationship Id="rId196" Type="http://schemas.openxmlformats.org/officeDocument/2006/relationships/slide" Target="slides/slide190.xml"/><Relationship Id="rId200" Type="http://schemas.openxmlformats.org/officeDocument/2006/relationships/slide" Target="slides/slide194.xml"/><Relationship Id="rId382" Type="http://schemas.openxmlformats.org/officeDocument/2006/relationships/slide" Target="slides/slide376.xml"/><Relationship Id="rId16" Type="http://schemas.openxmlformats.org/officeDocument/2006/relationships/slide" Target="slides/slide10.xml"/><Relationship Id="rId221" Type="http://schemas.openxmlformats.org/officeDocument/2006/relationships/slide" Target="slides/slide215.xml"/><Relationship Id="rId242" Type="http://schemas.openxmlformats.org/officeDocument/2006/relationships/slide" Target="slides/slide236.xml"/><Relationship Id="rId263" Type="http://schemas.openxmlformats.org/officeDocument/2006/relationships/slide" Target="slides/slide257.xml"/><Relationship Id="rId284" Type="http://schemas.openxmlformats.org/officeDocument/2006/relationships/slide" Target="slides/slide278.xml"/><Relationship Id="rId319" Type="http://schemas.openxmlformats.org/officeDocument/2006/relationships/slide" Target="slides/slide313.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330" Type="http://schemas.openxmlformats.org/officeDocument/2006/relationships/slide" Target="slides/slide324.xml"/><Relationship Id="rId90" Type="http://schemas.openxmlformats.org/officeDocument/2006/relationships/slide" Target="slides/slide84.xml"/><Relationship Id="rId165" Type="http://schemas.openxmlformats.org/officeDocument/2006/relationships/slide" Target="slides/slide159.xml"/><Relationship Id="rId186" Type="http://schemas.openxmlformats.org/officeDocument/2006/relationships/slide" Target="slides/slide180.xml"/><Relationship Id="rId351" Type="http://schemas.openxmlformats.org/officeDocument/2006/relationships/slide" Target="slides/slide345.xml"/><Relationship Id="rId372" Type="http://schemas.openxmlformats.org/officeDocument/2006/relationships/slide" Target="slides/slide366.xml"/><Relationship Id="rId211" Type="http://schemas.openxmlformats.org/officeDocument/2006/relationships/slide" Target="slides/slide205.xml"/><Relationship Id="rId232" Type="http://schemas.openxmlformats.org/officeDocument/2006/relationships/slide" Target="slides/slide226.xml"/><Relationship Id="rId253" Type="http://schemas.openxmlformats.org/officeDocument/2006/relationships/slide" Target="slides/slide247.xml"/><Relationship Id="rId274" Type="http://schemas.openxmlformats.org/officeDocument/2006/relationships/slide" Target="slides/slide268.xml"/><Relationship Id="rId295" Type="http://schemas.openxmlformats.org/officeDocument/2006/relationships/slide" Target="slides/slide289.xml"/><Relationship Id="rId309" Type="http://schemas.openxmlformats.org/officeDocument/2006/relationships/slide" Target="slides/slide303.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320" Type="http://schemas.openxmlformats.org/officeDocument/2006/relationships/slide" Target="slides/slide314.xml"/><Relationship Id="rId80" Type="http://schemas.openxmlformats.org/officeDocument/2006/relationships/slide" Target="slides/slide74.xml"/><Relationship Id="rId155" Type="http://schemas.openxmlformats.org/officeDocument/2006/relationships/slide" Target="slides/slide149.xml"/><Relationship Id="rId176" Type="http://schemas.openxmlformats.org/officeDocument/2006/relationships/slide" Target="slides/slide170.xml"/><Relationship Id="rId197" Type="http://schemas.openxmlformats.org/officeDocument/2006/relationships/slide" Target="slides/slide191.xml"/><Relationship Id="rId341" Type="http://schemas.openxmlformats.org/officeDocument/2006/relationships/slide" Target="slides/slide335.xml"/><Relationship Id="rId362" Type="http://schemas.openxmlformats.org/officeDocument/2006/relationships/slide" Target="slides/slide356.xml"/><Relationship Id="rId383" Type="http://schemas.openxmlformats.org/officeDocument/2006/relationships/notesMaster" Target="notesMasters/notesMaster1.xml"/><Relationship Id="rId201" Type="http://schemas.openxmlformats.org/officeDocument/2006/relationships/slide" Target="slides/slide195.xml"/><Relationship Id="rId222" Type="http://schemas.openxmlformats.org/officeDocument/2006/relationships/slide" Target="slides/slide216.xml"/><Relationship Id="rId243" Type="http://schemas.openxmlformats.org/officeDocument/2006/relationships/slide" Target="slides/slide237.xml"/><Relationship Id="rId264" Type="http://schemas.openxmlformats.org/officeDocument/2006/relationships/slide" Target="slides/slide258.xml"/><Relationship Id="rId285" Type="http://schemas.openxmlformats.org/officeDocument/2006/relationships/slide" Target="slides/slide279.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310" Type="http://schemas.openxmlformats.org/officeDocument/2006/relationships/slide" Target="slides/slide304.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slide" Target="slides/slide160.xml"/><Relationship Id="rId187" Type="http://schemas.openxmlformats.org/officeDocument/2006/relationships/slide" Target="slides/slide181.xml"/><Relationship Id="rId331" Type="http://schemas.openxmlformats.org/officeDocument/2006/relationships/slide" Target="slides/slide325.xml"/><Relationship Id="rId352" Type="http://schemas.openxmlformats.org/officeDocument/2006/relationships/slide" Target="slides/slide346.xml"/><Relationship Id="rId373" Type="http://schemas.openxmlformats.org/officeDocument/2006/relationships/slide" Target="slides/slide367.xml"/><Relationship Id="rId1" Type="http://schemas.openxmlformats.org/officeDocument/2006/relationships/customXml" Target="../customXml/item1.xml"/><Relationship Id="rId212" Type="http://schemas.openxmlformats.org/officeDocument/2006/relationships/slide" Target="slides/slide206.xml"/><Relationship Id="rId233" Type="http://schemas.openxmlformats.org/officeDocument/2006/relationships/slide" Target="slides/slide227.xml"/><Relationship Id="rId254" Type="http://schemas.openxmlformats.org/officeDocument/2006/relationships/slide" Target="slides/slide248.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275" Type="http://schemas.openxmlformats.org/officeDocument/2006/relationships/slide" Target="slides/slide269.xml"/><Relationship Id="rId296" Type="http://schemas.openxmlformats.org/officeDocument/2006/relationships/slide" Target="slides/slide290.xml"/><Relationship Id="rId300" Type="http://schemas.openxmlformats.org/officeDocument/2006/relationships/slide" Target="slides/slide294.xml"/><Relationship Id="rId60" Type="http://schemas.openxmlformats.org/officeDocument/2006/relationships/slide" Target="slides/slide54.xml"/><Relationship Id="rId81" Type="http://schemas.openxmlformats.org/officeDocument/2006/relationships/slide" Target="slides/slide75.xml"/><Relationship Id="rId135" Type="http://schemas.openxmlformats.org/officeDocument/2006/relationships/slide" Target="slides/slide129.xml"/><Relationship Id="rId156" Type="http://schemas.openxmlformats.org/officeDocument/2006/relationships/slide" Target="slides/slide150.xml"/><Relationship Id="rId177" Type="http://schemas.openxmlformats.org/officeDocument/2006/relationships/slide" Target="slides/slide171.xml"/><Relationship Id="rId198" Type="http://schemas.openxmlformats.org/officeDocument/2006/relationships/slide" Target="slides/slide192.xml"/><Relationship Id="rId321" Type="http://schemas.openxmlformats.org/officeDocument/2006/relationships/slide" Target="slides/slide315.xml"/><Relationship Id="rId342" Type="http://schemas.openxmlformats.org/officeDocument/2006/relationships/slide" Target="slides/slide336.xml"/><Relationship Id="rId363" Type="http://schemas.openxmlformats.org/officeDocument/2006/relationships/slide" Target="slides/slide357.xml"/><Relationship Id="rId384" Type="http://schemas.openxmlformats.org/officeDocument/2006/relationships/handoutMaster" Target="handoutMasters/handoutMaster1.xml"/><Relationship Id="rId202" Type="http://schemas.openxmlformats.org/officeDocument/2006/relationships/slide" Target="slides/slide196.xml"/><Relationship Id="rId223" Type="http://schemas.openxmlformats.org/officeDocument/2006/relationships/slide" Target="slides/slide217.xml"/><Relationship Id="rId244" Type="http://schemas.openxmlformats.org/officeDocument/2006/relationships/slide" Target="slides/slide238.xml"/><Relationship Id="rId18" Type="http://schemas.openxmlformats.org/officeDocument/2006/relationships/slide" Target="slides/slide12.xml"/><Relationship Id="rId39" Type="http://schemas.openxmlformats.org/officeDocument/2006/relationships/slide" Target="slides/slide33.xml"/><Relationship Id="rId265" Type="http://schemas.openxmlformats.org/officeDocument/2006/relationships/slide" Target="slides/slide259.xml"/><Relationship Id="rId286" Type="http://schemas.openxmlformats.org/officeDocument/2006/relationships/slide" Target="slides/slide280.xml"/><Relationship Id="rId50" Type="http://schemas.openxmlformats.org/officeDocument/2006/relationships/slide" Target="slides/slide44.xml"/><Relationship Id="rId104" Type="http://schemas.openxmlformats.org/officeDocument/2006/relationships/slide" Target="slides/slide98.xml"/><Relationship Id="rId125" Type="http://schemas.openxmlformats.org/officeDocument/2006/relationships/slide" Target="slides/slide119.xml"/><Relationship Id="rId146" Type="http://schemas.openxmlformats.org/officeDocument/2006/relationships/slide" Target="slides/slide140.xml"/><Relationship Id="rId167" Type="http://schemas.openxmlformats.org/officeDocument/2006/relationships/slide" Target="slides/slide161.xml"/><Relationship Id="rId188" Type="http://schemas.openxmlformats.org/officeDocument/2006/relationships/slide" Target="slides/slide182.xml"/><Relationship Id="rId311" Type="http://schemas.openxmlformats.org/officeDocument/2006/relationships/slide" Target="slides/slide305.xml"/><Relationship Id="rId332" Type="http://schemas.openxmlformats.org/officeDocument/2006/relationships/slide" Target="slides/slide326.xml"/><Relationship Id="rId353" Type="http://schemas.openxmlformats.org/officeDocument/2006/relationships/slide" Target="slides/slide347.xml"/><Relationship Id="rId374" Type="http://schemas.openxmlformats.org/officeDocument/2006/relationships/slide" Target="slides/slide368.xml"/><Relationship Id="rId71" Type="http://schemas.openxmlformats.org/officeDocument/2006/relationships/slide" Target="slides/slide65.xml"/><Relationship Id="rId92" Type="http://schemas.openxmlformats.org/officeDocument/2006/relationships/slide" Target="slides/slide86.xml"/><Relationship Id="rId213" Type="http://schemas.openxmlformats.org/officeDocument/2006/relationships/slide" Target="slides/slide207.xml"/><Relationship Id="rId234" Type="http://schemas.openxmlformats.org/officeDocument/2006/relationships/slide" Target="slides/slide228.xml"/><Relationship Id="rId2" Type="http://schemas.openxmlformats.org/officeDocument/2006/relationships/customXml" Target="../customXml/item2.xml"/><Relationship Id="rId29" Type="http://schemas.openxmlformats.org/officeDocument/2006/relationships/slide" Target="slides/slide23.xml"/><Relationship Id="rId255" Type="http://schemas.openxmlformats.org/officeDocument/2006/relationships/slide" Target="slides/slide249.xml"/><Relationship Id="rId276" Type="http://schemas.openxmlformats.org/officeDocument/2006/relationships/slide" Target="slides/slide270.xml"/><Relationship Id="rId297" Type="http://schemas.openxmlformats.org/officeDocument/2006/relationships/slide" Target="slides/slide291.xml"/><Relationship Id="rId40" Type="http://schemas.openxmlformats.org/officeDocument/2006/relationships/slide" Target="slides/slide34.xml"/><Relationship Id="rId115" Type="http://schemas.openxmlformats.org/officeDocument/2006/relationships/slide" Target="slides/slide109.xml"/><Relationship Id="rId136" Type="http://schemas.openxmlformats.org/officeDocument/2006/relationships/slide" Target="slides/slide130.xml"/><Relationship Id="rId157" Type="http://schemas.openxmlformats.org/officeDocument/2006/relationships/slide" Target="slides/slide151.xml"/><Relationship Id="rId178" Type="http://schemas.openxmlformats.org/officeDocument/2006/relationships/slide" Target="slides/slide172.xml"/><Relationship Id="rId301" Type="http://schemas.openxmlformats.org/officeDocument/2006/relationships/slide" Target="slides/slide295.xml"/><Relationship Id="rId322" Type="http://schemas.openxmlformats.org/officeDocument/2006/relationships/slide" Target="slides/slide316.xml"/><Relationship Id="rId343" Type="http://schemas.openxmlformats.org/officeDocument/2006/relationships/slide" Target="slides/slide337.xml"/><Relationship Id="rId364" Type="http://schemas.openxmlformats.org/officeDocument/2006/relationships/slide" Target="slides/slide358.xml"/><Relationship Id="rId61" Type="http://schemas.openxmlformats.org/officeDocument/2006/relationships/slide" Target="slides/slide55.xml"/><Relationship Id="rId82" Type="http://schemas.openxmlformats.org/officeDocument/2006/relationships/slide" Target="slides/slide76.xml"/><Relationship Id="rId199" Type="http://schemas.openxmlformats.org/officeDocument/2006/relationships/slide" Target="slides/slide193.xml"/><Relationship Id="rId203" Type="http://schemas.openxmlformats.org/officeDocument/2006/relationships/slide" Target="slides/slide197.xml"/><Relationship Id="rId385" Type="http://schemas.openxmlformats.org/officeDocument/2006/relationships/tags" Target="tags/tag1.xml"/><Relationship Id="rId19" Type="http://schemas.openxmlformats.org/officeDocument/2006/relationships/slide" Target="slides/slide13.xml"/><Relationship Id="rId224" Type="http://schemas.openxmlformats.org/officeDocument/2006/relationships/slide" Target="slides/slide218.xml"/><Relationship Id="rId245" Type="http://schemas.openxmlformats.org/officeDocument/2006/relationships/slide" Target="slides/slide239.xml"/><Relationship Id="rId266" Type="http://schemas.openxmlformats.org/officeDocument/2006/relationships/slide" Target="slides/slide260.xml"/><Relationship Id="rId287" Type="http://schemas.openxmlformats.org/officeDocument/2006/relationships/slide" Target="slides/slide281.xml"/><Relationship Id="rId30" Type="http://schemas.openxmlformats.org/officeDocument/2006/relationships/slide" Target="slides/slide2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312" Type="http://schemas.openxmlformats.org/officeDocument/2006/relationships/slide" Target="slides/slide306.xml"/><Relationship Id="rId333" Type="http://schemas.openxmlformats.org/officeDocument/2006/relationships/slide" Target="slides/slide327.xml"/><Relationship Id="rId354" Type="http://schemas.openxmlformats.org/officeDocument/2006/relationships/slide" Target="slides/slide348.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189" Type="http://schemas.openxmlformats.org/officeDocument/2006/relationships/slide" Target="slides/slide183.xml"/><Relationship Id="rId375" Type="http://schemas.openxmlformats.org/officeDocument/2006/relationships/slide" Target="slides/slide369.xml"/><Relationship Id="rId3" Type="http://schemas.openxmlformats.org/officeDocument/2006/relationships/customXml" Target="../customXml/item3.xml"/><Relationship Id="rId214" Type="http://schemas.openxmlformats.org/officeDocument/2006/relationships/slide" Target="slides/slide208.xml"/><Relationship Id="rId235" Type="http://schemas.openxmlformats.org/officeDocument/2006/relationships/slide" Target="slides/slide229.xml"/><Relationship Id="rId256" Type="http://schemas.openxmlformats.org/officeDocument/2006/relationships/slide" Target="slides/slide250.xml"/><Relationship Id="rId277" Type="http://schemas.openxmlformats.org/officeDocument/2006/relationships/slide" Target="slides/slide271.xml"/><Relationship Id="rId298" Type="http://schemas.openxmlformats.org/officeDocument/2006/relationships/slide" Target="slides/slide292.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302" Type="http://schemas.openxmlformats.org/officeDocument/2006/relationships/slide" Target="slides/slide296.xml"/><Relationship Id="rId323" Type="http://schemas.openxmlformats.org/officeDocument/2006/relationships/slide" Target="slides/slide317.xml"/><Relationship Id="rId344" Type="http://schemas.openxmlformats.org/officeDocument/2006/relationships/slide" Target="slides/slide338.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179" Type="http://schemas.openxmlformats.org/officeDocument/2006/relationships/slide" Target="slides/slide173.xml"/><Relationship Id="rId365" Type="http://schemas.openxmlformats.org/officeDocument/2006/relationships/slide" Target="slides/slide359.xml"/><Relationship Id="rId386" Type="http://schemas.openxmlformats.org/officeDocument/2006/relationships/commentAuthors" Target="commentAuthors.xml"/><Relationship Id="rId190" Type="http://schemas.openxmlformats.org/officeDocument/2006/relationships/slide" Target="slides/slide184.xml"/><Relationship Id="rId204" Type="http://schemas.openxmlformats.org/officeDocument/2006/relationships/slide" Target="slides/slide198.xml"/><Relationship Id="rId225" Type="http://schemas.openxmlformats.org/officeDocument/2006/relationships/slide" Target="slides/slide219.xml"/><Relationship Id="rId246" Type="http://schemas.openxmlformats.org/officeDocument/2006/relationships/slide" Target="slides/slide240.xml"/><Relationship Id="rId267" Type="http://schemas.openxmlformats.org/officeDocument/2006/relationships/slide" Target="slides/slide261.xml"/><Relationship Id="rId288" Type="http://schemas.openxmlformats.org/officeDocument/2006/relationships/slide" Target="slides/slide282.xml"/><Relationship Id="rId106" Type="http://schemas.openxmlformats.org/officeDocument/2006/relationships/slide" Target="slides/slide100.xml"/><Relationship Id="rId127" Type="http://schemas.openxmlformats.org/officeDocument/2006/relationships/slide" Target="slides/slide121.xml"/><Relationship Id="rId313" Type="http://schemas.openxmlformats.org/officeDocument/2006/relationships/slide" Target="slides/slide307.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94" Type="http://schemas.openxmlformats.org/officeDocument/2006/relationships/slide" Target="slides/slide88.xml"/><Relationship Id="rId148" Type="http://schemas.openxmlformats.org/officeDocument/2006/relationships/slide" Target="slides/slide142.xml"/><Relationship Id="rId169" Type="http://schemas.openxmlformats.org/officeDocument/2006/relationships/slide" Target="slides/slide163.xml"/><Relationship Id="rId334" Type="http://schemas.openxmlformats.org/officeDocument/2006/relationships/slide" Target="slides/slide328.xml"/><Relationship Id="rId355" Type="http://schemas.openxmlformats.org/officeDocument/2006/relationships/slide" Target="slides/slide349.xml"/><Relationship Id="rId376" Type="http://schemas.openxmlformats.org/officeDocument/2006/relationships/slide" Target="slides/slide370.xml"/><Relationship Id="rId4" Type="http://schemas.openxmlformats.org/officeDocument/2006/relationships/slideMaster" Target="slideMasters/slideMaster1.xml"/><Relationship Id="rId180" Type="http://schemas.openxmlformats.org/officeDocument/2006/relationships/slide" Target="slides/slide174.xml"/><Relationship Id="rId215" Type="http://schemas.openxmlformats.org/officeDocument/2006/relationships/slide" Target="slides/slide209.xml"/><Relationship Id="rId236" Type="http://schemas.openxmlformats.org/officeDocument/2006/relationships/slide" Target="slides/slide230.xml"/><Relationship Id="rId257" Type="http://schemas.openxmlformats.org/officeDocument/2006/relationships/slide" Target="slides/slide251.xml"/><Relationship Id="rId278" Type="http://schemas.openxmlformats.org/officeDocument/2006/relationships/slide" Target="slides/slide272.xml"/><Relationship Id="rId303" Type="http://schemas.openxmlformats.org/officeDocument/2006/relationships/slide" Target="slides/slide297.xml"/></Relationships>
</file>

<file path=ppt/_rels/viewProps.xml.rels><?xml version="1.0" encoding="UTF-8" standalone="yes"?>
<Relationships xmlns="http://schemas.openxmlformats.org/package/2006/relationships"><Relationship Id="rId13" Type="http://schemas.openxmlformats.org/officeDocument/2006/relationships/slide" Target="slides/slide16.xml"/><Relationship Id="rId18" Type="http://schemas.openxmlformats.org/officeDocument/2006/relationships/slide" Target="slides/slide21.xml"/><Relationship Id="rId26" Type="http://schemas.openxmlformats.org/officeDocument/2006/relationships/slide" Target="slides/slide30.xml"/><Relationship Id="rId39" Type="http://schemas.openxmlformats.org/officeDocument/2006/relationships/slide" Target="slides/slide44.xml"/><Relationship Id="rId21" Type="http://schemas.openxmlformats.org/officeDocument/2006/relationships/slide" Target="slides/slide25.xml"/><Relationship Id="rId34" Type="http://schemas.openxmlformats.org/officeDocument/2006/relationships/slide" Target="slides/slide39.xml"/><Relationship Id="rId42" Type="http://schemas.openxmlformats.org/officeDocument/2006/relationships/slide" Target="slides/slide48.xml"/><Relationship Id="rId47" Type="http://schemas.openxmlformats.org/officeDocument/2006/relationships/slide" Target="slides/slide54.xml"/><Relationship Id="rId50" Type="http://schemas.openxmlformats.org/officeDocument/2006/relationships/slide" Target="slides/slide57.xml"/><Relationship Id="rId55" Type="http://schemas.openxmlformats.org/officeDocument/2006/relationships/slide" Target="slides/slide63.xml"/><Relationship Id="rId63" Type="http://schemas.openxmlformats.org/officeDocument/2006/relationships/slide" Target="slides/slide71.xml"/><Relationship Id="rId68" Type="http://schemas.openxmlformats.org/officeDocument/2006/relationships/slide" Target="slides/slide77.xml"/><Relationship Id="rId76" Type="http://schemas.openxmlformats.org/officeDocument/2006/relationships/slide" Target="slides/slide125.xml"/><Relationship Id="rId84" Type="http://schemas.openxmlformats.org/officeDocument/2006/relationships/slide" Target="slides/slide203.xml"/><Relationship Id="rId89" Type="http://schemas.openxmlformats.org/officeDocument/2006/relationships/slide" Target="slides/slide208.xml"/><Relationship Id="rId7" Type="http://schemas.openxmlformats.org/officeDocument/2006/relationships/slide" Target="slides/slide9.xml"/><Relationship Id="rId71" Type="http://schemas.openxmlformats.org/officeDocument/2006/relationships/slide" Target="slides/slide80.xml"/><Relationship Id="rId92" Type="http://schemas.openxmlformats.org/officeDocument/2006/relationships/slide" Target="slides/slide375.xml"/><Relationship Id="rId2" Type="http://schemas.openxmlformats.org/officeDocument/2006/relationships/slide" Target="slides/slide2.xml"/><Relationship Id="rId16" Type="http://schemas.openxmlformats.org/officeDocument/2006/relationships/slide" Target="slides/slide19.xml"/><Relationship Id="rId29" Type="http://schemas.openxmlformats.org/officeDocument/2006/relationships/slide" Target="slides/slide33.xml"/><Relationship Id="rId11" Type="http://schemas.openxmlformats.org/officeDocument/2006/relationships/slide" Target="slides/slide13.xml"/><Relationship Id="rId24" Type="http://schemas.openxmlformats.org/officeDocument/2006/relationships/slide" Target="slides/slide28.xml"/><Relationship Id="rId32" Type="http://schemas.openxmlformats.org/officeDocument/2006/relationships/slide" Target="slides/slide37.xml"/><Relationship Id="rId37" Type="http://schemas.openxmlformats.org/officeDocument/2006/relationships/slide" Target="slides/slide42.xml"/><Relationship Id="rId40" Type="http://schemas.openxmlformats.org/officeDocument/2006/relationships/slide" Target="slides/slide46.xml"/><Relationship Id="rId45" Type="http://schemas.openxmlformats.org/officeDocument/2006/relationships/slide" Target="slides/slide51.xml"/><Relationship Id="rId53" Type="http://schemas.openxmlformats.org/officeDocument/2006/relationships/slide" Target="slides/slide61.xml"/><Relationship Id="rId58" Type="http://schemas.openxmlformats.org/officeDocument/2006/relationships/slide" Target="slides/slide66.xml"/><Relationship Id="rId66" Type="http://schemas.openxmlformats.org/officeDocument/2006/relationships/slide" Target="slides/slide75.xml"/><Relationship Id="rId74" Type="http://schemas.openxmlformats.org/officeDocument/2006/relationships/slide" Target="slides/slide123.xml"/><Relationship Id="rId79" Type="http://schemas.openxmlformats.org/officeDocument/2006/relationships/slide" Target="slides/slide128.xml"/><Relationship Id="rId87" Type="http://schemas.openxmlformats.org/officeDocument/2006/relationships/slide" Target="slides/slide206.xml"/><Relationship Id="rId5" Type="http://schemas.openxmlformats.org/officeDocument/2006/relationships/slide" Target="slides/slide7.xml"/><Relationship Id="rId61" Type="http://schemas.openxmlformats.org/officeDocument/2006/relationships/slide" Target="slides/slide69.xml"/><Relationship Id="rId82" Type="http://schemas.openxmlformats.org/officeDocument/2006/relationships/slide" Target="slides/slide132.xml"/><Relationship Id="rId90" Type="http://schemas.openxmlformats.org/officeDocument/2006/relationships/slide" Target="slides/slide372.xml"/><Relationship Id="rId19" Type="http://schemas.openxmlformats.org/officeDocument/2006/relationships/slide" Target="slides/slide22.xml"/><Relationship Id="rId14" Type="http://schemas.openxmlformats.org/officeDocument/2006/relationships/slide" Target="slides/slide17.xml"/><Relationship Id="rId22" Type="http://schemas.openxmlformats.org/officeDocument/2006/relationships/slide" Target="slides/slide26.xml"/><Relationship Id="rId27" Type="http://schemas.openxmlformats.org/officeDocument/2006/relationships/slide" Target="slides/slide31.xml"/><Relationship Id="rId30" Type="http://schemas.openxmlformats.org/officeDocument/2006/relationships/slide" Target="slides/slide35.xml"/><Relationship Id="rId35" Type="http://schemas.openxmlformats.org/officeDocument/2006/relationships/slide" Target="slides/slide40.xml"/><Relationship Id="rId43" Type="http://schemas.openxmlformats.org/officeDocument/2006/relationships/slide" Target="slides/slide49.xml"/><Relationship Id="rId48" Type="http://schemas.openxmlformats.org/officeDocument/2006/relationships/slide" Target="slides/slide55.xml"/><Relationship Id="rId56" Type="http://schemas.openxmlformats.org/officeDocument/2006/relationships/slide" Target="slides/slide64.xml"/><Relationship Id="rId64" Type="http://schemas.openxmlformats.org/officeDocument/2006/relationships/slide" Target="slides/slide72.xml"/><Relationship Id="rId69" Type="http://schemas.openxmlformats.org/officeDocument/2006/relationships/slide" Target="slides/slide78.xml"/><Relationship Id="rId77" Type="http://schemas.openxmlformats.org/officeDocument/2006/relationships/slide" Target="slides/slide126.xml"/><Relationship Id="rId8" Type="http://schemas.openxmlformats.org/officeDocument/2006/relationships/slide" Target="slides/slide10.xml"/><Relationship Id="rId51" Type="http://schemas.openxmlformats.org/officeDocument/2006/relationships/slide" Target="slides/slide58.xml"/><Relationship Id="rId72" Type="http://schemas.openxmlformats.org/officeDocument/2006/relationships/slide" Target="slides/slide81.xml"/><Relationship Id="rId80" Type="http://schemas.openxmlformats.org/officeDocument/2006/relationships/slide" Target="slides/slide130.xml"/><Relationship Id="rId85" Type="http://schemas.openxmlformats.org/officeDocument/2006/relationships/slide" Target="slides/slide204.xml"/><Relationship Id="rId93" Type="http://schemas.openxmlformats.org/officeDocument/2006/relationships/slide" Target="slides/slide376.xml"/><Relationship Id="rId3" Type="http://schemas.openxmlformats.org/officeDocument/2006/relationships/slide" Target="slides/slide4.xml"/><Relationship Id="rId12" Type="http://schemas.openxmlformats.org/officeDocument/2006/relationships/slide" Target="slides/slide14.xml"/><Relationship Id="rId17" Type="http://schemas.openxmlformats.org/officeDocument/2006/relationships/slide" Target="slides/slide20.xml"/><Relationship Id="rId25" Type="http://schemas.openxmlformats.org/officeDocument/2006/relationships/slide" Target="slides/slide29.xml"/><Relationship Id="rId33" Type="http://schemas.openxmlformats.org/officeDocument/2006/relationships/slide" Target="slides/slide38.xml"/><Relationship Id="rId38" Type="http://schemas.openxmlformats.org/officeDocument/2006/relationships/slide" Target="slides/slide43.xml"/><Relationship Id="rId46" Type="http://schemas.openxmlformats.org/officeDocument/2006/relationships/slide" Target="slides/slide53.xml"/><Relationship Id="rId59" Type="http://schemas.openxmlformats.org/officeDocument/2006/relationships/slide" Target="slides/slide67.xml"/><Relationship Id="rId67" Type="http://schemas.openxmlformats.org/officeDocument/2006/relationships/slide" Target="slides/slide76.xml"/><Relationship Id="rId20" Type="http://schemas.openxmlformats.org/officeDocument/2006/relationships/slide" Target="slides/slide23.xml"/><Relationship Id="rId41" Type="http://schemas.openxmlformats.org/officeDocument/2006/relationships/slide" Target="slides/slide47.xml"/><Relationship Id="rId54" Type="http://schemas.openxmlformats.org/officeDocument/2006/relationships/slide" Target="slides/slide62.xml"/><Relationship Id="rId62" Type="http://schemas.openxmlformats.org/officeDocument/2006/relationships/slide" Target="slides/slide70.xml"/><Relationship Id="rId70" Type="http://schemas.openxmlformats.org/officeDocument/2006/relationships/slide" Target="slides/slide79.xml"/><Relationship Id="rId75" Type="http://schemas.openxmlformats.org/officeDocument/2006/relationships/slide" Target="slides/slide124.xml"/><Relationship Id="rId83" Type="http://schemas.openxmlformats.org/officeDocument/2006/relationships/slide" Target="slides/slide202.xml"/><Relationship Id="rId88" Type="http://schemas.openxmlformats.org/officeDocument/2006/relationships/slide" Target="slides/slide207.xml"/><Relationship Id="rId91" Type="http://schemas.openxmlformats.org/officeDocument/2006/relationships/slide" Target="slides/slide373.xml"/><Relationship Id="rId1" Type="http://schemas.openxmlformats.org/officeDocument/2006/relationships/slide" Target="slides/slide1.xml"/><Relationship Id="rId6" Type="http://schemas.openxmlformats.org/officeDocument/2006/relationships/slide" Target="slides/slide8.xml"/><Relationship Id="rId15" Type="http://schemas.openxmlformats.org/officeDocument/2006/relationships/slide" Target="slides/slide18.xml"/><Relationship Id="rId23" Type="http://schemas.openxmlformats.org/officeDocument/2006/relationships/slide" Target="slides/slide27.xml"/><Relationship Id="rId28" Type="http://schemas.openxmlformats.org/officeDocument/2006/relationships/slide" Target="slides/slide32.xml"/><Relationship Id="rId36" Type="http://schemas.openxmlformats.org/officeDocument/2006/relationships/slide" Target="slides/slide41.xml"/><Relationship Id="rId49" Type="http://schemas.openxmlformats.org/officeDocument/2006/relationships/slide" Target="slides/slide56.xml"/><Relationship Id="rId57" Type="http://schemas.openxmlformats.org/officeDocument/2006/relationships/slide" Target="slides/slide65.xml"/><Relationship Id="rId10" Type="http://schemas.openxmlformats.org/officeDocument/2006/relationships/slide" Target="slides/slide12.xml"/><Relationship Id="rId31" Type="http://schemas.openxmlformats.org/officeDocument/2006/relationships/slide" Target="slides/slide36.xml"/><Relationship Id="rId44" Type="http://schemas.openxmlformats.org/officeDocument/2006/relationships/slide" Target="slides/slide50.xml"/><Relationship Id="rId52" Type="http://schemas.openxmlformats.org/officeDocument/2006/relationships/slide" Target="slides/slide59.xml"/><Relationship Id="rId60" Type="http://schemas.openxmlformats.org/officeDocument/2006/relationships/slide" Target="slides/slide68.xml"/><Relationship Id="rId65" Type="http://schemas.openxmlformats.org/officeDocument/2006/relationships/slide" Target="slides/slide74.xml"/><Relationship Id="rId73" Type="http://schemas.openxmlformats.org/officeDocument/2006/relationships/slide" Target="slides/slide100.xml"/><Relationship Id="rId78" Type="http://schemas.openxmlformats.org/officeDocument/2006/relationships/slide" Target="slides/slide127.xml"/><Relationship Id="rId81" Type="http://schemas.openxmlformats.org/officeDocument/2006/relationships/slide" Target="slides/slide131.xml"/><Relationship Id="rId86" Type="http://schemas.openxmlformats.org/officeDocument/2006/relationships/slide" Target="slides/slide205.xml"/><Relationship Id="rId4" Type="http://schemas.openxmlformats.org/officeDocument/2006/relationships/slide" Target="slides/slide5.xml"/><Relationship Id="rId9"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865CA2D4-094E-48F7-9E06-42143F59D099}" type="datetimeFigureOut">
              <a:rPr lang="en-US" smtClean="0"/>
              <a:t>6/10/2026</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51E7E98C-E50F-40A2-A561-002C91555AD1}" type="slidenum">
              <a:rPr lang="en-US" smtClean="0"/>
              <a:t>‹N°›</a:t>
            </a:fld>
            <a:endParaRPr lang="en-US"/>
          </a:p>
        </p:txBody>
      </p:sp>
    </p:spTree>
    <p:extLst>
      <p:ext uri="{BB962C8B-B14F-4D97-AF65-F5344CB8AC3E}">
        <p14:creationId xmlns:p14="http://schemas.microsoft.com/office/powerpoint/2010/main" val="31473369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E467C250-A218-43FB-AD95-3331D2A81DF1}" type="datetimeFigureOut">
              <a:rPr lang="en-US" smtClean="0"/>
              <a:t>6/10/2026</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E2FF7759-803D-4F76-9AEC-98B2D9A07B0D}" type="slidenum">
              <a:rPr lang="en-US" smtClean="0"/>
              <a:t>‹N°›</a:t>
            </a:fld>
            <a:endParaRPr lang="en-US"/>
          </a:p>
        </p:txBody>
      </p:sp>
    </p:spTree>
    <p:extLst>
      <p:ext uri="{BB962C8B-B14F-4D97-AF65-F5344CB8AC3E}">
        <p14:creationId xmlns:p14="http://schemas.microsoft.com/office/powerpoint/2010/main" val="3946572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372.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373.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375.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3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F7759-803D-4F76-9AEC-98B2D9A07B0D}" type="slidenum">
              <a:rPr lang="en-US" smtClean="0"/>
              <a:t>1</a:t>
            </a:fld>
            <a:endParaRPr lang="en-US"/>
          </a:p>
        </p:txBody>
      </p:sp>
    </p:spTree>
    <p:extLst>
      <p:ext uri="{BB962C8B-B14F-4D97-AF65-F5344CB8AC3E}">
        <p14:creationId xmlns:p14="http://schemas.microsoft.com/office/powerpoint/2010/main" val="1867422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créer un nouvel élément dans l’index :</a:t>
            </a:r>
          </a:p>
          <a:p>
            <a:r>
              <a:rPr lang="fr-FR" dirty="0"/>
              <a:t>Faire un saut de section en mode Trieuse de diapositive (Affichage)</a:t>
            </a:r>
          </a:p>
          <a:p>
            <a:r>
              <a:rPr lang="fr-FR" dirty="0"/>
              <a:t>Faire click droit sur le sommaire (dans un coin) puis « Modifier le résumé ». Sélectionner les sections</a:t>
            </a:r>
          </a:p>
          <a:p>
            <a:endParaRPr lang="fr-FR" dirty="0"/>
          </a:p>
        </p:txBody>
      </p:sp>
      <p:sp>
        <p:nvSpPr>
          <p:cNvPr id="4" name="Espace réservé du numéro de diapositive 3"/>
          <p:cNvSpPr>
            <a:spLocks noGrp="1"/>
          </p:cNvSpPr>
          <p:nvPr>
            <p:ph type="sldNum" sz="quarter" idx="5"/>
          </p:nvPr>
        </p:nvSpPr>
        <p:spPr/>
        <p:txBody>
          <a:bodyPr/>
          <a:lstStyle/>
          <a:p>
            <a:fld id="{E2FF7759-803D-4F76-9AEC-98B2D9A07B0D}" type="slidenum">
              <a:rPr lang="en-US" smtClean="0"/>
              <a:t>2</a:t>
            </a:fld>
            <a:endParaRPr lang="en-US"/>
          </a:p>
        </p:txBody>
      </p:sp>
    </p:spTree>
    <p:extLst>
      <p:ext uri="{BB962C8B-B14F-4D97-AF65-F5344CB8AC3E}">
        <p14:creationId xmlns:p14="http://schemas.microsoft.com/office/powerpoint/2010/main" val="2211700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EE268-231C-5F7E-5C34-C49B9E97D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38504-612C-BD0B-42AC-5028182CD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9BDF7E-12F6-F8E3-5F68-E4702F4B3CBD}"/>
              </a:ext>
            </a:extLst>
          </p:cNvPr>
          <p:cNvSpPr>
            <a:spLocks noGrp="1"/>
          </p:cNvSpPr>
          <p:nvPr>
            <p:ph type="body" idx="1"/>
          </p:nvPr>
        </p:nvSpPr>
        <p:spPr/>
        <p:txBody>
          <a:bodyPr/>
          <a:lstStyle/>
          <a:p>
            <a:r>
              <a:rPr lang="en-US" dirty="0"/>
              <a:t>Script SQL : </a:t>
            </a:r>
            <a:br>
              <a:rPr lang="en-US" dirty="0"/>
            </a:br>
            <a:br>
              <a:rPr lang="en-US" dirty="0"/>
            </a:br>
            <a:r>
              <a:rPr lang="en-US" dirty="0"/>
              <a:t>/* ============================================================</a:t>
            </a:r>
          </a:p>
          <a:p>
            <a:r>
              <a:rPr lang="en-US" dirty="0"/>
              <a:t>   </a:t>
            </a:r>
            <a:r>
              <a:rPr lang="en-US" dirty="0" err="1"/>
              <a:t>AzureQuizLab</a:t>
            </a:r>
            <a:r>
              <a:rPr lang="en-US" dirty="0"/>
              <a:t> - Script initial avec 7 questions</a:t>
            </a:r>
          </a:p>
          <a:p>
            <a:r>
              <a:rPr lang="en-US" dirty="0"/>
              <a:t>   ============================================================ */</a:t>
            </a:r>
          </a:p>
          <a:p>
            <a:endParaRPr lang="en-US" dirty="0"/>
          </a:p>
          <a:p>
            <a:r>
              <a:rPr lang="en-US" dirty="0"/>
              <a:t>-- </a:t>
            </a:r>
            <a:r>
              <a:rPr lang="en-US" dirty="0" err="1"/>
              <a:t>Nettoyage</a:t>
            </a:r>
            <a:endParaRPr lang="en-US" dirty="0"/>
          </a:p>
          <a:p>
            <a:r>
              <a:rPr lang="en-US" dirty="0"/>
              <a:t>IF OBJECT_ID('</a:t>
            </a:r>
            <a:r>
              <a:rPr lang="en-US" dirty="0" err="1"/>
              <a:t>QuizAttemptAnswer</a:t>
            </a:r>
            <a:r>
              <a:rPr lang="en-US" dirty="0"/>
              <a:t>', 'U') IS NOT NULL DROP TABLE </a:t>
            </a:r>
            <a:r>
              <a:rPr lang="en-US" dirty="0" err="1"/>
              <a:t>QuizAttemptAnswer</a:t>
            </a:r>
            <a:r>
              <a:rPr lang="en-US" dirty="0"/>
              <a:t>;</a:t>
            </a:r>
          </a:p>
          <a:p>
            <a:r>
              <a:rPr lang="en-US" dirty="0"/>
              <a:t>IF OBJECT_ID('</a:t>
            </a:r>
            <a:r>
              <a:rPr lang="en-US" dirty="0" err="1"/>
              <a:t>QuizAttempt</a:t>
            </a:r>
            <a:r>
              <a:rPr lang="en-US" dirty="0"/>
              <a:t>', 'U') IS NOT NULL DROP TABLE </a:t>
            </a:r>
            <a:r>
              <a:rPr lang="en-US" dirty="0" err="1"/>
              <a:t>QuizAttempt</a:t>
            </a:r>
            <a:r>
              <a:rPr lang="en-US" dirty="0"/>
              <a:t>;</a:t>
            </a:r>
          </a:p>
          <a:p>
            <a:r>
              <a:rPr lang="en-US" dirty="0"/>
              <a:t>IF OBJECT_ID('Answer', 'U') IS NOT NULL DROP TABLE Answer;</a:t>
            </a:r>
          </a:p>
          <a:p>
            <a:r>
              <a:rPr lang="en-US" dirty="0"/>
              <a:t>IF OBJECT_ID('Question', 'U') IS NOT NULL DROP TABLE Question;</a:t>
            </a:r>
          </a:p>
          <a:p>
            <a:r>
              <a:rPr lang="en-US" dirty="0"/>
              <a:t>IF OBJECT_ID('Quiz', 'U') IS NOT NULL DROP TABLE Quiz;</a:t>
            </a:r>
          </a:p>
          <a:p>
            <a:endParaRPr lang="en-US" dirty="0"/>
          </a:p>
          <a:p>
            <a:r>
              <a:rPr lang="en-US" dirty="0"/>
              <a:t>---------------------------------------------------------------</a:t>
            </a:r>
          </a:p>
          <a:p>
            <a:r>
              <a:rPr lang="en-US" dirty="0"/>
              <a:t>-- 1️⃣ Quiz</a:t>
            </a:r>
          </a:p>
          <a:p>
            <a:r>
              <a:rPr lang="en-US" dirty="0"/>
              <a:t>---------------------------------------------------------------</a:t>
            </a:r>
          </a:p>
          <a:p>
            <a:endParaRPr lang="en-US" dirty="0"/>
          </a:p>
          <a:p>
            <a:r>
              <a:rPr lang="en-US" dirty="0"/>
              <a:t>CREATE TABLE Quiz (</a:t>
            </a:r>
          </a:p>
          <a:p>
            <a:r>
              <a:rPr lang="en-US" dirty="0"/>
              <a:t>    Id UNIQUEIDENTIFIER NOT NULL PRIMARY KEY,</a:t>
            </a:r>
          </a:p>
          <a:p>
            <a:r>
              <a:rPr lang="en-US" dirty="0"/>
              <a:t>    Title NVARCHAR(200) NOT NULL,</a:t>
            </a:r>
          </a:p>
          <a:p>
            <a:r>
              <a:rPr lang="en-US" dirty="0"/>
              <a:t>    Description NVARCHAR(500) NULL,</a:t>
            </a:r>
          </a:p>
          <a:p>
            <a:r>
              <a:rPr lang="en-US" dirty="0"/>
              <a:t>    </a:t>
            </a:r>
            <a:r>
              <a:rPr lang="en-US" dirty="0" err="1"/>
              <a:t>IsActive</a:t>
            </a:r>
            <a:r>
              <a:rPr lang="en-US" dirty="0"/>
              <a:t> BIT NOT NULL DEFAULT 1,</a:t>
            </a:r>
          </a:p>
          <a:p>
            <a:r>
              <a:rPr lang="en-US" dirty="0"/>
              <a:t>    </a:t>
            </a:r>
            <a:r>
              <a:rPr lang="en-US" dirty="0" err="1"/>
              <a:t>CreatedAt</a:t>
            </a:r>
            <a:r>
              <a:rPr lang="en-US" dirty="0"/>
              <a:t> DATETIME2 NOT NULL DEFAULT SYSUTCDATETIME()</a:t>
            </a:r>
          </a:p>
          <a:p>
            <a:r>
              <a:rPr lang="en-US" dirty="0"/>
              <a:t>);</a:t>
            </a:r>
          </a:p>
          <a:p>
            <a:endParaRPr lang="en-US" dirty="0"/>
          </a:p>
          <a:p>
            <a:r>
              <a:rPr lang="en-US" dirty="0"/>
              <a:t>---------------------------------------------------------------</a:t>
            </a:r>
          </a:p>
          <a:p>
            <a:r>
              <a:rPr lang="en-US" dirty="0"/>
              <a:t>-- 2️⃣ Question</a:t>
            </a:r>
          </a:p>
          <a:p>
            <a:r>
              <a:rPr lang="en-US" dirty="0"/>
              <a:t>---------------------------------------------------------------</a:t>
            </a:r>
          </a:p>
          <a:p>
            <a:endParaRPr lang="en-US" dirty="0"/>
          </a:p>
          <a:p>
            <a:r>
              <a:rPr lang="en-US" dirty="0"/>
              <a:t>CREATE TABLE Question (</a:t>
            </a:r>
          </a:p>
          <a:p>
            <a:r>
              <a:rPr lang="en-US" dirty="0"/>
              <a:t>    Id UNIQUEIDENTIFIER NOT NULL PRIMARY KEY,</a:t>
            </a:r>
          </a:p>
          <a:p>
            <a:r>
              <a:rPr lang="en-US" dirty="0"/>
              <a:t>    </a:t>
            </a:r>
            <a:r>
              <a:rPr lang="en-US" dirty="0" err="1"/>
              <a:t>QuizId</a:t>
            </a:r>
            <a:r>
              <a:rPr lang="en-US" dirty="0"/>
              <a:t> UNIQUEIDENTIFIER NOT NULL,</a:t>
            </a:r>
          </a:p>
          <a:p>
            <a:r>
              <a:rPr lang="en-US" dirty="0"/>
              <a:t>    Text NVARCHAR(1000) NOT NULL,</a:t>
            </a:r>
          </a:p>
          <a:p>
            <a:r>
              <a:rPr lang="en-US" dirty="0"/>
              <a:t>    </a:t>
            </a:r>
            <a:r>
              <a:rPr lang="en-US" dirty="0" err="1"/>
              <a:t>OrderNumber</a:t>
            </a:r>
            <a:r>
              <a:rPr lang="en-US" dirty="0"/>
              <a:t> INT NOT NULL,</a:t>
            </a:r>
          </a:p>
          <a:p>
            <a:r>
              <a:rPr lang="en-US" dirty="0"/>
              <a:t>    CONSTRAINT </a:t>
            </a:r>
            <a:r>
              <a:rPr lang="en-US" dirty="0" err="1"/>
              <a:t>FK_Question_Quiz</a:t>
            </a:r>
            <a:r>
              <a:rPr lang="en-US" dirty="0"/>
              <a:t> </a:t>
            </a:r>
          </a:p>
          <a:p>
            <a:r>
              <a:rPr lang="en-US" dirty="0"/>
              <a:t>        FOREIGN KEY (</a:t>
            </a:r>
            <a:r>
              <a:rPr lang="en-US" dirty="0" err="1"/>
              <a:t>QuizId</a:t>
            </a:r>
            <a:r>
              <a:rPr lang="en-US" dirty="0"/>
              <a:t>) REFERENCES Quiz(Id)</a:t>
            </a:r>
          </a:p>
          <a:p>
            <a:r>
              <a:rPr lang="en-US" dirty="0"/>
              <a:t>);</a:t>
            </a:r>
          </a:p>
          <a:p>
            <a:endParaRPr lang="en-US" dirty="0"/>
          </a:p>
          <a:p>
            <a:r>
              <a:rPr lang="en-US" dirty="0"/>
              <a:t>---------------------------------------------------------------</a:t>
            </a:r>
          </a:p>
          <a:p>
            <a:r>
              <a:rPr lang="en-US" dirty="0"/>
              <a:t>-- 3️⃣ Answer</a:t>
            </a:r>
          </a:p>
          <a:p>
            <a:r>
              <a:rPr lang="en-US" dirty="0"/>
              <a:t>---------------------------------------------------------------</a:t>
            </a:r>
          </a:p>
          <a:p>
            <a:endParaRPr lang="en-US" dirty="0"/>
          </a:p>
          <a:p>
            <a:r>
              <a:rPr lang="en-US" dirty="0"/>
              <a:t>CREATE TABLE Answer (</a:t>
            </a:r>
          </a:p>
          <a:p>
            <a:r>
              <a:rPr lang="en-US" dirty="0"/>
              <a:t>    Id UNIQUEIDENTIFIER NOT NULL PRIMARY KEY,</a:t>
            </a:r>
          </a:p>
          <a:p>
            <a:r>
              <a:rPr lang="en-US" dirty="0"/>
              <a:t>    </a:t>
            </a:r>
            <a:r>
              <a:rPr lang="en-US" dirty="0" err="1"/>
              <a:t>QuestionId</a:t>
            </a:r>
            <a:r>
              <a:rPr lang="en-US" dirty="0"/>
              <a:t> UNIQUEIDENTIFIER NOT NULL,</a:t>
            </a:r>
          </a:p>
          <a:p>
            <a:r>
              <a:rPr lang="en-US" dirty="0"/>
              <a:t>    Text NVARCHAR(500) NOT NULL,</a:t>
            </a:r>
          </a:p>
          <a:p>
            <a:r>
              <a:rPr lang="en-US" dirty="0"/>
              <a:t>    </a:t>
            </a:r>
            <a:r>
              <a:rPr lang="en-US" dirty="0" err="1"/>
              <a:t>IsCorrect</a:t>
            </a:r>
            <a:r>
              <a:rPr lang="en-US" dirty="0"/>
              <a:t> BIT NOT NULL,</a:t>
            </a:r>
          </a:p>
          <a:p>
            <a:r>
              <a:rPr lang="en-US" dirty="0"/>
              <a:t>    CONSTRAINT </a:t>
            </a:r>
            <a:r>
              <a:rPr lang="en-US" dirty="0" err="1"/>
              <a:t>FK_Answer_Question</a:t>
            </a:r>
            <a:r>
              <a:rPr lang="en-US" dirty="0"/>
              <a:t> </a:t>
            </a:r>
          </a:p>
          <a:p>
            <a:r>
              <a:rPr lang="en-US" dirty="0"/>
              <a:t>        FOREIGN KEY (</a:t>
            </a:r>
            <a:r>
              <a:rPr lang="en-US" dirty="0" err="1"/>
              <a:t>QuestionId</a:t>
            </a:r>
            <a:r>
              <a:rPr lang="en-US" dirty="0"/>
              <a:t>) REFERENCES Question(Id)</a:t>
            </a:r>
          </a:p>
          <a:p>
            <a:r>
              <a:rPr lang="en-US" dirty="0"/>
              <a:t>);</a:t>
            </a:r>
          </a:p>
          <a:p>
            <a:endParaRPr lang="en-US" dirty="0"/>
          </a:p>
          <a:p>
            <a:r>
              <a:rPr lang="en-US" dirty="0"/>
              <a:t>---------------------------------------------------------------</a:t>
            </a:r>
          </a:p>
          <a:p>
            <a:r>
              <a:rPr lang="en-US" dirty="0"/>
              <a:t>-- 4️⃣ </a:t>
            </a:r>
            <a:r>
              <a:rPr lang="en-US" dirty="0" err="1"/>
              <a:t>QuizAttempt</a:t>
            </a:r>
            <a:endParaRPr lang="en-US" dirty="0"/>
          </a:p>
          <a:p>
            <a:r>
              <a:rPr lang="en-US" dirty="0"/>
              <a:t>---------------------------------------------------------------</a:t>
            </a:r>
          </a:p>
          <a:p>
            <a:endParaRPr lang="en-US" dirty="0"/>
          </a:p>
          <a:p>
            <a:r>
              <a:rPr lang="en-US" dirty="0"/>
              <a:t>CREATE TABLE </a:t>
            </a:r>
            <a:r>
              <a:rPr lang="en-US" dirty="0" err="1"/>
              <a:t>QuizAttempt</a:t>
            </a:r>
            <a:r>
              <a:rPr lang="en-US" dirty="0"/>
              <a:t> (</a:t>
            </a:r>
          </a:p>
          <a:p>
            <a:r>
              <a:rPr lang="en-US" dirty="0"/>
              <a:t>    Id UNIQUEIDENTIFIER NOT NULL PRIMARY KEY,</a:t>
            </a:r>
          </a:p>
          <a:p>
            <a:r>
              <a:rPr lang="en-US" dirty="0"/>
              <a:t>    </a:t>
            </a:r>
            <a:r>
              <a:rPr lang="en-US" dirty="0" err="1"/>
              <a:t>QuizId</a:t>
            </a:r>
            <a:r>
              <a:rPr lang="en-US" dirty="0"/>
              <a:t> UNIQUEIDENTIFIER NOT NULL,</a:t>
            </a:r>
          </a:p>
          <a:p>
            <a:r>
              <a:rPr lang="en-US" dirty="0"/>
              <a:t>    </a:t>
            </a:r>
            <a:r>
              <a:rPr lang="en-US" dirty="0" err="1"/>
              <a:t>UserName</a:t>
            </a:r>
            <a:r>
              <a:rPr lang="en-US" dirty="0"/>
              <a:t> NVARCHAR(100) NOT NULL,</a:t>
            </a:r>
          </a:p>
          <a:p>
            <a:r>
              <a:rPr lang="en-US" dirty="0"/>
              <a:t>    Score INT NOT NULL,</a:t>
            </a:r>
          </a:p>
          <a:p>
            <a:r>
              <a:rPr lang="en-US" dirty="0"/>
              <a:t>    </a:t>
            </a:r>
            <a:r>
              <a:rPr lang="en-US" dirty="0" err="1"/>
              <a:t>CompletedAt</a:t>
            </a:r>
            <a:r>
              <a:rPr lang="en-US" dirty="0"/>
              <a:t> DATETIME2 NOT NULL DEFAULT SYSUTCDATETIME(),</a:t>
            </a:r>
          </a:p>
          <a:p>
            <a:r>
              <a:rPr lang="en-US" dirty="0"/>
              <a:t>    CONSTRAINT </a:t>
            </a:r>
            <a:r>
              <a:rPr lang="en-US" dirty="0" err="1"/>
              <a:t>FK_QuizAttempt_Quiz</a:t>
            </a:r>
            <a:r>
              <a:rPr lang="en-US" dirty="0"/>
              <a:t> </a:t>
            </a:r>
          </a:p>
          <a:p>
            <a:r>
              <a:rPr lang="en-US" dirty="0"/>
              <a:t>        FOREIGN KEY (</a:t>
            </a:r>
            <a:r>
              <a:rPr lang="en-US" dirty="0" err="1"/>
              <a:t>QuizId</a:t>
            </a:r>
            <a:r>
              <a:rPr lang="en-US" dirty="0"/>
              <a:t>) REFERENCES Quiz(Id)</a:t>
            </a:r>
          </a:p>
          <a:p>
            <a:r>
              <a:rPr lang="en-US" dirty="0"/>
              <a:t>);</a:t>
            </a:r>
          </a:p>
          <a:p>
            <a:endParaRPr lang="en-US" dirty="0"/>
          </a:p>
          <a:p>
            <a:r>
              <a:rPr lang="en-US" dirty="0"/>
              <a:t>---------------------------------------------------------------</a:t>
            </a:r>
          </a:p>
          <a:p>
            <a:r>
              <a:rPr lang="en-US" dirty="0"/>
              <a:t>-- 5️⃣ </a:t>
            </a:r>
            <a:r>
              <a:rPr lang="en-US" dirty="0" err="1"/>
              <a:t>QuizAttemptAnswer</a:t>
            </a:r>
            <a:endParaRPr lang="en-US" dirty="0"/>
          </a:p>
          <a:p>
            <a:r>
              <a:rPr lang="en-US" dirty="0"/>
              <a:t>---------------------------------------------------------------</a:t>
            </a:r>
          </a:p>
          <a:p>
            <a:endParaRPr lang="en-US" dirty="0"/>
          </a:p>
          <a:p>
            <a:r>
              <a:rPr lang="en-US" dirty="0"/>
              <a:t>CREATE TABLE </a:t>
            </a:r>
            <a:r>
              <a:rPr lang="en-US" dirty="0" err="1"/>
              <a:t>QuizAttemptAnswer</a:t>
            </a:r>
            <a:r>
              <a:rPr lang="en-US" dirty="0"/>
              <a:t> (</a:t>
            </a:r>
          </a:p>
          <a:p>
            <a:r>
              <a:rPr lang="en-US" dirty="0"/>
              <a:t>    Id UNIQUEIDENTIFIER NOT NULL PRIMARY KEY,</a:t>
            </a:r>
          </a:p>
          <a:p>
            <a:r>
              <a:rPr lang="en-US" dirty="0"/>
              <a:t>    </a:t>
            </a:r>
            <a:r>
              <a:rPr lang="en-US" dirty="0" err="1"/>
              <a:t>QuizAttemptId</a:t>
            </a:r>
            <a:r>
              <a:rPr lang="en-US" dirty="0"/>
              <a:t> UNIQUEIDENTIFIER NOT NULL,</a:t>
            </a:r>
          </a:p>
          <a:p>
            <a:r>
              <a:rPr lang="en-US" dirty="0"/>
              <a:t>    </a:t>
            </a:r>
            <a:r>
              <a:rPr lang="en-US" dirty="0" err="1"/>
              <a:t>QuestionId</a:t>
            </a:r>
            <a:r>
              <a:rPr lang="en-US" dirty="0"/>
              <a:t> UNIQUEIDENTIFIER NOT NULL,</a:t>
            </a:r>
          </a:p>
          <a:p>
            <a:r>
              <a:rPr lang="en-US" dirty="0"/>
              <a:t>    </a:t>
            </a:r>
            <a:r>
              <a:rPr lang="en-US" dirty="0" err="1"/>
              <a:t>SelectedAnswerId</a:t>
            </a:r>
            <a:r>
              <a:rPr lang="en-US" dirty="0"/>
              <a:t> UNIQUEIDENTIFIER NOT NULL,</a:t>
            </a:r>
          </a:p>
          <a:p>
            <a:r>
              <a:rPr lang="en-US" dirty="0"/>
              <a:t>    </a:t>
            </a:r>
            <a:r>
              <a:rPr lang="en-US" dirty="0" err="1"/>
              <a:t>IsCorrect</a:t>
            </a:r>
            <a:r>
              <a:rPr lang="en-US" dirty="0"/>
              <a:t> BIT NOT NULL,</a:t>
            </a:r>
          </a:p>
          <a:p>
            <a:r>
              <a:rPr lang="en-US" dirty="0"/>
              <a:t>    CONSTRAINT </a:t>
            </a:r>
            <a:r>
              <a:rPr lang="en-US" dirty="0" err="1"/>
              <a:t>FK_QAA_Attempt</a:t>
            </a:r>
            <a:r>
              <a:rPr lang="en-US" dirty="0"/>
              <a:t> </a:t>
            </a:r>
          </a:p>
          <a:p>
            <a:r>
              <a:rPr lang="en-US" dirty="0"/>
              <a:t>        FOREIGN KEY (</a:t>
            </a:r>
            <a:r>
              <a:rPr lang="en-US" dirty="0" err="1"/>
              <a:t>QuizAttemptId</a:t>
            </a:r>
            <a:r>
              <a:rPr lang="en-US" dirty="0"/>
              <a:t>) REFERENCES </a:t>
            </a:r>
            <a:r>
              <a:rPr lang="en-US" dirty="0" err="1"/>
              <a:t>QuizAttempt</a:t>
            </a:r>
            <a:r>
              <a:rPr lang="en-US" dirty="0"/>
              <a:t>(Id),</a:t>
            </a:r>
          </a:p>
          <a:p>
            <a:r>
              <a:rPr lang="en-US" dirty="0"/>
              <a:t>    CONSTRAINT </a:t>
            </a:r>
            <a:r>
              <a:rPr lang="en-US" dirty="0" err="1"/>
              <a:t>FK_QAA_Question</a:t>
            </a:r>
            <a:r>
              <a:rPr lang="en-US" dirty="0"/>
              <a:t> </a:t>
            </a:r>
          </a:p>
          <a:p>
            <a:r>
              <a:rPr lang="en-US" dirty="0"/>
              <a:t>        FOREIGN KEY (</a:t>
            </a:r>
            <a:r>
              <a:rPr lang="en-US" dirty="0" err="1"/>
              <a:t>QuestionId</a:t>
            </a:r>
            <a:r>
              <a:rPr lang="en-US" dirty="0"/>
              <a:t>) REFERENCES Question(Id),</a:t>
            </a:r>
          </a:p>
          <a:p>
            <a:r>
              <a:rPr lang="en-US" dirty="0"/>
              <a:t>    CONSTRAINT </a:t>
            </a:r>
            <a:r>
              <a:rPr lang="en-US" dirty="0" err="1"/>
              <a:t>FK_QAA_Answer</a:t>
            </a:r>
            <a:r>
              <a:rPr lang="en-US" dirty="0"/>
              <a:t> </a:t>
            </a:r>
          </a:p>
          <a:p>
            <a:r>
              <a:rPr lang="en-US" dirty="0"/>
              <a:t>        FOREIGN KEY (</a:t>
            </a:r>
            <a:r>
              <a:rPr lang="en-US" dirty="0" err="1"/>
              <a:t>SelectedAnswerId</a:t>
            </a:r>
            <a:r>
              <a:rPr lang="en-US" dirty="0"/>
              <a:t>) REFERENCES Answer(Id)</a:t>
            </a:r>
          </a:p>
          <a:p>
            <a:r>
              <a:rPr lang="en-US" dirty="0"/>
              <a:t>);</a:t>
            </a:r>
          </a:p>
          <a:p>
            <a:endParaRPr lang="en-US" dirty="0"/>
          </a:p>
          <a:p>
            <a:r>
              <a:rPr lang="en-US" dirty="0"/>
              <a:t>---------------------------------------------------------------</a:t>
            </a:r>
          </a:p>
          <a:p>
            <a:r>
              <a:rPr lang="en-US" dirty="0"/>
              <a:t>-- Index</a:t>
            </a:r>
          </a:p>
          <a:p>
            <a:r>
              <a:rPr lang="en-US" dirty="0"/>
              <a:t>---------------------------------------------------------------</a:t>
            </a:r>
          </a:p>
          <a:p>
            <a:endParaRPr lang="en-US" dirty="0"/>
          </a:p>
          <a:p>
            <a:r>
              <a:rPr lang="en-US" dirty="0"/>
              <a:t>CREATE INDEX </a:t>
            </a:r>
            <a:r>
              <a:rPr lang="en-US" dirty="0" err="1"/>
              <a:t>IX_Question_QuizId</a:t>
            </a:r>
            <a:r>
              <a:rPr lang="en-US" dirty="0"/>
              <a:t> ON Question(</a:t>
            </a:r>
            <a:r>
              <a:rPr lang="en-US" dirty="0" err="1"/>
              <a:t>QuizId</a:t>
            </a:r>
            <a:r>
              <a:rPr lang="en-US" dirty="0"/>
              <a:t>);</a:t>
            </a:r>
          </a:p>
          <a:p>
            <a:r>
              <a:rPr lang="en-US" dirty="0"/>
              <a:t>CREATE INDEX </a:t>
            </a:r>
            <a:r>
              <a:rPr lang="en-US" dirty="0" err="1"/>
              <a:t>IX_Answer_QuestionId</a:t>
            </a:r>
            <a:r>
              <a:rPr lang="en-US" dirty="0"/>
              <a:t> ON Answer(</a:t>
            </a:r>
            <a:r>
              <a:rPr lang="en-US" dirty="0" err="1"/>
              <a:t>QuestionId</a:t>
            </a:r>
            <a:r>
              <a:rPr lang="en-US" dirty="0"/>
              <a:t>);</a:t>
            </a:r>
          </a:p>
          <a:p>
            <a:r>
              <a:rPr lang="en-US" dirty="0"/>
              <a:t>CREATE INDEX </a:t>
            </a:r>
            <a:r>
              <a:rPr lang="en-US" dirty="0" err="1"/>
              <a:t>IX_QuizAttempt_QuizId</a:t>
            </a:r>
            <a:r>
              <a:rPr lang="en-US" dirty="0"/>
              <a:t> ON </a:t>
            </a:r>
            <a:r>
              <a:rPr lang="en-US" dirty="0" err="1"/>
              <a:t>QuizAttempt</a:t>
            </a:r>
            <a:r>
              <a:rPr lang="en-US" dirty="0"/>
              <a:t>(</a:t>
            </a:r>
            <a:r>
              <a:rPr lang="en-US" dirty="0" err="1"/>
              <a:t>QuizId</a:t>
            </a:r>
            <a:r>
              <a:rPr lang="en-US" dirty="0"/>
              <a:t>);</a:t>
            </a:r>
          </a:p>
          <a:p>
            <a:endParaRPr lang="en-US" dirty="0"/>
          </a:p>
          <a:p>
            <a:r>
              <a:rPr lang="en-US" dirty="0"/>
              <a:t>---------------------------------------------------------------</a:t>
            </a:r>
          </a:p>
          <a:p>
            <a:r>
              <a:rPr lang="en-US" dirty="0"/>
              <a:t>-- Données</a:t>
            </a:r>
          </a:p>
          <a:p>
            <a:r>
              <a:rPr lang="en-US" dirty="0"/>
              <a:t>---------------------------------------------------------------</a:t>
            </a:r>
          </a:p>
          <a:p>
            <a:endParaRPr lang="en-US" dirty="0"/>
          </a:p>
          <a:p>
            <a:r>
              <a:rPr lang="en-US" dirty="0"/>
              <a:t>DECLARE @QuizId UNIQUEIDENTIFIER = NEWID();</a:t>
            </a:r>
          </a:p>
          <a:p>
            <a:endParaRPr lang="en-US" dirty="0"/>
          </a:p>
          <a:p>
            <a:r>
              <a:rPr lang="en-US" dirty="0"/>
              <a:t>INSERT INTO Quiz (Id, Title, Description, </a:t>
            </a:r>
            <a:r>
              <a:rPr lang="en-US" dirty="0" err="1"/>
              <a:t>IsActive</a:t>
            </a:r>
            <a:r>
              <a:rPr lang="en-US" dirty="0"/>
              <a:t>)</a:t>
            </a:r>
          </a:p>
          <a:p>
            <a:r>
              <a:rPr lang="en-US" dirty="0"/>
              <a:t>VALUES (</a:t>
            </a:r>
          </a:p>
          <a:p>
            <a:r>
              <a:rPr lang="en-US" dirty="0"/>
              <a:t>    @QuizId,</a:t>
            </a:r>
          </a:p>
          <a:p>
            <a:r>
              <a:rPr lang="en-US" dirty="0"/>
              <a:t>    'Cloud Fundamentals - IaaS / PaaS / SaaS',</a:t>
            </a:r>
          </a:p>
          <a:p>
            <a:r>
              <a:rPr lang="en-US" dirty="0"/>
              <a:t>    'Quiz sur les </a:t>
            </a:r>
            <a:r>
              <a:rPr lang="en-US" dirty="0" err="1"/>
              <a:t>modèles</a:t>
            </a:r>
            <a:r>
              <a:rPr lang="en-US" dirty="0"/>
              <a:t> de service cloud',</a:t>
            </a:r>
          </a:p>
          <a:p>
            <a:r>
              <a:rPr lang="en-US" dirty="0"/>
              <a:t>    1</a:t>
            </a:r>
          </a:p>
          <a:p>
            <a:r>
              <a:rPr lang="en-US" dirty="0"/>
              <a:t>);</a:t>
            </a:r>
          </a:p>
          <a:p>
            <a:endParaRPr lang="en-US" dirty="0"/>
          </a:p>
          <a:p>
            <a:r>
              <a:rPr lang="en-US" dirty="0"/>
              <a:t>---------------------------------------------------------------</a:t>
            </a:r>
          </a:p>
          <a:p>
            <a:r>
              <a:rPr lang="en-US" dirty="0"/>
              <a:t>-- Questions</a:t>
            </a:r>
          </a:p>
          <a:p>
            <a:r>
              <a:rPr lang="en-US" dirty="0"/>
              <a:t>---------------------------------------------------------------</a:t>
            </a:r>
          </a:p>
          <a:p>
            <a:endParaRPr lang="en-US" dirty="0"/>
          </a:p>
          <a:p>
            <a:r>
              <a:rPr lang="en-US" dirty="0"/>
              <a:t>DECLARE @Q1 UNIQUEIDENTIFIER = NEWID();</a:t>
            </a:r>
          </a:p>
          <a:p>
            <a:r>
              <a:rPr lang="en-US" dirty="0"/>
              <a:t>DECLARE @Q2 UNIQUEIDENTIFIER = NEWID();</a:t>
            </a:r>
          </a:p>
          <a:p>
            <a:r>
              <a:rPr lang="en-US" dirty="0"/>
              <a:t>DECLARE @Q3 UNIQUEIDENTIFIER = NEWID();</a:t>
            </a:r>
          </a:p>
          <a:p>
            <a:r>
              <a:rPr lang="en-US" dirty="0"/>
              <a:t>DECLARE @Q4 UNIQUEIDENTIFIER = NEWID();</a:t>
            </a:r>
          </a:p>
          <a:p>
            <a:r>
              <a:rPr lang="en-US" dirty="0"/>
              <a:t>DECLARE @Q5 UNIQUEIDENTIFIER = NEWID();</a:t>
            </a:r>
          </a:p>
          <a:p>
            <a:r>
              <a:rPr lang="en-US" dirty="0"/>
              <a:t>DECLARE @Q6 UNIQUEIDENTIFIER = NEWID();</a:t>
            </a:r>
          </a:p>
          <a:p>
            <a:r>
              <a:rPr lang="en-US" dirty="0"/>
              <a:t>DECLARE @Q7 UNIQUEIDENTIFIER = NEWID();</a:t>
            </a:r>
          </a:p>
          <a:p>
            <a:endParaRPr lang="en-US" dirty="0"/>
          </a:p>
          <a:p>
            <a:r>
              <a:rPr lang="en-US" dirty="0"/>
              <a:t>INSERT INTO Question (Id, </a:t>
            </a:r>
            <a:r>
              <a:rPr lang="en-US" dirty="0" err="1"/>
              <a:t>QuizId</a:t>
            </a:r>
            <a:r>
              <a:rPr lang="en-US" dirty="0"/>
              <a:t>, Text, </a:t>
            </a:r>
            <a:r>
              <a:rPr lang="en-US" dirty="0" err="1"/>
              <a:t>OrderNumber</a:t>
            </a:r>
            <a:r>
              <a:rPr lang="en-US" dirty="0"/>
              <a:t>) VALUES</a:t>
            </a:r>
          </a:p>
          <a:p>
            <a:r>
              <a:rPr lang="en-US" dirty="0"/>
              <a:t>(@Q1, @QuizId, 'Quelle </a:t>
            </a:r>
            <a:r>
              <a:rPr lang="en-US" dirty="0" err="1"/>
              <a:t>est</a:t>
            </a:r>
            <a:r>
              <a:rPr lang="en-US" dirty="0"/>
              <a:t> la </a:t>
            </a:r>
            <a:r>
              <a:rPr lang="en-US" dirty="0" err="1"/>
              <a:t>principale</a:t>
            </a:r>
            <a:r>
              <a:rPr lang="en-US" dirty="0"/>
              <a:t> </a:t>
            </a:r>
            <a:r>
              <a:rPr lang="en-US" dirty="0" err="1"/>
              <a:t>différence</a:t>
            </a:r>
            <a:r>
              <a:rPr lang="en-US" dirty="0"/>
              <a:t> entre IaaS, PaaS et SaaS ?', 1),</a:t>
            </a:r>
          </a:p>
          <a:p>
            <a:r>
              <a:rPr lang="en-US" dirty="0"/>
              <a:t>(@Q2, @QuizId, 'Dans </a:t>
            </a:r>
            <a:r>
              <a:rPr lang="en-US" dirty="0" err="1"/>
              <a:t>quel</a:t>
            </a:r>
            <a:r>
              <a:rPr lang="en-US" dirty="0"/>
              <a:t> </a:t>
            </a:r>
            <a:r>
              <a:rPr lang="en-US" dirty="0" err="1"/>
              <a:t>modèle</a:t>
            </a:r>
            <a:r>
              <a:rPr lang="en-US" dirty="0"/>
              <a:t> le client </a:t>
            </a:r>
            <a:r>
              <a:rPr lang="en-US" dirty="0" err="1"/>
              <a:t>est</a:t>
            </a:r>
            <a:r>
              <a:rPr lang="en-US" dirty="0"/>
              <a:t> </a:t>
            </a:r>
            <a:r>
              <a:rPr lang="en-US" dirty="0" err="1"/>
              <a:t>responsable</a:t>
            </a:r>
            <a:r>
              <a:rPr lang="en-US" dirty="0"/>
              <a:t> du </a:t>
            </a:r>
            <a:r>
              <a:rPr lang="en-US" dirty="0" err="1"/>
              <a:t>système</a:t>
            </a:r>
            <a:r>
              <a:rPr lang="en-US" dirty="0"/>
              <a:t> </a:t>
            </a:r>
            <a:r>
              <a:rPr lang="en-US" dirty="0" err="1"/>
              <a:t>d’exploitation</a:t>
            </a:r>
            <a:r>
              <a:rPr lang="en-US" dirty="0"/>
              <a:t> ?', 2),</a:t>
            </a:r>
          </a:p>
          <a:p>
            <a:r>
              <a:rPr lang="en-US" dirty="0"/>
              <a:t>(@Q3, @QuizId, 'Dans </a:t>
            </a:r>
            <a:r>
              <a:rPr lang="en-US" dirty="0" err="1"/>
              <a:t>quel</a:t>
            </a:r>
            <a:r>
              <a:rPr lang="en-US" dirty="0"/>
              <a:t> </a:t>
            </a:r>
            <a:r>
              <a:rPr lang="en-US" dirty="0" err="1"/>
              <a:t>modèle</a:t>
            </a:r>
            <a:r>
              <a:rPr lang="en-US" dirty="0"/>
              <a:t> le </a:t>
            </a:r>
            <a:r>
              <a:rPr lang="en-US" dirty="0" err="1"/>
              <a:t>fournisseur</a:t>
            </a:r>
            <a:r>
              <a:rPr lang="en-US" dirty="0"/>
              <a:t> cloud </a:t>
            </a:r>
            <a:r>
              <a:rPr lang="en-US" dirty="0" err="1"/>
              <a:t>gère</a:t>
            </a:r>
            <a:r>
              <a:rPr lang="en-US" dirty="0"/>
              <a:t> le </a:t>
            </a:r>
            <a:r>
              <a:rPr lang="en-US" dirty="0" err="1"/>
              <a:t>système</a:t>
            </a:r>
            <a:r>
              <a:rPr lang="en-US" dirty="0"/>
              <a:t> </a:t>
            </a:r>
            <a:r>
              <a:rPr lang="en-US" dirty="0" err="1"/>
              <a:t>d’exploitation</a:t>
            </a:r>
            <a:r>
              <a:rPr lang="en-US" dirty="0"/>
              <a:t> et le runtime ?', 3),</a:t>
            </a:r>
          </a:p>
          <a:p>
            <a:r>
              <a:rPr lang="en-US" dirty="0"/>
              <a:t>(@Q4, @QuizId, 'Dans </a:t>
            </a:r>
            <a:r>
              <a:rPr lang="en-US" dirty="0" err="1"/>
              <a:t>quel</a:t>
            </a:r>
            <a:r>
              <a:rPr lang="en-US" dirty="0"/>
              <a:t> </a:t>
            </a:r>
            <a:r>
              <a:rPr lang="en-US" dirty="0" err="1"/>
              <a:t>modèle</a:t>
            </a:r>
            <a:r>
              <a:rPr lang="en-US" dirty="0"/>
              <a:t> le client ne </a:t>
            </a:r>
            <a:r>
              <a:rPr lang="en-US" dirty="0" err="1"/>
              <a:t>gère</a:t>
            </a:r>
            <a:r>
              <a:rPr lang="en-US" dirty="0"/>
              <a:t> </a:t>
            </a:r>
            <a:r>
              <a:rPr lang="en-US" dirty="0" err="1"/>
              <a:t>absolument</a:t>
            </a:r>
            <a:r>
              <a:rPr lang="en-US" dirty="0"/>
              <a:t> rien de technique ?', 4),</a:t>
            </a:r>
          </a:p>
          <a:p>
            <a:r>
              <a:rPr lang="en-US" dirty="0"/>
              <a:t>(@Q5, @QuizId, 'Vous </a:t>
            </a:r>
            <a:r>
              <a:rPr lang="en-US" dirty="0" err="1"/>
              <a:t>devez</a:t>
            </a:r>
            <a:r>
              <a:rPr lang="en-US" dirty="0"/>
              <a:t> installer </a:t>
            </a:r>
            <a:r>
              <a:rPr lang="en-US" dirty="0" err="1"/>
              <a:t>une</a:t>
            </a:r>
            <a:r>
              <a:rPr lang="en-US" dirty="0"/>
              <a:t> application métier legacy </a:t>
            </a:r>
            <a:r>
              <a:rPr lang="en-US" dirty="0" err="1"/>
              <a:t>nécessitant</a:t>
            </a:r>
            <a:r>
              <a:rPr lang="en-US" dirty="0"/>
              <a:t> un </a:t>
            </a:r>
            <a:r>
              <a:rPr lang="en-US" dirty="0" err="1"/>
              <a:t>accès</a:t>
            </a:r>
            <a:r>
              <a:rPr lang="en-US" dirty="0"/>
              <a:t> </a:t>
            </a:r>
            <a:r>
              <a:rPr lang="en-US" dirty="0" err="1"/>
              <a:t>complet</a:t>
            </a:r>
            <a:r>
              <a:rPr lang="en-US" dirty="0"/>
              <a:t> au </a:t>
            </a:r>
            <a:r>
              <a:rPr lang="en-US" dirty="0" err="1"/>
              <a:t>serveur</a:t>
            </a:r>
            <a:r>
              <a:rPr lang="en-US" dirty="0"/>
              <a:t>. Quel </a:t>
            </a:r>
            <a:r>
              <a:rPr lang="en-US" dirty="0" err="1"/>
              <a:t>modèle</a:t>
            </a:r>
            <a:r>
              <a:rPr lang="en-US" dirty="0"/>
              <a:t> </a:t>
            </a:r>
            <a:r>
              <a:rPr lang="en-US" dirty="0" err="1"/>
              <a:t>est</a:t>
            </a:r>
            <a:r>
              <a:rPr lang="en-US" dirty="0"/>
              <a:t> le plus </a:t>
            </a:r>
            <a:r>
              <a:rPr lang="en-US" dirty="0" err="1"/>
              <a:t>adapté</a:t>
            </a:r>
            <a:r>
              <a:rPr lang="en-US" dirty="0"/>
              <a:t> ?', 5),</a:t>
            </a:r>
          </a:p>
          <a:p>
            <a:r>
              <a:rPr lang="en-US" dirty="0"/>
              <a:t>(@Q6, @QuizId, 'Quelle solution </a:t>
            </a:r>
            <a:r>
              <a:rPr lang="en-US" dirty="0" err="1"/>
              <a:t>est</a:t>
            </a:r>
            <a:r>
              <a:rPr lang="en-US" dirty="0"/>
              <a:t> la plus </a:t>
            </a:r>
            <a:r>
              <a:rPr lang="en-US" dirty="0" err="1"/>
              <a:t>proche</a:t>
            </a:r>
            <a:r>
              <a:rPr lang="en-US" dirty="0"/>
              <a:t> du </a:t>
            </a:r>
            <a:r>
              <a:rPr lang="en-US" dirty="0" err="1"/>
              <a:t>modèle</a:t>
            </a:r>
            <a:r>
              <a:rPr lang="en-US" dirty="0"/>
              <a:t> On-premise ?', 6),</a:t>
            </a:r>
          </a:p>
          <a:p>
            <a:r>
              <a:rPr lang="en-US" dirty="0"/>
              <a:t>(@Q7, @QuizId, 'Une équipe </a:t>
            </a:r>
            <a:r>
              <a:rPr lang="en-US" dirty="0" err="1"/>
              <a:t>utilise</a:t>
            </a:r>
            <a:r>
              <a:rPr lang="en-US" dirty="0"/>
              <a:t> Azure App Service pour </a:t>
            </a:r>
            <a:r>
              <a:rPr lang="en-US" dirty="0" err="1"/>
              <a:t>héberger</a:t>
            </a:r>
            <a:r>
              <a:rPr lang="en-US" dirty="0"/>
              <a:t> </a:t>
            </a:r>
            <a:r>
              <a:rPr lang="en-US" dirty="0" err="1"/>
              <a:t>une</a:t>
            </a:r>
            <a:r>
              <a:rPr lang="en-US" dirty="0"/>
              <a:t> application web. Quel </a:t>
            </a:r>
            <a:r>
              <a:rPr lang="en-US" dirty="0" err="1"/>
              <a:t>modèle</a:t>
            </a:r>
            <a:r>
              <a:rPr lang="en-US" dirty="0"/>
              <a:t> cloud </a:t>
            </a:r>
            <a:r>
              <a:rPr lang="en-US" dirty="0" err="1"/>
              <a:t>est</a:t>
            </a:r>
            <a:r>
              <a:rPr lang="en-US" dirty="0"/>
              <a:t> </a:t>
            </a:r>
            <a:r>
              <a:rPr lang="en-US" dirty="0" err="1"/>
              <a:t>utilisé</a:t>
            </a:r>
            <a:r>
              <a:rPr lang="en-US" dirty="0"/>
              <a:t> ?', 7);</a:t>
            </a:r>
          </a:p>
          <a:p>
            <a:endParaRPr lang="en-US" dirty="0"/>
          </a:p>
          <a:p>
            <a:r>
              <a:rPr lang="en-US" dirty="0"/>
              <a:t>---------------------------------------------------------------</a:t>
            </a:r>
          </a:p>
          <a:p>
            <a:r>
              <a:rPr lang="en-US" dirty="0"/>
              <a:t>-- </a:t>
            </a:r>
            <a:r>
              <a:rPr lang="en-US" dirty="0" err="1"/>
              <a:t>Réponses</a:t>
            </a:r>
            <a:endParaRPr lang="en-US" dirty="0"/>
          </a:p>
          <a:p>
            <a:r>
              <a:rPr lang="en-US" dirty="0"/>
              <a:t>---------------------------------------------------------------</a:t>
            </a:r>
          </a:p>
          <a:p>
            <a:endParaRPr lang="en-US" dirty="0"/>
          </a:p>
          <a:p>
            <a:r>
              <a:rPr lang="en-US" dirty="0"/>
              <a:t>-- Q1</a:t>
            </a:r>
          </a:p>
          <a:p>
            <a:r>
              <a:rPr lang="en-US" dirty="0"/>
              <a:t>INSERT INTO Answer VALUES</a:t>
            </a:r>
          </a:p>
          <a:p>
            <a:r>
              <a:rPr lang="en-US" dirty="0"/>
              <a:t>(NEWID(), @Q1, 'Le prix', 0),</a:t>
            </a:r>
          </a:p>
          <a:p>
            <a:r>
              <a:rPr lang="en-US" dirty="0"/>
              <a:t>(NEWID(), @Q1, 'La </a:t>
            </a:r>
            <a:r>
              <a:rPr lang="en-US" dirty="0" err="1"/>
              <a:t>localisation</a:t>
            </a:r>
            <a:r>
              <a:rPr lang="en-US" dirty="0"/>
              <a:t> des </a:t>
            </a:r>
            <a:r>
              <a:rPr lang="en-US" dirty="0" err="1"/>
              <a:t>serveurs</a:t>
            </a:r>
            <a:r>
              <a:rPr lang="en-US" dirty="0"/>
              <a:t>', 0),</a:t>
            </a:r>
          </a:p>
          <a:p>
            <a:r>
              <a:rPr lang="en-US" dirty="0"/>
              <a:t>(NEWID(), @Q1, 'Le </a:t>
            </a:r>
            <a:r>
              <a:rPr lang="en-US" dirty="0" err="1"/>
              <a:t>niveau</a:t>
            </a:r>
            <a:r>
              <a:rPr lang="en-US" dirty="0"/>
              <a:t> de </a:t>
            </a:r>
            <a:r>
              <a:rPr lang="en-US" dirty="0" err="1"/>
              <a:t>responsabilité</a:t>
            </a:r>
            <a:r>
              <a:rPr lang="en-US" dirty="0"/>
              <a:t> du client', 1),</a:t>
            </a:r>
          </a:p>
          <a:p>
            <a:r>
              <a:rPr lang="en-US" dirty="0"/>
              <a:t>(NEWID(), @Q1, 'La </a:t>
            </a:r>
            <a:r>
              <a:rPr lang="en-US" dirty="0" err="1"/>
              <a:t>vitesse</a:t>
            </a:r>
            <a:r>
              <a:rPr lang="en-US" dirty="0"/>
              <a:t> de </a:t>
            </a:r>
            <a:r>
              <a:rPr lang="en-US" dirty="0" err="1"/>
              <a:t>déploiement</a:t>
            </a:r>
            <a:r>
              <a:rPr lang="en-US" dirty="0"/>
              <a:t>', 0);</a:t>
            </a:r>
          </a:p>
          <a:p>
            <a:endParaRPr lang="en-US" dirty="0"/>
          </a:p>
          <a:p>
            <a:r>
              <a:rPr lang="en-US" dirty="0"/>
              <a:t>-- Q2</a:t>
            </a:r>
          </a:p>
          <a:p>
            <a:r>
              <a:rPr lang="en-US" dirty="0"/>
              <a:t>INSERT INTO Answer VALUES</a:t>
            </a:r>
          </a:p>
          <a:p>
            <a:r>
              <a:rPr lang="en-US" dirty="0"/>
              <a:t>(NEWID(), @Q2, '</a:t>
            </a:r>
            <a:r>
              <a:rPr lang="en-US" dirty="0" err="1"/>
              <a:t>Aucun</a:t>
            </a:r>
            <a:r>
              <a:rPr lang="en-US" dirty="0"/>
              <a:t>', 0),</a:t>
            </a:r>
          </a:p>
          <a:p>
            <a:r>
              <a:rPr lang="en-US" dirty="0"/>
              <a:t>(NEWID(), @Q2, 'SaaS', 0),</a:t>
            </a:r>
          </a:p>
          <a:p>
            <a:r>
              <a:rPr lang="en-US" dirty="0"/>
              <a:t>(NEWID(), @Q2, 'PaaS', 0),</a:t>
            </a:r>
          </a:p>
          <a:p>
            <a:r>
              <a:rPr lang="en-US" dirty="0"/>
              <a:t>(NEWID(), @Q2, 'IaaS', 1);</a:t>
            </a:r>
          </a:p>
          <a:p>
            <a:endParaRPr lang="en-US" dirty="0"/>
          </a:p>
          <a:p>
            <a:r>
              <a:rPr lang="en-US" dirty="0"/>
              <a:t>-- Q3</a:t>
            </a:r>
          </a:p>
          <a:p>
            <a:r>
              <a:rPr lang="en-US" dirty="0"/>
              <a:t>INSERT INTO Answer VALUES</a:t>
            </a:r>
          </a:p>
          <a:p>
            <a:r>
              <a:rPr lang="en-US" dirty="0"/>
              <a:t>(NEWID(), @Q3, 'On-premise', 0),</a:t>
            </a:r>
          </a:p>
          <a:p>
            <a:r>
              <a:rPr lang="en-US" dirty="0"/>
              <a:t>(NEWID(), @Q3, 'SaaS', 0),</a:t>
            </a:r>
          </a:p>
          <a:p>
            <a:r>
              <a:rPr lang="en-US" dirty="0"/>
              <a:t>(NEWID(), @Q3, 'PaaS', 1),</a:t>
            </a:r>
          </a:p>
          <a:p>
            <a:r>
              <a:rPr lang="en-US" dirty="0"/>
              <a:t>(NEWID(), @Q3, 'IaaS', 0);</a:t>
            </a:r>
          </a:p>
          <a:p>
            <a:endParaRPr lang="en-US" dirty="0"/>
          </a:p>
          <a:p>
            <a:r>
              <a:rPr lang="en-US" dirty="0"/>
              <a:t>-- Q4</a:t>
            </a:r>
          </a:p>
          <a:p>
            <a:r>
              <a:rPr lang="en-US" dirty="0"/>
              <a:t>INSERT INTO Answer VALUES</a:t>
            </a:r>
          </a:p>
          <a:p>
            <a:r>
              <a:rPr lang="en-US" dirty="0"/>
              <a:t>(NEWID(), @Q4, 'SaaS', 1),</a:t>
            </a:r>
          </a:p>
          <a:p>
            <a:r>
              <a:rPr lang="en-US" dirty="0"/>
              <a:t>(NEWID(), @Q4, 'PaaS', 0),</a:t>
            </a:r>
          </a:p>
          <a:p>
            <a:r>
              <a:rPr lang="en-US" dirty="0"/>
              <a:t>(NEWID(), @Q4, 'IaaS', 0),</a:t>
            </a:r>
          </a:p>
          <a:p>
            <a:r>
              <a:rPr lang="en-US" dirty="0"/>
              <a:t>(NEWID(), @Q4, 'On-premise', 0);</a:t>
            </a:r>
          </a:p>
          <a:p>
            <a:endParaRPr lang="en-US" dirty="0"/>
          </a:p>
          <a:p>
            <a:r>
              <a:rPr lang="en-US" dirty="0"/>
              <a:t>-- Q5</a:t>
            </a:r>
          </a:p>
          <a:p>
            <a:r>
              <a:rPr lang="en-US" dirty="0"/>
              <a:t>INSERT INTO Answer VALUES</a:t>
            </a:r>
          </a:p>
          <a:p>
            <a:r>
              <a:rPr lang="en-US" dirty="0"/>
              <a:t>(NEWID(), @Q5, 'SaaS', 0),</a:t>
            </a:r>
          </a:p>
          <a:p>
            <a:r>
              <a:rPr lang="en-US" dirty="0"/>
              <a:t>(NEWID(), @Q5, 'PaaS', 0),</a:t>
            </a:r>
          </a:p>
          <a:p>
            <a:r>
              <a:rPr lang="en-US" dirty="0"/>
              <a:t>(NEWID(), @Q5, 'IaaS', 1),</a:t>
            </a:r>
          </a:p>
          <a:p>
            <a:r>
              <a:rPr lang="en-US" dirty="0"/>
              <a:t>(NEWID(), @Q5, 'Serverless', 0);</a:t>
            </a:r>
          </a:p>
          <a:p>
            <a:endParaRPr lang="en-US" dirty="0"/>
          </a:p>
          <a:p>
            <a:r>
              <a:rPr lang="en-US" dirty="0"/>
              <a:t>-- Q6</a:t>
            </a:r>
          </a:p>
          <a:p>
            <a:r>
              <a:rPr lang="en-US" dirty="0"/>
              <a:t>INSERT INTO Answer VALUES</a:t>
            </a:r>
          </a:p>
          <a:p>
            <a:r>
              <a:rPr lang="en-US" dirty="0"/>
              <a:t>(NEWID(), @Q6, 'SaaS', 0),</a:t>
            </a:r>
          </a:p>
          <a:p>
            <a:r>
              <a:rPr lang="en-US" dirty="0"/>
              <a:t>(NEWID(), @Q6, 'PaaS', 0),</a:t>
            </a:r>
          </a:p>
          <a:p>
            <a:r>
              <a:rPr lang="en-US" dirty="0"/>
              <a:t>(NEWID(), @Q6, 'IaaS', 1),</a:t>
            </a:r>
          </a:p>
          <a:p>
            <a:r>
              <a:rPr lang="en-US" dirty="0"/>
              <a:t>(NEWID(), @Q6, 'Serverless', 0);</a:t>
            </a:r>
          </a:p>
          <a:p>
            <a:endParaRPr lang="en-US" dirty="0"/>
          </a:p>
          <a:p>
            <a:r>
              <a:rPr lang="en-US" dirty="0"/>
              <a:t>-- Q7</a:t>
            </a:r>
          </a:p>
          <a:p>
            <a:r>
              <a:rPr lang="en-US" dirty="0"/>
              <a:t>INSERT INTO Answer VALUES</a:t>
            </a:r>
          </a:p>
          <a:p>
            <a:r>
              <a:rPr lang="en-US" dirty="0"/>
              <a:t>(NEWID(), @Q7, 'On-premise', 0),</a:t>
            </a:r>
          </a:p>
          <a:p>
            <a:r>
              <a:rPr lang="en-US" dirty="0"/>
              <a:t>(NEWID(), @Q7, 'IaaS', 0),</a:t>
            </a:r>
          </a:p>
          <a:p>
            <a:r>
              <a:rPr lang="en-US" dirty="0"/>
              <a:t>(NEWID(), @Q7, 'PaaS', 1),</a:t>
            </a:r>
          </a:p>
          <a:p>
            <a:r>
              <a:rPr lang="en-US" dirty="0"/>
              <a:t>(NEWID(), @Q7, 'SaaS', 0);</a:t>
            </a:r>
          </a:p>
          <a:p>
            <a:endParaRPr lang="en-US" dirty="0"/>
          </a:p>
          <a:p>
            <a:r>
              <a:rPr lang="en-US" dirty="0"/>
              <a:t>PRINT '</a:t>
            </a:r>
            <a:r>
              <a:rPr lang="en-US" dirty="0" err="1"/>
              <a:t>AzureQuizLab</a:t>
            </a:r>
            <a:r>
              <a:rPr lang="en-US" dirty="0"/>
              <a:t> initialized with 7 questions.';</a:t>
            </a:r>
          </a:p>
        </p:txBody>
      </p:sp>
      <p:sp>
        <p:nvSpPr>
          <p:cNvPr id="4" name="Slide Number Placeholder 3">
            <a:extLst>
              <a:ext uri="{FF2B5EF4-FFF2-40B4-BE49-F238E27FC236}">
                <a16:creationId xmlns:a16="http://schemas.microsoft.com/office/drawing/2014/main" id="{23FF85A5-1352-0567-359D-E06B33D0A9CB}"/>
              </a:ext>
            </a:extLst>
          </p:cNvPr>
          <p:cNvSpPr>
            <a:spLocks noGrp="1"/>
          </p:cNvSpPr>
          <p:nvPr>
            <p:ph type="sldNum" sz="quarter" idx="10"/>
          </p:nvPr>
        </p:nvSpPr>
        <p:spPr/>
        <p:txBody>
          <a:bodyPr/>
          <a:lstStyle/>
          <a:p>
            <a:fld id="{E2FF7759-803D-4F76-9AEC-98B2D9A07B0D}" type="slidenum">
              <a:rPr lang="en-US" smtClean="0"/>
              <a:t>4</a:t>
            </a:fld>
            <a:endParaRPr lang="en-US"/>
          </a:p>
        </p:txBody>
      </p:sp>
    </p:spTree>
    <p:extLst>
      <p:ext uri="{BB962C8B-B14F-4D97-AF65-F5344CB8AC3E}">
        <p14:creationId xmlns:p14="http://schemas.microsoft.com/office/powerpoint/2010/main" val="3521359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5E719-EBC7-78F3-62A1-E389FCEE3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F9A84-497D-8B82-6D6D-A0EBCE6544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8FDE5-0DA9-D7FE-9B6E-AAF188B402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417A3-F486-F90F-0C56-1FBB403C63BF}"/>
              </a:ext>
            </a:extLst>
          </p:cNvPr>
          <p:cNvSpPr>
            <a:spLocks noGrp="1"/>
          </p:cNvSpPr>
          <p:nvPr>
            <p:ph type="sldNum" sz="quarter" idx="10"/>
          </p:nvPr>
        </p:nvSpPr>
        <p:spPr/>
        <p:txBody>
          <a:bodyPr/>
          <a:lstStyle/>
          <a:p>
            <a:fld id="{E2FF7759-803D-4F76-9AEC-98B2D9A07B0D}" type="slidenum">
              <a:rPr lang="en-US" smtClean="0"/>
              <a:t>5</a:t>
            </a:fld>
            <a:endParaRPr lang="en-US"/>
          </a:p>
        </p:txBody>
      </p:sp>
    </p:spTree>
    <p:extLst>
      <p:ext uri="{BB962C8B-B14F-4D97-AF65-F5344CB8AC3E}">
        <p14:creationId xmlns:p14="http://schemas.microsoft.com/office/powerpoint/2010/main" val="230164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33A56-5635-2B46-E353-03208909F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38BDD-738A-57A8-EC08-3FEE2FC19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AE5FD-5525-254C-AD15-8A016F1185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EC9433-6DA5-5A73-47B9-1103F1585740}"/>
              </a:ext>
            </a:extLst>
          </p:cNvPr>
          <p:cNvSpPr>
            <a:spLocks noGrp="1"/>
          </p:cNvSpPr>
          <p:nvPr>
            <p:ph type="sldNum" sz="quarter" idx="10"/>
          </p:nvPr>
        </p:nvSpPr>
        <p:spPr/>
        <p:txBody>
          <a:bodyPr/>
          <a:lstStyle/>
          <a:p>
            <a:fld id="{E2FF7759-803D-4F76-9AEC-98B2D9A07B0D}" type="slidenum">
              <a:rPr lang="en-US" smtClean="0"/>
              <a:t>7</a:t>
            </a:fld>
            <a:endParaRPr lang="en-US"/>
          </a:p>
        </p:txBody>
      </p:sp>
    </p:spTree>
    <p:extLst>
      <p:ext uri="{BB962C8B-B14F-4D97-AF65-F5344CB8AC3E}">
        <p14:creationId xmlns:p14="http://schemas.microsoft.com/office/powerpoint/2010/main" val="1657143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A868B-D0A9-97E7-D1CA-8AC353A72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DCE40-FB5F-F824-33AE-0680C36A90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7B841-60F1-6BE4-7450-9A32E6FCD794}"/>
              </a:ext>
            </a:extLst>
          </p:cNvPr>
          <p:cNvSpPr>
            <a:spLocks noGrp="1"/>
          </p:cNvSpPr>
          <p:nvPr>
            <p:ph type="body" idx="1"/>
          </p:nvPr>
        </p:nvSpPr>
        <p:spPr/>
        <p:txBody>
          <a:bodyPr/>
          <a:lstStyle/>
          <a:p>
            <a:r>
              <a:rPr lang="fr-FR" b="1" dirty="0"/>
              <a:t>✅ Réponse : 3 — le niveau de responsabilité du client</a:t>
            </a:r>
          </a:p>
          <a:p>
            <a:r>
              <a:rPr lang="fr-FR" dirty="0"/>
              <a:t>La différence principale concerne </a:t>
            </a:r>
            <a:r>
              <a:rPr lang="fr-FR" b="1" dirty="0"/>
              <a:t>qui gère quoi</a:t>
            </a:r>
            <a:r>
              <a:rPr lang="fr-FR" dirty="0"/>
              <a:t> dans l’infrastructure.</a:t>
            </a:r>
          </a:p>
          <a:p>
            <a:endParaRPr lang="en-US" dirty="0"/>
          </a:p>
        </p:txBody>
      </p:sp>
      <p:sp>
        <p:nvSpPr>
          <p:cNvPr id="4" name="Slide Number Placeholder 3">
            <a:extLst>
              <a:ext uri="{FF2B5EF4-FFF2-40B4-BE49-F238E27FC236}">
                <a16:creationId xmlns:a16="http://schemas.microsoft.com/office/drawing/2014/main" id="{B4F76760-8605-D016-5205-1EFD478651EA}"/>
              </a:ext>
            </a:extLst>
          </p:cNvPr>
          <p:cNvSpPr>
            <a:spLocks noGrp="1"/>
          </p:cNvSpPr>
          <p:nvPr>
            <p:ph type="sldNum" sz="quarter" idx="10"/>
          </p:nvPr>
        </p:nvSpPr>
        <p:spPr/>
        <p:txBody>
          <a:bodyPr/>
          <a:lstStyle/>
          <a:p>
            <a:fld id="{E2FF7759-803D-4F76-9AEC-98B2D9A07B0D}" type="slidenum">
              <a:rPr lang="en-US" smtClean="0"/>
              <a:t>8</a:t>
            </a:fld>
            <a:endParaRPr lang="en-US"/>
          </a:p>
        </p:txBody>
      </p:sp>
    </p:spTree>
    <p:extLst>
      <p:ext uri="{BB962C8B-B14F-4D97-AF65-F5344CB8AC3E}">
        <p14:creationId xmlns:p14="http://schemas.microsoft.com/office/powerpoint/2010/main" val="748622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B4B60-4A24-8B08-C902-FD5C737BB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48A38-E569-1C38-A701-466F8909F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C1238-D9C1-FF16-4BAB-F21636268175}"/>
              </a:ext>
            </a:extLst>
          </p:cNvPr>
          <p:cNvSpPr>
            <a:spLocks noGrp="1"/>
          </p:cNvSpPr>
          <p:nvPr>
            <p:ph type="body" idx="1"/>
          </p:nvPr>
        </p:nvSpPr>
        <p:spPr/>
        <p:txBody>
          <a:bodyPr/>
          <a:lstStyle/>
          <a:p>
            <a:r>
              <a:rPr lang="fr-FR" b="1" dirty="0"/>
              <a:t>✅ Réponse : 4 — IaaS</a:t>
            </a:r>
          </a:p>
          <a:p>
            <a:r>
              <a:rPr lang="fr-FR" dirty="0"/>
              <a:t>Dans </a:t>
            </a:r>
            <a:r>
              <a:rPr lang="fr-FR" b="1" dirty="0"/>
              <a:t>IaaS</a:t>
            </a:r>
            <a:r>
              <a:rPr lang="fr-FR" dirty="0"/>
              <a:t>, le fournisseur cloud fournit :</a:t>
            </a:r>
          </a:p>
          <a:p>
            <a:pPr marL="171450" indent="-171450">
              <a:buFont typeface="Arial" panose="020B0604020202020204" pitchFamily="34" charset="0"/>
              <a:buChar char="•"/>
            </a:pPr>
            <a:r>
              <a:rPr lang="fr-FR" dirty="0"/>
              <a:t>les serveurs</a:t>
            </a:r>
          </a:p>
          <a:p>
            <a:pPr marL="171450" indent="-171450">
              <a:buFont typeface="Arial" panose="020B0604020202020204" pitchFamily="34" charset="0"/>
              <a:buChar char="•"/>
            </a:pPr>
            <a:r>
              <a:rPr lang="fr-FR" dirty="0"/>
              <a:t>le réseau</a:t>
            </a:r>
          </a:p>
          <a:p>
            <a:pPr marL="171450" indent="-171450">
              <a:buFont typeface="Arial" panose="020B0604020202020204" pitchFamily="34" charset="0"/>
              <a:buChar char="•"/>
            </a:pPr>
            <a:r>
              <a:rPr lang="fr-FR" dirty="0"/>
              <a:t>la virtualisation</a:t>
            </a:r>
          </a:p>
          <a:p>
            <a:r>
              <a:rPr lang="fr-FR" dirty="0"/>
              <a:t>Mais le client gère :</a:t>
            </a:r>
          </a:p>
          <a:p>
            <a:pPr marL="171450" indent="-171450">
              <a:buFont typeface="Arial" panose="020B0604020202020204" pitchFamily="34" charset="0"/>
              <a:buChar char="•"/>
            </a:pPr>
            <a:r>
              <a:rPr lang="fr-FR" dirty="0"/>
              <a:t>le système d’exploitation</a:t>
            </a:r>
          </a:p>
          <a:p>
            <a:pPr marL="171450" indent="-171450">
              <a:buFont typeface="Arial" panose="020B0604020202020204" pitchFamily="34" charset="0"/>
              <a:buChar char="•"/>
            </a:pPr>
            <a:r>
              <a:rPr lang="fr-FR" dirty="0"/>
              <a:t>les patchs</a:t>
            </a:r>
          </a:p>
          <a:p>
            <a:pPr marL="171450" indent="-171450">
              <a:buFont typeface="Arial" panose="020B0604020202020204" pitchFamily="34" charset="0"/>
              <a:buChar char="•"/>
            </a:pPr>
            <a:r>
              <a:rPr lang="fr-FR" dirty="0"/>
              <a:t>les applications</a:t>
            </a:r>
          </a:p>
          <a:p>
            <a:r>
              <a:rPr lang="fr-FR" dirty="0"/>
              <a:t>Exemple Azure :</a:t>
            </a:r>
          </a:p>
          <a:p>
            <a:pPr marL="171450" indent="-171450">
              <a:buFont typeface="Arial" panose="020B0604020202020204" pitchFamily="34" charset="0"/>
              <a:buChar char="•"/>
            </a:pPr>
            <a:r>
              <a:rPr lang="fr-FR" dirty="0"/>
              <a:t>Azure Virtual Machines</a:t>
            </a:r>
          </a:p>
          <a:p>
            <a:endParaRPr lang="en-US" dirty="0"/>
          </a:p>
        </p:txBody>
      </p:sp>
      <p:sp>
        <p:nvSpPr>
          <p:cNvPr id="4" name="Slide Number Placeholder 3">
            <a:extLst>
              <a:ext uri="{FF2B5EF4-FFF2-40B4-BE49-F238E27FC236}">
                <a16:creationId xmlns:a16="http://schemas.microsoft.com/office/drawing/2014/main" id="{9097566C-9C84-EA0D-BFD2-2094FEB9F54A}"/>
              </a:ext>
            </a:extLst>
          </p:cNvPr>
          <p:cNvSpPr>
            <a:spLocks noGrp="1"/>
          </p:cNvSpPr>
          <p:nvPr>
            <p:ph type="sldNum" sz="quarter" idx="10"/>
          </p:nvPr>
        </p:nvSpPr>
        <p:spPr/>
        <p:txBody>
          <a:bodyPr/>
          <a:lstStyle/>
          <a:p>
            <a:fld id="{E2FF7759-803D-4F76-9AEC-98B2D9A07B0D}" type="slidenum">
              <a:rPr lang="en-US" smtClean="0"/>
              <a:t>9</a:t>
            </a:fld>
            <a:endParaRPr lang="en-US"/>
          </a:p>
        </p:txBody>
      </p:sp>
    </p:spTree>
    <p:extLst>
      <p:ext uri="{BB962C8B-B14F-4D97-AF65-F5344CB8AC3E}">
        <p14:creationId xmlns:p14="http://schemas.microsoft.com/office/powerpoint/2010/main" val="1471842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48994-DBEE-4979-FF34-E56FE00ABE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5383A-DC69-D9E0-92FA-0BEA9C8B8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D0121-F8FD-C6DA-67AE-F3B8B19373B1}"/>
              </a:ext>
            </a:extLst>
          </p:cNvPr>
          <p:cNvSpPr>
            <a:spLocks noGrp="1"/>
          </p:cNvSpPr>
          <p:nvPr>
            <p:ph type="body" idx="1"/>
          </p:nvPr>
        </p:nvSpPr>
        <p:spPr/>
        <p:txBody>
          <a:bodyPr/>
          <a:lstStyle/>
          <a:p>
            <a:r>
              <a:rPr lang="fr-FR" b="1" dirty="0"/>
              <a:t>✅ Réponse : 3 — PaaS</a:t>
            </a:r>
          </a:p>
          <a:p>
            <a:r>
              <a:rPr lang="fr-FR" dirty="0"/>
              <a:t>Dans </a:t>
            </a:r>
            <a:r>
              <a:rPr lang="fr-FR" b="1" dirty="0"/>
              <a:t>PaaS</a:t>
            </a:r>
            <a:r>
              <a:rPr lang="fr-FR" dirty="0"/>
              <a:t>, vous déployez seulement votre application.</a:t>
            </a:r>
          </a:p>
          <a:p>
            <a:r>
              <a:rPr lang="fr-FR" dirty="0"/>
              <a:t>Le fournisseur gère :</a:t>
            </a:r>
          </a:p>
          <a:p>
            <a:pPr marL="171450" indent="-171450">
              <a:buFont typeface="Arial" panose="020B0604020202020204" pitchFamily="34" charset="0"/>
              <a:buChar char="•"/>
            </a:pPr>
            <a:r>
              <a:rPr lang="fr-FR" dirty="0"/>
              <a:t>OS</a:t>
            </a:r>
          </a:p>
          <a:p>
            <a:pPr marL="171450" indent="-171450">
              <a:buFont typeface="Arial" panose="020B0604020202020204" pitchFamily="34" charset="0"/>
              <a:buChar char="•"/>
            </a:pPr>
            <a:r>
              <a:rPr lang="fr-FR" dirty="0"/>
              <a:t>runtime (.NET, Java…)</a:t>
            </a:r>
          </a:p>
          <a:p>
            <a:pPr marL="171450" indent="-171450">
              <a:buFont typeface="Arial" panose="020B0604020202020204" pitchFamily="34" charset="0"/>
              <a:buChar char="•"/>
            </a:pPr>
            <a:r>
              <a:rPr lang="fr-FR" dirty="0"/>
              <a:t>infrastructure</a:t>
            </a:r>
          </a:p>
          <a:p>
            <a:pPr marL="171450" indent="-171450">
              <a:buFont typeface="Arial" panose="020B0604020202020204" pitchFamily="34" charset="0"/>
              <a:buChar char="•"/>
            </a:pPr>
            <a:r>
              <a:rPr lang="fr-FR" dirty="0"/>
              <a:t>patchs</a:t>
            </a:r>
          </a:p>
          <a:p>
            <a:r>
              <a:rPr lang="fr-FR" dirty="0"/>
              <a:t>Exemple Azure :</a:t>
            </a:r>
          </a:p>
          <a:p>
            <a:r>
              <a:rPr lang="fr-FR" dirty="0"/>
              <a:t>Azure App Service</a:t>
            </a:r>
          </a:p>
          <a:p>
            <a:r>
              <a:rPr lang="fr-FR" dirty="0"/>
              <a:t>Le développeur se concentre uniquement sur :</a:t>
            </a:r>
          </a:p>
          <a:p>
            <a:pPr marL="171450" indent="-171450" rtl="0">
              <a:buFont typeface="Arial" panose="020B0604020202020204" pitchFamily="34" charset="0"/>
              <a:buChar char="•"/>
            </a:pPr>
            <a:r>
              <a:rPr lang="fr-FR" sz="1200" kern="1200" dirty="0">
                <a:solidFill>
                  <a:schemeClr val="tx1"/>
                </a:solidFill>
                <a:latin typeface="+mn-lt"/>
                <a:ea typeface="+mn-ea"/>
                <a:cs typeface="+mn-cs"/>
              </a:rPr>
              <a:t>Code</a:t>
            </a:r>
          </a:p>
          <a:p>
            <a:pPr marL="171450" indent="-171450" rtl="0">
              <a:buFont typeface="Arial" panose="020B0604020202020204" pitchFamily="34" charset="0"/>
              <a:buChar char="•"/>
            </a:pPr>
            <a:r>
              <a:rPr lang="fr-FR" sz="1200" kern="1200" dirty="0">
                <a:solidFill>
                  <a:schemeClr val="tx1"/>
                </a:solidFill>
                <a:latin typeface="+mn-lt"/>
                <a:ea typeface="+mn-ea"/>
                <a:cs typeface="+mn-cs"/>
              </a:rPr>
              <a:t>Configuration</a:t>
            </a:r>
          </a:p>
          <a:p>
            <a:endParaRPr lang="en-US" dirty="0"/>
          </a:p>
        </p:txBody>
      </p:sp>
      <p:sp>
        <p:nvSpPr>
          <p:cNvPr id="4" name="Slide Number Placeholder 3">
            <a:extLst>
              <a:ext uri="{FF2B5EF4-FFF2-40B4-BE49-F238E27FC236}">
                <a16:creationId xmlns:a16="http://schemas.microsoft.com/office/drawing/2014/main" id="{C9A621BF-8428-D7A9-0984-F787D3AACA66}"/>
              </a:ext>
            </a:extLst>
          </p:cNvPr>
          <p:cNvSpPr>
            <a:spLocks noGrp="1"/>
          </p:cNvSpPr>
          <p:nvPr>
            <p:ph type="sldNum" sz="quarter" idx="10"/>
          </p:nvPr>
        </p:nvSpPr>
        <p:spPr/>
        <p:txBody>
          <a:bodyPr/>
          <a:lstStyle/>
          <a:p>
            <a:fld id="{E2FF7759-803D-4F76-9AEC-98B2D9A07B0D}" type="slidenum">
              <a:rPr lang="en-US" smtClean="0"/>
              <a:t>10</a:t>
            </a:fld>
            <a:endParaRPr lang="en-US"/>
          </a:p>
        </p:txBody>
      </p:sp>
    </p:spTree>
    <p:extLst>
      <p:ext uri="{BB962C8B-B14F-4D97-AF65-F5344CB8AC3E}">
        <p14:creationId xmlns:p14="http://schemas.microsoft.com/office/powerpoint/2010/main" val="681445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2C1A3-108D-2E87-C1D9-F23ED475D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66EB9-9A2B-4050-5D8C-C9221F7B7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0891B7-0DAA-6795-8092-42DAD5FE39D6}"/>
              </a:ext>
            </a:extLst>
          </p:cNvPr>
          <p:cNvSpPr>
            <a:spLocks noGrp="1"/>
          </p:cNvSpPr>
          <p:nvPr>
            <p:ph type="body" idx="1"/>
          </p:nvPr>
        </p:nvSpPr>
        <p:spPr/>
        <p:txBody>
          <a:bodyPr/>
          <a:lstStyle/>
          <a:p>
            <a:r>
              <a:rPr lang="fr-FR" b="1" dirty="0"/>
              <a:t>Réponse : 1 — SaaS</a:t>
            </a:r>
          </a:p>
          <a:p>
            <a:r>
              <a:rPr lang="fr-FR" dirty="0"/>
              <a:t>Dans </a:t>
            </a:r>
            <a:r>
              <a:rPr lang="fr-FR" b="1" dirty="0"/>
              <a:t>SaaS</a:t>
            </a:r>
            <a:r>
              <a:rPr lang="fr-FR" dirty="0"/>
              <a:t>, l'utilisateur utilise directement l’application.</a:t>
            </a:r>
          </a:p>
          <a:p>
            <a:r>
              <a:rPr lang="fr-FR" dirty="0"/>
              <a:t>Il ne gère pas :</a:t>
            </a:r>
          </a:p>
          <a:p>
            <a:pPr marL="171450" indent="-171450">
              <a:buFont typeface="Arial" panose="020B0604020202020204" pitchFamily="34" charset="0"/>
              <a:buChar char="•"/>
            </a:pPr>
            <a:r>
              <a:rPr lang="fr-FR" dirty="0"/>
              <a:t>serveurs</a:t>
            </a:r>
          </a:p>
          <a:p>
            <a:pPr marL="171450" indent="-171450">
              <a:buFont typeface="Arial" panose="020B0604020202020204" pitchFamily="34" charset="0"/>
              <a:buChar char="•"/>
            </a:pPr>
            <a:r>
              <a:rPr lang="fr-FR" dirty="0"/>
              <a:t>OS</a:t>
            </a:r>
          </a:p>
          <a:p>
            <a:pPr marL="171450" indent="-171450">
              <a:buFont typeface="Arial" panose="020B0604020202020204" pitchFamily="34" charset="0"/>
              <a:buChar char="•"/>
            </a:pPr>
            <a:r>
              <a:rPr lang="fr-FR" dirty="0"/>
              <a:t>runtime</a:t>
            </a:r>
          </a:p>
          <a:p>
            <a:pPr marL="171450" indent="-171450">
              <a:buFont typeface="Arial" panose="020B0604020202020204" pitchFamily="34" charset="0"/>
              <a:buChar char="•"/>
            </a:pPr>
            <a:r>
              <a:rPr lang="fr-FR" dirty="0"/>
              <a:t>application</a:t>
            </a:r>
          </a:p>
          <a:p>
            <a:r>
              <a:rPr lang="fr-FR" dirty="0"/>
              <a:t>Exemples :</a:t>
            </a:r>
          </a:p>
          <a:p>
            <a:pPr marL="171450" indent="-171450">
              <a:buFont typeface="Arial" panose="020B0604020202020204" pitchFamily="34" charset="0"/>
              <a:buChar char="•"/>
            </a:pPr>
            <a:r>
              <a:rPr lang="fr-FR" dirty="0"/>
              <a:t>Microsoft 365</a:t>
            </a:r>
          </a:p>
          <a:p>
            <a:pPr marL="171450" indent="-171450">
              <a:buFont typeface="Arial" panose="020B0604020202020204" pitchFamily="34" charset="0"/>
              <a:buChar char="•"/>
            </a:pPr>
            <a:r>
              <a:rPr lang="fr-FR" dirty="0"/>
              <a:t>Salesforce</a:t>
            </a:r>
          </a:p>
          <a:p>
            <a:pPr marL="171450" indent="-171450">
              <a:buFont typeface="Arial" panose="020B0604020202020204" pitchFamily="34" charset="0"/>
              <a:buChar char="•"/>
            </a:pPr>
            <a:r>
              <a:rPr lang="fr-FR" dirty="0"/>
              <a:t>Google Workspace</a:t>
            </a:r>
          </a:p>
          <a:p>
            <a:r>
              <a:rPr lang="fr-FR" dirty="0"/>
              <a:t>L'utilisateur gère seulement :</a:t>
            </a:r>
          </a:p>
          <a:p>
            <a:pPr marL="171450" indent="-171450" rtl="0">
              <a:buFont typeface="Arial" panose="020B0604020202020204" pitchFamily="34" charset="0"/>
              <a:buChar char="•"/>
            </a:pPr>
            <a:r>
              <a:rPr lang="fr-FR" sz="1200" kern="1200" dirty="0">
                <a:solidFill>
                  <a:schemeClr val="tx1"/>
                </a:solidFill>
                <a:latin typeface="+mn-lt"/>
                <a:ea typeface="+mn-ea"/>
                <a:cs typeface="+mn-cs"/>
              </a:rPr>
              <a:t>comptes utilisateurs</a:t>
            </a:r>
          </a:p>
          <a:p>
            <a:pPr marL="171450" indent="-171450" rtl="0">
              <a:buFont typeface="Arial" panose="020B0604020202020204" pitchFamily="34" charset="0"/>
              <a:buChar char="•"/>
            </a:pPr>
            <a:r>
              <a:rPr lang="fr-FR" sz="1200" kern="1200" dirty="0">
                <a:solidFill>
                  <a:schemeClr val="tx1"/>
                </a:solidFill>
                <a:latin typeface="+mn-lt"/>
                <a:ea typeface="+mn-ea"/>
                <a:cs typeface="+mn-cs"/>
              </a:rPr>
              <a:t>données</a:t>
            </a:r>
          </a:p>
          <a:p>
            <a:pPr marL="171450" indent="-171450" rtl="0">
              <a:buFont typeface="Arial" panose="020B0604020202020204" pitchFamily="34" charset="0"/>
              <a:buChar char="•"/>
            </a:pPr>
            <a:r>
              <a:rPr lang="fr-FR" sz="1200" kern="1200" dirty="0">
                <a:solidFill>
                  <a:schemeClr val="tx1"/>
                </a:solidFill>
                <a:latin typeface="+mn-lt"/>
                <a:ea typeface="+mn-ea"/>
                <a:cs typeface="+mn-cs"/>
              </a:rPr>
              <a:t>configuration fonctionnelle</a:t>
            </a:r>
          </a:p>
          <a:p>
            <a:endParaRPr lang="en-US" dirty="0"/>
          </a:p>
        </p:txBody>
      </p:sp>
      <p:sp>
        <p:nvSpPr>
          <p:cNvPr id="4" name="Slide Number Placeholder 3">
            <a:extLst>
              <a:ext uri="{FF2B5EF4-FFF2-40B4-BE49-F238E27FC236}">
                <a16:creationId xmlns:a16="http://schemas.microsoft.com/office/drawing/2014/main" id="{9D63DBD1-B651-482F-788F-F38ADAC35FF4}"/>
              </a:ext>
            </a:extLst>
          </p:cNvPr>
          <p:cNvSpPr>
            <a:spLocks noGrp="1"/>
          </p:cNvSpPr>
          <p:nvPr>
            <p:ph type="sldNum" sz="quarter" idx="10"/>
          </p:nvPr>
        </p:nvSpPr>
        <p:spPr/>
        <p:txBody>
          <a:bodyPr/>
          <a:lstStyle/>
          <a:p>
            <a:fld id="{E2FF7759-803D-4F76-9AEC-98B2D9A07B0D}" type="slidenum">
              <a:rPr lang="en-US" smtClean="0"/>
              <a:t>11</a:t>
            </a:fld>
            <a:endParaRPr lang="en-US"/>
          </a:p>
        </p:txBody>
      </p:sp>
    </p:spTree>
    <p:extLst>
      <p:ext uri="{BB962C8B-B14F-4D97-AF65-F5344CB8AC3E}">
        <p14:creationId xmlns:p14="http://schemas.microsoft.com/office/powerpoint/2010/main" val="3490816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55826-8C6F-9862-4875-1F8EDF4613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6E462-445D-0728-BC70-2DFF096461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9A553-5514-99A9-6596-22CDB1E266A2}"/>
              </a:ext>
            </a:extLst>
          </p:cNvPr>
          <p:cNvSpPr>
            <a:spLocks noGrp="1"/>
          </p:cNvSpPr>
          <p:nvPr>
            <p:ph type="body" idx="1"/>
          </p:nvPr>
        </p:nvSpPr>
        <p:spPr/>
        <p:txBody>
          <a:bodyPr/>
          <a:lstStyle/>
          <a:p>
            <a:r>
              <a:rPr lang="fr-FR" b="1" dirty="0"/>
              <a:t>✅ Réponse : 3 — IaaS</a:t>
            </a:r>
          </a:p>
          <a:p>
            <a:r>
              <a:rPr lang="fr-FR" dirty="0"/>
              <a:t>Une application </a:t>
            </a:r>
            <a:r>
              <a:rPr lang="fr-FR" dirty="0" err="1"/>
              <a:t>legacy</a:t>
            </a:r>
            <a:r>
              <a:rPr lang="fr-FR" dirty="0"/>
              <a:t> peut nécessiter :</a:t>
            </a:r>
          </a:p>
          <a:p>
            <a:pPr marL="171450" indent="-171450">
              <a:buFont typeface="Arial" panose="020B0604020202020204" pitchFamily="34" charset="0"/>
              <a:buChar char="•"/>
            </a:pPr>
            <a:r>
              <a:rPr lang="fr-FR" dirty="0"/>
              <a:t>accès administrateur</a:t>
            </a:r>
          </a:p>
          <a:p>
            <a:pPr marL="171450" indent="-171450">
              <a:buFont typeface="Arial" panose="020B0604020202020204" pitchFamily="34" charset="0"/>
              <a:buChar char="•"/>
            </a:pPr>
            <a:r>
              <a:rPr lang="fr-FR" dirty="0"/>
              <a:t>installation de composants</a:t>
            </a:r>
          </a:p>
          <a:p>
            <a:pPr marL="171450" indent="-171450">
              <a:buFont typeface="Arial" panose="020B0604020202020204" pitchFamily="34" charset="0"/>
              <a:buChar char="•"/>
            </a:pPr>
            <a:r>
              <a:rPr lang="fr-FR" dirty="0"/>
              <a:t>configuration système</a:t>
            </a:r>
          </a:p>
          <a:p>
            <a:r>
              <a:rPr lang="fr-FR" dirty="0"/>
              <a:t>Ces besoins sont compatibles avec </a:t>
            </a:r>
            <a:r>
              <a:rPr lang="fr-FR" b="1" dirty="0"/>
              <a:t>IaaS</a:t>
            </a:r>
            <a:r>
              <a:rPr lang="fr-FR" dirty="0"/>
              <a:t>.</a:t>
            </a:r>
          </a:p>
          <a:p>
            <a:r>
              <a:rPr lang="fr-FR" dirty="0"/>
              <a:t>Exemple Azure :</a:t>
            </a:r>
          </a:p>
          <a:p>
            <a:pPr marL="171450" indent="-171450" rtl="0">
              <a:buFont typeface="Arial" panose="020B0604020202020204" pitchFamily="34" charset="0"/>
              <a:buChar char="•"/>
            </a:pPr>
            <a:r>
              <a:rPr lang="fr-FR" sz="1200" kern="1200" dirty="0">
                <a:solidFill>
                  <a:schemeClr val="tx1"/>
                </a:solidFill>
                <a:latin typeface="+mn-lt"/>
                <a:ea typeface="+mn-ea"/>
                <a:cs typeface="+mn-cs"/>
              </a:rPr>
              <a:t>Azure Virtual Machine</a:t>
            </a:r>
          </a:p>
          <a:p>
            <a:pPr marL="171450" indent="-171450" rtl="0">
              <a:buFont typeface="Arial" panose="020B0604020202020204" pitchFamily="34" charset="0"/>
              <a:buChar char="•"/>
            </a:pPr>
            <a:r>
              <a:rPr lang="fr-FR" sz="1200" kern="1200" dirty="0">
                <a:solidFill>
                  <a:schemeClr val="tx1"/>
                </a:solidFill>
                <a:latin typeface="+mn-lt"/>
                <a:ea typeface="+mn-ea"/>
                <a:cs typeface="+mn-cs"/>
              </a:rPr>
              <a:t>Windows Server</a:t>
            </a:r>
          </a:p>
          <a:p>
            <a:pPr marL="171450" indent="-171450" rtl="0">
              <a:buFont typeface="Arial" panose="020B0604020202020204" pitchFamily="34" charset="0"/>
              <a:buChar char="•"/>
            </a:pPr>
            <a:r>
              <a:rPr lang="fr-FR" sz="1200" kern="1200" dirty="0">
                <a:solidFill>
                  <a:schemeClr val="tx1"/>
                </a:solidFill>
                <a:latin typeface="+mn-lt"/>
                <a:ea typeface="+mn-ea"/>
                <a:cs typeface="+mn-cs"/>
              </a:rPr>
              <a:t>SQL Server installé manuellement</a:t>
            </a:r>
          </a:p>
          <a:p>
            <a:endParaRPr lang="en-US" dirty="0"/>
          </a:p>
        </p:txBody>
      </p:sp>
      <p:sp>
        <p:nvSpPr>
          <p:cNvPr id="4" name="Slide Number Placeholder 3">
            <a:extLst>
              <a:ext uri="{FF2B5EF4-FFF2-40B4-BE49-F238E27FC236}">
                <a16:creationId xmlns:a16="http://schemas.microsoft.com/office/drawing/2014/main" id="{C83E8394-403B-B9CB-214F-168E3220B4A5}"/>
              </a:ext>
            </a:extLst>
          </p:cNvPr>
          <p:cNvSpPr>
            <a:spLocks noGrp="1"/>
          </p:cNvSpPr>
          <p:nvPr>
            <p:ph type="sldNum" sz="quarter" idx="10"/>
          </p:nvPr>
        </p:nvSpPr>
        <p:spPr/>
        <p:txBody>
          <a:bodyPr/>
          <a:lstStyle/>
          <a:p>
            <a:fld id="{E2FF7759-803D-4F76-9AEC-98B2D9A07B0D}" type="slidenum">
              <a:rPr lang="en-US" smtClean="0"/>
              <a:t>12</a:t>
            </a:fld>
            <a:endParaRPr lang="en-US"/>
          </a:p>
        </p:txBody>
      </p:sp>
    </p:spTree>
    <p:extLst>
      <p:ext uri="{BB962C8B-B14F-4D97-AF65-F5344CB8AC3E}">
        <p14:creationId xmlns:p14="http://schemas.microsoft.com/office/powerpoint/2010/main" val="3207811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0961F-7594-24F2-7498-9C7419BB2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A6F3F-6D43-5555-4CB2-E983C32D4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F6F682-D475-E1CF-D3DE-A342ABC7D06F}"/>
              </a:ext>
            </a:extLst>
          </p:cNvPr>
          <p:cNvSpPr>
            <a:spLocks noGrp="1"/>
          </p:cNvSpPr>
          <p:nvPr>
            <p:ph type="body" idx="1"/>
          </p:nvPr>
        </p:nvSpPr>
        <p:spPr/>
        <p:txBody>
          <a:bodyPr/>
          <a:lstStyle/>
          <a:p>
            <a:r>
              <a:rPr lang="fr-FR" b="1" dirty="0"/>
              <a:t>✅ Réponse : 3 — IaaS</a:t>
            </a:r>
          </a:p>
          <a:p>
            <a:endParaRPr lang="en-US" dirty="0"/>
          </a:p>
        </p:txBody>
      </p:sp>
      <p:sp>
        <p:nvSpPr>
          <p:cNvPr id="4" name="Slide Number Placeholder 3">
            <a:extLst>
              <a:ext uri="{FF2B5EF4-FFF2-40B4-BE49-F238E27FC236}">
                <a16:creationId xmlns:a16="http://schemas.microsoft.com/office/drawing/2014/main" id="{BE27730B-38ED-3DDB-4E97-E0F2F5948D17}"/>
              </a:ext>
            </a:extLst>
          </p:cNvPr>
          <p:cNvSpPr>
            <a:spLocks noGrp="1"/>
          </p:cNvSpPr>
          <p:nvPr>
            <p:ph type="sldNum" sz="quarter" idx="10"/>
          </p:nvPr>
        </p:nvSpPr>
        <p:spPr/>
        <p:txBody>
          <a:bodyPr/>
          <a:lstStyle/>
          <a:p>
            <a:fld id="{E2FF7759-803D-4F76-9AEC-98B2D9A07B0D}" type="slidenum">
              <a:rPr lang="en-US" smtClean="0"/>
              <a:t>13</a:t>
            </a:fld>
            <a:endParaRPr lang="en-US"/>
          </a:p>
        </p:txBody>
      </p:sp>
    </p:spTree>
    <p:extLst>
      <p:ext uri="{BB962C8B-B14F-4D97-AF65-F5344CB8AC3E}">
        <p14:creationId xmlns:p14="http://schemas.microsoft.com/office/powerpoint/2010/main" val="4054975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3C11D-1822-5807-6C2A-F994143C0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C6A59-00E9-269F-FA0E-EB6B7A1744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72D982-006E-4550-0120-F0D5572AD2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 Réponse : 3 — </a:t>
            </a:r>
            <a:r>
              <a:rPr lang="fr-FR" b="1" dirty="0" err="1"/>
              <a:t>Paas</a:t>
            </a:r>
            <a:endParaRPr lang="fr-FR" b="1" dirty="0"/>
          </a:p>
          <a:p>
            <a:endParaRPr lang="fr-FR" dirty="0"/>
          </a:p>
        </p:txBody>
      </p:sp>
      <p:sp>
        <p:nvSpPr>
          <p:cNvPr id="4" name="Slide Number Placeholder 3">
            <a:extLst>
              <a:ext uri="{FF2B5EF4-FFF2-40B4-BE49-F238E27FC236}">
                <a16:creationId xmlns:a16="http://schemas.microsoft.com/office/drawing/2014/main" id="{9EC287DF-37CC-F5D3-CA41-AD571405D28F}"/>
              </a:ext>
            </a:extLst>
          </p:cNvPr>
          <p:cNvSpPr>
            <a:spLocks noGrp="1"/>
          </p:cNvSpPr>
          <p:nvPr>
            <p:ph type="sldNum" sz="quarter" idx="10"/>
          </p:nvPr>
        </p:nvSpPr>
        <p:spPr/>
        <p:txBody>
          <a:bodyPr/>
          <a:lstStyle/>
          <a:p>
            <a:fld id="{E2FF7759-803D-4F76-9AEC-98B2D9A07B0D}" type="slidenum">
              <a:rPr lang="en-US" smtClean="0"/>
              <a:t>14</a:t>
            </a:fld>
            <a:endParaRPr lang="en-US"/>
          </a:p>
        </p:txBody>
      </p:sp>
    </p:spTree>
    <p:extLst>
      <p:ext uri="{BB962C8B-B14F-4D97-AF65-F5344CB8AC3E}">
        <p14:creationId xmlns:p14="http://schemas.microsoft.com/office/powerpoint/2010/main" val="733361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024A9-0210-171E-D33A-813367E91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5EBF0-6BC4-A49F-3345-02B0B5150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BF1731-17D9-9DAD-EBEC-1315CE9CB9F5}"/>
              </a:ext>
            </a:extLst>
          </p:cNvPr>
          <p:cNvSpPr>
            <a:spLocks noGrp="1"/>
          </p:cNvSpPr>
          <p:nvPr>
            <p:ph type="body" idx="1"/>
          </p:nvPr>
        </p:nvSpPr>
        <p:spPr/>
        <p:txBody>
          <a:bodyPr/>
          <a:lstStyle/>
          <a:p>
            <a:r>
              <a:rPr lang="fr-FR" dirty="0"/>
              <a:t>✅ </a:t>
            </a:r>
            <a:r>
              <a:rPr lang="fr-FR" b="1" dirty="0"/>
              <a:t>Réponse : 2</a:t>
            </a:r>
          </a:p>
        </p:txBody>
      </p:sp>
      <p:sp>
        <p:nvSpPr>
          <p:cNvPr id="4" name="Slide Number Placeholder 3">
            <a:extLst>
              <a:ext uri="{FF2B5EF4-FFF2-40B4-BE49-F238E27FC236}">
                <a16:creationId xmlns:a16="http://schemas.microsoft.com/office/drawing/2014/main" id="{9D7987E4-1B8F-E365-E31B-667CE1B1188E}"/>
              </a:ext>
            </a:extLst>
          </p:cNvPr>
          <p:cNvSpPr>
            <a:spLocks noGrp="1"/>
          </p:cNvSpPr>
          <p:nvPr>
            <p:ph type="sldNum" sz="quarter" idx="10"/>
          </p:nvPr>
        </p:nvSpPr>
        <p:spPr/>
        <p:txBody>
          <a:bodyPr/>
          <a:lstStyle/>
          <a:p>
            <a:fld id="{E2FF7759-803D-4F76-9AEC-98B2D9A07B0D}" type="slidenum">
              <a:rPr lang="en-US" smtClean="0"/>
              <a:t>16</a:t>
            </a:fld>
            <a:endParaRPr lang="en-US"/>
          </a:p>
        </p:txBody>
      </p:sp>
    </p:spTree>
    <p:extLst>
      <p:ext uri="{BB962C8B-B14F-4D97-AF65-F5344CB8AC3E}">
        <p14:creationId xmlns:p14="http://schemas.microsoft.com/office/powerpoint/2010/main" val="1974040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510FE-9DF2-9C45-8135-1AED8AF50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76220-C904-E42A-DD3F-995EB3A2E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57A916-7B31-7487-48C4-96DAA3153B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t>
            </a:r>
            <a:r>
              <a:rPr lang="fr-FR" b="1" dirty="0"/>
              <a:t>Réponse : 2</a:t>
            </a:r>
            <a:endParaRPr lang="fr-FR" dirty="0"/>
          </a:p>
          <a:p>
            <a:r>
              <a:rPr lang="fr-FR" dirty="0"/>
              <a:t>Auto-</a:t>
            </a:r>
            <a:r>
              <a:rPr lang="fr-FR" dirty="0" err="1"/>
              <a:t>scale</a:t>
            </a:r>
            <a:r>
              <a:rPr lang="fr-FR" dirty="0"/>
              <a:t> permet de :</a:t>
            </a:r>
          </a:p>
          <a:p>
            <a:r>
              <a:rPr lang="fr-FR" dirty="0"/>
              <a:t>exemple :</a:t>
            </a:r>
          </a:p>
          <a:p>
            <a:pPr rtl="0"/>
            <a:r>
              <a:rPr lang="fr-FR" sz="1200" kern="1200" dirty="0">
                <a:solidFill>
                  <a:schemeClr val="tx1"/>
                </a:solidFill>
                <a:latin typeface="+mn-lt"/>
                <a:ea typeface="+mn-ea"/>
                <a:cs typeface="+mn-cs"/>
              </a:rPr>
              <a:t>CPU &gt; 70% → ajouter 1 instance</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CPU &lt; 30% → retirer 1 instance</a:t>
            </a:r>
          </a:p>
          <a:p>
            <a:r>
              <a:rPr lang="fr-FR" dirty="0"/>
              <a:t>Donc :</a:t>
            </a:r>
          </a:p>
          <a:p>
            <a:r>
              <a:rPr lang="fr-FR" dirty="0" err="1"/>
              <a:t>scale</a:t>
            </a:r>
            <a:r>
              <a:rPr lang="fr-FR" dirty="0"/>
              <a:t> horizontal</a:t>
            </a:r>
          </a:p>
          <a:p>
            <a:r>
              <a:rPr lang="fr-FR" dirty="0"/>
              <a:t>adaptation automatique à la charge</a:t>
            </a:r>
          </a:p>
          <a:p>
            <a:r>
              <a:rPr lang="fr-FR" dirty="0"/>
              <a:t>❌ Mauvaises réponses :</a:t>
            </a:r>
          </a:p>
          <a:p>
            <a:r>
              <a:rPr lang="fr-FR" dirty="0"/>
              <a:t>disque : non</a:t>
            </a:r>
          </a:p>
          <a:p>
            <a:r>
              <a:rPr lang="fr-FR" dirty="0"/>
              <a:t>version .NET : non</a:t>
            </a:r>
          </a:p>
          <a:p>
            <a:r>
              <a:rPr lang="fr-FR" dirty="0"/>
              <a:t>changer plan tarifaire : non</a:t>
            </a:r>
          </a:p>
          <a:p>
            <a:endParaRPr lang="en-US" dirty="0"/>
          </a:p>
        </p:txBody>
      </p:sp>
      <p:sp>
        <p:nvSpPr>
          <p:cNvPr id="4" name="Slide Number Placeholder 3">
            <a:extLst>
              <a:ext uri="{FF2B5EF4-FFF2-40B4-BE49-F238E27FC236}">
                <a16:creationId xmlns:a16="http://schemas.microsoft.com/office/drawing/2014/main" id="{8DEE6D2D-000B-66B9-D1A6-BE13854ACFC2}"/>
              </a:ext>
            </a:extLst>
          </p:cNvPr>
          <p:cNvSpPr>
            <a:spLocks noGrp="1"/>
          </p:cNvSpPr>
          <p:nvPr>
            <p:ph type="sldNum" sz="quarter" idx="10"/>
          </p:nvPr>
        </p:nvSpPr>
        <p:spPr/>
        <p:txBody>
          <a:bodyPr/>
          <a:lstStyle/>
          <a:p>
            <a:fld id="{E2FF7759-803D-4F76-9AEC-98B2D9A07B0D}" type="slidenum">
              <a:rPr lang="en-US" smtClean="0"/>
              <a:t>17</a:t>
            </a:fld>
            <a:endParaRPr lang="en-US"/>
          </a:p>
        </p:txBody>
      </p:sp>
    </p:spTree>
    <p:extLst>
      <p:ext uri="{BB962C8B-B14F-4D97-AF65-F5344CB8AC3E}">
        <p14:creationId xmlns:p14="http://schemas.microsoft.com/office/powerpoint/2010/main" val="2624965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BF7D8-67A9-925D-F71E-833185260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1938A-A0D9-C5FD-47FB-5C89A0D6B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FFA506-4F50-3297-2811-D4E77C754017}"/>
              </a:ext>
            </a:extLst>
          </p:cNvPr>
          <p:cNvSpPr>
            <a:spLocks noGrp="1"/>
          </p:cNvSpPr>
          <p:nvPr>
            <p:ph type="body" idx="1"/>
          </p:nvPr>
        </p:nvSpPr>
        <p:spPr/>
        <p:txBody>
          <a:bodyPr/>
          <a:lstStyle/>
          <a:p>
            <a:r>
              <a:rPr lang="fr-FR" dirty="0"/>
              <a:t>✅ </a:t>
            </a:r>
            <a:r>
              <a:rPr lang="fr-FR" b="1" dirty="0"/>
              <a:t>Réponse : 4</a:t>
            </a:r>
            <a:endParaRPr lang="fr-FR" dirty="0"/>
          </a:p>
          <a:p>
            <a:r>
              <a:rPr lang="fr-FR" dirty="0"/>
              <a:t>Type   Signification</a:t>
            </a:r>
          </a:p>
          <a:p>
            <a:r>
              <a:rPr lang="fr-FR" b="1" dirty="0" err="1"/>
              <a:t>Scale</a:t>
            </a:r>
            <a:r>
              <a:rPr lang="fr-FR" b="1" dirty="0"/>
              <a:t> Up : </a:t>
            </a:r>
            <a:r>
              <a:rPr lang="fr-FR" dirty="0"/>
              <a:t>augmenter CPU / RAM</a:t>
            </a:r>
          </a:p>
          <a:p>
            <a:r>
              <a:rPr lang="fr-FR" b="1" dirty="0" err="1"/>
              <a:t>Scale</a:t>
            </a:r>
            <a:r>
              <a:rPr lang="fr-FR" b="1" dirty="0"/>
              <a:t> Out : </a:t>
            </a:r>
            <a:r>
              <a:rPr lang="fr-FR" dirty="0"/>
              <a:t>ajouter des instances</a:t>
            </a:r>
          </a:p>
          <a:p>
            <a:r>
              <a:rPr lang="fr-FR" dirty="0"/>
              <a:t>Exemple :</a:t>
            </a:r>
          </a:p>
          <a:p>
            <a:pPr rtl="0"/>
            <a:r>
              <a:rPr lang="fr-FR" sz="1200" kern="1200" dirty="0" err="1">
                <a:solidFill>
                  <a:schemeClr val="tx1"/>
                </a:solidFill>
                <a:latin typeface="+mn-lt"/>
                <a:ea typeface="+mn-ea"/>
                <a:cs typeface="+mn-cs"/>
              </a:rPr>
              <a:t>Scale</a:t>
            </a:r>
            <a:r>
              <a:rPr lang="fr-FR" sz="1200" kern="1200" dirty="0">
                <a:solidFill>
                  <a:schemeClr val="tx1"/>
                </a:solidFill>
                <a:latin typeface="+mn-lt"/>
                <a:ea typeface="+mn-ea"/>
                <a:cs typeface="+mn-cs"/>
              </a:rPr>
              <a:t> Up :</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S1 → P1V2</a:t>
            </a:r>
            <a:br>
              <a:rPr lang="fr-FR" sz="1200" kern="1200" dirty="0">
                <a:solidFill>
                  <a:schemeClr val="tx1"/>
                </a:solidFill>
                <a:latin typeface="+mn-lt"/>
                <a:ea typeface="+mn-ea"/>
                <a:cs typeface="+mn-cs"/>
              </a:rPr>
            </a:br>
            <a:br>
              <a:rPr lang="fr-FR" sz="1200" kern="1200" dirty="0">
                <a:solidFill>
                  <a:schemeClr val="tx1"/>
                </a:solidFill>
                <a:latin typeface="+mn-lt"/>
                <a:ea typeface="+mn-ea"/>
                <a:cs typeface="+mn-cs"/>
              </a:rPr>
            </a:br>
            <a:r>
              <a:rPr lang="fr-FR" sz="1200" kern="1200" dirty="0" err="1">
                <a:solidFill>
                  <a:schemeClr val="tx1"/>
                </a:solidFill>
                <a:latin typeface="+mn-lt"/>
                <a:ea typeface="+mn-ea"/>
                <a:cs typeface="+mn-cs"/>
              </a:rPr>
              <a:t>Scale</a:t>
            </a:r>
            <a:r>
              <a:rPr lang="fr-FR" sz="1200" kern="1200" dirty="0">
                <a:solidFill>
                  <a:schemeClr val="tx1"/>
                </a:solidFill>
                <a:latin typeface="+mn-lt"/>
                <a:ea typeface="+mn-ea"/>
                <a:cs typeface="+mn-cs"/>
              </a:rPr>
              <a:t> Out :</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1 instance → 3 instances</a:t>
            </a:r>
          </a:p>
          <a:p>
            <a:endParaRPr lang="en-US" dirty="0"/>
          </a:p>
          <a:p>
            <a:endParaRPr lang="en-US" dirty="0"/>
          </a:p>
        </p:txBody>
      </p:sp>
      <p:sp>
        <p:nvSpPr>
          <p:cNvPr id="4" name="Slide Number Placeholder 3">
            <a:extLst>
              <a:ext uri="{FF2B5EF4-FFF2-40B4-BE49-F238E27FC236}">
                <a16:creationId xmlns:a16="http://schemas.microsoft.com/office/drawing/2014/main" id="{40AC5345-391A-F7AA-9122-3DB67009485B}"/>
              </a:ext>
            </a:extLst>
          </p:cNvPr>
          <p:cNvSpPr>
            <a:spLocks noGrp="1"/>
          </p:cNvSpPr>
          <p:nvPr>
            <p:ph type="sldNum" sz="quarter" idx="10"/>
          </p:nvPr>
        </p:nvSpPr>
        <p:spPr/>
        <p:txBody>
          <a:bodyPr/>
          <a:lstStyle/>
          <a:p>
            <a:fld id="{E2FF7759-803D-4F76-9AEC-98B2D9A07B0D}" type="slidenum">
              <a:rPr lang="en-US" smtClean="0"/>
              <a:t>18</a:t>
            </a:fld>
            <a:endParaRPr lang="en-US"/>
          </a:p>
        </p:txBody>
      </p:sp>
    </p:spTree>
    <p:extLst>
      <p:ext uri="{BB962C8B-B14F-4D97-AF65-F5344CB8AC3E}">
        <p14:creationId xmlns:p14="http://schemas.microsoft.com/office/powerpoint/2010/main" val="996899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037E-CA2E-DEE7-35AA-216F16B257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2FEC4-FF72-9B4B-A1D4-D7A275895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AD9E3-E5EF-1DB1-CB43-C7041D4EFD56}"/>
              </a:ext>
            </a:extLst>
          </p:cNvPr>
          <p:cNvSpPr>
            <a:spLocks noGrp="1"/>
          </p:cNvSpPr>
          <p:nvPr>
            <p:ph type="body" idx="1"/>
          </p:nvPr>
        </p:nvSpPr>
        <p:spPr/>
        <p:txBody>
          <a:bodyPr/>
          <a:lstStyle/>
          <a:p>
            <a:r>
              <a:rPr lang="fr-FR" dirty="0"/>
              <a:t>✅ </a:t>
            </a:r>
            <a:r>
              <a:rPr lang="fr-FR" b="1" dirty="0"/>
              <a:t>Réponse : 3 — </a:t>
            </a:r>
            <a:r>
              <a:rPr lang="fr-FR" b="1" dirty="0" err="1"/>
              <a:t>Deployment</a:t>
            </a:r>
            <a:r>
              <a:rPr lang="fr-FR" b="1" dirty="0"/>
              <a:t> Center</a:t>
            </a:r>
            <a:endParaRPr lang="fr-FR" dirty="0"/>
          </a:p>
          <a:p>
            <a:r>
              <a:rPr lang="fr-FR" dirty="0"/>
              <a:t>Le </a:t>
            </a:r>
            <a:r>
              <a:rPr lang="fr-FR" b="1" dirty="0" err="1"/>
              <a:t>Deployment</a:t>
            </a:r>
            <a:r>
              <a:rPr lang="fr-FR" b="1" dirty="0"/>
              <a:t> Center</a:t>
            </a:r>
            <a:r>
              <a:rPr lang="fr-FR" dirty="0"/>
              <a:t> d’App Service permet de connecter :</a:t>
            </a:r>
          </a:p>
          <a:p>
            <a:r>
              <a:rPr lang="fr-FR" dirty="0"/>
              <a:t>GitHub</a:t>
            </a:r>
          </a:p>
          <a:p>
            <a:r>
              <a:rPr lang="fr-FR" dirty="0"/>
              <a:t>Azure DevOps</a:t>
            </a:r>
          </a:p>
          <a:p>
            <a:r>
              <a:rPr lang="fr-FR" dirty="0" err="1"/>
              <a:t>Bitbucket</a:t>
            </a:r>
            <a:endParaRPr lang="fr-FR" dirty="0"/>
          </a:p>
          <a:p>
            <a:r>
              <a:rPr lang="fr-FR" dirty="0"/>
              <a:t>Il crée automatiquement un </a:t>
            </a:r>
            <a:r>
              <a:rPr lang="fr-FR" b="1" dirty="0"/>
              <a:t>workflow GitHub Actions</a:t>
            </a:r>
            <a:r>
              <a:rPr lang="fr-FR" dirty="0"/>
              <a:t>.</a:t>
            </a:r>
          </a:p>
          <a:p>
            <a:endParaRPr lang="en-US" dirty="0"/>
          </a:p>
        </p:txBody>
      </p:sp>
      <p:sp>
        <p:nvSpPr>
          <p:cNvPr id="4" name="Slide Number Placeholder 3">
            <a:extLst>
              <a:ext uri="{FF2B5EF4-FFF2-40B4-BE49-F238E27FC236}">
                <a16:creationId xmlns:a16="http://schemas.microsoft.com/office/drawing/2014/main" id="{00F6F842-ADD1-26A7-69D8-08DB23A7BC63}"/>
              </a:ext>
            </a:extLst>
          </p:cNvPr>
          <p:cNvSpPr>
            <a:spLocks noGrp="1"/>
          </p:cNvSpPr>
          <p:nvPr>
            <p:ph type="sldNum" sz="quarter" idx="10"/>
          </p:nvPr>
        </p:nvSpPr>
        <p:spPr/>
        <p:txBody>
          <a:bodyPr/>
          <a:lstStyle/>
          <a:p>
            <a:fld id="{E2FF7759-803D-4F76-9AEC-98B2D9A07B0D}" type="slidenum">
              <a:rPr lang="en-US" smtClean="0"/>
              <a:t>19</a:t>
            </a:fld>
            <a:endParaRPr lang="en-US"/>
          </a:p>
        </p:txBody>
      </p:sp>
    </p:spTree>
    <p:extLst>
      <p:ext uri="{BB962C8B-B14F-4D97-AF65-F5344CB8AC3E}">
        <p14:creationId xmlns:p14="http://schemas.microsoft.com/office/powerpoint/2010/main" val="2479390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EE497-E497-4886-3816-3B757108B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3CB875-8D5E-2257-D266-392CC5335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BFCBE-D944-2CA0-03FF-5B9B9FB0F7A8}"/>
              </a:ext>
            </a:extLst>
          </p:cNvPr>
          <p:cNvSpPr>
            <a:spLocks noGrp="1"/>
          </p:cNvSpPr>
          <p:nvPr>
            <p:ph type="body" idx="1"/>
          </p:nvPr>
        </p:nvSpPr>
        <p:spPr/>
        <p:txBody>
          <a:bodyPr/>
          <a:lstStyle/>
          <a:p>
            <a:r>
              <a:rPr lang="fr-FR" dirty="0"/>
              <a:t>✅ </a:t>
            </a:r>
            <a:r>
              <a:rPr lang="fr-FR" b="1" dirty="0"/>
              <a:t>Réponse : 3 : </a:t>
            </a:r>
            <a:r>
              <a:rPr lang="fr-FR" b="1" dirty="0" err="1"/>
              <a:t>Sharepoint</a:t>
            </a:r>
            <a:endParaRPr lang="en-US" dirty="0"/>
          </a:p>
        </p:txBody>
      </p:sp>
      <p:sp>
        <p:nvSpPr>
          <p:cNvPr id="4" name="Slide Number Placeholder 3">
            <a:extLst>
              <a:ext uri="{FF2B5EF4-FFF2-40B4-BE49-F238E27FC236}">
                <a16:creationId xmlns:a16="http://schemas.microsoft.com/office/drawing/2014/main" id="{C7A3C71F-9969-7AE1-2D40-58AEBB820F99}"/>
              </a:ext>
            </a:extLst>
          </p:cNvPr>
          <p:cNvSpPr>
            <a:spLocks noGrp="1"/>
          </p:cNvSpPr>
          <p:nvPr>
            <p:ph type="sldNum" sz="quarter" idx="10"/>
          </p:nvPr>
        </p:nvSpPr>
        <p:spPr/>
        <p:txBody>
          <a:bodyPr/>
          <a:lstStyle/>
          <a:p>
            <a:fld id="{E2FF7759-803D-4F76-9AEC-98B2D9A07B0D}" type="slidenum">
              <a:rPr lang="en-US" smtClean="0"/>
              <a:t>20</a:t>
            </a:fld>
            <a:endParaRPr lang="en-US"/>
          </a:p>
        </p:txBody>
      </p:sp>
    </p:spTree>
    <p:extLst>
      <p:ext uri="{BB962C8B-B14F-4D97-AF65-F5344CB8AC3E}">
        <p14:creationId xmlns:p14="http://schemas.microsoft.com/office/powerpoint/2010/main" val="2364704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3D0E7-7A42-30E2-E1FD-92728CBF5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82983-27E0-0FCF-F605-541CE05EF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6E85D5-0F77-DA11-8890-CE7CC61CC3AF}"/>
              </a:ext>
            </a:extLst>
          </p:cNvPr>
          <p:cNvSpPr>
            <a:spLocks noGrp="1"/>
          </p:cNvSpPr>
          <p:nvPr>
            <p:ph type="body" idx="1"/>
          </p:nvPr>
        </p:nvSpPr>
        <p:spPr/>
        <p:txBody>
          <a:bodyPr/>
          <a:lstStyle/>
          <a:p>
            <a:r>
              <a:rPr lang="fr-FR" dirty="0"/>
              <a:t>✅ </a:t>
            </a:r>
            <a:r>
              <a:rPr lang="fr-FR" b="1" dirty="0"/>
              <a:t>Réponse : 2 — Auto-</a:t>
            </a:r>
            <a:r>
              <a:rPr lang="fr-FR" b="1" dirty="0" err="1"/>
              <a:t>scale</a:t>
            </a:r>
            <a:r>
              <a:rPr lang="fr-FR" b="1" dirty="0"/>
              <a:t> basé sur CPU</a:t>
            </a:r>
            <a:endParaRPr lang="fr-FR" dirty="0"/>
          </a:p>
          <a:p>
            <a:r>
              <a:rPr lang="fr-FR" dirty="0"/>
              <a:t>Exemple de règle :</a:t>
            </a:r>
          </a:p>
          <a:p>
            <a:pPr rtl="0"/>
            <a:r>
              <a:rPr lang="fr-FR" sz="1200" kern="1200" dirty="0">
                <a:solidFill>
                  <a:schemeClr val="tx1"/>
                </a:solidFill>
                <a:latin typeface="+mn-lt"/>
                <a:ea typeface="+mn-ea"/>
                <a:cs typeface="+mn-cs"/>
              </a:rPr>
              <a:t>CPU &gt; 70% → +1 instance</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CPU &gt; 90% → +2 instances</a:t>
            </a:r>
          </a:p>
          <a:p>
            <a:r>
              <a:rPr lang="fr-FR" dirty="0"/>
              <a:t>C'est la </a:t>
            </a:r>
            <a:r>
              <a:rPr lang="fr-FR" b="1" dirty="0"/>
              <a:t>solution standard cloud native</a:t>
            </a:r>
            <a:r>
              <a:rPr lang="fr-FR" dirty="0"/>
              <a:t>.</a:t>
            </a:r>
          </a:p>
          <a:p>
            <a:r>
              <a:rPr lang="fr-FR" dirty="0"/>
              <a:t>❌ Mauvaises réponses :</a:t>
            </a:r>
          </a:p>
          <a:p>
            <a:r>
              <a:rPr lang="fr-FR" dirty="0"/>
              <a:t>augmenter CPU manuellement → pas dynamique</a:t>
            </a:r>
          </a:p>
          <a:p>
            <a:r>
              <a:rPr lang="fr-FR" dirty="0"/>
              <a:t>App Insights → monitoring</a:t>
            </a:r>
          </a:p>
          <a:p>
            <a:r>
              <a:rPr lang="fr-FR" dirty="0" err="1"/>
              <a:t>Deployment</a:t>
            </a:r>
            <a:r>
              <a:rPr lang="fr-FR" dirty="0"/>
              <a:t> Slot → déploiement</a:t>
            </a:r>
          </a:p>
          <a:p>
            <a:endParaRPr lang="en-US" dirty="0"/>
          </a:p>
        </p:txBody>
      </p:sp>
      <p:sp>
        <p:nvSpPr>
          <p:cNvPr id="4" name="Slide Number Placeholder 3">
            <a:extLst>
              <a:ext uri="{FF2B5EF4-FFF2-40B4-BE49-F238E27FC236}">
                <a16:creationId xmlns:a16="http://schemas.microsoft.com/office/drawing/2014/main" id="{512D2563-B276-9014-A151-66D6FF3E6B6F}"/>
              </a:ext>
            </a:extLst>
          </p:cNvPr>
          <p:cNvSpPr>
            <a:spLocks noGrp="1"/>
          </p:cNvSpPr>
          <p:nvPr>
            <p:ph type="sldNum" sz="quarter" idx="10"/>
          </p:nvPr>
        </p:nvSpPr>
        <p:spPr/>
        <p:txBody>
          <a:bodyPr/>
          <a:lstStyle/>
          <a:p>
            <a:fld id="{E2FF7759-803D-4F76-9AEC-98B2D9A07B0D}" type="slidenum">
              <a:rPr lang="en-US" smtClean="0"/>
              <a:t>21</a:t>
            </a:fld>
            <a:endParaRPr lang="en-US"/>
          </a:p>
        </p:txBody>
      </p:sp>
    </p:spTree>
    <p:extLst>
      <p:ext uri="{BB962C8B-B14F-4D97-AF65-F5344CB8AC3E}">
        <p14:creationId xmlns:p14="http://schemas.microsoft.com/office/powerpoint/2010/main" val="3927957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B8019-2636-0071-F374-F12F137FA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0BDCE-2B2E-FA19-AEA7-546190F01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DA39A-1727-375D-8713-4391493BBF56}"/>
              </a:ext>
            </a:extLst>
          </p:cNvPr>
          <p:cNvSpPr>
            <a:spLocks noGrp="1"/>
          </p:cNvSpPr>
          <p:nvPr>
            <p:ph type="body" idx="1"/>
          </p:nvPr>
        </p:nvSpPr>
        <p:spPr/>
        <p:txBody>
          <a:bodyPr/>
          <a:lstStyle/>
          <a:p>
            <a:r>
              <a:rPr lang="fr-FR" dirty="0"/>
              <a:t>✅ </a:t>
            </a:r>
            <a:r>
              <a:rPr lang="fr-FR" b="1" dirty="0"/>
              <a:t>Réponse : 4 — </a:t>
            </a:r>
            <a:r>
              <a:rPr lang="fr-FR" b="1" dirty="0" err="1"/>
              <a:t>Deployment</a:t>
            </a:r>
            <a:r>
              <a:rPr lang="fr-FR" b="1" dirty="0"/>
              <a:t> Slots + Traffic </a:t>
            </a:r>
            <a:r>
              <a:rPr lang="fr-FR" b="1" dirty="0" err="1"/>
              <a:t>Routing</a:t>
            </a:r>
            <a:endParaRPr lang="fr-FR" dirty="0"/>
          </a:p>
          <a:p>
            <a:r>
              <a:rPr lang="fr-FR" dirty="0"/>
              <a:t>Exemple :</a:t>
            </a:r>
          </a:p>
          <a:p>
            <a:pPr rtl="0"/>
            <a:r>
              <a:rPr lang="fr-FR" sz="1200" kern="1200" dirty="0">
                <a:solidFill>
                  <a:schemeClr val="tx1"/>
                </a:solidFill>
                <a:latin typeface="+mn-lt"/>
                <a:ea typeface="+mn-ea"/>
                <a:cs typeface="+mn-cs"/>
              </a:rPr>
              <a:t>Production : 90%</a:t>
            </a:r>
            <a:br>
              <a:rPr lang="fr-FR" sz="1200" kern="1200" dirty="0">
                <a:solidFill>
                  <a:schemeClr val="tx1"/>
                </a:solidFill>
                <a:latin typeface="+mn-lt"/>
                <a:ea typeface="+mn-ea"/>
                <a:cs typeface="+mn-cs"/>
              </a:rPr>
            </a:br>
            <a:r>
              <a:rPr lang="fr-FR" sz="1200" kern="1200" dirty="0" err="1">
                <a:solidFill>
                  <a:schemeClr val="tx1"/>
                </a:solidFill>
                <a:latin typeface="+mn-lt"/>
                <a:ea typeface="+mn-ea"/>
                <a:cs typeface="+mn-cs"/>
              </a:rPr>
              <a:t>Staging</a:t>
            </a:r>
            <a:r>
              <a:rPr lang="fr-FR" sz="1200" kern="1200" dirty="0">
                <a:solidFill>
                  <a:schemeClr val="tx1"/>
                </a:solidFill>
                <a:latin typeface="+mn-lt"/>
                <a:ea typeface="+mn-ea"/>
                <a:cs typeface="+mn-cs"/>
              </a:rPr>
              <a:t> : 10%</a:t>
            </a:r>
          </a:p>
          <a:p>
            <a:r>
              <a:rPr lang="fr-FR" dirty="0"/>
              <a:t>Permet :</a:t>
            </a:r>
          </a:p>
          <a:p>
            <a:r>
              <a:rPr lang="fr-FR" b="1" dirty="0" err="1"/>
              <a:t>canary</a:t>
            </a:r>
            <a:r>
              <a:rPr lang="fr-FR" b="1" dirty="0"/>
              <a:t> release</a:t>
            </a:r>
            <a:endParaRPr lang="fr-FR" dirty="0"/>
          </a:p>
          <a:p>
            <a:r>
              <a:rPr lang="fr-FR" dirty="0"/>
              <a:t>tests progressifs</a:t>
            </a:r>
          </a:p>
          <a:p>
            <a:r>
              <a:rPr lang="fr-FR" dirty="0"/>
              <a:t>rollback rapide</a:t>
            </a:r>
          </a:p>
          <a:p>
            <a:r>
              <a:rPr lang="fr-FR" dirty="0"/>
              <a:t>Très utilisé en </a:t>
            </a:r>
            <a:r>
              <a:rPr lang="fr-FR" b="1" dirty="0"/>
              <a:t>DevOps / CI-CD Azure</a:t>
            </a:r>
            <a:r>
              <a:rPr lang="fr-FR" dirty="0"/>
              <a:t>.</a:t>
            </a:r>
          </a:p>
          <a:p>
            <a:endParaRPr lang="en-US" dirty="0"/>
          </a:p>
        </p:txBody>
      </p:sp>
      <p:sp>
        <p:nvSpPr>
          <p:cNvPr id="4" name="Slide Number Placeholder 3">
            <a:extLst>
              <a:ext uri="{FF2B5EF4-FFF2-40B4-BE49-F238E27FC236}">
                <a16:creationId xmlns:a16="http://schemas.microsoft.com/office/drawing/2014/main" id="{6B1737ED-F124-26BD-6329-D7C728A47161}"/>
              </a:ext>
            </a:extLst>
          </p:cNvPr>
          <p:cNvSpPr>
            <a:spLocks noGrp="1"/>
          </p:cNvSpPr>
          <p:nvPr>
            <p:ph type="sldNum" sz="quarter" idx="10"/>
          </p:nvPr>
        </p:nvSpPr>
        <p:spPr/>
        <p:txBody>
          <a:bodyPr/>
          <a:lstStyle/>
          <a:p>
            <a:fld id="{E2FF7759-803D-4F76-9AEC-98B2D9A07B0D}" type="slidenum">
              <a:rPr lang="en-US" smtClean="0"/>
              <a:t>22</a:t>
            </a:fld>
            <a:endParaRPr lang="en-US"/>
          </a:p>
        </p:txBody>
      </p:sp>
    </p:spTree>
    <p:extLst>
      <p:ext uri="{BB962C8B-B14F-4D97-AF65-F5344CB8AC3E}">
        <p14:creationId xmlns:p14="http://schemas.microsoft.com/office/powerpoint/2010/main" val="29420358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903DE-6772-D45A-E989-5C58BD453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1F077-B225-ECD5-C631-2A286E3F5B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6D32C3-F2D4-C91E-1BA5-A6F598633AA9}"/>
              </a:ext>
            </a:extLst>
          </p:cNvPr>
          <p:cNvSpPr>
            <a:spLocks noGrp="1"/>
          </p:cNvSpPr>
          <p:nvPr>
            <p:ph type="body" idx="1"/>
          </p:nvPr>
        </p:nvSpPr>
        <p:spPr/>
        <p:txBody>
          <a:bodyPr/>
          <a:lstStyle/>
          <a:p>
            <a:r>
              <a:rPr lang="fr-FR" dirty="0"/>
              <a:t>✅ </a:t>
            </a:r>
            <a:r>
              <a:rPr lang="fr-FR" b="1" dirty="0"/>
              <a:t>Réponse : 3 — Application Insights</a:t>
            </a:r>
            <a:endParaRPr lang="fr-FR" dirty="0"/>
          </a:p>
          <a:p>
            <a:r>
              <a:rPr lang="fr-FR" dirty="0"/>
              <a:t>Azure Application Insights</a:t>
            </a:r>
          </a:p>
          <a:p>
            <a:r>
              <a:rPr lang="fr-FR" dirty="0"/>
              <a:t>Permet :</a:t>
            </a:r>
          </a:p>
          <a:p>
            <a:pPr marL="171450" indent="-171450">
              <a:buFont typeface="Arial" panose="020B0604020202020204" pitchFamily="34" charset="0"/>
              <a:buChar char="•"/>
            </a:pPr>
            <a:r>
              <a:rPr lang="fr-FR" dirty="0"/>
              <a:t>tracing</a:t>
            </a:r>
          </a:p>
          <a:p>
            <a:pPr marL="171450" indent="-171450">
              <a:buFont typeface="Arial" panose="020B0604020202020204" pitchFamily="34" charset="0"/>
              <a:buChar char="•"/>
            </a:pPr>
            <a:r>
              <a:rPr lang="fr-FR" dirty="0"/>
              <a:t>logs</a:t>
            </a:r>
          </a:p>
          <a:p>
            <a:pPr marL="171450" indent="-171450">
              <a:buFont typeface="Arial" panose="020B0604020202020204" pitchFamily="34" charset="0"/>
              <a:buChar char="•"/>
            </a:pPr>
            <a:r>
              <a:rPr lang="fr-FR" dirty="0"/>
              <a:t>dépendances</a:t>
            </a:r>
          </a:p>
          <a:p>
            <a:pPr marL="171450" indent="-171450">
              <a:buFont typeface="Arial" panose="020B0604020202020204" pitchFamily="34" charset="0"/>
              <a:buChar char="•"/>
            </a:pPr>
            <a:r>
              <a:rPr lang="fr-FR" dirty="0"/>
              <a:t>temps de réponse</a:t>
            </a:r>
          </a:p>
          <a:p>
            <a:pPr marL="171450" indent="-171450">
              <a:buFont typeface="Arial" panose="020B0604020202020204" pitchFamily="34" charset="0"/>
              <a:buChar char="•"/>
            </a:pPr>
            <a:r>
              <a:rPr lang="fr-FR" dirty="0"/>
              <a:t>erreurs</a:t>
            </a:r>
          </a:p>
          <a:p>
            <a:pPr marL="171450" indent="-171450">
              <a:buFont typeface="Arial" panose="020B0604020202020204" pitchFamily="34" charset="0"/>
              <a:buChar char="•"/>
            </a:pPr>
            <a:r>
              <a:rPr lang="fr-FR" dirty="0" err="1"/>
              <a:t>telemetry</a:t>
            </a:r>
            <a:endParaRPr lang="fr-FR" dirty="0"/>
          </a:p>
          <a:p>
            <a:r>
              <a:rPr lang="fr-FR" dirty="0"/>
              <a:t>Exemples visibles :</a:t>
            </a:r>
          </a:p>
          <a:p>
            <a:pPr marL="171450" indent="-171450" rtl="0">
              <a:buFont typeface="Arial" panose="020B0604020202020204" pitchFamily="34" charset="0"/>
              <a:buChar char="•"/>
            </a:pPr>
            <a:r>
              <a:rPr lang="fr-FR" sz="1200" kern="1200" dirty="0" err="1">
                <a:solidFill>
                  <a:schemeClr val="tx1"/>
                </a:solidFill>
                <a:latin typeface="+mn-lt"/>
                <a:ea typeface="+mn-ea"/>
                <a:cs typeface="+mn-cs"/>
              </a:rPr>
              <a:t>Requests</a:t>
            </a:r>
            <a:endParaRPr lang="fr-FR" sz="1200" kern="1200" dirty="0">
              <a:solidFill>
                <a:schemeClr val="tx1"/>
              </a:solidFill>
              <a:latin typeface="+mn-lt"/>
              <a:ea typeface="+mn-ea"/>
              <a:cs typeface="+mn-cs"/>
            </a:endParaRPr>
          </a:p>
          <a:p>
            <a:pPr marL="171450" indent="-171450" rtl="0">
              <a:buFont typeface="Arial" panose="020B0604020202020204" pitchFamily="34" charset="0"/>
              <a:buChar char="•"/>
            </a:pPr>
            <a:r>
              <a:rPr lang="fr-FR" sz="1200" kern="1200" dirty="0">
                <a:solidFill>
                  <a:schemeClr val="tx1"/>
                </a:solidFill>
                <a:latin typeface="+mn-lt"/>
                <a:ea typeface="+mn-ea"/>
                <a:cs typeface="+mn-cs"/>
              </a:rPr>
              <a:t>Exceptions</a:t>
            </a:r>
          </a:p>
          <a:p>
            <a:pPr marL="171450" indent="-171450" rtl="0">
              <a:buFont typeface="Arial" panose="020B0604020202020204" pitchFamily="34" charset="0"/>
              <a:buChar char="•"/>
            </a:pPr>
            <a:r>
              <a:rPr lang="fr-FR" sz="1200" kern="1200" dirty="0" err="1">
                <a:solidFill>
                  <a:schemeClr val="tx1"/>
                </a:solidFill>
                <a:latin typeface="+mn-lt"/>
                <a:ea typeface="+mn-ea"/>
                <a:cs typeface="+mn-cs"/>
              </a:rPr>
              <a:t>Dependencies</a:t>
            </a:r>
            <a:endParaRPr lang="fr-FR" sz="1200" kern="1200" dirty="0">
              <a:solidFill>
                <a:schemeClr val="tx1"/>
              </a:solidFill>
              <a:latin typeface="+mn-lt"/>
              <a:ea typeface="+mn-ea"/>
              <a:cs typeface="+mn-cs"/>
            </a:endParaRPr>
          </a:p>
          <a:p>
            <a:pPr marL="171450" indent="-171450" rtl="0">
              <a:buFont typeface="Arial" panose="020B0604020202020204" pitchFamily="34" charset="0"/>
              <a:buChar char="•"/>
            </a:pPr>
            <a:r>
              <a:rPr lang="fr-FR" sz="1200" kern="1200" dirty="0">
                <a:solidFill>
                  <a:schemeClr val="tx1"/>
                </a:solidFill>
                <a:latin typeface="+mn-lt"/>
                <a:ea typeface="+mn-ea"/>
                <a:cs typeface="+mn-cs"/>
              </a:rPr>
              <a:t>Performance</a:t>
            </a:r>
          </a:p>
          <a:p>
            <a:pPr marL="171450" indent="-171450" rtl="0">
              <a:buFont typeface="Arial" panose="020B0604020202020204" pitchFamily="34" charset="0"/>
              <a:buChar char="•"/>
            </a:pPr>
            <a:r>
              <a:rPr lang="fr-FR" sz="1200" kern="1200" dirty="0">
                <a:solidFill>
                  <a:schemeClr val="tx1"/>
                </a:solidFill>
                <a:latin typeface="+mn-lt"/>
                <a:ea typeface="+mn-ea"/>
                <a:cs typeface="+mn-cs"/>
              </a:rPr>
              <a:t>live </a:t>
            </a:r>
            <a:r>
              <a:rPr lang="fr-FR" sz="1200" kern="1200" dirty="0" err="1">
                <a:solidFill>
                  <a:schemeClr val="tx1"/>
                </a:solidFill>
                <a:latin typeface="+mn-lt"/>
                <a:ea typeface="+mn-ea"/>
                <a:cs typeface="+mn-cs"/>
              </a:rPr>
              <a:t>metrics</a:t>
            </a:r>
            <a:endParaRPr lang="fr-FR" sz="1200" kern="1200" dirty="0">
              <a:solidFill>
                <a:schemeClr val="tx1"/>
              </a:solidFill>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20EB8AD2-8574-E0A8-3D98-4603E68AB9A7}"/>
              </a:ext>
            </a:extLst>
          </p:cNvPr>
          <p:cNvSpPr>
            <a:spLocks noGrp="1"/>
          </p:cNvSpPr>
          <p:nvPr>
            <p:ph type="sldNum" sz="quarter" idx="10"/>
          </p:nvPr>
        </p:nvSpPr>
        <p:spPr/>
        <p:txBody>
          <a:bodyPr/>
          <a:lstStyle/>
          <a:p>
            <a:fld id="{E2FF7759-803D-4F76-9AEC-98B2D9A07B0D}" type="slidenum">
              <a:rPr lang="en-US" smtClean="0"/>
              <a:t>23</a:t>
            </a:fld>
            <a:endParaRPr lang="en-US"/>
          </a:p>
        </p:txBody>
      </p:sp>
    </p:spTree>
    <p:extLst>
      <p:ext uri="{BB962C8B-B14F-4D97-AF65-F5344CB8AC3E}">
        <p14:creationId xmlns:p14="http://schemas.microsoft.com/office/powerpoint/2010/main" val="41291270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C286C-9401-B6FE-7BD7-151442B7B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3031FF-2777-F96C-C9F6-EA14461E6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E8491E-9710-E21E-3755-A9704C2A1562}"/>
              </a:ext>
            </a:extLst>
          </p:cNvPr>
          <p:cNvSpPr>
            <a:spLocks noGrp="1"/>
          </p:cNvSpPr>
          <p:nvPr>
            <p:ph type="body" idx="1"/>
          </p:nvPr>
        </p:nvSpPr>
        <p:spPr/>
        <p:txBody>
          <a:bodyPr/>
          <a:lstStyle/>
          <a:p>
            <a:r>
              <a:rPr lang="fr-FR" dirty="0"/>
              <a:t>✅ </a:t>
            </a:r>
            <a:r>
              <a:rPr lang="fr-FR" b="1" dirty="0"/>
              <a:t>Réponse : 4 — Fournir l’infrastructure</a:t>
            </a:r>
            <a:endParaRPr lang="fr-FR" dirty="0"/>
          </a:p>
          <a:p>
            <a:r>
              <a:rPr lang="fr-FR" b="1" dirty="0"/>
              <a:t>Explication</a:t>
            </a:r>
            <a:endParaRPr lang="fr-FR" dirty="0"/>
          </a:p>
          <a:p>
            <a:r>
              <a:rPr lang="fr-FR" dirty="0"/>
              <a:t>Un </a:t>
            </a:r>
            <a:r>
              <a:rPr lang="fr-FR" b="1" dirty="0"/>
              <a:t>App Service Plan</a:t>
            </a:r>
            <a:r>
              <a:rPr lang="fr-FR" dirty="0"/>
              <a:t> représente </a:t>
            </a:r>
            <a:r>
              <a:rPr lang="fr-FR" b="1" dirty="0"/>
              <a:t>la capacité de calcul</a:t>
            </a:r>
            <a:r>
              <a:rPr lang="fr-FR" dirty="0"/>
              <a:t> utilisée par les applications :</a:t>
            </a:r>
          </a:p>
          <a:p>
            <a:pPr marL="171450" indent="-171450">
              <a:buFont typeface="Arial" panose="020B0604020202020204" pitchFamily="34" charset="0"/>
              <a:buChar char="•"/>
            </a:pPr>
            <a:r>
              <a:rPr lang="fr-FR" dirty="0"/>
              <a:t>CPU</a:t>
            </a:r>
          </a:p>
          <a:p>
            <a:pPr marL="171450" indent="-171450">
              <a:buFont typeface="Arial" panose="020B0604020202020204" pitchFamily="34" charset="0"/>
              <a:buChar char="•"/>
            </a:pPr>
            <a:r>
              <a:rPr lang="fr-FR" dirty="0"/>
              <a:t>RAM</a:t>
            </a:r>
          </a:p>
          <a:p>
            <a:pPr marL="171450" indent="-171450">
              <a:buFont typeface="Arial" panose="020B0604020202020204" pitchFamily="34" charset="0"/>
              <a:buChar char="•"/>
            </a:pPr>
            <a:r>
              <a:rPr lang="fr-FR" dirty="0"/>
              <a:t>nombre d’instances</a:t>
            </a:r>
          </a:p>
          <a:p>
            <a:pPr marL="171450" indent="-171450">
              <a:buFont typeface="Arial" panose="020B0604020202020204" pitchFamily="34" charset="0"/>
              <a:buChar char="•"/>
            </a:pPr>
            <a:r>
              <a:rPr lang="fr-FR" dirty="0"/>
              <a:t>région Azure</a:t>
            </a:r>
          </a:p>
          <a:p>
            <a:pPr marL="171450" indent="-171450">
              <a:buFont typeface="Arial" panose="020B0604020202020204" pitchFamily="34" charset="0"/>
              <a:buChar char="•"/>
            </a:pPr>
            <a:r>
              <a:rPr lang="fr-FR" dirty="0"/>
              <a:t>niveau de </a:t>
            </a:r>
            <a:r>
              <a:rPr lang="fr-FR" dirty="0" err="1"/>
              <a:t>pricing</a:t>
            </a:r>
            <a:r>
              <a:rPr lang="fr-FR" dirty="0"/>
              <a:t> (B1, S1, P1…)</a:t>
            </a:r>
          </a:p>
          <a:p>
            <a:r>
              <a:rPr lang="fr-FR" dirty="0"/>
              <a:t>Les </a:t>
            </a:r>
            <a:r>
              <a:rPr lang="fr-FR" b="1" dirty="0"/>
              <a:t>applications App Service</a:t>
            </a:r>
            <a:r>
              <a:rPr lang="fr-FR" dirty="0"/>
              <a:t> utilisent ces ressources.</a:t>
            </a:r>
          </a:p>
          <a:p>
            <a:r>
              <a:rPr lang="fr-FR" dirty="0"/>
              <a:t>Schéma simple :</a:t>
            </a:r>
          </a:p>
          <a:p>
            <a:pPr rtl="0"/>
            <a:r>
              <a:rPr lang="fr-FR" sz="1200" kern="1200" dirty="0">
                <a:solidFill>
                  <a:schemeClr val="tx1"/>
                </a:solidFill>
                <a:latin typeface="+mn-lt"/>
                <a:ea typeface="+mn-ea"/>
                <a:cs typeface="+mn-cs"/>
              </a:rPr>
              <a:t>App Service Plan</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Web App 1</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Web App 2</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API App</a:t>
            </a:r>
          </a:p>
          <a:p>
            <a:endParaRPr lang="en-US" dirty="0"/>
          </a:p>
        </p:txBody>
      </p:sp>
      <p:sp>
        <p:nvSpPr>
          <p:cNvPr id="4" name="Slide Number Placeholder 3">
            <a:extLst>
              <a:ext uri="{FF2B5EF4-FFF2-40B4-BE49-F238E27FC236}">
                <a16:creationId xmlns:a16="http://schemas.microsoft.com/office/drawing/2014/main" id="{602BBB73-902F-066F-B1CB-B7F7A8E2BB43}"/>
              </a:ext>
            </a:extLst>
          </p:cNvPr>
          <p:cNvSpPr>
            <a:spLocks noGrp="1"/>
          </p:cNvSpPr>
          <p:nvPr>
            <p:ph type="sldNum" sz="quarter" idx="10"/>
          </p:nvPr>
        </p:nvSpPr>
        <p:spPr/>
        <p:txBody>
          <a:bodyPr/>
          <a:lstStyle/>
          <a:p>
            <a:fld id="{E2FF7759-803D-4F76-9AEC-98B2D9A07B0D}" type="slidenum">
              <a:rPr lang="en-US" smtClean="0"/>
              <a:t>25</a:t>
            </a:fld>
            <a:endParaRPr lang="en-US"/>
          </a:p>
        </p:txBody>
      </p:sp>
    </p:spTree>
    <p:extLst>
      <p:ext uri="{BB962C8B-B14F-4D97-AF65-F5344CB8AC3E}">
        <p14:creationId xmlns:p14="http://schemas.microsoft.com/office/powerpoint/2010/main" val="22122106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99C1F-2F54-C667-2AEE-6CC57B776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1B38B-B613-3B00-866C-8F5009B72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25EAEF-82B0-DCCC-E200-BCC0FF52A8A1}"/>
              </a:ext>
            </a:extLst>
          </p:cNvPr>
          <p:cNvSpPr>
            <a:spLocks noGrp="1"/>
          </p:cNvSpPr>
          <p:nvPr>
            <p:ph type="body" idx="1"/>
          </p:nvPr>
        </p:nvSpPr>
        <p:spPr/>
        <p:txBody>
          <a:bodyPr/>
          <a:lstStyle/>
          <a:p>
            <a:r>
              <a:rPr lang="fr-FR" dirty="0"/>
              <a:t>✅ </a:t>
            </a:r>
            <a:r>
              <a:rPr lang="fr-FR" b="1" dirty="0"/>
              <a:t>Réponse : 2 — Les applications partagent les ressources</a:t>
            </a:r>
            <a:endParaRPr lang="fr-FR" dirty="0"/>
          </a:p>
          <a:p>
            <a:r>
              <a:rPr lang="fr-FR" b="1" dirty="0"/>
              <a:t>Explication</a:t>
            </a:r>
            <a:endParaRPr lang="fr-FR" dirty="0"/>
          </a:p>
          <a:p>
            <a:r>
              <a:rPr lang="fr-FR" dirty="0"/>
              <a:t>Toutes les applications dans le même plan utilisent :</a:t>
            </a:r>
          </a:p>
          <a:p>
            <a:r>
              <a:rPr lang="fr-FR" dirty="0"/>
              <a:t>les </a:t>
            </a:r>
            <a:r>
              <a:rPr lang="fr-FR" b="1" dirty="0"/>
              <a:t>mêmes VM</a:t>
            </a:r>
            <a:endParaRPr lang="fr-FR" dirty="0"/>
          </a:p>
          <a:p>
            <a:r>
              <a:rPr lang="fr-FR" dirty="0"/>
              <a:t>les </a:t>
            </a:r>
            <a:r>
              <a:rPr lang="fr-FR" b="1" dirty="0"/>
              <a:t>mêmes ressources CPU/RAM</a:t>
            </a:r>
            <a:endParaRPr lang="fr-FR" dirty="0"/>
          </a:p>
          <a:p>
            <a:r>
              <a:rPr lang="fr-FR" dirty="0"/>
              <a:t>Conséquence importante :</a:t>
            </a:r>
          </a:p>
          <a:p>
            <a:r>
              <a:rPr lang="fr-FR" dirty="0"/>
              <a:t>Si une application consomme beaucoup de CPU :</a:t>
            </a:r>
          </a:p>
          <a:p>
            <a:r>
              <a:rPr lang="fr-FR" dirty="0"/>
              <a:t>➡️ cela peut </a:t>
            </a:r>
            <a:r>
              <a:rPr lang="fr-FR" b="1" dirty="0"/>
              <a:t>impacter les autres applications du plan</a:t>
            </a:r>
            <a:r>
              <a:rPr lang="fr-FR" dirty="0"/>
              <a:t>.</a:t>
            </a:r>
          </a:p>
          <a:p>
            <a:endParaRPr lang="en-US" dirty="0"/>
          </a:p>
        </p:txBody>
      </p:sp>
      <p:sp>
        <p:nvSpPr>
          <p:cNvPr id="4" name="Slide Number Placeholder 3">
            <a:extLst>
              <a:ext uri="{FF2B5EF4-FFF2-40B4-BE49-F238E27FC236}">
                <a16:creationId xmlns:a16="http://schemas.microsoft.com/office/drawing/2014/main" id="{E6073911-4683-D87A-A0E5-4C5D4F6CE28E}"/>
              </a:ext>
            </a:extLst>
          </p:cNvPr>
          <p:cNvSpPr>
            <a:spLocks noGrp="1"/>
          </p:cNvSpPr>
          <p:nvPr>
            <p:ph type="sldNum" sz="quarter" idx="10"/>
          </p:nvPr>
        </p:nvSpPr>
        <p:spPr/>
        <p:txBody>
          <a:bodyPr/>
          <a:lstStyle/>
          <a:p>
            <a:fld id="{E2FF7759-803D-4F76-9AEC-98B2D9A07B0D}" type="slidenum">
              <a:rPr lang="en-US" smtClean="0"/>
              <a:t>26</a:t>
            </a:fld>
            <a:endParaRPr lang="en-US"/>
          </a:p>
        </p:txBody>
      </p:sp>
    </p:spTree>
    <p:extLst>
      <p:ext uri="{BB962C8B-B14F-4D97-AF65-F5344CB8AC3E}">
        <p14:creationId xmlns:p14="http://schemas.microsoft.com/office/powerpoint/2010/main" val="18440687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4AAD6-70F0-60AB-D4B3-05B8888A0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F9DFE-0164-5384-6A3F-7F5B04BFAE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2F60B-5BFF-0C15-80E1-679B0E95CECB}"/>
              </a:ext>
            </a:extLst>
          </p:cNvPr>
          <p:cNvSpPr>
            <a:spLocks noGrp="1"/>
          </p:cNvSpPr>
          <p:nvPr>
            <p:ph type="body" idx="1"/>
          </p:nvPr>
        </p:nvSpPr>
        <p:spPr/>
        <p:txBody>
          <a:bodyPr/>
          <a:lstStyle/>
          <a:p>
            <a:r>
              <a:rPr lang="fr-FR" dirty="0"/>
              <a:t>✅ </a:t>
            </a:r>
            <a:r>
              <a:rPr lang="fr-FR" b="1" dirty="0"/>
              <a:t>Réponse : 1 — Dans l’App Service Plan</a:t>
            </a:r>
            <a:endParaRPr lang="fr-FR" dirty="0"/>
          </a:p>
          <a:p>
            <a:r>
              <a:rPr lang="fr-FR" b="1" dirty="0"/>
              <a:t>Explication</a:t>
            </a:r>
            <a:endParaRPr lang="fr-FR" dirty="0"/>
          </a:p>
          <a:p>
            <a:r>
              <a:rPr lang="fr-FR" dirty="0"/>
              <a:t>Le </a:t>
            </a:r>
            <a:r>
              <a:rPr lang="fr-FR" b="1" dirty="0" err="1"/>
              <a:t>scaling</a:t>
            </a:r>
            <a:r>
              <a:rPr lang="fr-FR" b="1" dirty="0"/>
              <a:t> appartient au plan</a:t>
            </a:r>
            <a:r>
              <a:rPr lang="fr-FR" dirty="0"/>
              <a:t>, pas à l’application.</a:t>
            </a:r>
          </a:p>
          <a:p>
            <a:r>
              <a:rPr lang="fr-FR" dirty="0"/>
              <a:t>Lorsque vous augmentez les instances :</a:t>
            </a:r>
          </a:p>
          <a:p>
            <a:pPr rtl="0"/>
            <a:r>
              <a:rPr lang="fr-FR" sz="1200" kern="1200" dirty="0">
                <a:solidFill>
                  <a:schemeClr val="tx1"/>
                </a:solidFill>
                <a:latin typeface="+mn-lt"/>
                <a:ea typeface="+mn-ea"/>
                <a:cs typeface="+mn-cs"/>
              </a:rPr>
              <a:t>App Service Plan</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Instances : 3</a:t>
            </a:r>
          </a:p>
          <a:p>
            <a:r>
              <a:rPr lang="fr-FR" dirty="0"/>
              <a:t>Toutes les apps du plan utilisent ces 3 instances.</a:t>
            </a:r>
          </a:p>
          <a:p>
            <a:endParaRPr lang="en-US" dirty="0"/>
          </a:p>
        </p:txBody>
      </p:sp>
      <p:sp>
        <p:nvSpPr>
          <p:cNvPr id="4" name="Slide Number Placeholder 3">
            <a:extLst>
              <a:ext uri="{FF2B5EF4-FFF2-40B4-BE49-F238E27FC236}">
                <a16:creationId xmlns:a16="http://schemas.microsoft.com/office/drawing/2014/main" id="{07282B2F-EEF6-9653-A0FF-104389052A45}"/>
              </a:ext>
            </a:extLst>
          </p:cNvPr>
          <p:cNvSpPr>
            <a:spLocks noGrp="1"/>
          </p:cNvSpPr>
          <p:nvPr>
            <p:ph type="sldNum" sz="quarter" idx="10"/>
          </p:nvPr>
        </p:nvSpPr>
        <p:spPr/>
        <p:txBody>
          <a:bodyPr/>
          <a:lstStyle/>
          <a:p>
            <a:fld id="{E2FF7759-803D-4F76-9AEC-98B2D9A07B0D}" type="slidenum">
              <a:rPr lang="en-US" smtClean="0"/>
              <a:t>27</a:t>
            </a:fld>
            <a:endParaRPr lang="en-US"/>
          </a:p>
        </p:txBody>
      </p:sp>
    </p:spTree>
    <p:extLst>
      <p:ext uri="{BB962C8B-B14F-4D97-AF65-F5344CB8AC3E}">
        <p14:creationId xmlns:p14="http://schemas.microsoft.com/office/powerpoint/2010/main" val="25634504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8C0DE-FB46-1CC0-24C8-6F5FF675E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CA17B-ECD0-AEFA-4A5E-A2EC15FAD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B778FA-CF42-FD84-E4F6-2052179C1947}"/>
              </a:ext>
            </a:extLst>
          </p:cNvPr>
          <p:cNvSpPr>
            <a:spLocks noGrp="1"/>
          </p:cNvSpPr>
          <p:nvPr>
            <p:ph type="body" idx="1"/>
          </p:nvPr>
        </p:nvSpPr>
        <p:spPr/>
        <p:txBody>
          <a:bodyPr/>
          <a:lstStyle/>
          <a:p>
            <a:r>
              <a:rPr lang="fr-FR" dirty="0"/>
              <a:t>✅ </a:t>
            </a:r>
            <a:r>
              <a:rPr lang="fr-FR" b="1" dirty="0"/>
              <a:t>Réponse : 3 — Dans l’App Service Plan qui héberge les applications</a:t>
            </a:r>
            <a:endParaRPr lang="fr-FR" dirty="0"/>
          </a:p>
          <a:p>
            <a:br>
              <a:rPr lang="fr-FR" dirty="0"/>
            </a:br>
            <a:endParaRPr lang="fr-FR" dirty="0"/>
          </a:p>
          <a:p>
            <a:r>
              <a:rPr lang="fr-FR" b="1" dirty="0"/>
              <a:t>Explication</a:t>
            </a:r>
          </a:p>
          <a:p>
            <a:r>
              <a:rPr lang="fr-FR" dirty="0"/>
              <a:t>Dans </a:t>
            </a:r>
            <a:r>
              <a:rPr lang="fr-FR" b="1" dirty="0"/>
              <a:t>Azure App Service</a:t>
            </a:r>
            <a:r>
              <a:rPr lang="fr-FR" dirty="0"/>
              <a:t>, le </a:t>
            </a:r>
            <a:r>
              <a:rPr lang="fr-FR" b="1" dirty="0" err="1"/>
              <a:t>scaling</a:t>
            </a:r>
            <a:r>
              <a:rPr lang="fr-FR" b="1" dirty="0"/>
              <a:t> appartient à l’App Service Plan</a:t>
            </a:r>
            <a:r>
              <a:rPr lang="fr-FR" dirty="0"/>
              <a:t>, car c’est lui qui définit :</a:t>
            </a:r>
          </a:p>
          <a:p>
            <a:r>
              <a:rPr lang="fr-FR" dirty="0"/>
              <a:t>la puissance </a:t>
            </a:r>
            <a:r>
              <a:rPr lang="fr-FR" b="1" dirty="0"/>
              <a:t>CPU</a:t>
            </a:r>
            <a:endParaRPr lang="fr-FR" dirty="0"/>
          </a:p>
          <a:p>
            <a:r>
              <a:rPr lang="fr-FR" dirty="0"/>
              <a:t>la </a:t>
            </a:r>
            <a:r>
              <a:rPr lang="fr-FR" b="1" dirty="0"/>
              <a:t>RAM</a:t>
            </a:r>
            <a:endParaRPr lang="fr-FR" dirty="0"/>
          </a:p>
          <a:p>
            <a:r>
              <a:rPr lang="fr-FR" dirty="0"/>
              <a:t>le </a:t>
            </a:r>
            <a:r>
              <a:rPr lang="fr-FR" b="1" dirty="0"/>
              <a:t>nombre d’instances</a:t>
            </a:r>
            <a:endParaRPr lang="fr-FR" dirty="0"/>
          </a:p>
          <a:p>
            <a:r>
              <a:rPr lang="fr-FR" dirty="0"/>
              <a:t>les règles </a:t>
            </a:r>
            <a:r>
              <a:rPr lang="fr-FR" b="1" dirty="0"/>
              <a:t>d’auto-</a:t>
            </a:r>
            <a:r>
              <a:rPr lang="fr-FR" b="1" dirty="0" err="1"/>
              <a:t>scaling</a:t>
            </a:r>
            <a:endParaRPr lang="fr-FR" dirty="0"/>
          </a:p>
          <a:p>
            <a:r>
              <a:rPr lang="fr-FR" dirty="0"/>
              <a:t>Les applications ne font qu’utiliser ces ressources.</a:t>
            </a:r>
          </a:p>
          <a:p>
            <a:r>
              <a:rPr lang="fr-FR" dirty="0"/>
              <a:t>Schéma :</a:t>
            </a:r>
          </a:p>
          <a:p>
            <a:pPr rtl="0"/>
            <a:r>
              <a:rPr lang="fr-FR" sz="1200" kern="1200" dirty="0">
                <a:solidFill>
                  <a:schemeClr val="tx1"/>
                </a:solidFill>
                <a:latin typeface="+mn-lt"/>
                <a:ea typeface="+mn-ea"/>
                <a:cs typeface="+mn-cs"/>
              </a:rPr>
              <a:t>App Service Plan</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Instance 1</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Instance 2</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Instance 3</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Web App A</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Web App B</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Web App C</a:t>
            </a:r>
          </a:p>
          <a:p>
            <a:r>
              <a:rPr lang="fr-FR" dirty="0"/>
              <a:t>Si l’App Service Plan passe de </a:t>
            </a:r>
            <a:r>
              <a:rPr lang="fr-FR" b="1" dirty="0"/>
              <a:t>1 à 3 instances</a:t>
            </a:r>
            <a:r>
              <a:rPr lang="fr-FR" dirty="0"/>
              <a:t>, alors </a:t>
            </a:r>
            <a:r>
              <a:rPr lang="fr-FR" b="1" dirty="0"/>
              <a:t>toutes les Web Apps du plan utilisent ces 3 instances</a:t>
            </a:r>
            <a:r>
              <a:rPr lang="fr-FR" dirty="0"/>
              <a:t>.</a:t>
            </a:r>
          </a:p>
          <a:p>
            <a:endParaRPr lang="en-US" dirty="0"/>
          </a:p>
        </p:txBody>
      </p:sp>
      <p:sp>
        <p:nvSpPr>
          <p:cNvPr id="4" name="Slide Number Placeholder 3">
            <a:extLst>
              <a:ext uri="{FF2B5EF4-FFF2-40B4-BE49-F238E27FC236}">
                <a16:creationId xmlns:a16="http://schemas.microsoft.com/office/drawing/2014/main" id="{319C0745-1AA2-7455-7F65-B1597556FD26}"/>
              </a:ext>
            </a:extLst>
          </p:cNvPr>
          <p:cNvSpPr>
            <a:spLocks noGrp="1"/>
          </p:cNvSpPr>
          <p:nvPr>
            <p:ph type="sldNum" sz="quarter" idx="10"/>
          </p:nvPr>
        </p:nvSpPr>
        <p:spPr/>
        <p:txBody>
          <a:bodyPr/>
          <a:lstStyle/>
          <a:p>
            <a:fld id="{E2FF7759-803D-4F76-9AEC-98B2D9A07B0D}" type="slidenum">
              <a:rPr lang="en-US" smtClean="0"/>
              <a:t>28</a:t>
            </a:fld>
            <a:endParaRPr lang="en-US"/>
          </a:p>
        </p:txBody>
      </p:sp>
    </p:spTree>
    <p:extLst>
      <p:ext uri="{BB962C8B-B14F-4D97-AF65-F5344CB8AC3E}">
        <p14:creationId xmlns:p14="http://schemas.microsoft.com/office/powerpoint/2010/main" val="3979650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65854-195B-8106-B100-4FCEC5C68B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EBC0B-FD08-29B3-8530-FCD710BC15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1A8795-0F29-4E78-9E79-CE8CF5808BB7}"/>
              </a:ext>
            </a:extLst>
          </p:cNvPr>
          <p:cNvSpPr>
            <a:spLocks noGrp="1"/>
          </p:cNvSpPr>
          <p:nvPr>
            <p:ph type="body" idx="1"/>
          </p:nvPr>
        </p:nvSpPr>
        <p:spPr/>
        <p:txBody>
          <a:bodyPr/>
          <a:lstStyle/>
          <a:p>
            <a:r>
              <a:rPr lang="fr-FR" dirty="0"/>
              <a:t>✅ </a:t>
            </a:r>
            <a:r>
              <a:rPr lang="fr-FR" b="1" dirty="0"/>
              <a:t>Réponse : 3 — Les applications sont supprimées</a:t>
            </a:r>
            <a:endParaRPr lang="fr-FR" dirty="0"/>
          </a:p>
          <a:p>
            <a:r>
              <a:rPr lang="fr-FR" b="1" dirty="0"/>
              <a:t>Explication</a:t>
            </a:r>
            <a:endParaRPr lang="fr-FR" dirty="0"/>
          </a:p>
          <a:p>
            <a:r>
              <a:rPr lang="fr-FR" dirty="0"/>
              <a:t>Les </a:t>
            </a:r>
            <a:r>
              <a:rPr lang="fr-FR" b="1" dirty="0"/>
              <a:t>App Services dépendent du plan</a:t>
            </a:r>
            <a:r>
              <a:rPr lang="fr-FR" dirty="0"/>
              <a:t>.</a:t>
            </a:r>
          </a:p>
          <a:p>
            <a:r>
              <a:rPr lang="fr-FR" dirty="0"/>
              <a:t>Si vous supprimez le plan :</a:t>
            </a:r>
          </a:p>
          <a:p>
            <a:r>
              <a:rPr lang="fr-FR" dirty="0"/>
              <a:t>➡️ toutes les applications qu’il héberge sont supprimées.</a:t>
            </a:r>
          </a:p>
          <a:p>
            <a:r>
              <a:rPr lang="fr-FR" dirty="0"/>
              <a:t>C’est une dépendance forte :</a:t>
            </a:r>
          </a:p>
          <a:p>
            <a:pPr rtl="0"/>
            <a:r>
              <a:rPr lang="fr-FR" sz="1200" kern="1200" dirty="0">
                <a:solidFill>
                  <a:schemeClr val="tx1"/>
                </a:solidFill>
                <a:latin typeface="+mn-lt"/>
                <a:ea typeface="+mn-ea"/>
                <a:cs typeface="+mn-cs"/>
              </a:rPr>
              <a:t>App Service Plan</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Web App</a:t>
            </a:r>
          </a:p>
          <a:p>
            <a:r>
              <a:rPr lang="fr-FR" dirty="0"/>
              <a:t>Supprimer le plan = supprimer l’infrastructure + les apps.</a:t>
            </a:r>
          </a:p>
          <a:p>
            <a:endParaRPr lang="en-US" dirty="0"/>
          </a:p>
        </p:txBody>
      </p:sp>
      <p:sp>
        <p:nvSpPr>
          <p:cNvPr id="4" name="Slide Number Placeholder 3">
            <a:extLst>
              <a:ext uri="{FF2B5EF4-FFF2-40B4-BE49-F238E27FC236}">
                <a16:creationId xmlns:a16="http://schemas.microsoft.com/office/drawing/2014/main" id="{7AC04DC1-727B-5A8D-02F0-B5C1F3B54260}"/>
              </a:ext>
            </a:extLst>
          </p:cNvPr>
          <p:cNvSpPr>
            <a:spLocks noGrp="1"/>
          </p:cNvSpPr>
          <p:nvPr>
            <p:ph type="sldNum" sz="quarter" idx="10"/>
          </p:nvPr>
        </p:nvSpPr>
        <p:spPr/>
        <p:txBody>
          <a:bodyPr/>
          <a:lstStyle/>
          <a:p>
            <a:fld id="{E2FF7759-803D-4F76-9AEC-98B2D9A07B0D}" type="slidenum">
              <a:rPr lang="en-US" smtClean="0"/>
              <a:t>29</a:t>
            </a:fld>
            <a:endParaRPr lang="en-US"/>
          </a:p>
        </p:txBody>
      </p:sp>
    </p:spTree>
    <p:extLst>
      <p:ext uri="{BB962C8B-B14F-4D97-AF65-F5344CB8AC3E}">
        <p14:creationId xmlns:p14="http://schemas.microsoft.com/office/powerpoint/2010/main" val="13524617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839B-7D70-06D1-EF74-FA0B6112F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6EA915-1966-182D-A9FB-350809893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C04711-8387-D01F-6F10-30A2E6D29AAD}"/>
              </a:ext>
            </a:extLst>
          </p:cNvPr>
          <p:cNvSpPr>
            <a:spLocks noGrp="1"/>
          </p:cNvSpPr>
          <p:nvPr>
            <p:ph type="body" idx="1"/>
          </p:nvPr>
        </p:nvSpPr>
        <p:spPr/>
        <p:txBody>
          <a:bodyPr/>
          <a:lstStyle/>
          <a:p>
            <a:r>
              <a:rPr lang="fr-FR" dirty="0"/>
              <a:t>✅ </a:t>
            </a:r>
            <a:r>
              <a:rPr lang="fr-FR" b="1" dirty="0"/>
              <a:t>Réponse : 2 — Réduire les coûts</a:t>
            </a:r>
            <a:endParaRPr lang="fr-FR" dirty="0"/>
          </a:p>
          <a:p>
            <a:r>
              <a:rPr lang="fr-FR" b="1" dirty="0"/>
              <a:t>Explication</a:t>
            </a:r>
            <a:endParaRPr lang="fr-FR" dirty="0"/>
          </a:p>
          <a:p>
            <a:r>
              <a:rPr lang="fr-FR" dirty="0"/>
              <a:t>Un </a:t>
            </a:r>
            <a:r>
              <a:rPr lang="fr-FR" b="1" dirty="0"/>
              <a:t>App Service Plan est facturé indépendamment du nombre d’applications</a:t>
            </a:r>
            <a:r>
              <a:rPr lang="fr-FR" dirty="0"/>
              <a:t>.</a:t>
            </a:r>
          </a:p>
          <a:p>
            <a:r>
              <a:rPr lang="fr-FR" dirty="0"/>
              <a:t>Donc :</a:t>
            </a:r>
          </a:p>
          <a:p>
            <a:pPr lvl="1" rtl="0"/>
            <a:r>
              <a:rPr lang="fr-FR" sz="1200" kern="1200" dirty="0">
                <a:solidFill>
                  <a:schemeClr val="tx1"/>
                </a:solidFill>
                <a:latin typeface="+mn-lt"/>
                <a:ea typeface="+mn-ea"/>
                <a:cs typeface="+mn-cs"/>
              </a:rPr>
              <a:t>1 App Service Plan = payé</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1 ou 10 Web Apps = même prix</a:t>
            </a:r>
          </a:p>
          <a:p>
            <a:r>
              <a:rPr lang="fr-FR" dirty="0"/>
              <a:t>C’est une technique classique pour :</a:t>
            </a:r>
          </a:p>
          <a:p>
            <a:pPr marL="171450" indent="-171450">
              <a:buFont typeface="Arial" panose="020B0604020202020204" pitchFamily="34" charset="0"/>
              <a:buChar char="•"/>
            </a:pPr>
            <a:r>
              <a:rPr lang="fr-FR" dirty="0"/>
              <a:t>environnements de test</a:t>
            </a:r>
          </a:p>
          <a:p>
            <a:pPr marL="171450" indent="-171450">
              <a:buFont typeface="Arial" panose="020B0604020202020204" pitchFamily="34" charset="0"/>
              <a:buChar char="•"/>
            </a:pPr>
            <a:r>
              <a:rPr lang="fr-FR" dirty="0"/>
              <a:t>petits projets</a:t>
            </a:r>
          </a:p>
          <a:p>
            <a:pPr marL="171450" indent="-171450">
              <a:buFont typeface="Arial" panose="020B0604020202020204" pitchFamily="34" charset="0"/>
              <a:buChar char="•"/>
            </a:pPr>
            <a:r>
              <a:rPr lang="fr-FR" dirty="0" err="1"/>
              <a:t>microservices</a:t>
            </a:r>
            <a:r>
              <a:rPr lang="fr-FR" dirty="0"/>
              <a:t> légers</a:t>
            </a:r>
          </a:p>
          <a:p>
            <a:r>
              <a:rPr lang="fr-FR" dirty="0"/>
              <a:t>Mais attention :</a:t>
            </a:r>
          </a:p>
          <a:p>
            <a:r>
              <a:rPr lang="fr-FR" dirty="0"/>
              <a:t>➡️ </a:t>
            </a:r>
            <a:r>
              <a:rPr lang="fr-FR" b="1" dirty="0"/>
              <a:t>les ressources sont partagées</a:t>
            </a:r>
            <a:r>
              <a:rPr lang="fr-FR" dirty="0"/>
              <a:t>.</a:t>
            </a:r>
          </a:p>
          <a:p>
            <a:endParaRPr lang="en-US" dirty="0"/>
          </a:p>
        </p:txBody>
      </p:sp>
      <p:sp>
        <p:nvSpPr>
          <p:cNvPr id="4" name="Slide Number Placeholder 3">
            <a:extLst>
              <a:ext uri="{FF2B5EF4-FFF2-40B4-BE49-F238E27FC236}">
                <a16:creationId xmlns:a16="http://schemas.microsoft.com/office/drawing/2014/main" id="{96FF30E8-43DE-CAD2-B503-FFDB1AABCFBE}"/>
              </a:ext>
            </a:extLst>
          </p:cNvPr>
          <p:cNvSpPr>
            <a:spLocks noGrp="1"/>
          </p:cNvSpPr>
          <p:nvPr>
            <p:ph type="sldNum" sz="quarter" idx="10"/>
          </p:nvPr>
        </p:nvSpPr>
        <p:spPr/>
        <p:txBody>
          <a:bodyPr/>
          <a:lstStyle/>
          <a:p>
            <a:fld id="{E2FF7759-803D-4F76-9AEC-98B2D9A07B0D}" type="slidenum">
              <a:rPr lang="en-US" smtClean="0"/>
              <a:t>30</a:t>
            </a:fld>
            <a:endParaRPr lang="en-US"/>
          </a:p>
        </p:txBody>
      </p:sp>
    </p:spTree>
    <p:extLst>
      <p:ext uri="{BB962C8B-B14F-4D97-AF65-F5344CB8AC3E}">
        <p14:creationId xmlns:p14="http://schemas.microsoft.com/office/powerpoint/2010/main" val="38462662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58440-0C10-CA60-EFC6-060E1DF4E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0464C-EC31-2466-0492-830DFF18B9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7A6F7A-9C50-D1F6-1039-E49F664CF0EC}"/>
              </a:ext>
            </a:extLst>
          </p:cNvPr>
          <p:cNvSpPr>
            <a:spLocks noGrp="1"/>
          </p:cNvSpPr>
          <p:nvPr>
            <p:ph type="body" idx="1"/>
          </p:nvPr>
        </p:nvSpPr>
        <p:spPr/>
        <p:txBody>
          <a:bodyPr/>
          <a:lstStyle/>
          <a:p>
            <a:r>
              <a:rPr lang="fr-FR" dirty="0"/>
              <a:t>✅ </a:t>
            </a:r>
            <a:r>
              <a:rPr lang="fr-FR" b="1" dirty="0"/>
              <a:t>Réponse : 3 — Une Web App doit être associée à un plan</a:t>
            </a:r>
            <a:endParaRPr lang="fr-FR" dirty="0"/>
          </a:p>
          <a:p>
            <a:r>
              <a:rPr lang="fr-FR" b="1" dirty="0"/>
              <a:t>Explication</a:t>
            </a:r>
            <a:endParaRPr lang="fr-FR" dirty="0"/>
          </a:p>
          <a:p>
            <a:r>
              <a:rPr lang="fr-FR" dirty="0"/>
              <a:t>Une </a:t>
            </a:r>
            <a:r>
              <a:rPr lang="fr-FR" b="1" dirty="0"/>
              <a:t>Web App ne peut pas exister sans App Service Plan</a:t>
            </a:r>
            <a:r>
              <a:rPr lang="fr-FR" dirty="0"/>
              <a:t>, car le plan fournit :</a:t>
            </a:r>
          </a:p>
          <a:p>
            <a:r>
              <a:rPr lang="fr-FR" dirty="0"/>
              <a:t>les VM</a:t>
            </a:r>
          </a:p>
          <a:p>
            <a:r>
              <a:rPr lang="fr-FR" dirty="0"/>
              <a:t>la puissance de calcul</a:t>
            </a:r>
          </a:p>
          <a:p>
            <a:r>
              <a:rPr lang="fr-FR" dirty="0"/>
              <a:t>les ressources réseau</a:t>
            </a:r>
          </a:p>
          <a:p>
            <a:r>
              <a:rPr lang="fr-FR" dirty="0"/>
              <a:t>Relation :</a:t>
            </a:r>
          </a:p>
          <a:p>
            <a:pPr rtl="0"/>
            <a:r>
              <a:rPr lang="fr-FR" sz="1200" kern="1200" dirty="0">
                <a:solidFill>
                  <a:schemeClr val="tx1"/>
                </a:solidFill>
                <a:latin typeface="+mn-lt"/>
                <a:ea typeface="+mn-ea"/>
                <a:cs typeface="+mn-cs"/>
              </a:rPr>
              <a:t>App Service Plan (infrastructure)</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Web App (application)</a:t>
            </a:r>
          </a:p>
          <a:p>
            <a:endParaRPr lang="en-US" dirty="0"/>
          </a:p>
        </p:txBody>
      </p:sp>
      <p:sp>
        <p:nvSpPr>
          <p:cNvPr id="4" name="Slide Number Placeholder 3">
            <a:extLst>
              <a:ext uri="{FF2B5EF4-FFF2-40B4-BE49-F238E27FC236}">
                <a16:creationId xmlns:a16="http://schemas.microsoft.com/office/drawing/2014/main" id="{A88080ED-DF70-50D1-BD9B-D99AF57F3F08}"/>
              </a:ext>
            </a:extLst>
          </p:cNvPr>
          <p:cNvSpPr>
            <a:spLocks noGrp="1"/>
          </p:cNvSpPr>
          <p:nvPr>
            <p:ph type="sldNum" sz="quarter" idx="10"/>
          </p:nvPr>
        </p:nvSpPr>
        <p:spPr/>
        <p:txBody>
          <a:bodyPr/>
          <a:lstStyle/>
          <a:p>
            <a:fld id="{E2FF7759-803D-4F76-9AEC-98B2D9A07B0D}" type="slidenum">
              <a:rPr lang="en-US" smtClean="0"/>
              <a:t>31</a:t>
            </a:fld>
            <a:endParaRPr lang="en-US"/>
          </a:p>
        </p:txBody>
      </p:sp>
    </p:spTree>
    <p:extLst>
      <p:ext uri="{BB962C8B-B14F-4D97-AF65-F5344CB8AC3E}">
        <p14:creationId xmlns:p14="http://schemas.microsoft.com/office/powerpoint/2010/main" val="15460267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A5BD-262C-C208-C3E8-2120C0F2C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41042-D874-48B1-06B6-6841312C3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8F311-7C4F-6E3E-DFBA-11621DE7BEB3}"/>
              </a:ext>
            </a:extLst>
          </p:cNvPr>
          <p:cNvSpPr>
            <a:spLocks noGrp="1"/>
          </p:cNvSpPr>
          <p:nvPr>
            <p:ph type="body" idx="1"/>
          </p:nvPr>
        </p:nvSpPr>
        <p:spPr/>
        <p:txBody>
          <a:bodyPr/>
          <a:lstStyle/>
          <a:p>
            <a:r>
              <a:rPr lang="en-US" dirty="0"/>
              <a:t>Dans le App Service Plan, </a:t>
            </a:r>
            <a:r>
              <a:rPr lang="en-US" dirty="0" err="1"/>
              <a:t>aller</a:t>
            </a:r>
            <a:r>
              <a:rPr lang="en-US" dirty="0"/>
              <a:t> dans Settings / Scale up </a:t>
            </a:r>
          </a:p>
        </p:txBody>
      </p:sp>
      <p:sp>
        <p:nvSpPr>
          <p:cNvPr id="4" name="Slide Number Placeholder 3">
            <a:extLst>
              <a:ext uri="{FF2B5EF4-FFF2-40B4-BE49-F238E27FC236}">
                <a16:creationId xmlns:a16="http://schemas.microsoft.com/office/drawing/2014/main" id="{3ADDB447-5892-69DC-145C-C12CDE0A88BF}"/>
              </a:ext>
            </a:extLst>
          </p:cNvPr>
          <p:cNvSpPr>
            <a:spLocks noGrp="1"/>
          </p:cNvSpPr>
          <p:nvPr>
            <p:ph type="sldNum" sz="quarter" idx="10"/>
          </p:nvPr>
        </p:nvSpPr>
        <p:spPr/>
        <p:txBody>
          <a:bodyPr/>
          <a:lstStyle/>
          <a:p>
            <a:fld id="{E2FF7759-803D-4F76-9AEC-98B2D9A07B0D}" type="slidenum">
              <a:rPr lang="en-US" smtClean="0"/>
              <a:t>32</a:t>
            </a:fld>
            <a:endParaRPr lang="en-US"/>
          </a:p>
        </p:txBody>
      </p:sp>
    </p:spTree>
    <p:extLst>
      <p:ext uri="{BB962C8B-B14F-4D97-AF65-F5344CB8AC3E}">
        <p14:creationId xmlns:p14="http://schemas.microsoft.com/office/powerpoint/2010/main" val="34936579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E003E-2F6E-7194-0251-4559B6EC86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099335-A3D6-5660-7810-3E808325C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A120E-356F-6746-82B5-DCF16892917C}"/>
              </a:ext>
            </a:extLst>
          </p:cNvPr>
          <p:cNvSpPr>
            <a:spLocks noGrp="1"/>
          </p:cNvSpPr>
          <p:nvPr>
            <p:ph type="body" idx="1"/>
          </p:nvPr>
        </p:nvSpPr>
        <p:spPr/>
        <p:txBody>
          <a:bodyPr/>
          <a:lstStyle/>
          <a:p>
            <a:r>
              <a:rPr lang="en-US" dirty="0"/>
              <a:t>Dans le App Service Plan, </a:t>
            </a:r>
            <a:r>
              <a:rPr lang="en-US" dirty="0" err="1"/>
              <a:t>aller</a:t>
            </a:r>
            <a:r>
              <a:rPr lang="en-US" dirty="0"/>
              <a:t> dans Settings / Scale up / </a:t>
            </a:r>
            <a:r>
              <a:rPr lang="en-US" dirty="0" err="1"/>
              <a:t>basculer</a:t>
            </a:r>
            <a:r>
              <a:rPr lang="en-US" dirty="0"/>
              <a:t> de </a:t>
            </a:r>
            <a:r>
              <a:rPr lang="en-US" dirty="0" err="1"/>
              <a:t>l’onglet</a:t>
            </a:r>
            <a:r>
              <a:rPr lang="en-US" dirty="0"/>
              <a:t> “Hardware view” à </a:t>
            </a:r>
            <a:r>
              <a:rPr lang="en-US" dirty="0" err="1"/>
              <a:t>l’onglet</a:t>
            </a:r>
            <a:r>
              <a:rPr lang="en-US" dirty="0"/>
              <a:t> “Feature view”</a:t>
            </a:r>
          </a:p>
        </p:txBody>
      </p:sp>
      <p:sp>
        <p:nvSpPr>
          <p:cNvPr id="4" name="Slide Number Placeholder 3">
            <a:extLst>
              <a:ext uri="{FF2B5EF4-FFF2-40B4-BE49-F238E27FC236}">
                <a16:creationId xmlns:a16="http://schemas.microsoft.com/office/drawing/2014/main" id="{BA8B373C-C25A-7C4B-B87D-3E74DF76108E}"/>
              </a:ext>
            </a:extLst>
          </p:cNvPr>
          <p:cNvSpPr>
            <a:spLocks noGrp="1"/>
          </p:cNvSpPr>
          <p:nvPr>
            <p:ph type="sldNum" sz="quarter" idx="10"/>
          </p:nvPr>
        </p:nvSpPr>
        <p:spPr/>
        <p:txBody>
          <a:bodyPr/>
          <a:lstStyle/>
          <a:p>
            <a:fld id="{E2FF7759-803D-4F76-9AEC-98B2D9A07B0D}" type="slidenum">
              <a:rPr lang="en-US" smtClean="0"/>
              <a:t>33</a:t>
            </a:fld>
            <a:endParaRPr lang="en-US"/>
          </a:p>
        </p:txBody>
      </p:sp>
    </p:spTree>
    <p:extLst>
      <p:ext uri="{BB962C8B-B14F-4D97-AF65-F5344CB8AC3E}">
        <p14:creationId xmlns:p14="http://schemas.microsoft.com/office/powerpoint/2010/main" val="3654319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DD9EF-DC3D-CF9D-BBE0-A80E14E42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9B012-D1DC-DE58-9E9B-E22566BF3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06DA6-8B28-D2A4-CA78-4CA77FB21C4A}"/>
              </a:ext>
            </a:extLst>
          </p:cNvPr>
          <p:cNvSpPr>
            <a:spLocks noGrp="1"/>
          </p:cNvSpPr>
          <p:nvPr>
            <p:ph type="body" idx="1"/>
          </p:nvPr>
        </p:nvSpPr>
        <p:spPr/>
        <p:txBody>
          <a:bodyPr/>
          <a:lstStyle/>
          <a:p>
            <a:r>
              <a:rPr lang="fr-FR" b="1" dirty="0"/>
              <a:t>Réponse : A</a:t>
            </a:r>
            <a:endParaRPr lang="fr-FR" dirty="0"/>
          </a:p>
          <a:p>
            <a:pPr rtl="0"/>
            <a:r>
              <a:rPr lang="fr-FR" sz="1200" kern="1200" dirty="0">
                <a:solidFill>
                  <a:schemeClr val="tx1"/>
                </a:solidFill>
                <a:latin typeface="+mn-lt"/>
                <a:ea typeface="+mn-ea"/>
                <a:cs typeface="+mn-cs"/>
              </a:rPr>
              <a:t>App Service</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Configuration</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 Application Settings</a:t>
            </a:r>
          </a:p>
          <a:p>
            <a:r>
              <a:rPr lang="fr-FR" dirty="0"/>
              <a:t>Ces paramètres deviennent :</a:t>
            </a:r>
          </a:p>
          <a:p>
            <a:pPr rtl="0"/>
            <a:r>
              <a:rPr lang="fr-FR" sz="1200" kern="1200" dirty="0" err="1">
                <a:solidFill>
                  <a:schemeClr val="tx1"/>
                </a:solidFill>
                <a:latin typeface="+mn-lt"/>
                <a:ea typeface="+mn-ea"/>
                <a:cs typeface="+mn-cs"/>
              </a:rPr>
              <a:t>Environment</a:t>
            </a:r>
            <a:r>
              <a:rPr lang="fr-FR" sz="1200" kern="1200" dirty="0">
                <a:solidFill>
                  <a:schemeClr val="tx1"/>
                </a:solidFill>
                <a:latin typeface="+mn-lt"/>
                <a:ea typeface="+mn-ea"/>
                <a:cs typeface="+mn-cs"/>
              </a:rPr>
              <a:t> Variables</a:t>
            </a:r>
          </a:p>
          <a:p>
            <a:r>
              <a:rPr lang="fr-FR" dirty="0"/>
              <a:t>Dans .NET :</a:t>
            </a:r>
          </a:p>
          <a:p>
            <a:pPr rtl="0"/>
            <a:r>
              <a:rPr lang="fr-FR" sz="1200" kern="1200" dirty="0" err="1">
                <a:solidFill>
                  <a:schemeClr val="tx1"/>
                </a:solidFill>
                <a:latin typeface="+mn-lt"/>
                <a:ea typeface="+mn-ea"/>
                <a:cs typeface="+mn-cs"/>
              </a:rPr>
              <a:t>Environment.GetEnvironmentVariable</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MySetting</a:t>
            </a:r>
            <a:r>
              <a:rPr lang="fr-FR" sz="1200" kern="1200" dirty="0">
                <a:solidFill>
                  <a:schemeClr val="tx1"/>
                </a:solidFill>
                <a:latin typeface="+mn-lt"/>
                <a:ea typeface="+mn-ea"/>
                <a:cs typeface="+mn-cs"/>
              </a:rPr>
              <a:t>")</a:t>
            </a:r>
          </a:p>
          <a:p>
            <a:r>
              <a:rPr lang="fr-FR" dirty="0"/>
              <a:t>Ou via configuration ASP.NET :</a:t>
            </a:r>
          </a:p>
          <a:p>
            <a:pPr rtl="0"/>
            <a:r>
              <a:rPr lang="fr-FR" sz="1200" kern="1200" dirty="0" err="1">
                <a:solidFill>
                  <a:schemeClr val="tx1"/>
                </a:solidFill>
                <a:latin typeface="+mn-lt"/>
                <a:ea typeface="+mn-ea"/>
                <a:cs typeface="+mn-cs"/>
              </a:rPr>
              <a:t>builder.Configuration</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MySetting</a:t>
            </a:r>
            <a:r>
              <a:rPr lang="fr-FR" sz="1200" kern="1200" dirty="0">
                <a:solidFill>
                  <a:schemeClr val="tx1"/>
                </a:solidFill>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69DB8A5F-8E05-DA3F-B595-13BD958991EB}"/>
              </a:ext>
            </a:extLst>
          </p:cNvPr>
          <p:cNvSpPr>
            <a:spLocks noGrp="1"/>
          </p:cNvSpPr>
          <p:nvPr>
            <p:ph type="sldNum" sz="quarter" idx="10"/>
          </p:nvPr>
        </p:nvSpPr>
        <p:spPr/>
        <p:txBody>
          <a:bodyPr/>
          <a:lstStyle/>
          <a:p>
            <a:fld id="{E2FF7759-803D-4F76-9AEC-98B2D9A07B0D}" type="slidenum">
              <a:rPr lang="en-US" smtClean="0"/>
              <a:t>35</a:t>
            </a:fld>
            <a:endParaRPr lang="en-US"/>
          </a:p>
        </p:txBody>
      </p:sp>
    </p:spTree>
    <p:extLst>
      <p:ext uri="{BB962C8B-B14F-4D97-AF65-F5344CB8AC3E}">
        <p14:creationId xmlns:p14="http://schemas.microsoft.com/office/powerpoint/2010/main" val="13893668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7FDF6-D79F-F365-8A29-418EAC9CA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47F56-E493-DE4D-94FD-747F7E97C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3EC09-45FE-E303-D1BB-46E1AA1328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7169B1-B911-C4DB-D82A-6E64BB890604}"/>
              </a:ext>
            </a:extLst>
          </p:cNvPr>
          <p:cNvSpPr>
            <a:spLocks noGrp="1"/>
          </p:cNvSpPr>
          <p:nvPr>
            <p:ph type="sldNum" sz="quarter" idx="10"/>
          </p:nvPr>
        </p:nvSpPr>
        <p:spPr/>
        <p:txBody>
          <a:bodyPr/>
          <a:lstStyle/>
          <a:p>
            <a:fld id="{E2FF7759-803D-4F76-9AEC-98B2D9A07B0D}" type="slidenum">
              <a:rPr lang="en-US" smtClean="0"/>
              <a:t>36</a:t>
            </a:fld>
            <a:endParaRPr lang="en-US"/>
          </a:p>
        </p:txBody>
      </p:sp>
    </p:spTree>
    <p:extLst>
      <p:ext uri="{BB962C8B-B14F-4D97-AF65-F5344CB8AC3E}">
        <p14:creationId xmlns:p14="http://schemas.microsoft.com/office/powerpoint/2010/main" val="39708434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ED75D-BAAB-1074-4012-A659AD4FD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39074-5B01-DD87-09E6-89273C5B0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52603-C8B4-FEFD-ABF1-6037D7E580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123134-AA21-D084-CCE7-AD96E5924D79}"/>
              </a:ext>
            </a:extLst>
          </p:cNvPr>
          <p:cNvSpPr>
            <a:spLocks noGrp="1"/>
          </p:cNvSpPr>
          <p:nvPr>
            <p:ph type="sldNum" sz="quarter" idx="10"/>
          </p:nvPr>
        </p:nvSpPr>
        <p:spPr/>
        <p:txBody>
          <a:bodyPr/>
          <a:lstStyle/>
          <a:p>
            <a:fld id="{E2FF7759-803D-4F76-9AEC-98B2D9A07B0D}" type="slidenum">
              <a:rPr lang="en-US" smtClean="0"/>
              <a:t>37</a:t>
            </a:fld>
            <a:endParaRPr lang="en-US"/>
          </a:p>
        </p:txBody>
      </p:sp>
    </p:spTree>
    <p:extLst>
      <p:ext uri="{BB962C8B-B14F-4D97-AF65-F5344CB8AC3E}">
        <p14:creationId xmlns:p14="http://schemas.microsoft.com/office/powerpoint/2010/main" val="12943911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05CC1-2F16-76D5-973B-A988202DB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10B18-FFB5-6095-1992-F068E3094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989DB-2C86-0640-B025-63B68805A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8C79B5-9242-A2C7-FD5A-924BA70F3D66}"/>
              </a:ext>
            </a:extLst>
          </p:cNvPr>
          <p:cNvSpPr>
            <a:spLocks noGrp="1"/>
          </p:cNvSpPr>
          <p:nvPr>
            <p:ph type="sldNum" sz="quarter" idx="10"/>
          </p:nvPr>
        </p:nvSpPr>
        <p:spPr/>
        <p:txBody>
          <a:bodyPr/>
          <a:lstStyle/>
          <a:p>
            <a:fld id="{E2FF7759-803D-4F76-9AEC-98B2D9A07B0D}" type="slidenum">
              <a:rPr lang="en-US" smtClean="0"/>
              <a:t>38</a:t>
            </a:fld>
            <a:endParaRPr lang="en-US"/>
          </a:p>
        </p:txBody>
      </p:sp>
    </p:spTree>
    <p:extLst>
      <p:ext uri="{BB962C8B-B14F-4D97-AF65-F5344CB8AC3E}">
        <p14:creationId xmlns:p14="http://schemas.microsoft.com/office/powerpoint/2010/main" val="8954597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A9BF3-9ECD-067B-745E-065F95B35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DE166-D1FC-1660-7048-C663341F2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742373-6022-CB75-F9C9-F066A4DF06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6E61A5-2E42-E1AF-12FA-07DD4E0E035D}"/>
              </a:ext>
            </a:extLst>
          </p:cNvPr>
          <p:cNvSpPr>
            <a:spLocks noGrp="1"/>
          </p:cNvSpPr>
          <p:nvPr>
            <p:ph type="sldNum" sz="quarter" idx="10"/>
          </p:nvPr>
        </p:nvSpPr>
        <p:spPr/>
        <p:txBody>
          <a:bodyPr/>
          <a:lstStyle/>
          <a:p>
            <a:fld id="{E2FF7759-803D-4F76-9AEC-98B2D9A07B0D}" type="slidenum">
              <a:rPr lang="en-US" smtClean="0"/>
              <a:t>39</a:t>
            </a:fld>
            <a:endParaRPr lang="en-US"/>
          </a:p>
        </p:txBody>
      </p:sp>
    </p:spTree>
    <p:extLst>
      <p:ext uri="{BB962C8B-B14F-4D97-AF65-F5344CB8AC3E}">
        <p14:creationId xmlns:p14="http://schemas.microsoft.com/office/powerpoint/2010/main" val="22176646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7FB7-AC76-3ABE-0731-33FC45775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C1418-73F5-2576-BA04-6B304BD2D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9A0E9-51D6-BC55-CEB0-BE719F0DD1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C511AF-EA25-8E63-7BBD-EA30A8CE9441}"/>
              </a:ext>
            </a:extLst>
          </p:cNvPr>
          <p:cNvSpPr>
            <a:spLocks noGrp="1"/>
          </p:cNvSpPr>
          <p:nvPr>
            <p:ph type="sldNum" sz="quarter" idx="10"/>
          </p:nvPr>
        </p:nvSpPr>
        <p:spPr/>
        <p:txBody>
          <a:bodyPr/>
          <a:lstStyle/>
          <a:p>
            <a:fld id="{E2FF7759-803D-4F76-9AEC-98B2D9A07B0D}" type="slidenum">
              <a:rPr lang="en-US" smtClean="0"/>
              <a:t>40</a:t>
            </a:fld>
            <a:endParaRPr lang="en-US"/>
          </a:p>
        </p:txBody>
      </p:sp>
    </p:spTree>
    <p:extLst>
      <p:ext uri="{BB962C8B-B14F-4D97-AF65-F5344CB8AC3E}">
        <p14:creationId xmlns:p14="http://schemas.microsoft.com/office/powerpoint/2010/main" val="25039555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5AA2E-B6C6-6022-AA41-F1A3357B6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E7D59-4EBB-8F17-E7E9-A553FE184F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25077-0E15-EDF3-D81D-D6E120D68E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527E90-2F13-9304-A98D-F116E4E28E6B}"/>
              </a:ext>
            </a:extLst>
          </p:cNvPr>
          <p:cNvSpPr>
            <a:spLocks noGrp="1"/>
          </p:cNvSpPr>
          <p:nvPr>
            <p:ph type="sldNum" sz="quarter" idx="10"/>
          </p:nvPr>
        </p:nvSpPr>
        <p:spPr/>
        <p:txBody>
          <a:bodyPr/>
          <a:lstStyle/>
          <a:p>
            <a:fld id="{E2FF7759-803D-4F76-9AEC-98B2D9A07B0D}" type="slidenum">
              <a:rPr lang="en-US" smtClean="0"/>
              <a:t>41</a:t>
            </a:fld>
            <a:endParaRPr lang="en-US"/>
          </a:p>
        </p:txBody>
      </p:sp>
    </p:spTree>
    <p:extLst>
      <p:ext uri="{BB962C8B-B14F-4D97-AF65-F5344CB8AC3E}">
        <p14:creationId xmlns:p14="http://schemas.microsoft.com/office/powerpoint/2010/main" val="36081532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0707F-962C-DF50-715F-AD06BD0E7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F51CC-180A-FB77-2BAB-B445FD69D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A05A38-27B5-A6A8-5821-E26B3C80D7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BBBD4C-B40A-A2DD-437D-AB1312B52F1D}"/>
              </a:ext>
            </a:extLst>
          </p:cNvPr>
          <p:cNvSpPr>
            <a:spLocks noGrp="1"/>
          </p:cNvSpPr>
          <p:nvPr>
            <p:ph type="sldNum" sz="quarter" idx="10"/>
          </p:nvPr>
        </p:nvSpPr>
        <p:spPr/>
        <p:txBody>
          <a:bodyPr/>
          <a:lstStyle/>
          <a:p>
            <a:fld id="{E2FF7759-803D-4F76-9AEC-98B2D9A07B0D}" type="slidenum">
              <a:rPr lang="en-US" smtClean="0"/>
              <a:t>42</a:t>
            </a:fld>
            <a:endParaRPr lang="en-US"/>
          </a:p>
        </p:txBody>
      </p:sp>
    </p:spTree>
    <p:extLst>
      <p:ext uri="{BB962C8B-B14F-4D97-AF65-F5344CB8AC3E}">
        <p14:creationId xmlns:p14="http://schemas.microsoft.com/office/powerpoint/2010/main" val="8607172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F54C7-4C6B-E594-25C8-50E1575D3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49871-9C4D-ECB0-24D4-8F94B34B7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3AD0B8-9AB9-2C90-3F4F-5EFA86FD53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124E8D-FCF3-7143-533F-5BFA2A074318}"/>
              </a:ext>
            </a:extLst>
          </p:cNvPr>
          <p:cNvSpPr>
            <a:spLocks noGrp="1"/>
          </p:cNvSpPr>
          <p:nvPr>
            <p:ph type="sldNum" sz="quarter" idx="10"/>
          </p:nvPr>
        </p:nvSpPr>
        <p:spPr/>
        <p:txBody>
          <a:bodyPr/>
          <a:lstStyle/>
          <a:p>
            <a:fld id="{E2FF7759-803D-4F76-9AEC-98B2D9A07B0D}" type="slidenum">
              <a:rPr lang="en-US" smtClean="0"/>
              <a:t>43</a:t>
            </a:fld>
            <a:endParaRPr lang="en-US"/>
          </a:p>
        </p:txBody>
      </p:sp>
    </p:spTree>
    <p:extLst>
      <p:ext uri="{BB962C8B-B14F-4D97-AF65-F5344CB8AC3E}">
        <p14:creationId xmlns:p14="http://schemas.microsoft.com/office/powerpoint/2010/main" val="33483658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30185-9452-D4CB-1EBA-6E73C0A71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8C9D0E-569C-49CD-8F06-E0572851C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D5FEC-4212-AA4A-0851-BF94F0D9376B}"/>
              </a:ext>
            </a:extLst>
          </p:cNvPr>
          <p:cNvSpPr>
            <a:spLocks noGrp="1"/>
          </p:cNvSpPr>
          <p:nvPr>
            <p:ph type="body" idx="1"/>
          </p:nvPr>
        </p:nvSpPr>
        <p:spPr/>
        <p:txBody>
          <a:bodyPr/>
          <a:lstStyle/>
          <a:p>
            <a:r>
              <a:rPr lang="fr-FR" dirty="0"/>
              <a:t>✅ </a:t>
            </a:r>
            <a:r>
              <a:rPr lang="fr-FR" b="1" dirty="0"/>
              <a:t>Réponse : C — Azure Key Vault</a:t>
            </a:r>
            <a:endParaRPr lang="fr-FR" dirty="0"/>
          </a:p>
          <a:p>
            <a:r>
              <a:rPr lang="fr-FR" dirty="0"/>
              <a:t>Azure Key Vault</a:t>
            </a:r>
          </a:p>
          <a:p>
            <a:r>
              <a:rPr lang="fr-FR" b="1" dirty="0"/>
              <a:t>Key Vault</a:t>
            </a:r>
            <a:r>
              <a:rPr lang="fr-FR" dirty="0"/>
              <a:t> est conçu pour stocker :</a:t>
            </a:r>
          </a:p>
          <a:p>
            <a:r>
              <a:rPr lang="fr-FR" dirty="0"/>
              <a:t>secrets</a:t>
            </a:r>
          </a:p>
          <a:p>
            <a:r>
              <a:rPr lang="fr-FR" dirty="0"/>
              <a:t>clés</a:t>
            </a:r>
          </a:p>
          <a:p>
            <a:r>
              <a:rPr lang="fr-FR" dirty="0"/>
              <a:t>certificats</a:t>
            </a:r>
          </a:p>
          <a:p>
            <a:r>
              <a:rPr lang="fr-FR" dirty="0"/>
              <a:t>Avec :</a:t>
            </a:r>
          </a:p>
          <a:p>
            <a:r>
              <a:rPr lang="fr-FR" dirty="0"/>
              <a:t>accès via </a:t>
            </a:r>
            <a:r>
              <a:rPr lang="fr-FR" b="1" dirty="0" err="1"/>
              <a:t>Managed</a:t>
            </a:r>
            <a:r>
              <a:rPr lang="fr-FR" b="1" dirty="0"/>
              <a:t> Identity</a:t>
            </a:r>
            <a:endParaRPr lang="fr-FR" dirty="0"/>
          </a:p>
          <a:p>
            <a:r>
              <a:rPr lang="fr-FR" dirty="0"/>
              <a:t>rotation possible</a:t>
            </a:r>
          </a:p>
          <a:p>
            <a:r>
              <a:rPr lang="fr-FR" dirty="0"/>
              <a:t>audit</a:t>
            </a:r>
          </a:p>
          <a:p>
            <a:r>
              <a:rPr lang="fr-FR" dirty="0"/>
              <a:t>❌ Mauvaises réponses :</a:t>
            </a:r>
          </a:p>
          <a:p>
            <a:r>
              <a:rPr lang="fr-FR" dirty="0"/>
              <a:t>Storage : pas sécurisé pour secrets</a:t>
            </a:r>
          </a:p>
          <a:p>
            <a:r>
              <a:rPr lang="fr-FR" dirty="0"/>
              <a:t>App Configuration : configuration simple</a:t>
            </a:r>
          </a:p>
          <a:p>
            <a:r>
              <a:rPr lang="fr-FR" dirty="0"/>
              <a:t>Azure Monitor : monitoring</a:t>
            </a:r>
          </a:p>
          <a:p>
            <a:endParaRPr lang="en-US" dirty="0"/>
          </a:p>
        </p:txBody>
      </p:sp>
      <p:sp>
        <p:nvSpPr>
          <p:cNvPr id="4" name="Slide Number Placeholder 3">
            <a:extLst>
              <a:ext uri="{FF2B5EF4-FFF2-40B4-BE49-F238E27FC236}">
                <a16:creationId xmlns:a16="http://schemas.microsoft.com/office/drawing/2014/main" id="{11B7215D-9163-CEC6-428B-97001CC67A25}"/>
              </a:ext>
            </a:extLst>
          </p:cNvPr>
          <p:cNvSpPr>
            <a:spLocks noGrp="1"/>
          </p:cNvSpPr>
          <p:nvPr>
            <p:ph type="sldNum" sz="quarter" idx="10"/>
          </p:nvPr>
        </p:nvSpPr>
        <p:spPr/>
        <p:txBody>
          <a:bodyPr/>
          <a:lstStyle/>
          <a:p>
            <a:fld id="{E2FF7759-803D-4F76-9AEC-98B2D9A07B0D}" type="slidenum">
              <a:rPr lang="en-US" smtClean="0"/>
              <a:t>44</a:t>
            </a:fld>
            <a:endParaRPr lang="en-US"/>
          </a:p>
        </p:txBody>
      </p:sp>
    </p:spTree>
    <p:extLst>
      <p:ext uri="{BB962C8B-B14F-4D97-AF65-F5344CB8AC3E}">
        <p14:creationId xmlns:p14="http://schemas.microsoft.com/office/powerpoint/2010/main" val="10371451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3F00B-FEAD-77EC-9923-FA23BDAE0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5E717-DE6F-D0CF-EA34-B1D3A789BF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283F1-18F6-3C5D-2078-20B6BDF914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7042D9-A0B4-3A6A-96A8-9FFFE2D7E328}"/>
              </a:ext>
            </a:extLst>
          </p:cNvPr>
          <p:cNvSpPr>
            <a:spLocks noGrp="1"/>
          </p:cNvSpPr>
          <p:nvPr>
            <p:ph type="sldNum" sz="quarter" idx="10"/>
          </p:nvPr>
        </p:nvSpPr>
        <p:spPr/>
        <p:txBody>
          <a:bodyPr/>
          <a:lstStyle/>
          <a:p>
            <a:fld id="{E2FF7759-803D-4F76-9AEC-98B2D9A07B0D}" type="slidenum">
              <a:rPr lang="en-US" smtClean="0"/>
              <a:t>46</a:t>
            </a:fld>
            <a:endParaRPr lang="en-US"/>
          </a:p>
        </p:txBody>
      </p:sp>
    </p:spTree>
    <p:extLst>
      <p:ext uri="{BB962C8B-B14F-4D97-AF65-F5344CB8AC3E}">
        <p14:creationId xmlns:p14="http://schemas.microsoft.com/office/powerpoint/2010/main" val="27218280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E04ED-94E4-1867-564E-201BCB2F2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44049-E1DA-54CD-E9F8-D83B18F76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6D409-60D9-3B6F-B8D4-73D9BCE84C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CDF17B-EA51-08D5-DDC7-92ABAB78876C}"/>
              </a:ext>
            </a:extLst>
          </p:cNvPr>
          <p:cNvSpPr>
            <a:spLocks noGrp="1"/>
          </p:cNvSpPr>
          <p:nvPr>
            <p:ph type="sldNum" sz="quarter" idx="10"/>
          </p:nvPr>
        </p:nvSpPr>
        <p:spPr/>
        <p:txBody>
          <a:bodyPr/>
          <a:lstStyle/>
          <a:p>
            <a:fld id="{E2FF7759-803D-4F76-9AEC-98B2D9A07B0D}" type="slidenum">
              <a:rPr lang="en-US" smtClean="0"/>
              <a:t>47</a:t>
            </a:fld>
            <a:endParaRPr lang="en-US"/>
          </a:p>
        </p:txBody>
      </p:sp>
    </p:spTree>
    <p:extLst>
      <p:ext uri="{BB962C8B-B14F-4D97-AF65-F5344CB8AC3E}">
        <p14:creationId xmlns:p14="http://schemas.microsoft.com/office/powerpoint/2010/main" val="35711222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A6B31-DCAF-1A60-E885-E6F320C4D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A0019-6992-E605-7C01-2203CE1F5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2BDA89-9249-2286-EB84-E8915C58A5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0B9B68-66BB-CC88-BD04-D95D0DF9086E}"/>
              </a:ext>
            </a:extLst>
          </p:cNvPr>
          <p:cNvSpPr>
            <a:spLocks noGrp="1"/>
          </p:cNvSpPr>
          <p:nvPr>
            <p:ph type="sldNum" sz="quarter" idx="10"/>
          </p:nvPr>
        </p:nvSpPr>
        <p:spPr/>
        <p:txBody>
          <a:bodyPr/>
          <a:lstStyle/>
          <a:p>
            <a:fld id="{E2FF7759-803D-4F76-9AEC-98B2D9A07B0D}" type="slidenum">
              <a:rPr lang="en-US" smtClean="0"/>
              <a:t>48</a:t>
            </a:fld>
            <a:endParaRPr lang="en-US"/>
          </a:p>
        </p:txBody>
      </p:sp>
    </p:spTree>
    <p:extLst>
      <p:ext uri="{BB962C8B-B14F-4D97-AF65-F5344CB8AC3E}">
        <p14:creationId xmlns:p14="http://schemas.microsoft.com/office/powerpoint/2010/main" val="39127004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B3DC5-9141-32A4-30C7-665FC11E1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C5DAB-FF66-3EED-9AB3-54A5A4FA77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44E36-B03C-2D28-C8FD-2CBAAE9F6951}"/>
              </a:ext>
            </a:extLst>
          </p:cNvPr>
          <p:cNvSpPr>
            <a:spLocks noGrp="1"/>
          </p:cNvSpPr>
          <p:nvPr>
            <p:ph type="body" idx="1"/>
          </p:nvPr>
        </p:nvSpPr>
        <p:spPr/>
        <p:txBody>
          <a:bodyPr/>
          <a:lstStyle/>
          <a:p>
            <a:r>
              <a:rPr lang="fr-FR" dirty="0"/>
              <a:t>Réponse 2 :</a:t>
            </a:r>
          </a:p>
          <a:p>
            <a:r>
              <a:rPr lang="fr-FR" dirty="0"/>
              <a:t>Le </a:t>
            </a:r>
            <a:r>
              <a:rPr lang="fr-FR" b="1" dirty="0" err="1"/>
              <a:t>Private</a:t>
            </a:r>
            <a:r>
              <a:rPr lang="fr-FR" b="1" dirty="0"/>
              <a:t> Endpoint</a:t>
            </a:r>
            <a:r>
              <a:rPr lang="fr-FR" dirty="0"/>
              <a:t> permet de :</a:t>
            </a:r>
          </a:p>
          <a:p>
            <a:r>
              <a:rPr lang="fr-FR" dirty="0"/>
              <a:t>créer une </a:t>
            </a:r>
            <a:r>
              <a:rPr lang="fr-FR" b="1" dirty="0"/>
              <a:t>IP privée dans un </a:t>
            </a:r>
            <a:r>
              <a:rPr lang="fr-FR" b="1" dirty="0" err="1"/>
              <a:t>VNet</a:t>
            </a:r>
            <a:endParaRPr lang="fr-FR" dirty="0"/>
          </a:p>
          <a:p>
            <a:r>
              <a:rPr lang="fr-FR" dirty="0"/>
              <a:t>connecter un service PaaS (SQL, Storage, Key Vault…) </a:t>
            </a:r>
            <a:r>
              <a:rPr lang="fr-FR" b="1" dirty="0"/>
              <a:t>sans exposition publique</a:t>
            </a:r>
            <a:endParaRPr lang="fr-FR" dirty="0"/>
          </a:p>
          <a:p>
            <a:r>
              <a:rPr lang="fr-FR" dirty="0"/>
              <a:t>La base de données devient accessible uniquement via ce réseau privé.</a:t>
            </a:r>
            <a:br>
              <a:rPr lang="fr-FR" dirty="0"/>
            </a:br>
            <a:br>
              <a:rPr lang="fr-FR" dirty="0"/>
            </a:br>
            <a:r>
              <a:rPr lang="fr-FR" dirty="0" err="1"/>
              <a:t>Private</a:t>
            </a:r>
            <a:r>
              <a:rPr lang="fr-FR" dirty="0"/>
              <a:t> Endpoint protège la ressource.</a:t>
            </a:r>
            <a:br>
              <a:rPr lang="fr-FR" dirty="0"/>
            </a:br>
            <a:r>
              <a:rPr lang="fr-FR" dirty="0" err="1"/>
              <a:t>VNet</a:t>
            </a:r>
            <a:r>
              <a:rPr lang="fr-FR" dirty="0"/>
              <a:t> </a:t>
            </a:r>
            <a:r>
              <a:rPr lang="fr-FR" dirty="0" err="1"/>
              <a:t>Integration</a:t>
            </a:r>
            <a:r>
              <a:rPr lang="fr-FR" dirty="0"/>
              <a:t> permet à votre application d’y accéder.</a:t>
            </a:r>
          </a:p>
        </p:txBody>
      </p:sp>
      <p:sp>
        <p:nvSpPr>
          <p:cNvPr id="4" name="Slide Number Placeholder 3">
            <a:extLst>
              <a:ext uri="{FF2B5EF4-FFF2-40B4-BE49-F238E27FC236}">
                <a16:creationId xmlns:a16="http://schemas.microsoft.com/office/drawing/2014/main" id="{A73BB473-AF0C-EABD-0556-C44D0F49705D}"/>
              </a:ext>
            </a:extLst>
          </p:cNvPr>
          <p:cNvSpPr>
            <a:spLocks noGrp="1"/>
          </p:cNvSpPr>
          <p:nvPr>
            <p:ph type="sldNum" sz="quarter" idx="10"/>
          </p:nvPr>
        </p:nvSpPr>
        <p:spPr/>
        <p:txBody>
          <a:bodyPr/>
          <a:lstStyle/>
          <a:p>
            <a:fld id="{E2FF7759-803D-4F76-9AEC-98B2D9A07B0D}" type="slidenum">
              <a:rPr lang="en-US" smtClean="0"/>
              <a:t>49</a:t>
            </a:fld>
            <a:endParaRPr lang="en-US"/>
          </a:p>
        </p:txBody>
      </p:sp>
    </p:spTree>
    <p:extLst>
      <p:ext uri="{BB962C8B-B14F-4D97-AF65-F5344CB8AC3E}">
        <p14:creationId xmlns:p14="http://schemas.microsoft.com/office/powerpoint/2010/main" val="35587701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C348A-149C-34B0-ACB8-485A18555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1F4A9-A25A-D661-3189-63C6050842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0FFB95-8693-EEF4-EBFC-BD30D26FF3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6ADECB-B89A-643F-426E-A8E2F82962C0}"/>
              </a:ext>
            </a:extLst>
          </p:cNvPr>
          <p:cNvSpPr>
            <a:spLocks noGrp="1"/>
          </p:cNvSpPr>
          <p:nvPr>
            <p:ph type="sldNum" sz="quarter" idx="10"/>
          </p:nvPr>
        </p:nvSpPr>
        <p:spPr/>
        <p:txBody>
          <a:bodyPr/>
          <a:lstStyle/>
          <a:p>
            <a:fld id="{E2FF7759-803D-4F76-9AEC-98B2D9A07B0D}" type="slidenum">
              <a:rPr lang="en-US" smtClean="0"/>
              <a:t>50</a:t>
            </a:fld>
            <a:endParaRPr lang="en-US"/>
          </a:p>
        </p:txBody>
      </p:sp>
    </p:spTree>
    <p:extLst>
      <p:ext uri="{BB962C8B-B14F-4D97-AF65-F5344CB8AC3E}">
        <p14:creationId xmlns:p14="http://schemas.microsoft.com/office/powerpoint/2010/main" val="26737037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7A671-F9B6-CA40-A73E-82B777DAB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55C9A-1288-8D8D-0CEB-84E07F8A7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1992A-D4A2-F0DA-06DB-1F7A625075D6}"/>
              </a:ext>
            </a:extLst>
          </p:cNvPr>
          <p:cNvSpPr>
            <a:spLocks noGrp="1"/>
          </p:cNvSpPr>
          <p:nvPr>
            <p:ph type="body" idx="1"/>
          </p:nvPr>
        </p:nvSpPr>
        <p:spPr/>
        <p:txBody>
          <a:bodyPr/>
          <a:lstStyle/>
          <a:p>
            <a:r>
              <a:rPr lang="fr-FR" dirty="0"/>
              <a:t>✅ </a:t>
            </a:r>
            <a:r>
              <a:rPr lang="fr-FR" b="1" dirty="0"/>
              <a:t>Réponse : C — </a:t>
            </a:r>
            <a:r>
              <a:rPr lang="fr-FR" b="1" dirty="0" err="1"/>
              <a:t>Managed</a:t>
            </a:r>
            <a:r>
              <a:rPr lang="fr-FR" b="1" dirty="0"/>
              <a:t> Identity + Azure AD</a:t>
            </a:r>
            <a:endParaRPr lang="fr-FR" dirty="0"/>
          </a:p>
          <a:p>
            <a:r>
              <a:rPr lang="fr-FR" b="1" dirty="0"/>
              <a:t>Explication</a:t>
            </a:r>
            <a:endParaRPr lang="fr-FR" dirty="0"/>
          </a:p>
          <a:p>
            <a:r>
              <a:rPr lang="fr-FR" dirty="0"/>
              <a:t>Une </a:t>
            </a:r>
            <a:r>
              <a:rPr lang="fr-FR" b="1" dirty="0" err="1"/>
              <a:t>Managed</a:t>
            </a:r>
            <a:r>
              <a:rPr lang="fr-FR" b="1" dirty="0"/>
              <a:t> Identity</a:t>
            </a:r>
            <a:r>
              <a:rPr lang="fr-FR" dirty="0"/>
              <a:t> permet à l'application de :</a:t>
            </a:r>
          </a:p>
          <a:p>
            <a:r>
              <a:rPr lang="fr-FR" dirty="0"/>
              <a:t>s'authentifier automatiquement auprès d’Azure</a:t>
            </a:r>
          </a:p>
          <a:p>
            <a:r>
              <a:rPr lang="fr-FR" dirty="0"/>
              <a:t>sans mot de passe</a:t>
            </a:r>
          </a:p>
          <a:p>
            <a:r>
              <a:rPr lang="fr-FR" dirty="0"/>
              <a:t>sans secret dans le code</a:t>
            </a:r>
          </a:p>
          <a:p>
            <a:r>
              <a:rPr lang="fr-FR" dirty="0"/>
              <a:t>L’application obtient un </a:t>
            </a:r>
            <a:r>
              <a:rPr lang="fr-FR" b="1" dirty="0" err="1"/>
              <a:t>token</a:t>
            </a:r>
            <a:r>
              <a:rPr lang="fr-FR" b="1" dirty="0"/>
              <a:t> Azure AD</a:t>
            </a:r>
            <a:r>
              <a:rPr lang="fr-FR" dirty="0"/>
              <a:t>.</a:t>
            </a:r>
          </a:p>
          <a:p>
            <a:r>
              <a:rPr lang="fr-FR" dirty="0"/>
              <a:t>Schéma :</a:t>
            </a:r>
          </a:p>
          <a:p>
            <a:pPr rtl="0"/>
            <a:r>
              <a:rPr lang="fr-FR" sz="1200" kern="1200" dirty="0">
                <a:solidFill>
                  <a:schemeClr val="tx1"/>
                </a:solidFill>
                <a:latin typeface="+mn-lt"/>
                <a:ea typeface="+mn-ea"/>
                <a:cs typeface="+mn-cs"/>
              </a:rPr>
              <a:t>Web App</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a:t>
            </a:r>
            <a:br>
              <a:rPr lang="fr-FR" sz="1200" kern="1200" dirty="0">
                <a:solidFill>
                  <a:schemeClr val="tx1"/>
                </a:solidFill>
                <a:latin typeface="+mn-lt"/>
                <a:ea typeface="+mn-ea"/>
                <a:cs typeface="+mn-cs"/>
              </a:rPr>
            </a:br>
            <a:r>
              <a:rPr lang="fr-FR" sz="1200" kern="1200" dirty="0" err="1">
                <a:solidFill>
                  <a:schemeClr val="tx1"/>
                </a:solidFill>
                <a:latin typeface="+mn-lt"/>
                <a:ea typeface="+mn-ea"/>
                <a:cs typeface="+mn-cs"/>
              </a:rPr>
              <a:t>Managed</a:t>
            </a:r>
            <a:r>
              <a:rPr lang="fr-FR" sz="1200" kern="1200" dirty="0">
                <a:solidFill>
                  <a:schemeClr val="tx1"/>
                </a:solidFill>
                <a:latin typeface="+mn-lt"/>
                <a:ea typeface="+mn-ea"/>
                <a:cs typeface="+mn-cs"/>
              </a:rPr>
              <a:t> Identity</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Azure AD</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   ↓</a:t>
            </a:r>
            <a:br>
              <a:rPr lang="fr-FR" sz="1200" kern="1200" dirty="0">
                <a:solidFill>
                  <a:schemeClr val="tx1"/>
                </a:solidFill>
                <a:latin typeface="+mn-lt"/>
                <a:ea typeface="+mn-ea"/>
                <a:cs typeface="+mn-cs"/>
              </a:rPr>
            </a:br>
            <a:r>
              <a:rPr lang="fr-FR" sz="1200" kern="1200" dirty="0">
                <a:solidFill>
                  <a:schemeClr val="tx1"/>
                </a:solidFill>
                <a:latin typeface="+mn-lt"/>
                <a:ea typeface="+mn-ea"/>
                <a:cs typeface="+mn-cs"/>
              </a:rPr>
              <a:t>Azure SQL</a:t>
            </a:r>
          </a:p>
          <a:p>
            <a:r>
              <a:rPr lang="fr-FR" dirty="0"/>
              <a:t>❌ Mauvaises réponses :</a:t>
            </a:r>
          </a:p>
          <a:p>
            <a:r>
              <a:rPr lang="fr-FR" b="1" dirty="0" err="1"/>
              <a:t>appsettings.json</a:t>
            </a:r>
            <a:r>
              <a:rPr lang="fr-FR" dirty="0"/>
              <a:t> → mot de passe exposé</a:t>
            </a:r>
          </a:p>
          <a:p>
            <a:r>
              <a:rPr lang="fr-FR" b="1" dirty="0"/>
              <a:t>variables d’environnement</a:t>
            </a:r>
            <a:r>
              <a:rPr lang="fr-FR" dirty="0"/>
              <a:t> → secret toujours stocké</a:t>
            </a:r>
          </a:p>
          <a:p>
            <a:r>
              <a:rPr lang="fr-FR" b="1" dirty="0"/>
              <a:t>Blob Storage</a:t>
            </a:r>
            <a:r>
              <a:rPr lang="fr-FR" dirty="0"/>
              <a:t> → totalement incorrect</a:t>
            </a:r>
          </a:p>
          <a:p>
            <a:endParaRPr lang="en-US" dirty="0"/>
          </a:p>
        </p:txBody>
      </p:sp>
      <p:sp>
        <p:nvSpPr>
          <p:cNvPr id="4" name="Slide Number Placeholder 3">
            <a:extLst>
              <a:ext uri="{FF2B5EF4-FFF2-40B4-BE49-F238E27FC236}">
                <a16:creationId xmlns:a16="http://schemas.microsoft.com/office/drawing/2014/main" id="{243038A4-0C72-E1B3-CFD3-BA855CDFF17B}"/>
              </a:ext>
            </a:extLst>
          </p:cNvPr>
          <p:cNvSpPr>
            <a:spLocks noGrp="1"/>
          </p:cNvSpPr>
          <p:nvPr>
            <p:ph type="sldNum" sz="quarter" idx="10"/>
          </p:nvPr>
        </p:nvSpPr>
        <p:spPr/>
        <p:txBody>
          <a:bodyPr/>
          <a:lstStyle/>
          <a:p>
            <a:fld id="{E2FF7759-803D-4F76-9AEC-98B2D9A07B0D}" type="slidenum">
              <a:rPr lang="en-US" smtClean="0"/>
              <a:t>51</a:t>
            </a:fld>
            <a:endParaRPr lang="en-US"/>
          </a:p>
        </p:txBody>
      </p:sp>
    </p:spTree>
    <p:extLst>
      <p:ext uri="{BB962C8B-B14F-4D97-AF65-F5344CB8AC3E}">
        <p14:creationId xmlns:p14="http://schemas.microsoft.com/office/powerpoint/2010/main" val="31441364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9C9A0-B24E-9685-F8AE-60A52AE18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B1BAD-0EF0-A307-55A6-03407BC740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9BBA4-7726-4CE3-5609-A0F84274C9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6E5D58-ADE6-0987-9F58-419D4FD5516F}"/>
              </a:ext>
            </a:extLst>
          </p:cNvPr>
          <p:cNvSpPr>
            <a:spLocks noGrp="1"/>
          </p:cNvSpPr>
          <p:nvPr>
            <p:ph type="sldNum" sz="quarter" idx="10"/>
          </p:nvPr>
        </p:nvSpPr>
        <p:spPr/>
        <p:txBody>
          <a:bodyPr/>
          <a:lstStyle/>
          <a:p>
            <a:fld id="{E2FF7759-803D-4F76-9AEC-98B2D9A07B0D}" type="slidenum">
              <a:rPr lang="en-US" smtClean="0"/>
              <a:t>53</a:t>
            </a:fld>
            <a:endParaRPr lang="en-US"/>
          </a:p>
        </p:txBody>
      </p:sp>
    </p:spTree>
    <p:extLst>
      <p:ext uri="{BB962C8B-B14F-4D97-AF65-F5344CB8AC3E}">
        <p14:creationId xmlns:p14="http://schemas.microsoft.com/office/powerpoint/2010/main" val="24658300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E8016-C08B-0859-3B4E-B4E7E3536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67980-5449-D581-A920-776440C98C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197B68-C931-D587-6E22-7E2D56BFEF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7F2B98-ECF5-5108-2C92-0C312D086FA4}"/>
              </a:ext>
            </a:extLst>
          </p:cNvPr>
          <p:cNvSpPr>
            <a:spLocks noGrp="1"/>
          </p:cNvSpPr>
          <p:nvPr>
            <p:ph type="sldNum" sz="quarter" idx="10"/>
          </p:nvPr>
        </p:nvSpPr>
        <p:spPr/>
        <p:txBody>
          <a:bodyPr/>
          <a:lstStyle/>
          <a:p>
            <a:fld id="{E2FF7759-803D-4F76-9AEC-98B2D9A07B0D}" type="slidenum">
              <a:rPr lang="en-US" smtClean="0"/>
              <a:t>54</a:t>
            </a:fld>
            <a:endParaRPr lang="en-US"/>
          </a:p>
        </p:txBody>
      </p:sp>
    </p:spTree>
    <p:extLst>
      <p:ext uri="{BB962C8B-B14F-4D97-AF65-F5344CB8AC3E}">
        <p14:creationId xmlns:p14="http://schemas.microsoft.com/office/powerpoint/2010/main" val="20504460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6080E-88C9-A6F1-2595-BC875289B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B65F8-B6FB-ED08-DE40-324C6B6F0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D2060-50E3-64E3-D591-D3BCBC99C2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E44A9D-2077-6EAB-B505-ACF87EBB2F4C}"/>
              </a:ext>
            </a:extLst>
          </p:cNvPr>
          <p:cNvSpPr>
            <a:spLocks noGrp="1"/>
          </p:cNvSpPr>
          <p:nvPr>
            <p:ph type="sldNum" sz="quarter" idx="10"/>
          </p:nvPr>
        </p:nvSpPr>
        <p:spPr/>
        <p:txBody>
          <a:bodyPr/>
          <a:lstStyle/>
          <a:p>
            <a:fld id="{E2FF7759-803D-4F76-9AEC-98B2D9A07B0D}" type="slidenum">
              <a:rPr lang="en-US" smtClean="0"/>
              <a:t>55</a:t>
            </a:fld>
            <a:endParaRPr lang="en-US"/>
          </a:p>
        </p:txBody>
      </p:sp>
    </p:spTree>
    <p:extLst>
      <p:ext uri="{BB962C8B-B14F-4D97-AF65-F5344CB8AC3E}">
        <p14:creationId xmlns:p14="http://schemas.microsoft.com/office/powerpoint/2010/main" val="19386533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CF7EB-7ABA-46C5-564D-483CF6681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EA0A48-F910-0587-F6F1-990B909740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A7A2E0-36DA-E088-01B0-E93F23D3FE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918566-1C61-00C6-436E-D1B84D5C8774}"/>
              </a:ext>
            </a:extLst>
          </p:cNvPr>
          <p:cNvSpPr>
            <a:spLocks noGrp="1"/>
          </p:cNvSpPr>
          <p:nvPr>
            <p:ph type="sldNum" sz="quarter" idx="10"/>
          </p:nvPr>
        </p:nvSpPr>
        <p:spPr/>
        <p:txBody>
          <a:bodyPr/>
          <a:lstStyle/>
          <a:p>
            <a:fld id="{E2FF7759-803D-4F76-9AEC-98B2D9A07B0D}" type="slidenum">
              <a:rPr lang="en-US" smtClean="0"/>
              <a:t>56</a:t>
            </a:fld>
            <a:endParaRPr lang="en-US"/>
          </a:p>
        </p:txBody>
      </p:sp>
    </p:spTree>
    <p:extLst>
      <p:ext uri="{BB962C8B-B14F-4D97-AF65-F5344CB8AC3E}">
        <p14:creationId xmlns:p14="http://schemas.microsoft.com/office/powerpoint/2010/main" val="25691562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2ABEF-5988-B818-6283-DD292C301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4CAD8-279B-92E0-9F72-D2D7F7A6AE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8FF33D-C053-4B61-D571-206E528950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0BAFB1-3728-B601-A572-A1C65121789E}"/>
              </a:ext>
            </a:extLst>
          </p:cNvPr>
          <p:cNvSpPr>
            <a:spLocks noGrp="1"/>
          </p:cNvSpPr>
          <p:nvPr>
            <p:ph type="sldNum" sz="quarter" idx="10"/>
          </p:nvPr>
        </p:nvSpPr>
        <p:spPr/>
        <p:txBody>
          <a:bodyPr/>
          <a:lstStyle/>
          <a:p>
            <a:fld id="{E2FF7759-803D-4F76-9AEC-98B2D9A07B0D}" type="slidenum">
              <a:rPr lang="en-US" smtClean="0"/>
              <a:t>57</a:t>
            </a:fld>
            <a:endParaRPr lang="en-US"/>
          </a:p>
        </p:txBody>
      </p:sp>
    </p:spTree>
    <p:extLst>
      <p:ext uri="{BB962C8B-B14F-4D97-AF65-F5344CB8AC3E}">
        <p14:creationId xmlns:p14="http://schemas.microsoft.com/office/powerpoint/2010/main" val="9627596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BA322-29F7-028E-551F-12BE9D2B5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EFD83-AB20-8B38-C108-5F3F50482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BE551-6129-ACC5-4F29-8ED54D0DF5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20E44E-0FF6-7730-05D4-7067F3AAC638}"/>
              </a:ext>
            </a:extLst>
          </p:cNvPr>
          <p:cNvSpPr>
            <a:spLocks noGrp="1"/>
          </p:cNvSpPr>
          <p:nvPr>
            <p:ph type="sldNum" sz="quarter" idx="10"/>
          </p:nvPr>
        </p:nvSpPr>
        <p:spPr/>
        <p:txBody>
          <a:bodyPr/>
          <a:lstStyle/>
          <a:p>
            <a:fld id="{E2FF7759-803D-4F76-9AEC-98B2D9A07B0D}" type="slidenum">
              <a:rPr lang="en-US" smtClean="0"/>
              <a:t>58</a:t>
            </a:fld>
            <a:endParaRPr lang="en-US"/>
          </a:p>
        </p:txBody>
      </p:sp>
    </p:spTree>
    <p:extLst>
      <p:ext uri="{BB962C8B-B14F-4D97-AF65-F5344CB8AC3E}">
        <p14:creationId xmlns:p14="http://schemas.microsoft.com/office/powerpoint/2010/main" val="22348495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B63F3-9198-7921-75A1-12BECBB91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BD396-9D2B-A066-90CF-5E9B44F55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A57FD8-98E0-B12F-7CFC-EB4FE30688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8DFD5-CACE-5BE0-37BC-A8DD81266EE7}"/>
              </a:ext>
            </a:extLst>
          </p:cNvPr>
          <p:cNvSpPr>
            <a:spLocks noGrp="1"/>
          </p:cNvSpPr>
          <p:nvPr>
            <p:ph type="sldNum" sz="quarter" idx="10"/>
          </p:nvPr>
        </p:nvSpPr>
        <p:spPr/>
        <p:txBody>
          <a:bodyPr/>
          <a:lstStyle/>
          <a:p>
            <a:fld id="{E2FF7759-803D-4F76-9AEC-98B2D9A07B0D}" type="slidenum">
              <a:rPr lang="en-US" smtClean="0"/>
              <a:t>59</a:t>
            </a:fld>
            <a:endParaRPr lang="en-US"/>
          </a:p>
        </p:txBody>
      </p:sp>
    </p:spTree>
    <p:extLst>
      <p:ext uri="{BB962C8B-B14F-4D97-AF65-F5344CB8AC3E}">
        <p14:creationId xmlns:p14="http://schemas.microsoft.com/office/powerpoint/2010/main" val="36895019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4EC5E-6133-D6D2-4010-7EF8E54CC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4082A-D0F5-FACE-F887-DD76DBD1A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9C974-EDA5-4CEF-2F1C-8B3ADD7C08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524EA5-496F-A5B7-4180-D5D73A2C8369}"/>
              </a:ext>
            </a:extLst>
          </p:cNvPr>
          <p:cNvSpPr>
            <a:spLocks noGrp="1"/>
          </p:cNvSpPr>
          <p:nvPr>
            <p:ph type="sldNum" sz="quarter" idx="10"/>
          </p:nvPr>
        </p:nvSpPr>
        <p:spPr/>
        <p:txBody>
          <a:bodyPr/>
          <a:lstStyle/>
          <a:p>
            <a:fld id="{E2FF7759-803D-4F76-9AEC-98B2D9A07B0D}" type="slidenum">
              <a:rPr lang="en-US" smtClean="0"/>
              <a:t>61</a:t>
            </a:fld>
            <a:endParaRPr lang="en-US"/>
          </a:p>
        </p:txBody>
      </p:sp>
    </p:spTree>
    <p:extLst>
      <p:ext uri="{BB962C8B-B14F-4D97-AF65-F5344CB8AC3E}">
        <p14:creationId xmlns:p14="http://schemas.microsoft.com/office/powerpoint/2010/main" val="35865099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F530-87B0-41BF-F920-A6F62B058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41C04-2FDE-2CC1-6496-D83C35D89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F7BAC1-AA9C-0E97-04EC-4EB19BBB7E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189144-AC75-826A-B054-FF91EBD4FE17}"/>
              </a:ext>
            </a:extLst>
          </p:cNvPr>
          <p:cNvSpPr>
            <a:spLocks noGrp="1"/>
          </p:cNvSpPr>
          <p:nvPr>
            <p:ph type="sldNum" sz="quarter" idx="10"/>
          </p:nvPr>
        </p:nvSpPr>
        <p:spPr/>
        <p:txBody>
          <a:bodyPr/>
          <a:lstStyle/>
          <a:p>
            <a:fld id="{E2FF7759-803D-4F76-9AEC-98B2D9A07B0D}" type="slidenum">
              <a:rPr lang="en-US" smtClean="0"/>
              <a:t>62</a:t>
            </a:fld>
            <a:endParaRPr lang="en-US"/>
          </a:p>
        </p:txBody>
      </p:sp>
    </p:spTree>
    <p:extLst>
      <p:ext uri="{BB962C8B-B14F-4D97-AF65-F5344CB8AC3E}">
        <p14:creationId xmlns:p14="http://schemas.microsoft.com/office/powerpoint/2010/main" val="18802466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E269-D92D-FB5D-12DE-68A52E9C3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48D74-AADB-8076-8F1E-0A2814822F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0A4DB-3767-0D4F-64E7-BB42286F44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4310C6-B4F7-6176-572C-3287C0563FAA}"/>
              </a:ext>
            </a:extLst>
          </p:cNvPr>
          <p:cNvSpPr>
            <a:spLocks noGrp="1"/>
          </p:cNvSpPr>
          <p:nvPr>
            <p:ph type="sldNum" sz="quarter" idx="10"/>
          </p:nvPr>
        </p:nvSpPr>
        <p:spPr/>
        <p:txBody>
          <a:bodyPr/>
          <a:lstStyle/>
          <a:p>
            <a:fld id="{E2FF7759-803D-4F76-9AEC-98B2D9A07B0D}" type="slidenum">
              <a:rPr lang="en-US" smtClean="0"/>
              <a:t>63</a:t>
            </a:fld>
            <a:endParaRPr lang="en-US"/>
          </a:p>
        </p:txBody>
      </p:sp>
    </p:spTree>
    <p:extLst>
      <p:ext uri="{BB962C8B-B14F-4D97-AF65-F5344CB8AC3E}">
        <p14:creationId xmlns:p14="http://schemas.microsoft.com/office/powerpoint/2010/main" val="347834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5AC9B-5283-06A0-055F-58697B772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5D386-7CD2-F4F5-7C02-D72243FA3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29FCA-F853-37E8-2FD3-63B722BE8D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3BFE65-AA56-05C4-9F72-51B044D90007}"/>
              </a:ext>
            </a:extLst>
          </p:cNvPr>
          <p:cNvSpPr>
            <a:spLocks noGrp="1"/>
          </p:cNvSpPr>
          <p:nvPr>
            <p:ph type="sldNum" sz="quarter" idx="10"/>
          </p:nvPr>
        </p:nvSpPr>
        <p:spPr/>
        <p:txBody>
          <a:bodyPr/>
          <a:lstStyle/>
          <a:p>
            <a:fld id="{E2FF7759-803D-4F76-9AEC-98B2D9A07B0D}" type="slidenum">
              <a:rPr lang="en-US" smtClean="0"/>
              <a:t>64</a:t>
            </a:fld>
            <a:endParaRPr lang="en-US"/>
          </a:p>
        </p:txBody>
      </p:sp>
    </p:spTree>
    <p:extLst>
      <p:ext uri="{BB962C8B-B14F-4D97-AF65-F5344CB8AC3E}">
        <p14:creationId xmlns:p14="http://schemas.microsoft.com/office/powerpoint/2010/main" val="8348234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59ED0-B88A-8664-4E25-F08CAD163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5C5B6-D2F1-09CA-5177-F460E62519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7F32E-336E-F251-B3A3-050F15E80C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6CD34-4A42-56B5-05D7-FDA1244C9235}"/>
              </a:ext>
            </a:extLst>
          </p:cNvPr>
          <p:cNvSpPr>
            <a:spLocks noGrp="1"/>
          </p:cNvSpPr>
          <p:nvPr>
            <p:ph type="sldNum" sz="quarter" idx="10"/>
          </p:nvPr>
        </p:nvSpPr>
        <p:spPr/>
        <p:txBody>
          <a:bodyPr/>
          <a:lstStyle/>
          <a:p>
            <a:fld id="{E2FF7759-803D-4F76-9AEC-98B2D9A07B0D}" type="slidenum">
              <a:rPr lang="en-US" smtClean="0"/>
              <a:t>65</a:t>
            </a:fld>
            <a:endParaRPr lang="en-US"/>
          </a:p>
        </p:txBody>
      </p:sp>
    </p:spTree>
    <p:extLst>
      <p:ext uri="{BB962C8B-B14F-4D97-AF65-F5344CB8AC3E}">
        <p14:creationId xmlns:p14="http://schemas.microsoft.com/office/powerpoint/2010/main" val="40809678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6AD46-1B82-3AFF-28D0-1819FD2AD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9DEC2E-0586-92AC-D32E-7035DF305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5CE16-D586-041F-586F-CA3DC148C1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C7D046-9F49-170D-2BFB-9F8D5EC4AAA3}"/>
              </a:ext>
            </a:extLst>
          </p:cNvPr>
          <p:cNvSpPr>
            <a:spLocks noGrp="1"/>
          </p:cNvSpPr>
          <p:nvPr>
            <p:ph type="sldNum" sz="quarter" idx="10"/>
          </p:nvPr>
        </p:nvSpPr>
        <p:spPr/>
        <p:txBody>
          <a:bodyPr/>
          <a:lstStyle/>
          <a:p>
            <a:fld id="{E2FF7759-803D-4F76-9AEC-98B2D9A07B0D}" type="slidenum">
              <a:rPr lang="en-US" smtClean="0"/>
              <a:t>66</a:t>
            </a:fld>
            <a:endParaRPr lang="en-US"/>
          </a:p>
        </p:txBody>
      </p:sp>
    </p:spTree>
    <p:extLst>
      <p:ext uri="{BB962C8B-B14F-4D97-AF65-F5344CB8AC3E}">
        <p14:creationId xmlns:p14="http://schemas.microsoft.com/office/powerpoint/2010/main" val="35561491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93777-EA68-B3A2-2977-FC664972D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D5770-EF98-E649-36C6-0A5485E57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DF152-5E31-75DF-9453-1958BA5D8F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80D871-3399-0B1E-625D-B8B6C212C624}"/>
              </a:ext>
            </a:extLst>
          </p:cNvPr>
          <p:cNvSpPr>
            <a:spLocks noGrp="1"/>
          </p:cNvSpPr>
          <p:nvPr>
            <p:ph type="sldNum" sz="quarter" idx="10"/>
          </p:nvPr>
        </p:nvSpPr>
        <p:spPr/>
        <p:txBody>
          <a:bodyPr/>
          <a:lstStyle/>
          <a:p>
            <a:fld id="{E2FF7759-803D-4F76-9AEC-98B2D9A07B0D}" type="slidenum">
              <a:rPr lang="en-US" smtClean="0"/>
              <a:t>67</a:t>
            </a:fld>
            <a:endParaRPr lang="en-US"/>
          </a:p>
        </p:txBody>
      </p:sp>
    </p:spTree>
    <p:extLst>
      <p:ext uri="{BB962C8B-B14F-4D97-AF65-F5344CB8AC3E}">
        <p14:creationId xmlns:p14="http://schemas.microsoft.com/office/powerpoint/2010/main" val="2722933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CF99F-7024-4456-6A62-D9A6F9590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9F7E5-A855-5DE0-93A2-EF6C53550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E035C-0445-C0C3-5712-6BDF18E7F6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07A3CC-6040-9011-F41E-8402848FB0E1}"/>
              </a:ext>
            </a:extLst>
          </p:cNvPr>
          <p:cNvSpPr>
            <a:spLocks noGrp="1"/>
          </p:cNvSpPr>
          <p:nvPr>
            <p:ph type="sldNum" sz="quarter" idx="10"/>
          </p:nvPr>
        </p:nvSpPr>
        <p:spPr/>
        <p:txBody>
          <a:bodyPr/>
          <a:lstStyle/>
          <a:p>
            <a:fld id="{E2FF7759-803D-4F76-9AEC-98B2D9A07B0D}" type="slidenum">
              <a:rPr lang="en-US" smtClean="0"/>
              <a:t>68</a:t>
            </a:fld>
            <a:endParaRPr lang="en-US"/>
          </a:p>
        </p:txBody>
      </p:sp>
    </p:spTree>
    <p:extLst>
      <p:ext uri="{BB962C8B-B14F-4D97-AF65-F5344CB8AC3E}">
        <p14:creationId xmlns:p14="http://schemas.microsoft.com/office/powerpoint/2010/main" val="30354646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E956A-A042-454F-EA2B-F7286D6F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7A5EB-F777-9414-1B2E-E3FBC3D7F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CFA0D-8C36-CF3E-ACB6-4DB834384D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D16CB-89A3-F802-3C87-B90B1E057FC3}"/>
              </a:ext>
            </a:extLst>
          </p:cNvPr>
          <p:cNvSpPr>
            <a:spLocks noGrp="1"/>
          </p:cNvSpPr>
          <p:nvPr>
            <p:ph type="sldNum" sz="quarter" idx="10"/>
          </p:nvPr>
        </p:nvSpPr>
        <p:spPr/>
        <p:txBody>
          <a:bodyPr/>
          <a:lstStyle/>
          <a:p>
            <a:fld id="{E2FF7759-803D-4F76-9AEC-98B2D9A07B0D}" type="slidenum">
              <a:rPr lang="en-US" smtClean="0"/>
              <a:t>69</a:t>
            </a:fld>
            <a:endParaRPr lang="en-US"/>
          </a:p>
        </p:txBody>
      </p:sp>
    </p:spTree>
    <p:extLst>
      <p:ext uri="{BB962C8B-B14F-4D97-AF65-F5344CB8AC3E}">
        <p14:creationId xmlns:p14="http://schemas.microsoft.com/office/powerpoint/2010/main" val="4774490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85123-307D-6D32-0874-881A464A4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20CE4-17AD-306A-31A4-5348E5ECCC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BADF8-7ACF-91E0-7BCB-E6FF9AFF52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D8CE8B-36E0-7E45-ACCC-F08B1AF78580}"/>
              </a:ext>
            </a:extLst>
          </p:cNvPr>
          <p:cNvSpPr>
            <a:spLocks noGrp="1"/>
          </p:cNvSpPr>
          <p:nvPr>
            <p:ph type="sldNum" sz="quarter" idx="10"/>
          </p:nvPr>
        </p:nvSpPr>
        <p:spPr/>
        <p:txBody>
          <a:bodyPr/>
          <a:lstStyle/>
          <a:p>
            <a:fld id="{E2FF7759-803D-4F76-9AEC-98B2D9A07B0D}" type="slidenum">
              <a:rPr lang="en-US" smtClean="0"/>
              <a:t>70</a:t>
            </a:fld>
            <a:endParaRPr lang="en-US"/>
          </a:p>
        </p:txBody>
      </p:sp>
    </p:spTree>
    <p:extLst>
      <p:ext uri="{BB962C8B-B14F-4D97-AF65-F5344CB8AC3E}">
        <p14:creationId xmlns:p14="http://schemas.microsoft.com/office/powerpoint/2010/main" val="11953820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C4503-FDC1-7F2A-E40C-D0FFFE1A3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B96DD-E830-2C41-4DD5-BBFE0B7A0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02FE2-BB2A-B878-16C3-C4CA5448C1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CB4019-62C4-0480-61FE-E74E450447C4}"/>
              </a:ext>
            </a:extLst>
          </p:cNvPr>
          <p:cNvSpPr>
            <a:spLocks noGrp="1"/>
          </p:cNvSpPr>
          <p:nvPr>
            <p:ph type="sldNum" sz="quarter" idx="10"/>
          </p:nvPr>
        </p:nvSpPr>
        <p:spPr/>
        <p:txBody>
          <a:bodyPr/>
          <a:lstStyle/>
          <a:p>
            <a:fld id="{E2FF7759-803D-4F76-9AEC-98B2D9A07B0D}" type="slidenum">
              <a:rPr lang="en-US" smtClean="0"/>
              <a:t>71</a:t>
            </a:fld>
            <a:endParaRPr lang="en-US"/>
          </a:p>
        </p:txBody>
      </p:sp>
    </p:spTree>
    <p:extLst>
      <p:ext uri="{BB962C8B-B14F-4D97-AF65-F5344CB8AC3E}">
        <p14:creationId xmlns:p14="http://schemas.microsoft.com/office/powerpoint/2010/main" val="29370239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6902F-4FBB-81BE-824B-741CE68CE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7EBF8-C20A-9517-BF77-62C9A18F05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D9617-0862-ADFC-2BF8-1AEA3F85EE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574ED7-E759-0770-9A21-D469BA0D67A0}"/>
              </a:ext>
            </a:extLst>
          </p:cNvPr>
          <p:cNvSpPr>
            <a:spLocks noGrp="1"/>
          </p:cNvSpPr>
          <p:nvPr>
            <p:ph type="sldNum" sz="quarter" idx="10"/>
          </p:nvPr>
        </p:nvSpPr>
        <p:spPr/>
        <p:txBody>
          <a:bodyPr/>
          <a:lstStyle/>
          <a:p>
            <a:fld id="{E2FF7759-803D-4F76-9AEC-98B2D9A07B0D}" type="slidenum">
              <a:rPr lang="en-US" smtClean="0"/>
              <a:t>72</a:t>
            </a:fld>
            <a:endParaRPr lang="en-US"/>
          </a:p>
        </p:txBody>
      </p:sp>
    </p:spTree>
    <p:extLst>
      <p:ext uri="{BB962C8B-B14F-4D97-AF65-F5344CB8AC3E}">
        <p14:creationId xmlns:p14="http://schemas.microsoft.com/office/powerpoint/2010/main" val="8024946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015B-B4DC-DC4B-1BAB-83E1CA230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602B2-D64B-FE3C-3834-6F96C781F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1A0BF-26ED-141C-AE33-D87FCB6FA2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6C51B0-CEE2-8E12-DEA9-D4C951E6450C}"/>
              </a:ext>
            </a:extLst>
          </p:cNvPr>
          <p:cNvSpPr>
            <a:spLocks noGrp="1"/>
          </p:cNvSpPr>
          <p:nvPr>
            <p:ph type="sldNum" sz="quarter" idx="10"/>
          </p:nvPr>
        </p:nvSpPr>
        <p:spPr/>
        <p:txBody>
          <a:bodyPr/>
          <a:lstStyle/>
          <a:p>
            <a:fld id="{E2FF7759-803D-4F76-9AEC-98B2D9A07B0D}" type="slidenum">
              <a:rPr lang="en-US" smtClean="0"/>
              <a:t>74</a:t>
            </a:fld>
            <a:endParaRPr lang="en-US"/>
          </a:p>
        </p:txBody>
      </p:sp>
    </p:spTree>
    <p:extLst>
      <p:ext uri="{BB962C8B-B14F-4D97-AF65-F5344CB8AC3E}">
        <p14:creationId xmlns:p14="http://schemas.microsoft.com/office/powerpoint/2010/main" val="305412887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8E8B1-AA02-96BB-EB30-5394053A4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4E25B-0944-7238-A792-1AA1EDBB72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E43BB-D6EE-F7E1-D7E4-A57E066244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AC48B0-66A6-FF81-B1F8-A1B5FEFB6E23}"/>
              </a:ext>
            </a:extLst>
          </p:cNvPr>
          <p:cNvSpPr>
            <a:spLocks noGrp="1"/>
          </p:cNvSpPr>
          <p:nvPr>
            <p:ph type="sldNum" sz="quarter" idx="10"/>
          </p:nvPr>
        </p:nvSpPr>
        <p:spPr/>
        <p:txBody>
          <a:bodyPr/>
          <a:lstStyle/>
          <a:p>
            <a:fld id="{E2FF7759-803D-4F76-9AEC-98B2D9A07B0D}" type="slidenum">
              <a:rPr lang="en-US" smtClean="0"/>
              <a:t>75</a:t>
            </a:fld>
            <a:endParaRPr lang="en-US"/>
          </a:p>
        </p:txBody>
      </p:sp>
    </p:spTree>
    <p:extLst>
      <p:ext uri="{BB962C8B-B14F-4D97-AF65-F5344CB8AC3E}">
        <p14:creationId xmlns:p14="http://schemas.microsoft.com/office/powerpoint/2010/main" val="20663173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53501-893D-E4E4-4556-0B49BF709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8E241-DDDC-CC40-E949-19D7797E0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F2AADF-B36F-BC46-71C9-8EFAE83EA6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5EEDD3-21F9-676D-2517-5B877C9D8EB2}"/>
              </a:ext>
            </a:extLst>
          </p:cNvPr>
          <p:cNvSpPr>
            <a:spLocks noGrp="1"/>
          </p:cNvSpPr>
          <p:nvPr>
            <p:ph type="sldNum" sz="quarter" idx="10"/>
          </p:nvPr>
        </p:nvSpPr>
        <p:spPr/>
        <p:txBody>
          <a:bodyPr/>
          <a:lstStyle/>
          <a:p>
            <a:fld id="{E2FF7759-803D-4F76-9AEC-98B2D9A07B0D}" type="slidenum">
              <a:rPr lang="en-US" smtClean="0"/>
              <a:t>76</a:t>
            </a:fld>
            <a:endParaRPr lang="en-US"/>
          </a:p>
        </p:txBody>
      </p:sp>
    </p:spTree>
    <p:extLst>
      <p:ext uri="{BB962C8B-B14F-4D97-AF65-F5344CB8AC3E}">
        <p14:creationId xmlns:p14="http://schemas.microsoft.com/office/powerpoint/2010/main" val="395050041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C5AA-7945-77EA-F764-C55EB2F13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05FE0-FB6B-8597-B744-86B8EF7AE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C0740-C77A-23F1-396D-D82BF30AE2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1B6154-9DEA-7BFA-C6DF-D45A628FBA61}"/>
              </a:ext>
            </a:extLst>
          </p:cNvPr>
          <p:cNvSpPr>
            <a:spLocks noGrp="1"/>
          </p:cNvSpPr>
          <p:nvPr>
            <p:ph type="sldNum" sz="quarter" idx="10"/>
          </p:nvPr>
        </p:nvSpPr>
        <p:spPr/>
        <p:txBody>
          <a:bodyPr/>
          <a:lstStyle/>
          <a:p>
            <a:fld id="{E2FF7759-803D-4F76-9AEC-98B2D9A07B0D}" type="slidenum">
              <a:rPr lang="en-US" smtClean="0"/>
              <a:t>77</a:t>
            </a:fld>
            <a:endParaRPr lang="en-US"/>
          </a:p>
        </p:txBody>
      </p:sp>
    </p:spTree>
    <p:extLst>
      <p:ext uri="{BB962C8B-B14F-4D97-AF65-F5344CB8AC3E}">
        <p14:creationId xmlns:p14="http://schemas.microsoft.com/office/powerpoint/2010/main" val="41527477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8B7C2-DF05-547E-067E-83E1E569E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26FFE-033F-2934-4507-00690F43F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22560-851F-6364-3BFE-F036F4B0F916}"/>
              </a:ext>
            </a:extLst>
          </p:cNvPr>
          <p:cNvSpPr>
            <a:spLocks noGrp="1"/>
          </p:cNvSpPr>
          <p:nvPr>
            <p:ph type="body" idx="1"/>
          </p:nvPr>
        </p:nvSpPr>
        <p:spPr/>
        <p:txBody>
          <a:bodyPr/>
          <a:lstStyle/>
          <a:p>
            <a:r>
              <a:rPr lang="en-US" dirty="0"/>
              <a:t>Scale settings – Formation </a:t>
            </a:r>
            <a:r>
              <a:rPr lang="en-US" dirty="0" err="1"/>
              <a:t>pluralsight</a:t>
            </a:r>
            <a:endParaRPr lang="en-US" dirty="0"/>
          </a:p>
          <a:p>
            <a:r>
              <a:rPr lang="en-US" dirty="0"/>
              <a:t>Mais je ne les </a:t>
            </a:r>
            <a:r>
              <a:rPr lang="en-US" dirty="0" err="1"/>
              <a:t>trouve</a:t>
            </a:r>
            <a:r>
              <a:rPr lang="en-US" dirty="0"/>
              <a:t> pas </a:t>
            </a:r>
            <a:r>
              <a:rPr lang="en-US" dirty="0" err="1"/>
              <a:t>ces</a:t>
            </a:r>
            <a:r>
              <a:rPr lang="en-US" dirty="0"/>
              <a:t> scale settings au </a:t>
            </a:r>
            <a:r>
              <a:rPr lang="en-US" dirty="0" err="1"/>
              <a:t>niveua</a:t>
            </a:r>
            <a:r>
              <a:rPr lang="en-US" dirty="0"/>
              <a:t> du slot. </a:t>
            </a:r>
            <a:r>
              <a:rPr lang="en-US" dirty="0" err="1"/>
              <a:t>C’est</a:t>
            </a:r>
            <a:r>
              <a:rPr lang="en-US" dirty="0"/>
              <a:t> au </a:t>
            </a:r>
            <a:r>
              <a:rPr lang="en-US" dirty="0" err="1"/>
              <a:t>niveau</a:t>
            </a:r>
            <a:r>
              <a:rPr lang="en-US" dirty="0"/>
              <a:t> du plan </a:t>
            </a:r>
            <a:r>
              <a:rPr lang="en-US" dirty="0">
                <a:sym typeface="Wingdings" panose="05000000000000000000" pitchFamily="2" charset="2"/>
              </a:rPr>
              <a:t> </a:t>
            </a:r>
            <a:r>
              <a:rPr lang="en-US" dirty="0" err="1">
                <a:sym typeface="Wingdings" panose="05000000000000000000" pitchFamily="2" charset="2"/>
              </a:rPr>
              <a:t>donc</a:t>
            </a:r>
            <a:r>
              <a:rPr lang="en-US" dirty="0">
                <a:sym typeface="Wingdings" panose="05000000000000000000" pitchFamily="2" charset="2"/>
              </a:rPr>
              <a:t> non </a:t>
            </a:r>
            <a:r>
              <a:rPr lang="en-US" dirty="0" err="1">
                <a:sym typeface="Wingdings" panose="05000000000000000000" pitchFamily="2" charset="2"/>
              </a:rPr>
              <a:t>partageable</a:t>
            </a:r>
            <a:r>
              <a:rPr lang="en-US" dirty="0">
                <a:sym typeface="Wingdings" panose="05000000000000000000" pitchFamily="2" charset="2"/>
              </a:rPr>
              <a:t> </a:t>
            </a:r>
            <a:r>
              <a:rPr lang="en-US">
                <a:sym typeface="Wingdings" panose="05000000000000000000" pitchFamily="2" charset="2"/>
              </a:rPr>
              <a:t>entre slots….</a:t>
            </a:r>
            <a:endParaRPr lang="en-US" dirty="0"/>
          </a:p>
        </p:txBody>
      </p:sp>
      <p:sp>
        <p:nvSpPr>
          <p:cNvPr id="4" name="Slide Number Placeholder 3">
            <a:extLst>
              <a:ext uri="{FF2B5EF4-FFF2-40B4-BE49-F238E27FC236}">
                <a16:creationId xmlns:a16="http://schemas.microsoft.com/office/drawing/2014/main" id="{771B7436-CDB7-4E8B-B201-493D7FC93776}"/>
              </a:ext>
            </a:extLst>
          </p:cNvPr>
          <p:cNvSpPr>
            <a:spLocks noGrp="1"/>
          </p:cNvSpPr>
          <p:nvPr>
            <p:ph type="sldNum" sz="quarter" idx="10"/>
          </p:nvPr>
        </p:nvSpPr>
        <p:spPr/>
        <p:txBody>
          <a:bodyPr/>
          <a:lstStyle/>
          <a:p>
            <a:fld id="{E2FF7759-803D-4F76-9AEC-98B2D9A07B0D}" type="slidenum">
              <a:rPr lang="en-US" smtClean="0"/>
              <a:t>78</a:t>
            </a:fld>
            <a:endParaRPr lang="en-US"/>
          </a:p>
        </p:txBody>
      </p:sp>
    </p:spTree>
    <p:extLst>
      <p:ext uri="{BB962C8B-B14F-4D97-AF65-F5344CB8AC3E}">
        <p14:creationId xmlns:p14="http://schemas.microsoft.com/office/powerpoint/2010/main" val="208968368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86452-21BC-DA00-5DEF-675314F0E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DD137-EA68-651E-E6F2-7BE4E4950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5BB27-DA4A-0ADC-FF2C-7BD7460B4C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CE123B-E4A3-7903-DD79-50AC8F91F29A}"/>
              </a:ext>
            </a:extLst>
          </p:cNvPr>
          <p:cNvSpPr>
            <a:spLocks noGrp="1"/>
          </p:cNvSpPr>
          <p:nvPr>
            <p:ph type="sldNum" sz="quarter" idx="10"/>
          </p:nvPr>
        </p:nvSpPr>
        <p:spPr/>
        <p:txBody>
          <a:bodyPr/>
          <a:lstStyle/>
          <a:p>
            <a:fld id="{E2FF7759-803D-4F76-9AEC-98B2D9A07B0D}" type="slidenum">
              <a:rPr lang="en-US" smtClean="0"/>
              <a:t>79</a:t>
            </a:fld>
            <a:endParaRPr lang="en-US"/>
          </a:p>
        </p:txBody>
      </p:sp>
    </p:spTree>
    <p:extLst>
      <p:ext uri="{BB962C8B-B14F-4D97-AF65-F5344CB8AC3E}">
        <p14:creationId xmlns:p14="http://schemas.microsoft.com/office/powerpoint/2010/main" val="213408969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3F180-4C56-A025-1F29-AA8F9DD30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B5DEC-2532-E05F-4A70-19D5027E4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5C523-4BEA-FBBA-C742-C17DE188BF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007D0E-3417-279F-D0C1-FB1A904B9E7E}"/>
              </a:ext>
            </a:extLst>
          </p:cNvPr>
          <p:cNvSpPr>
            <a:spLocks noGrp="1"/>
          </p:cNvSpPr>
          <p:nvPr>
            <p:ph type="sldNum" sz="quarter" idx="10"/>
          </p:nvPr>
        </p:nvSpPr>
        <p:spPr/>
        <p:txBody>
          <a:bodyPr/>
          <a:lstStyle/>
          <a:p>
            <a:fld id="{E2FF7759-803D-4F76-9AEC-98B2D9A07B0D}" type="slidenum">
              <a:rPr lang="en-US" smtClean="0"/>
              <a:t>80</a:t>
            </a:fld>
            <a:endParaRPr lang="en-US"/>
          </a:p>
        </p:txBody>
      </p:sp>
    </p:spTree>
    <p:extLst>
      <p:ext uri="{BB962C8B-B14F-4D97-AF65-F5344CB8AC3E}">
        <p14:creationId xmlns:p14="http://schemas.microsoft.com/office/powerpoint/2010/main" val="3077160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A66F6-C618-DE0C-EAF7-1FBDC118D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A3723-EEB9-80F8-7929-5D9339CB1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6600F-FCA7-6C3F-0FC1-D3E0D1516B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74AB33-B81E-18FA-24FF-D1962945AF7B}"/>
              </a:ext>
            </a:extLst>
          </p:cNvPr>
          <p:cNvSpPr>
            <a:spLocks noGrp="1"/>
          </p:cNvSpPr>
          <p:nvPr>
            <p:ph type="sldNum" sz="quarter" idx="10"/>
          </p:nvPr>
        </p:nvSpPr>
        <p:spPr/>
        <p:txBody>
          <a:bodyPr/>
          <a:lstStyle/>
          <a:p>
            <a:fld id="{E2FF7759-803D-4F76-9AEC-98B2D9A07B0D}" type="slidenum">
              <a:rPr lang="en-US" smtClean="0"/>
              <a:t>81</a:t>
            </a:fld>
            <a:endParaRPr lang="en-US"/>
          </a:p>
        </p:txBody>
      </p:sp>
    </p:spTree>
    <p:extLst>
      <p:ext uri="{BB962C8B-B14F-4D97-AF65-F5344CB8AC3E}">
        <p14:creationId xmlns:p14="http://schemas.microsoft.com/office/powerpoint/2010/main" val="319118837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AD1F5-61CE-92BD-0BEE-8581FE909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DA0A0-13E8-9ADE-C660-5DBC99E29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2AE6A-A05F-6949-85B1-85BCDDF835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6D32F6-7B03-AB40-9AA2-D70270239E55}"/>
              </a:ext>
            </a:extLst>
          </p:cNvPr>
          <p:cNvSpPr>
            <a:spLocks noGrp="1"/>
          </p:cNvSpPr>
          <p:nvPr>
            <p:ph type="sldNum" sz="quarter" idx="10"/>
          </p:nvPr>
        </p:nvSpPr>
        <p:spPr/>
        <p:txBody>
          <a:bodyPr/>
          <a:lstStyle/>
          <a:p>
            <a:fld id="{E2FF7759-803D-4F76-9AEC-98B2D9A07B0D}" type="slidenum">
              <a:rPr lang="en-US" smtClean="0"/>
              <a:t>100</a:t>
            </a:fld>
            <a:endParaRPr lang="en-US"/>
          </a:p>
        </p:txBody>
      </p:sp>
    </p:spTree>
    <p:extLst>
      <p:ext uri="{BB962C8B-B14F-4D97-AF65-F5344CB8AC3E}">
        <p14:creationId xmlns:p14="http://schemas.microsoft.com/office/powerpoint/2010/main" val="29695161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u="none" dirty="0" err="1"/>
              <a:t>Consumption</a:t>
            </a:r>
            <a:endParaRPr lang="fr-FR" b="1" u="none" dirty="0"/>
          </a:p>
          <a:p>
            <a:r>
              <a:rPr lang="fr-FR" dirty="0" err="1"/>
              <a:t>scale</a:t>
            </a:r>
            <a:r>
              <a:rPr lang="fr-FR" dirty="0"/>
              <a:t> to </a:t>
            </a:r>
            <a:r>
              <a:rPr lang="fr-FR" dirty="0" err="1"/>
              <a:t>zero</a:t>
            </a:r>
            <a:r>
              <a:rPr lang="fr-FR" dirty="0"/>
              <a:t> → 💰 économie </a:t>
            </a:r>
          </a:p>
          <a:p>
            <a:r>
              <a:rPr lang="fr-FR" dirty="0" err="1"/>
              <a:t>scaling</a:t>
            </a:r>
            <a:r>
              <a:rPr lang="fr-FR" dirty="0"/>
              <a:t> 100% automatique </a:t>
            </a:r>
          </a:p>
          <a:p>
            <a:r>
              <a:rPr lang="fr-FR" dirty="0"/>
              <a:t>❗ cold start</a:t>
            </a:r>
          </a:p>
          <a:p>
            <a:endParaRPr lang="fr-FR" dirty="0"/>
          </a:p>
          <a:p>
            <a:r>
              <a:rPr lang="fr-FR" b="1" dirty="0"/>
              <a:t>Premium</a:t>
            </a:r>
          </a:p>
          <a:p>
            <a:r>
              <a:rPr lang="fr-FR" dirty="0"/>
              <a:t>pas de cold start </a:t>
            </a:r>
          </a:p>
          <a:p>
            <a:r>
              <a:rPr lang="fr-FR" dirty="0"/>
              <a:t>instances préchauffées </a:t>
            </a:r>
          </a:p>
          <a:p>
            <a:r>
              <a:rPr lang="fr-FR" dirty="0" err="1"/>
              <a:t>scaling</a:t>
            </a:r>
            <a:r>
              <a:rPr lang="fr-FR" dirty="0"/>
              <a:t> automatique + contrôle </a:t>
            </a:r>
          </a:p>
          <a:p>
            <a:r>
              <a:rPr lang="fr-FR" dirty="0"/>
              <a:t>💰 plus cher</a:t>
            </a:r>
          </a:p>
          <a:p>
            <a:endParaRPr lang="fr-FR" dirty="0"/>
          </a:p>
          <a:p>
            <a:r>
              <a:rPr lang="fr-FR" b="1" dirty="0"/>
              <a:t>App Service</a:t>
            </a:r>
          </a:p>
          <a:p>
            <a:r>
              <a:rPr lang="fr-FR" dirty="0"/>
              <a:t>pas </a:t>
            </a:r>
            <a:r>
              <a:rPr lang="fr-FR" dirty="0" err="1"/>
              <a:t>serverless</a:t>
            </a:r>
            <a:r>
              <a:rPr lang="fr-FR" dirty="0"/>
              <a:t> </a:t>
            </a:r>
          </a:p>
          <a:p>
            <a:r>
              <a:rPr lang="fr-FR" dirty="0"/>
              <a:t>pas de </a:t>
            </a:r>
            <a:r>
              <a:rPr lang="fr-FR" dirty="0" err="1"/>
              <a:t>scale</a:t>
            </a:r>
            <a:r>
              <a:rPr lang="fr-FR" dirty="0"/>
              <a:t> to </a:t>
            </a:r>
            <a:r>
              <a:rPr lang="fr-FR" dirty="0" err="1"/>
              <a:t>zero</a:t>
            </a:r>
            <a:r>
              <a:rPr lang="fr-FR" dirty="0"/>
              <a:t> </a:t>
            </a:r>
          </a:p>
          <a:p>
            <a:r>
              <a:rPr lang="fr-FR" dirty="0" err="1"/>
              <a:t>scaling</a:t>
            </a:r>
            <a:r>
              <a:rPr lang="fr-FR" dirty="0"/>
              <a:t> manuel ou via règles Azure Monitor </a:t>
            </a:r>
          </a:p>
          <a:p>
            <a:r>
              <a:rPr lang="fr-FR" dirty="0"/>
              <a:t>utilisé si infra déjà existante</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E2FF7759-803D-4F76-9AEC-98B2D9A07B0D}" type="slidenum">
              <a:rPr lang="en-US" smtClean="0"/>
              <a:t>105</a:t>
            </a:fld>
            <a:endParaRPr lang="en-US"/>
          </a:p>
        </p:txBody>
      </p:sp>
    </p:spTree>
    <p:extLst>
      <p:ext uri="{BB962C8B-B14F-4D97-AF65-F5344CB8AC3E}">
        <p14:creationId xmlns:p14="http://schemas.microsoft.com/office/powerpoint/2010/main" val="61933369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https://learn.microsoft.com/en-us/azure/azure-functions/functions-scale</a:t>
            </a:r>
          </a:p>
        </p:txBody>
      </p:sp>
      <p:sp>
        <p:nvSpPr>
          <p:cNvPr id="4" name="Espace réservé du numéro de diapositive 3"/>
          <p:cNvSpPr>
            <a:spLocks noGrp="1"/>
          </p:cNvSpPr>
          <p:nvPr>
            <p:ph type="sldNum" sz="quarter" idx="5"/>
          </p:nvPr>
        </p:nvSpPr>
        <p:spPr/>
        <p:txBody>
          <a:bodyPr/>
          <a:lstStyle/>
          <a:p>
            <a:fld id="{E2FF7759-803D-4F76-9AEC-98B2D9A07B0D}" type="slidenum">
              <a:rPr lang="en-US" smtClean="0"/>
              <a:t>106</a:t>
            </a:fld>
            <a:endParaRPr lang="en-US"/>
          </a:p>
        </p:txBody>
      </p:sp>
    </p:spTree>
    <p:extLst>
      <p:ext uri="{BB962C8B-B14F-4D97-AF65-F5344CB8AC3E}">
        <p14:creationId xmlns:p14="http://schemas.microsoft.com/office/powerpoint/2010/main" val="272894590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 NSG agit comme un </a:t>
            </a:r>
            <a:r>
              <a:rPr lang="fr-FR" b="1" dirty="0"/>
              <a:t>pare-feu réseau</a:t>
            </a:r>
            <a:endParaRPr lang="fr-FR" dirty="0"/>
          </a:p>
          <a:p>
            <a:r>
              <a:rPr lang="fr-FR" dirty="0"/>
              <a:t>Il permet de dire :</a:t>
            </a:r>
          </a:p>
          <a:p>
            <a:r>
              <a:rPr lang="fr-FR" dirty="0"/>
              <a:t>✔ autoriser IP X </a:t>
            </a:r>
          </a:p>
          <a:p>
            <a:r>
              <a:rPr lang="fr-FR" dirty="0"/>
              <a:t>❌ bloquer IP Y </a:t>
            </a:r>
          </a:p>
          <a:p>
            <a:r>
              <a:rPr lang="fr-FR" dirty="0"/>
              <a:t>✔ autoriser port 80 / 443 </a:t>
            </a:r>
          </a:p>
          <a:p>
            <a:r>
              <a:rPr lang="fr-FR" dirty="0"/>
              <a:t>❌ bloquer le reste</a:t>
            </a:r>
            <a:br>
              <a:rPr lang="fr-FR" dirty="0"/>
            </a:br>
            <a:br>
              <a:rPr lang="fr-FR" dirty="0"/>
            </a:br>
            <a:r>
              <a:rPr lang="fr-FR" b="1" dirty="0"/>
              <a:t>Où on utilise un NSG ?</a:t>
            </a:r>
          </a:p>
          <a:p>
            <a:r>
              <a:rPr lang="fr-FR" dirty="0"/>
              <a:t>👉 Sur :</a:t>
            </a:r>
          </a:p>
          <a:p>
            <a:r>
              <a:rPr lang="fr-FR" dirty="0"/>
              <a:t>une </a:t>
            </a:r>
            <a:r>
              <a:rPr lang="fr-FR" b="1" dirty="0"/>
              <a:t>VM</a:t>
            </a:r>
            <a:r>
              <a:rPr lang="fr-FR" dirty="0"/>
              <a:t> </a:t>
            </a:r>
          </a:p>
          <a:p>
            <a:r>
              <a:rPr lang="fr-FR" dirty="0"/>
              <a:t>un </a:t>
            </a:r>
            <a:r>
              <a:rPr lang="fr-FR" b="1" dirty="0" err="1"/>
              <a:t>subnet</a:t>
            </a:r>
            <a:r>
              <a:rPr lang="fr-FR" b="1" dirty="0"/>
              <a:t> (</a:t>
            </a:r>
            <a:r>
              <a:rPr lang="fr-FR" b="1" dirty="0" err="1"/>
              <a:t>VNet</a:t>
            </a:r>
            <a:r>
              <a:rPr lang="fr-FR" b="1" dirty="0"/>
              <a:t>)</a:t>
            </a:r>
            <a:r>
              <a:rPr lang="fr-FR" dirty="0"/>
              <a:t> </a:t>
            </a:r>
          </a:p>
          <a:p>
            <a:r>
              <a:rPr lang="fr-FR" dirty="0"/>
              <a:t>une </a:t>
            </a:r>
            <a:r>
              <a:rPr lang="fr-FR" b="1" dirty="0"/>
              <a:t>interface réseau</a:t>
            </a:r>
            <a:endParaRPr lang="fr-FR" dirty="0"/>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E2FF7759-803D-4F76-9AEC-98B2D9A07B0D}" type="slidenum">
              <a:rPr lang="en-US" smtClean="0"/>
              <a:t>109</a:t>
            </a:fld>
            <a:endParaRPr lang="en-US"/>
          </a:p>
        </p:txBody>
      </p:sp>
    </p:spTree>
    <p:extLst>
      <p:ext uri="{BB962C8B-B14F-4D97-AF65-F5344CB8AC3E}">
        <p14:creationId xmlns:p14="http://schemas.microsoft.com/office/powerpoint/2010/main" val="148713597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kern="1200" dirty="0" err="1">
                <a:solidFill>
                  <a:schemeClr val="tx1"/>
                </a:solidFill>
                <a:latin typeface="+mn-lt"/>
                <a:ea typeface="+mn-ea"/>
                <a:cs typeface="+mn-cs"/>
              </a:rPr>
              <a:t>func</a:t>
            </a:r>
            <a:r>
              <a:rPr lang="fr-FR" sz="1200" b="1" kern="1200" dirty="0">
                <a:solidFill>
                  <a:schemeClr val="tx1"/>
                </a:solidFill>
                <a:latin typeface="+mn-lt"/>
                <a:ea typeface="+mn-ea"/>
                <a:cs typeface="+mn-cs"/>
              </a:rPr>
              <a:t> start</a:t>
            </a:r>
            <a:endParaRPr lang="fr-FR" b="1" dirty="0"/>
          </a:p>
          <a:p>
            <a:r>
              <a:rPr lang="fr-FR" dirty="0"/>
              <a:t>👉 lance en local uniquement</a:t>
            </a:r>
          </a:p>
          <a:p>
            <a:br>
              <a:rPr lang="fr-FR" dirty="0"/>
            </a:br>
            <a:endParaRPr lang="fr-FR" dirty="0"/>
          </a:p>
          <a:p>
            <a:r>
              <a:rPr lang="fr-FR" b="1" dirty="0"/>
              <a:t>❌ </a:t>
            </a:r>
            <a:r>
              <a:rPr lang="fr-FR" sz="1200" b="1" kern="1200" dirty="0" err="1">
                <a:solidFill>
                  <a:schemeClr val="tx1"/>
                </a:solidFill>
                <a:latin typeface="+mn-lt"/>
                <a:ea typeface="+mn-ea"/>
                <a:cs typeface="+mn-cs"/>
              </a:rPr>
              <a:t>az</a:t>
            </a:r>
            <a:r>
              <a:rPr lang="fr-FR" sz="1200" b="1" kern="1200" dirty="0">
                <a:solidFill>
                  <a:schemeClr val="tx1"/>
                </a:solidFill>
                <a:latin typeface="+mn-lt"/>
                <a:ea typeface="+mn-ea"/>
                <a:cs typeface="+mn-cs"/>
              </a:rPr>
              <a:t> </a:t>
            </a:r>
            <a:r>
              <a:rPr lang="fr-FR" sz="1200" b="1" kern="1200" dirty="0" err="1">
                <a:solidFill>
                  <a:schemeClr val="tx1"/>
                </a:solidFill>
                <a:latin typeface="+mn-lt"/>
                <a:ea typeface="+mn-ea"/>
                <a:cs typeface="+mn-cs"/>
              </a:rPr>
              <a:t>webapp</a:t>
            </a:r>
            <a:r>
              <a:rPr lang="fr-FR" sz="1200" b="1" kern="1200" dirty="0">
                <a:solidFill>
                  <a:schemeClr val="tx1"/>
                </a:solidFill>
                <a:latin typeface="+mn-lt"/>
                <a:ea typeface="+mn-ea"/>
                <a:cs typeface="+mn-cs"/>
              </a:rPr>
              <a:t> up</a:t>
            </a:r>
            <a:endParaRPr lang="fr-FR" b="1" dirty="0"/>
          </a:p>
          <a:p>
            <a:r>
              <a:rPr lang="fr-FR" dirty="0"/>
              <a:t>👉 déploie une Web App classique (pas spécifique </a:t>
            </a:r>
            <a:r>
              <a:rPr lang="fr-FR" dirty="0" err="1"/>
              <a:t>Functions</a:t>
            </a:r>
            <a:r>
              <a:rPr lang="fr-FR" dirty="0"/>
              <a:t>)</a:t>
            </a:r>
          </a:p>
          <a:p>
            <a:br>
              <a:rPr lang="fr-FR" dirty="0"/>
            </a:br>
            <a:endParaRPr lang="fr-FR" dirty="0"/>
          </a:p>
          <a:p>
            <a:r>
              <a:rPr lang="fr-FR" b="1" dirty="0"/>
              <a:t>❌ </a:t>
            </a:r>
            <a:r>
              <a:rPr lang="fr-FR" sz="1200" b="1" kern="1200" dirty="0" err="1">
                <a:solidFill>
                  <a:schemeClr val="tx1"/>
                </a:solidFill>
                <a:latin typeface="+mn-lt"/>
                <a:ea typeface="+mn-ea"/>
                <a:cs typeface="+mn-cs"/>
              </a:rPr>
              <a:t>dotnet</a:t>
            </a:r>
            <a:r>
              <a:rPr lang="fr-FR" sz="1200" b="1" kern="1200" dirty="0">
                <a:solidFill>
                  <a:schemeClr val="tx1"/>
                </a:solidFill>
                <a:latin typeface="+mn-lt"/>
                <a:ea typeface="+mn-ea"/>
                <a:cs typeface="+mn-cs"/>
              </a:rPr>
              <a:t> </a:t>
            </a:r>
            <a:r>
              <a:rPr lang="fr-FR" sz="1200" b="1" kern="1200" dirty="0" err="1">
                <a:solidFill>
                  <a:schemeClr val="tx1"/>
                </a:solidFill>
                <a:latin typeface="+mn-lt"/>
                <a:ea typeface="+mn-ea"/>
                <a:cs typeface="+mn-cs"/>
              </a:rPr>
              <a:t>publish</a:t>
            </a:r>
            <a:endParaRPr lang="fr-FR" b="1" dirty="0"/>
          </a:p>
          <a:p>
            <a:r>
              <a:rPr lang="fr-FR" dirty="0"/>
              <a:t>👉 compile le projet mais ne le déploie pas</a:t>
            </a:r>
          </a:p>
          <a:p>
            <a:endParaRPr lang="fr-FR" dirty="0"/>
          </a:p>
        </p:txBody>
      </p:sp>
      <p:sp>
        <p:nvSpPr>
          <p:cNvPr id="4" name="Espace réservé du numéro de diapositive 3"/>
          <p:cNvSpPr>
            <a:spLocks noGrp="1"/>
          </p:cNvSpPr>
          <p:nvPr>
            <p:ph type="sldNum" sz="quarter" idx="5"/>
          </p:nvPr>
        </p:nvSpPr>
        <p:spPr/>
        <p:txBody>
          <a:bodyPr/>
          <a:lstStyle/>
          <a:p>
            <a:fld id="{E2FF7759-803D-4F76-9AEC-98B2D9A07B0D}" type="slidenum">
              <a:rPr lang="en-US" smtClean="0"/>
              <a:t>118</a:t>
            </a:fld>
            <a:endParaRPr lang="en-US"/>
          </a:p>
        </p:txBody>
      </p:sp>
    </p:spTree>
    <p:extLst>
      <p:ext uri="{BB962C8B-B14F-4D97-AF65-F5344CB8AC3E}">
        <p14:creationId xmlns:p14="http://schemas.microsoft.com/office/powerpoint/2010/main" val="183296805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9A8D1-21FF-C25C-34F0-5E60218056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5C1A67-6B99-485F-4CA0-D4246A15112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42CFEA5-85E9-8481-612D-0F669DDE3A2D}"/>
              </a:ext>
            </a:extLst>
          </p:cNvPr>
          <p:cNvSpPr>
            <a:spLocks noGrp="1"/>
          </p:cNvSpPr>
          <p:nvPr>
            <p:ph type="body" idx="1"/>
          </p:nvPr>
        </p:nvSpPr>
        <p:spPr/>
        <p:txBody>
          <a:bodyPr/>
          <a:lstStyle/>
          <a:p>
            <a:r>
              <a:rPr lang="fr-FR" sz="1200" b="1" kern="1200" dirty="0" err="1">
                <a:solidFill>
                  <a:schemeClr val="tx1"/>
                </a:solidFill>
                <a:latin typeface="+mn-lt"/>
                <a:ea typeface="+mn-ea"/>
                <a:cs typeface="+mn-cs"/>
              </a:rPr>
              <a:t>func</a:t>
            </a:r>
            <a:r>
              <a:rPr lang="fr-FR" sz="1200" b="1" kern="1200" dirty="0">
                <a:solidFill>
                  <a:schemeClr val="tx1"/>
                </a:solidFill>
                <a:latin typeface="+mn-lt"/>
                <a:ea typeface="+mn-ea"/>
                <a:cs typeface="+mn-cs"/>
              </a:rPr>
              <a:t> start</a:t>
            </a:r>
            <a:endParaRPr lang="fr-FR" b="1" dirty="0"/>
          </a:p>
          <a:p>
            <a:r>
              <a:rPr lang="fr-FR" dirty="0"/>
              <a:t>👉 lance en local uniquement</a:t>
            </a:r>
          </a:p>
          <a:p>
            <a:br>
              <a:rPr lang="fr-FR" dirty="0"/>
            </a:br>
            <a:endParaRPr lang="fr-FR" dirty="0"/>
          </a:p>
          <a:p>
            <a:r>
              <a:rPr lang="fr-FR" b="1" dirty="0"/>
              <a:t>❌ </a:t>
            </a:r>
            <a:r>
              <a:rPr lang="fr-FR" sz="1200" b="1" kern="1200" dirty="0" err="1">
                <a:solidFill>
                  <a:schemeClr val="tx1"/>
                </a:solidFill>
                <a:latin typeface="+mn-lt"/>
                <a:ea typeface="+mn-ea"/>
                <a:cs typeface="+mn-cs"/>
              </a:rPr>
              <a:t>az</a:t>
            </a:r>
            <a:r>
              <a:rPr lang="fr-FR" sz="1200" b="1" kern="1200" dirty="0">
                <a:solidFill>
                  <a:schemeClr val="tx1"/>
                </a:solidFill>
                <a:latin typeface="+mn-lt"/>
                <a:ea typeface="+mn-ea"/>
                <a:cs typeface="+mn-cs"/>
              </a:rPr>
              <a:t> </a:t>
            </a:r>
            <a:r>
              <a:rPr lang="fr-FR" sz="1200" b="1" kern="1200" dirty="0" err="1">
                <a:solidFill>
                  <a:schemeClr val="tx1"/>
                </a:solidFill>
                <a:latin typeface="+mn-lt"/>
                <a:ea typeface="+mn-ea"/>
                <a:cs typeface="+mn-cs"/>
              </a:rPr>
              <a:t>webapp</a:t>
            </a:r>
            <a:r>
              <a:rPr lang="fr-FR" sz="1200" b="1" kern="1200" dirty="0">
                <a:solidFill>
                  <a:schemeClr val="tx1"/>
                </a:solidFill>
                <a:latin typeface="+mn-lt"/>
                <a:ea typeface="+mn-ea"/>
                <a:cs typeface="+mn-cs"/>
              </a:rPr>
              <a:t> up</a:t>
            </a:r>
            <a:endParaRPr lang="fr-FR" b="1" dirty="0"/>
          </a:p>
          <a:p>
            <a:r>
              <a:rPr lang="fr-FR" dirty="0"/>
              <a:t>👉 déploie une Web App classique (pas spécifique </a:t>
            </a:r>
            <a:r>
              <a:rPr lang="fr-FR" dirty="0" err="1"/>
              <a:t>Functions</a:t>
            </a:r>
            <a:r>
              <a:rPr lang="fr-FR" dirty="0"/>
              <a:t>)</a:t>
            </a:r>
          </a:p>
          <a:p>
            <a:br>
              <a:rPr lang="fr-FR" dirty="0"/>
            </a:br>
            <a:endParaRPr lang="fr-FR" dirty="0"/>
          </a:p>
          <a:p>
            <a:r>
              <a:rPr lang="fr-FR" b="1" dirty="0"/>
              <a:t>❌ </a:t>
            </a:r>
            <a:r>
              <a:rPr lang="fr-FR" sz="1200" b="1" kern="1200" dirty="0" err="1">
                <a:solidFill>
                  <a:schemeClr val="tx1"/>
                </a:solidFill>
                <a:latin typeface="+mn-lt"/>
                <a:ea typeface="+mn-ea"/>
                <a:cs typeface="+mn-cs"/>
              </a:rPr>
              <a:t>dotnet</a:t>
            </a:r>
            <a:r>
              <a:rPr lang="fr-FR" sz="1200" b="1" kern="1200" dirty="0">
                <a:solidFill>
                  <a:schemeClr val="tx1"/>
                </a:solidFill>
                <a:latin typeface="+mn-lt"/>
                <a:ea typeface="+mn-ea"/>
                <a:cs typeface="+mn-cs"/>
              </a:rPr>
              <a:t> </a:t>
            </a:r>
            <a:r>
              <a:rPr lang="fr-FR" sz="1200" b="1" kern="1200" dirty="0" err="1">
                <a:solidFill>
                  <a:schemeClr val="tx1"/>
                </a:solidFill>
                <a:latin typeface="+mn-lt"/>
                <a:ea typeface="+mn-ea"/>
                <a:cs typeface="+mn-cs"/>
              </a:rPr>
              <a:t>publish</a:t>
            </a:r>
            <a:endParaRPr lang="fr-FR" b="1" dirty="0"/>
          </a:p>
          <a:p>
            <a:r>
              <a:rPr lang="fr-FR" dirty="0"/>
              <a:t>👉 compile le projet mais ne le déploie pas</a:t>
            </a:r>
          </a:p>
          <a:p>
            <a:endParaRPr lang="fr-FR" dirty="0"/>
          </a:p>
        </p:txBody>
      </p:sp>
      <p:sp>
        <p:nvSpPr>
          <p:cNvPr id="4" name="Espace réservé du numéro de diapositive 3">
            <a:extLst>
              <a:ext uri="{FF2B5EF4-FFF2-40B4-BE49-F238E27FC236}">
                <a16:creationId xmlns:a16="http://schemas.microsoft.com/office/drawing/2014/main" id="{7EB99C8C-FE52-4443-13CB-C0E3749F91DD}"/>
              </a:ext>
            </a:extLst>
          </p:cNvPr>
          <p:cNvSpPr>
            <a:spLocks noGrp="1"/>
          </p:cNvSpPr>
          <p:nvPr>
            <p:ph type="sldNum" sz="quarter" idx="5"/>
          </p:nvPr>
        </p:nvSpPr>
        <p:spPr/>
        <p:txBody>
          <a:bodyPr/>
          <a:lstStyle/>
          <a:p>
            <a:fld id="{E2FF7759-803D-4F76-9AEC-98B2D9A07B0D}" type="slidenum">
              <a:rPr lang="en-US" smtClean="0"/>
              <a:t>119</a:t>
            </a:fld>
            <a:endParaRPr lang="en-US"/>
          </a:p>
        </p:txBody>
      </p:sp>
    </p:spTree>
    <p:extLst>
      <p:ext uri="{BB962C8B-B14F-4D97-AF65-F5344CB8AC3E}">
        <p14:creationId xmlns:p14="http://schemas.microsoft.com/office/powerpoint/2010/main" val="4651773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83B63-379A-5D4C-23BC-7721333E7D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A0F5776-08AA-2D32-FF7D-F643F662E13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A382792-C6CE-2AC1-81AC-4032565D164A}"/>
              </a:ext>
            </a:extLst>
          </p:cNvPr>
          <p:cNvSpPr>
            <a:spLocks noGrp="1"/>
          </p:cNvSpPr>
          <p:nvPr>
            <p:ph type="body" idx="1"/>
          </p:nvPr>
        </p:nvSpPr>
        <p:spPr/>
        <p:txBody>
          <a:bodyPr/>
          <a:lstStyle/>
          <a:p>
            <a:r>
              <a:rPr lang="fr-FR" sz="1200" b="1" kern="1200" dirty="0" err="1">
                <a:solidFill>
                  <a:schemeClr val="tx1"/>
                </a:solidFill>
                <a:latin typeface="+mn-lt"/>
                <a:ea typeface="+mn-ea"/>
                <a:cs typeface="+mn-cs"/>
              </a:rPr>
              <a:t>func</a:t>
            </a:r>
            <a:r>
              <a:rPr lang="fr-FR" sz="1200" b="1" kern="1200" dirty="0">
                <a:solidFill>
                  <a:schemeClr val="tx1"/>
                </a:solidFill>
                <a:latin typeface="+mn-lt"/>
                <a:ea typeface="+mn-ea"/>
                <a:cs typeface="+mn-cs"/>
              </a:rPr>
              <a:t> start</a:t>
            </a:r>
            <a:endParaRPr lang="fr-FR" b="1" dirty="0"/>
          </a:p>
          <a:p>
            <a:r>
              <a:rPr lang="fr-FR" dirty="0"/>
              <a:t>👉 lance en local uniquement</a:t>
            </a:r>
          </a:p>
          <a:p>
            <a:br>
              <a:rPr lang="fr-FR" dirty="0"/>
            </a:br>
            <a:endParaRPr lang="fr-FR" dirty="0"/>
          </a:p>
          <a:p>
            <a:r>
              <a:rPr lang="fr-FR" b="1" dirty="0"/>
              <a:t>❌ </a:t>
            </a:r>
            <a:r>
              <a:rPr lang="fr-FR" sz="1200" b="1" kern="1200" dirty="0" err="1">
                <a:solidFill>
                  <a:schemeClr val="tx1"/>
                </a:solidFill>
                <a:latin typeface="+mn-lt"/>
                <a:ea typeface="+mn-ea"/>
                <a:cs typeface="+mn-cs"/>
              </a:rPr>
              <a:t>az</a:t>
            </a:r>
            <a:r>
              <a:rPr lang="fr-FR" sz="1200" b="1" kern="1200" dirty="0">
                <a:solidFill>
                  <a:schemeClr val="tx1"/>
                </a:solidFill>
                <a:latin typeface="+mn-lt"/>
                <a:ea typeface="+mn-ea"/>
                <a:cs typeface="+mn-cs"/>
              </a:rPr>
              <a:t> </a:t>
            </a:r>
            <a:r>
              <a:rPr lang="fr-FR" sz="1200" b="1" kern="1200" dirty="0" err="1">
                <a:solidFill>
                  <a:schemeClr val="tx1"/>
                </a:solidFill>
                <a:latin typeface="+mn-lt"/>
                <a:ea typeface="+mn-ea"/>
                <a:cs typeface="+mn-cs"/>
              </a:rPr>
              <a:t>webapp</a:t>
            </a:r>
            <a:r>
              <a:rPr lang="fr-FR" sz="1200" b="1" kern="1200" dirty="0">
                <a:solidFill>
                  <a:schemeClr val="tx1"/>
                </a:solidFill>
                <a:latin typeface="+mn-lt"/>
                <a:ea typeface="+mn-ea"/>
                <a:cs typeface="+mn-cs"/>
              </a:rPr>
              <a:t> up</a:t>
            </a:r>
            <a:endParaRPr lang="fr-FR" b="1" dirty="0"/>
          </a:p>
          <a:p>
            <a:r>
              <a:rPr lang="fr-FR" dirty="0"/>
              <a:t>👉 déploie une Web App classique (pas spécifique </a:t>
            </a:r>
            <a:r>
              <a:rPr lang="fr-FR" dirty="0" err="1"/>
              <a:t>Functions</a:t>
            </a:r>
            <a:r>
              <a:rPr lang="fr-FR" dirty="0"/>
              <a:t>)</a:t>
            </a:r>
          </a:p>
          <a:p>
            <a:br>
              <a:rPr lang="fr-FR" dirty="0"/>
            </a:br>
            <a:endParaRPr lang="fr-FR" dirty="0"/>
          </a:p>
          <a:p>
            <a:r>
              <a:rPr lang="fr-FR" b="1" dirty="0"/>
              <a:t>❌ </a:t>
            </a:r>
            <a:r>
              <a:rPr lang="fr-FR" sz="1200" b="1" kern="1200" dirty="0" err="1">
                <a:solidFill>
                  <a:schemeClr val="tx1"/>
                </a:solidFill>
                <a:latin typeface="+mn-lt"/>
                <a:ea typeface="+mn-ea"/>
                <a:cs typeface="+mn-cs"/>
              </a:rPr>
              <a:t>dotnet</a:t>
            </a:r>
            <a:r>
              <a:rPr lang="fr-FR" sz="1200" b="1" kern="1200" dirty="0">
                <a:solidFill>
                  <a:schemeClr val="tx1"/>
                </a:solidFill>
                <a:latin typeface="+mn-lt"/>
                <a:ea typeface="+mn-ea"/>
                <a:cs typeface="+mn-cs"/>
              </a:rPr>
              <a:t> </a:t>
            </a:r>
            <a:r>
              <a:rPr lang="fr-FR" sz="1200" b="1" kern="1200" dirty="0" err="1">
                <a:solidFill>
                  <a:schemeClr val="tx1"/>
                </a:solidFill>
                <a:latin typeface="+mn-lt"/>
                <a:ea typeface="+mn-ea"/>
                <a:cs typeface="+mn-cs"/>
              </a:rPr>
              <a:t>publish</a:t>
            </a:r>
            <a:endParaRPr lang="fr-FR" b="1" dirty="0"/>
          </a:p>
          <a:p>
            <a:r>
              <a:rPr lang="fr-FR" dirty="0"/>
              <a:t>👉 compile le projet mais ne le déploie pas</a:t>
            </a:r>
          </a:p>
          <a:p>
            <a:endParaRPr lang="fr-FR" dirty="0"/>
          </a:p>
        </p:txBody>
      </p:sp>
      <p:sp>
        <p:nvSpPr>
          <p:cNvPr id="4" name="Espace réservé du numéro de diapositive 3">
            <a:extLst>
              <a:ext uri="{FF2B5EF4-FFF2-40B4-BE49-F238E27FC236}">
                <a16:creationId xmlns:a16="http://schemas.microsoft.com/office/drawing/2014/main" id="{927B215D-FA24-DB33-A997-51B529E2CF41}"/>
              </a:ext>
            </a:extLst>
          </p:cNvPr>
          <p:cNvSpPr>
            <a:spLocks noGrp="1"/>
          </p:cNvSpPr>
          <p:nvPr>
            <p:ph type="sldNum" sz="quarter" idx="5"/>
          </p:nvPr>
        </p:nvSpPr>
        <p:spPr/>
        <p:txBody>
          <a:bodyPr/>
          <a:lstStyle/>
          <a:p>
            <a:fld id="{E2FF7759-803D-4F76-9AEC-98B2D9A07B0D}" type="slidenum">
              <a:rPr lang="en-US" smtClean="0"/>
              <a:t>120</a:t>
            </a:fld>
            <a:endParaRPr lang="en-US"/>
          </a:p>
        </p:txBody>
      </p:sp>
    </p:spTree>
    <p:extLst>
      <p:ext uri="{BB962C8B-B14F-4D97-AF65-F5344CB8AC3E}">
        <p14:creationId xmlns:p14="http://schemas.microsoft.com/office/powerpoint/2010/main" val="176432083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7A666-80E3-4769-DBB0-04209FDF851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48B47FB-D9D9-C1BE-16B5-7FEC21B6555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AA4E41-7C33-314D-D369-D00D61C9B70C}"/>
              </a:ext>
            </a:extLst>
          </p:cNvPr>
          <p:cNvSpPr>
            <a:spLocks noGrp="1"/>
          </p:cNvSpPr>
          <p:nvPr>
            <p:ph type="body" idx="1"/>
          </p:nvPr>
        </p:nvSpPr>
        <p:spPr/>
        <p:txBody>
          <a:bodyPr/>
          <a:lstStyle/>
          <a:p>
            <a:r>
              <a:rPr lang="fr-FR" sz="1200" b="1" kern="1200" dirty="0" err="1">
                <a:solidFill>
                  <a:schemeClr val="tx1"/>
                </a:solidFill>
                <a:latin typeface="+mn-lt"/>
                <a:ea typeface="+mn-ea"/>
                <a:cs typeface="+mn-cs"/>
              </a:rPr>
              <a:t>func</a:t>
            </a:r>
            <a:r>
              <a:rPr lang="fr-FR" sz="1200" b="1" kern="1200" dirty="0">
                <a:solidFill>
                  <a:schemeClr val="tx1"/>
                </a:solidFill>
                <a:latin typeface="+mn-lt"/>
                <a:ea typeface="+mn-ea"/>
                <a:cs typeface="+mn-cs"/>
              </a:rPr>
              <a:t> start</a:t>
            </a:r>
            <a:endParaRPr lang="fr-FR" b="1" dirty="0"/>
          </a:p>
          <a:p>
            <a:r>
              <a:rPr lang="fr-FR" dirty="0"/>
              <a:t>👉 lance en local uniquement</a:t>
            </a:r>
          </a:p>
          <a:p>
            <a:br>
              <a:rPr lang="fr-FR" dirty="0"/>
            </a:br>
            <a:endParaRPr lang="fr-FR" dirty="0"/>
          </a:p>
          <a:p>
            <a:r>
              <a:rPr lang="fr-FR" b="1" dirty="0"/>
              <a:t>❌ </a:t>
            </a:r>
            <a:r>
              <a:rPr lang="fr-FR" sz="1200" b="1" kern="1200" dirty="0" err="1">
                <a:solidFill>
                  <a:schemeClr val="tx1"/>
                </a:solidFill>
                <a:latin typeface="+mn-lt"/>
                <a:ea typeface="+mn-ea"/>
                <a:cs typeface="+mn-cs"/>
              </a:rPr>
              <a:t>az</a:t>
            </a:r>
            <a:r>
              <a:rPr lang="fr-FR" sz="1200" b="1" kern="1200" dirty="0">
                <a:solidFill>
                  <a:schemeClr val="tx1"/>
                </a:solidFill>
                <a:latin typeface="+mn-lt"/>
                <a:ea typeface="+mn-ea"/>
                <a:cs typeface="+mn-cs"/>
              </a:rPr>
              <a:t> </a:t>
            </a:r>
            <a:r>
              <a:rPr lang="fr-FR" sz="1200" b="1" kern="1200" dirty="0" err="1">
                <a:solidFill>
                  <a:schemeClr val="tx1"/>
                </a:solidFill>
                <a:latin typeface="+mn-lt"/>
                <a:ea typeface="+mn-ea"/>
                <a:cs typeface="+mn-cs"/>
              </a:rPr>
              <a:t>webapp</a:t>
            </a:r>
            <a:r>
              <a:rPr lang="fr-FR" sz="1200" b="1" kern="1200" dirty="0">
                <a:solidFill>
                  <a:schemeClr val="tx1"/>
                </a:solidFill>
                <a:latin typeface="+mn-lt"/>
                <a:ea typeface="+mn-ea"/>
                <a:cs typeface="+mn-cs"/>
              </a:rPr>
              <a:t> up</a:t>
            </a:r>
            <a:endParaRPr lang="fr-FR" b="1" dirty="0"/>
          </a:p>
          <a:p>
            <a:r>
              <a:rPr lang="fr-FR" dirty="0"/>
              <a:t>👉 déploie une Web App classique (pas spécifique </a:t>
            </a:r>
            <a:r>
              <a:rPr lang="fr-FR" dirty="0" err="1"/>
              <a:t>Functions</a:t>
            </a:r>
            <a:r>
              <a:rPr lang="fr-FR" dirty="0"/>
              <a:t>)</a:t>
            </a:r>
          </a:p>
          <a:p>
            <a:br>
              <a:rPr lang="fr-FR" dirty="0"/>
            </a:br>
            <a:endParaRPr lang="fr-FR" dirty="0"/>
          </a:p>
          <a:p>
            <a:r>
              <a:rPr lang="fr-FR" b="1" dirty="0"/>
              <a:t>❌ </a:t>
            </a:r>
            <a:r>
              <a:rPr lang="fr-FR" sz="1200" b="1" kern="1200" dirty="0" err="1">
                <a:solidFill>
                  <a:schemeClr val="tx1"/>
                </a:solidFill>
                <a:latin typeface="+mn-lt"/>
                <a:ea typeface="+mn-ea"/>
                <a:cs typeface="+mn-cs"/>
              </a:rPr>
              <a:t>dotnet</a:t>
            </a:r>
            <a:r>
              <a:rPr lang="fr-FR" sz="1200" b="1" kern="1200" dirty="0">
                <a:solidFill>
                  <a:schemeClr val="tx1"/>
                </a:solidFill>
                <a:latin typeface="+mn-lt"/>
                <a:ea typeface="+mn-ea"/>
                <a:cs typeface="+mn-cs"/>
              </a:rPr>
              <a:t> </a:t>
            </a:r>
            <a:r>
              <a:rPr lang="fr-FR" sz="1200" b="1" kern="1200" dirty="0" err="1">
                <a:solidFill>
                  <a:schemeClr val="tx1"/>
                </a:solidFill>
                <a:latin typeface="+mn-lt"/>
                <a:ea typeface="+mn-ea"/>
                <a:cs typeface="+mn-cs"/>
              </a:rPr>
              <a:t>publish</a:t>
            </a:r>
            <a:endParaRPr lang="fr-FR" b="1" dirty="0"/>
          </a:p>
          <a:p>
            <a:r>
              <a:rPr lang="fr-FR" dirty="0"/>
              <a:t>👉 compile le projet mais ne le déploie pas</a:t>
            </a:r>
          </a:p>
          <a:p>
            <a:endParaRPr lang="fr-FR" dirty="0"/>
          </a:p>
        </p:txBody>
      </p:sp>
      <p:sp>
        <p:nvSpPr>
          <p:cNvPr id="4" name="Espace réservé du numéro de diapositive 3">
            <a:extLst>
              <a:ext uri="{FF2B5EF4-FFF2-40B4-BE49-F238E27FC236}">
                <a16:creationId xmlns:a16="http://schemas.microsoft.com/office/drawing/2014/main" id="{1F39C08F-120A-6A79-C3BB-FFF0BB63CAE0}"/>
              </a:ext>
            </a:extLst>
          </p:cNvPr>
          <p:cNvSpPr>
            <a:spLocks noGrp="1"/>
          </p:cNvSpPr>
          <p:nvPr>
            <p:ph type="sldNum" sz="quarter" idx="5"/>
          </p:nvPr>
        </p:nvSpPr>
        <p:spPr/>
        <p:txBody>
          <a:bodyPr/>
          <a:lstStyle/>
          <a:p>
            <a:fld id="{E2FF7759-803D-4F76-9AEC-98B2D9A07B0D}" type="slidenum">
              <a:rPr lang="en-US" smtClean="0"/>
              <a:t>121</a:t>
            </a:fld>
            <a:endParaRPr lang="en-US"/>
          </a:p>
        </p:txBody>
      </p:sp>
    </p:spTree>
    <p:extLst>
      <p:ext uri="{BB962C8B-B14F-4D97-AF65-F5344CB8AC3E}">
        <p14:creationId xmlns:p14="http://schemas.microsoft.com/office/powerpoint/2010/main" val="25933353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ADFF2-E19B-336B-2872-535559BFB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66A73-7036-4E1B-654B-235DE9E04F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29458E-98BF-1D97-F02B-7361B2764C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92386F-B4C5-0417-CE62-A44A39F7BBC1}"/>
              </a:ext>
            </a:extLst>
          </p:cNvPr>
          <p:cNvSpPr>
            <a:spLocks noGrp="1"/>
          </p:cNvSpPr>
          <p:nvPr>
            <p:ph type="sldNum" sz="quarter" idx="10"/>
          </p:nvPr>
        </p:nvSpPr>
        <p:spPr/>
        <p:txBody>
          <a:bodyPr/>
          <a:lstStyle/>
          <a:p>
            <a:fld id="{E2FF7759-803D-4F76-9AEC-98B2D9A07B0D}" type="slidenum">
              <a:rPr lang="en-US" smtClean="0"/>
              <a:t>123</a:t>
            </a:fld>
            <a:endParaRPr lang="en-US"/>
          </a:p>
        </p:txBody>
      </p:sp>
    </p:spTree>
    <p:extLst>
      <p:ext uri="{BB962C8B-B14F-4D97-AF65-F5344CB8AC3E}">
        <p14:creationId xmlns:p14="http://schemas.microsoft.com/office/powerpoint/2010/main" val="371240015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10B8E-835B-95C5-16F7-D4308F45B6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08777-6CBB-177F-C1F5-E1002DDC6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47C87-1CFB-6D96-4765-9122DA825988}"/>
              </a:ext>
            </a:extLst>
          </p:cNvPr>
          <p:cNvSpPr>
            <a:spLocks noGrp="1"/>
          </p:cNvSpPr>
          <p:nvPr>
            <p:ph type="body" idx="1"/>
          </p:nvPr>
        </p:nvSpPr>
        <p:spPr/>
        <p:txBody>
          <a:bodyPr/>
          <a:lstStyle/>
          <a:p>
            <a:r>
              <a:rPr lang="fr-FR" dirty="0"/>
              <a:t>🔓 Le serveur envoie sa </a:t>
            </a:r>
            <a:r>
              <a:rPr lang="fr-FR" b="1" dirty="0"/>
              <a:t>clé publique</a:t>
            </a:r>
            <a:r>
              <a:rPr lang="fr-FR" dirty="0"/>
              <a:t> </a:t>
            </a:r>
          </a:p>
          <a:p>
            <a:r>
              <a:rPr lang="fr-FR" dirty="0"/>
              <a:t>🔐 Le client génère une </a:t>
            </a:r>
            <a:r>
              <a:rPr lang="fr-FR" b="1" dirty="0"/>
              <a:t>clé symétrique</a:t>
            </a:r>
            <a:r>
              <a:rPr lang="fr-FR" dirty="0"/>
              <a:t> </a:t>
            </a:r>
          </a:p>
          <a:p>
            <a:r>
              <a:rPr lang="fr-FR" dirty="0"/>
              <a:t>🔒 Le client chiffre cette clé avec la clé publique </a:t>
            </a:r>
          </a:p>
          <a:p>
            <a:r>
              <a:rPr lang="fr-FR" dirty="0"/>
              <a:t>🔓 Le serveur déchiffre avec sa clé privée </a:t>
            </a:r>
          </a:p>
          <a:p>
            <a:r>
              <a:rPr lang="fr-FR" dirty="0"/>
              <a:t>⚡ Les échanges utilisent la clé symétrique</a:t>
            </a:r>
          </a:p>
          <a:p>
            <a:endParaRPr lang="en-US" dirty="0"/>
          </a:p>
        </p:txBody>
      </p:sp>
      <p:sp>
        <p:nvSpPr>
          <p:cNvPr id="4" name="Slide Number Placeholder 3">
            <a:extLst>
              <a:ext uri="{FF2B5EF4-FFF2-40B4-BE49-F238E27FC236}">
                <a16:creationId xmlns:a16="http://schemas.microsoft.com/office/drawing/2014/main" id="{EE25B21C-1DEB-5492-4EE2-5BCCE13CC935}"/>
              </a:ext>
            </a:extLst>
          </p:cNvPr>
          <p:cNvSpPr>
            <a:spLocks noGrp="1"/>
          </p:cNvSpPr>
          <p:nvPr>
            <p:ph type="sldNum" sz="quarter" idx="10"/>
          </p:nvPr>
        </p:nvSpPr>
        <p:spPr/>
        <p:txBody>
          <a:bodyPr/>
          <a:lstStyle/>
          <a:p>
            <a:fld id="{E2FF7759-803D-4F76-9AEC-98B2D9A07B0D}" type="slidenum">
              <a:rPr lang="en-US" smtClean="0"/>
              <a:t>124</a:t>
            </a:fld>
            <a:endParaRPr lang="en-US"/>
          </a:p>
        </p:txBody>
      </p:sp>
    </p:spTree>
    <p:extLst>
      <p:ext uri="{BB962C8B-B14F-4D97-AF65-F5344CB8AC3E}">
        <p14:creationId xmlns:p14="http://schemas.microsoft.com/office/powerpoint/2010/main" val="260987497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AABF0-3F1C-6B48-088B-7572844E9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3732D-5A76-939D-680D-47427945D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14F04-4CD2-B102-D70F-1C24978A38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5C6C60-30D6-BD80-C870-9C003808BBD8}"/>
              </a:ext>
            </a:extLst>
          </p:cNvPr>
          <p:cNvSpPr>
            <a:spLocks noGrp="1"/>
          </p:cNvSpPr>
          <p:nvPr>
            <p:ph type="sldNum" sz="quarter" idx="10"/>
          </p:nvPr>
        </p:nvSpPr>
        <p:spPr/>
        <p:txBody>
          <a:bodyPr/>
          <a:lstStyle/>
          <a:p>
            <a:fld id="{E2FF7759-803D-4F76-9AEC-98B2D9A07B0D}" type="slidenum">
              <a:rPr lang="en-US" smtClean="0"/>
              <a:t>125</a:t>
            </a:fld>
            <a:endParaRPr lang="en-US"/>
          </a:p>
        </p:txBody>
      </p:sp>
    </p:spTree>
    <p:extLst>
      <p:ext uri="{BB962C8B-B14F-4D97-AF65-F5344CB8AC3E}">
        <p14:creationId xmlns:p14="http://schemas.microsoft.com/office/powerpoint/2010/main" val="117048694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67EDD-07D3-C56D-3C54-68D6403A0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39559-DDB1-E87C-F0CC-69D7D4E59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A31A4-1F15-E339-0C68-7033A10220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882F5B-FF12-78BA-089C-C7E580344373}"/>
              </a:ext>
            </a:extLst>
          </p:cNvPr>
          <p:cNvSpPr>
            <a:spLocks noGrp="1"/>
          </p:cNvSpPr>
          <p:nvPr>
            <p:ph type="sldNum" sz="quarter" idx="10"/>
          </p:nvPr>
        </p:nvSpPr>
        <p:spPr/>
        <p:txBody>
          <a:bodyPr/>
          <a:lstStyle/>
          <a:p>
            <a:fld id="{E2FF7759-803D-4F76-9AEC-98B2D9A07B0D}" type="slidenum">
              <a:rPr lang="en-US" smtClean="0"/>
              <a:t>126</a:t>
            </a:fld>
            <a:endParaRPr lang="en-US"/>
          </a:p>
        </p:txBody>
      </p:sp>
    </p:spTree>
    <p:extLst>
      <p:ext uri="{BB962C8B-B14F-4D97-AF65-F5344CB8AC3E}">
        <p14:creationId xmlns:p14="http://schemas.microsoft.com/office/powerpoint/2010/main" val="51192481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3C7DC-A109-A9D5-D419-A98CBE539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F1090-E041-59A9-3C85-15CAAAE09A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F1D1B-212B-E2D9-C44C-9AD5F1C35F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F70C09-B9A5-9792-BBB0-36A160C6398B}"/>
              </a:ext>
            </a:extLst>
          </p:cNvPr>
          <p:cNvSpPr>
            <a:spLocks noGrp="1"/>
          </p:cNvSpPr>
          <p:nvPr>
            <p:ph type="sldNum" sz="quarter" idx="10"/>
          </p:nvPr>
        </p:nvSpPr>
        <p:spPr/>
        <p:txBody>
          <a:bodyPr/>
          <a:lstStyle/>
          <a:p>
            <a:fld id="{E2FF7759-803D-4F76-9AEC-98B2D9A07B0D}" type="slidenum">
              <a:rPr lang="en-US" smtClean="0"/>
              <a:t>127</a:t>
            </a:fld>
            <a:endParaRPr lang="en-US"/>
          </a:p>
        </p:txBody>
      </p:sp>
    </p:spTree>
    <p:extLst>
      <p:ext uri="{BB962C8B-B14F-4D97-AF65-F5344CB8AC3E}">
        <p14:creationId xmlns:p14="http://schemas.microsoft.com/office/powerpoint/2010/main" val="144376537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768D9-F548-0E3A-9DBA-AD6D60D5C3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820AE-CDDA-0F96-6D4A-9A4B0D186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F05F82-3E2F-A4DB-A49F-5F1AB62344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80216D-EF6D-C255-D9E6-FC2912C4288F}"/>
              </a:ext>
            </a:extLst>
          </p:cNvPr>
          <p:cNvSpPr>
            <a:spLocks noGrp="1"/>
          </p:cNvSpPr>
          <p:nvPr>
            <p:ph type="sldNum" sz="quarter" idx="10"/>
          </p:nvPr>
        </p:nvSpPr>
        <p:spPr/>
        <p:txBody>
          <a:bodyPr/>
          <a:lstStyle/>
          <a:p>
            <a:fld id="{E2FF7759-803D-4F76-9AEC-98B2D9A07B0D}" type="slidenum">
              <a:rPr lang="en-US" smtClean="0"/>
              <a:t>128</a:t>
            </a:fld>
            <a:endParaRPr lang="en-US"/>
          </a:p>
        </p:txBody>
      </p:sp>
    </p:spTree>
    <p:extLst>
      <p:ext uri="{BB962C8B-B14F-4D97-AF65-F5344CB8AC3E}">
        <p14:creationId xmlns:p14="http://schemas.microsoft.com/office/powerpoint/2010/main" val="258500746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E8AA7-792A-6634-FB07-E98B42217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744F62-AA82-9BBF-CCEB-86ACD7B66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180EA0-8882-6EBD-CEE8-06C84484AE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1F72D2-DDB1-4C85-9A62-5375DBD3ED7B}"/>
              </a:ext>
            </a:extLst>
          </p:cNvPr>
          <p:cNvSpPr>
            <a:spLocks noGrp="1"/>
          </p:cNvSpPr>
          <p:nvPr>
            <p:ph type="sldNum" sz="quarter" idx="10"/>
          </p:nvPr>
        </p:nvSpPr>
        <p:spPr/>
        <p:txBody>
          <a:bodyPr/>
          <a:lstStyle/>
          <a:p>
            <a:fld id="{E2FF7759-803D-4F76-9AEC-98B2D9A07B0D}" type="slidenum">
              <a:rPr lang="en-US" smtClean="0"/>
              <a:t>130</a:t>
            </a:fld>
            <a:endParaRPr lang="en-US"/>
          </a:p>
        </p:txBody>
      </p:sp>
    </p:spTree>
    <p:extLst>
      <p:ext uri="{BB962C8B-B14F-4D97-AF65-F5344CB8AC3E}">
        <p14:creationId xmlns:p14="http://schemas.microsoft.com/office/powerpoint/2010/main" val="407220413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4A99E-370E-D5E9-4E4A-B00C26328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2B190-C5F9-EEDD-CE17-CCBEB440C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0BABB-8885-EC1A-8814-0987446296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1C4CDE-1AB4-0F94-749B-11F2030578B1}"/>
              </a:ext>
            </a:extLst>
          </p:cNvPr>
          <p:cNvSpPr>
            <a:spLocks noGrp="1"/>
          </p:cNvSpPr>
          <p:nvPr>
            <p:ph type="sldNum" sz="quarter" idx="10"/>
          </p:nvPr>
        </p:nvSpPr>
        <p:spPr/>
        <p:txBody>
          <a:bodyPr/>
          <a:lstStyle/>
          <a:p>
            <a:fld id="{E2FF7759-803D-4F76-9AEC-98B2D9A07B0D}" type="slidenum">
              <a:rPr lang="en-US" smtClean="0"/>
              <a:t>131</a:t>
            </a:fld>
            <a:endParaRPr lang="en-US"/>
          </a:p>
        </p:txBody>
      </p:sp>
    </p:spTree>
    <p:extLst>
      <p:ext uri="{BB962C8B-B14F-4D97-AF65-F5344CB8AC3E}">
        <p14:creationId xmlns:p14="http://schemas.microsoft.com/office/powerpoint/2010/main" val="227808841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D03BA-B2BD-939F-65FB-13EF6363A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FDA2BB-494A-D47C-2779-E87000278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2EEDE-1345-F9A5-43FB-E0B4DE194C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970BB1-8459-C27D-FF09-B0FEA9110CC3}"/>
              </a:ext>
            </a:extLst>
          </p:cNvPr>
          <p:cNvSpPr>
            <a:spLocks noGrp="1"/>
          </p:cNvSpPr>
          <p:nvPr>
            <p:ph type="sldNum" sz="quarter" idx="10"/>
          </p:nvPr>
        </p:nvSpPr>
        <p:spPr/>
        <p:txBody>
          <a:bodyPr/>
          <a:lstStyle/>
          <a:p>
            <a:fld id="{E2FF7759-803D-4F76-9AEC-98B2D9A07B0D}" type="slidenum">
              <a:rPr lang="en-US" smtClean="0"/>
              <a:t>132</a:t>
            </a:fld>
            <a:endParaRPr lang="en-US"/>
          </a:p>
        </p:txBody>
      </p:sp>
    </p:spTree>
    <p:extLst>
      <p:ext uri="{BB962C8B-B14F-4D97-AF65-F5344CB8AC3E}">
        <p14:creationId xmlns:p14="http://schemas.microsoft.com/office/powerpoint/2010/main" val="241984845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i="1" kern="1200" dirty="0">
                <a:solidFill>
                  <a:schemeClr val="tx1"/>
                </a:solidFill>
                <a:effectLst/>
                <a:latin typeface="Courier New" panose="02070309020205020404" pitchFamily="49" charset="0"/>
                <a:ea typeface="+mn-ea"/>
                <a:cs typeface="Courier New" panose="02070309020205020404" pitchFamily="49" charset="0"/>
              </a:rPr>
              <a:t>https://azure.microsoft.com/fr-fr/pricing/details/storage/blobs/</a:t>
            </a:r>
          </a:p>
          <a:p>
            <a:endParaRPr lang="fr-FR" sz="1200" i="1" kern="1200" dirty="0">
              <a:solidFill>
                <a:schemeClr val="tx1"/>
              </a:solidFill>
              <a:effectLst/>
              <a:latin typeface="Courier New" panose="02070309020205020404" pitchFamily="49" charset="0"/>
              <a:ea typeface="+mn-ea"/>
              <a:cs typeface="Courier New" panose="02070309020205020404" pitchFamily="49" charset="0"/>
            </a:endParaRPr>
          </a:p>
          <a:p>
            <a:r>
              <a:rPr lang="fr-FR" sz="1200" i="1" kern="1200" dirty="0">
                <a:solidFill>
                  <a:schemeClr val="tx1"/>
                </a:solidFill>
                <a:effectLst/>
                <a:latin typeface="Courier New" panose="02070309020205020404" pitchFamily="49" charset="0"/>
                <a:ea typeface="+mn-ea"/>
                <a:cs typeface="Courier New" panose="02070309020205020404" pitchFamily="49" charset="0"/>
              </a:rPr>
              <a:t>+---------+----------+---------------------------+------------------------------------+-------------------+</a:t>
            </a:r>
          </a:p>
          <a:p>
            <a:r>
              <a:rPr lang="fr-FR" sz="1200" i="1" kern="1200" dirty="0">
                <a:solidFill>
                  <a:schemeClr val="tx1"/>
                </a:solidFill>
                <a:effectLst/>
                <a:latin typeface="Courier New" panose="02070309020205020404" pitchFamily="49" charset="0"/>
                <a:ea typeface="+mn-ea"/>
                <a:cs typeface="Courier New" panose="02070309020205020404" pitchFamily="49" charset="0"/>
              </a:rPr>
              <a:t>| Tier    | Accès    | Coût stockage (€/Go/mois) | Coût accès (lecture)               | Usage             |</a:t>
            </a:r>
          </a:p>
          <a:p>
            <a:r>
              <a:rPr lang="fr-FR" sz="1200" i="1" kern="1200" dirty="0">
                <a:solidFill>
                  <a:schemeClr val="tx1"/>
                </a:solidFill>
                <a:effectLst/>
                <a:latin typeface="Courier New" panose="02070309020205020404" pitchFamily="49" charset="0"/>
                <a:ea typeface="+mn-ea"/>
                <a:cs typeface="Courier New" panose="02070309020205020404" pitchFamily="49" charset="0"/>
              </a:rPr>
              <a:t>+---------+----------+---------------------------+------------------------------------+-------------------+</a:t>
            </a:r>
          </a:p>
          <a:p>
            <a:r>
              <a:rPr lang="fr-FR" sz="1200" i="1" kern="1200" dirty="0">
                <a:solidFill>
                  <a:schemeClr val="tx1"/>
                </a:solidFill>
                <a:effectLst/>
                <a:latin typeface="Courier New" panose="02070309020205020404" pitchFamily="49" charset="0"/>
                <a:ea typeface="+mn-ea"/>
                <a:cs typeface="Courier New" panose="02070309020205020404" pitchFamily="49" charset="0"/>
              </a:rPr>
              <a:t>| Hot     | immédiat | ~0,018 €                  | très faible (~0,004 €/10k)         | accès fréquent    |</a:t>
            </a:r>
          </a:p>
          <a:p>
            <a:r>
              <a:rPr lang="fr-FR" sz="1200" i="1" kern="1200" dirty="0">
                <a:solidFill>
                  <a:schemeClr val="tx1"/>
                </a:solidFill>
                <a:effectLst/>
                <a:latin typeface="Courier New" panose="02070309020205020404" pitchFamily="49" charset="0"/>
                <a:ea typeface="+mn-ea"/>
                <a:cs typeface="Courier New" panose="02070309020205020404" pitchFamily="49" charset="0"/>
              </a:rPr>
              <a:t>| Cool    | immédiat | ~0,01 €                   | plus élevé (~0,01 €/10k)           | accès occasionnel |</a:t>
            </a:r>
          </a:p>
          <a:p>
            <a:r>
              <a:rPr lang="fr-FR" sz="1200" i="1" kern="1200" dirty="0">
                <a:solidFill>
                  <a:schemeClr val="tx1"/>
                </a:solidFill>
                <a:effectLst/>
                <a:latin typeface="Courier New" panose="02070309020205020404" pitchFamily="49" charset="0"/>
                <a:ea typeface="+mn-ea"/>
                <a:cs typeface="Courier New" panose="02070309020205020404" pitchFamily="49" charset="0"/>
              </a:rPr>
              <a:t>| Archive | lent     | ~0,002 €                  | élevé + réhydratation (~0,02 €/Go) | archivage         |</a:t>
            </a:r>
          </a:p>
          <a:p>
            <a:r>
              <a:rPr lang="fr-FR" sz="1200" i="1" kern="1200" dirty="0">
                <a:solidFill>
                  <a:schemeClr val="tx1"/>
                </a:solidFill>
                <a:effectLst/>
                <a:latin typeface="Courier New" panose="02070309020205020404" pitchFamily="49" charset="0"/>
                <a:ea typeface="+mn-ea"/>
                <a:cs typeface="Courier New" panose="02070309020205020404" pitchFamily="49" charset="0"/>
              </a:rPr>
              <a:t>+---------+----------+---------------------------+------------------------------------+-------------------+</a:t>
            </a:r>
          </a:p>
        </p:txBody>
      </p:sp>
      <p:sp>
        <p:nvSpPr>
          <p:cNvPr id="4" name="Espace réservé du numéro de diapositive 3"/>
          <p:cNvSpPr>
            <a:spLocks noGrp="1"/>
          </p:cNvSpPr>
          <p:nvPr>
            <p:ph type="sldNum" sz="quarter" idx="5"/>
          </p:nvPr>
        </p:nvSpPr>
        <p:spPr/>
        <p:txBody>
          <a:bodyPr/>
          <a:lstStyle/>
          <a:p>
            <a:fld id="{E2FF7759-803D-4F76-9AEC-98B2D9A07B0D}" type="slidenum">
              <a:rPr lang="en-US" smtClean="0"/>
              <a:t>168</a:t>
            </a:fld>
            <a:endParaRPr lang="en-US"/>
          </a:p>
        </p:txBody>
      </p:sp>
    </p:spTree>
    <p:extLst>
      <p:ext uri="{BB962C8B-B14F-4D97-AF65-F5344CB8AC3E}">
        <p14:creationId xmlns:p14="http://schemas.microsoft.com/office/powerpoint/2010/main" val="75953598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2FF7759-803D-4F76-9AEC-98B2D9A07B0D}" type="slidenum">
              <a:rPr lang="en-US" smtClean="0"/>
              <a:t>171</a:t>
            </a:fld>
            <a:endParaRPr lang="en-US"/>
          </a:p>
        </p:txBody>
      </p:sp>
    </p:spTree>
    <p:extLst>
      <p:ext uri="{BB962C8B-B14F-4D97-AF65-F5344CB8AC3E}">
        <p14:creationId xmlns:p14="http://schemas.microsoft.com/office/powerpoint/2010/main" val="258404181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2FF7759-803D-4F76-9AEC-98B2D9A07B0D}" type="slidenum">
              <a:rPr lang="en-US" smtClean="0"/>
              <a:t>180</a:t>
            </a:fld>
            <a:endParaRPr lang="en-US"/>
          </a:p>
        </p:txBody>
      </p:sp>
    </p:spTree>
    <p:extLst>
      <p:ext uri="{BB962C8B-B14F-4D97-AF65-F5344CB8AC3E}">
        <p14:creationId xmlns:p14="http://schemas.microsoft.com/office/powerpoint/2010/main" val="61567857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F47A9-0649-0C5A-B390-2754BB5F25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94810A-892D-D0F0-4211-BE82DC9E196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CC212B7-D174-0F14-C4AF-972C508FE6C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960F688-97F6-F6E8-B322-902D25033BB2}"/>
              </a:ext>
            </a:extLst>
          </p:cNvPr>
          <p:cNvSpPr>
            <a:spLocks noGrp="1"/>
          </p:cNvSpPr>
          <p:nvPr>
            <p:ph type="sldNum" sz="quarter" idx="5"/>
          </p:nvPr>
        </p:nvSpPr>
        <p:spPr/>
        <p:txBody>
          <a:bodyPr/>
          <a:lstStyle/>
          <a:p>
            <a:fld id="{E2FF7759-803D-4F76-9AEC-98B2D9A07B0D}" type="slidenum">
              <a:rPr lang="en-US" smtClean="0"/>
              <a:t>181</a:t>
            </a:fld>
            <a:endParaRPr lang="en-US"/>
          </a:p>
        </p:txBody>
      </p:sp>
    </p:spTree>
    <p:extLst>
      <p:ext uri="{BB962C8B-B14F-4D97-AF65-F5344CB8AC3E}">
        <p14:creationId xmlns:p14="http://schemas.microsoft.com/office/powerpoint/2010/main" val="328203100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Deux types : Metric alerts et Log alerts.</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Très utile en debug production.</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Important pour réduire les coûts.</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B517D-066A-3097-DB88-5DC1A45E9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416E0-000F-8758-6CED-CFD3107D11B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ABDCFBD-E570-54D6-3D25-ACB157059EE7}"/>
              </a:ext>
            </a:extLst>
          </p:cNvPr>
          <p:cNvSpPr>
            <a:spLocks noGrp="1"/>
          </p:cNvSpPr>
          <p:nvPr>
            <p:ph type="body" sz="quarter" idx="3"/>
          </p:nvPr>
        </p:nvSpPr>
        <p:spPr/>
        <p:txBody>
          <a:bodyPr/>
          <a:lstStyle/>
          <a:p>
            <a:endParaRPr/>
          </a:p>
          <a:p>
            <a:r>
              <a:t>Important pour réduire les coûts.</a:t>
            </a:r>
          </a:p>
        </p:txBody>
      </p:sp>
      <p:sp>
        <p:nvSpPr>
          <p:cNvPr id="4" name="Slide Number Placeholder 3">
            <a:extLst>
              <a:ext uri="{FF2B5EF4-FFF2-40B4-BE49-F238E27FC236}">
                <a16:creationId xmlns:a16="http://schemas.microsoft.com/office/drawing/2014/main" id="{5D5A19EF-D372-A19D-C287-4E2819EBD518}"/>
              </a:ext>
            </a:extLst>
          </p:cNvPr>
          <p:cNvSpPr>
            <a:spLocks noGrp="1"/>
          </p:cNvSpPr>
          <p:nvPr>
            <p:ph type="sldNum" sz="quarter" idx="5"/>
          </p:nvPr>
        </p:nvSpPr>
        <p:spPr/>
      </p:sp>
    </p:spTree>
    <p:extLst>
      <p:ext uri="{BB962C8B-B14F-4D97-AF65-F5344CB8AC3E}">
        <p14:creationId xmlns:p14="http://schemas.microsoft.com/office/powerpoint/2010/main" val="158054929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Requêtes, exceptions, dépendances, traces.</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Très utile pour diagnostiquer les lenteurs.</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Très important pour diagnostiquer les performances.</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Visualisation globale de l’architecture.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Différent d’Application Insights.</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Attention à ne pas utiliser l’interpolation de chaîne ($"").</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Ensuite, on configure les ressources pour envoyer leurs logs vers ce workspace.</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Application Insights est centré application, pas multi-ressources global.</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Utilisé avec KQL.</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Associé aux alertes.</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Préférer Blob ou Application Insights.</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805C9-5C9D-798A-F61C-76A36EBB7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9B4C53-CCAE-6089-22EC-82A0DC7C2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01A5E-9476-4855-2B66-5C255E0FCA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1AB9C2-F61D-DBF7-4081-8763364BDB70}"/>
              </a:ext>
            </a:extLst>
          </p:cNvPr>
          <p:cNvSpPr>
            <a:spLocks noGrp="1"/>
          </p:cNvSpPr>
          <p:nvPr>
            <p:ph type="sldNum" sz="quarter" idx="10"/>
          </p:nvPr>
        </p:nvSpPr>
        <p:spPr/>
        <p:txBody>
          <a:bodyPr/>
          <a:lstStyle/>
          <a:p>
            <a:fld id="{E2FF7759-803D-4F76-9AEC-98B2D9A07B0D}" type="slidenum">
              <a:rPr lang="en-US" smtClean="0"/>
              <a:t>202</a:t>
            </a:fld>
            <a:endParaRPr lang="en-US"/>
          </a:p>
        </p:txBody>
      </p:sp>
    </p:spTree>
    <p:extLst>
      <p:ext uri="{BB962C8B-B14F-4D97-AF65-F5344CB8AC3E}">
        <p14:creationId xmlns:p14="http://schemas.microsoft.com/office/powerpoint/2010/main" val="269280489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77071-1D2D-E148-2BE8-EBBCB925A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2B54C-1BB2-D95D-0BFA-89E7B3D53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86C85-BD1C-2263-1568-0E442ACE97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113E35-FF41-0F02-BEB5-A612E8E752B1}"/>
              </a:ext>
            </a:extLst>
          </p:cNvPr>
          <p:cNvSpPr>
            <a:spLocks noGrp="1"/>
          </p:cNvSpPr>
          <p:nvPr>
            <p:ph type="sldNum" sz="quarter" idx="10"/>
          </p:nvPr>
        </p:nvSpPr>
        <p:spPr/>
        <p:txBody>
          <a:bodyPr/>
          <a:lstStyle/>
          <a:p>
            <a:fld id="{E2FF7759-803D-4F76-9AEC-98B2D9A07B0D}" type="slidenum">
              <a:rPr lang="en-US" smtClean="0"/>
              <a:t>203</a:t>
            </a:fld>
            <a:endParaRPr lang="en-US"/>
          </a:p>
        </p:txBody>
      </p:sp>
    </p:spTree>
    <p:extLst>
      <p:ext uri="{BB962C8B-B14F-4D97-AF65-F5344CB8AC3E}">
        <p14:creationId xmlns:p14="http://schemas.microsoft.com/office/powerpoint/2010/main" val="257188173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7691-2C57-6DF5-51ED-9E28F5855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D76C5-BCC4-12DF-20EA-E22C5487F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9674F-8CDA-0FE3-010F-2ACDAC2AB9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4E13E2-0A6A-9376-4D30-C506ACB41163}"/>
              </a:ext>
            </a:extLst>
          </p:cNvPr>
          <p:cNvSpPr>
            <a:spLocks noGrp="1"/>
          </p:cNvSpPr>
          <p:nvPr>
            <p:ph type="sldNum" sz="quarter" idx="10"/>
          </p:nvPr>
        </p:nvSpPr>
        <p:spPr/>
        <p:txBody>
          <a:bodyPr/>
          <a:lstStyle/>
          <a:p>
            <a:fld id="{E2FF7759-803D-4F76-9AEC-98B2D9A07B0D}" type="slidenum">
              <a:rPr lang="en-US" smtClean="0"/>
              <a:t>204</a:t>
            </a:fld>
            <a:endParaRPr lang="en-US"/>
          </a:p>
        </p:txBody>
      </p:sp>
    </p:spTree>
    <p:extLst>
      <p:ext uri="{BB962C8B-B14F-4D97-AF65-F5344CB8AC3E}">
        <p14:creationId xmlns:p14="http://schemas.microsoft.com/office/powerpoint/2010/main" val="91482225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04B4D-503E-E64F-F482-168CBA77B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B1A16-45AC-308E-AF31-3B0CCE623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3B3B9-2E61-6CD4-CF64-57805F2FA6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2A29EB-BF2C-CF35-EFA2-AB2543BE5FB2}"/>
              </a:ext>
            </a:extLst>
          </p:cNvPr>
          <p:cNvSpPr>
            <a:spLocks noGrp="1"/>
          </p:cNvSpPr>
          <p:nvPr>
            <p:ph type="sldNum" sz="quarter" idx="10"/>
          </p:nvPr>
        </p:nvSpPr>
        <p:spPr/>
        <p:txBody>
          <a:bodyPr/>
          <a:lstStyle/>
          <a:p>
            <a:fld id="{E2FF7759-803D-4F76-9AEC-98B2D9A07B0D}" type="slidenum">
              <a:rPr lang="en-US" smtClean="0"/>
              <a:t>205</a:t>
            </a:fld>
            <a:endParaRPr lang="en-US"/>
          </a:p>
        </p:txBody>
      </p:sp>
    </p:spTree>
    <p:extLst>
      <p:ext uri="{BB962C8B-B14F-4D97-AF65-F5344CB8AC3E}">
        <p14:creationId xmlns:p14="http://schemas.microsoft.com/office/powerpoint/2010/main" val="402498753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E595A-6ABF-8727-6794-A9CFD8414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92C93-F6C7-7429-9DB7-01850348D7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E42A3-5BAE-7874-F29A-6162E4DB2D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2D3AFB-86EE-9F33-C490-61D9B11825E9}"/>
              </a:ext>
            </a:extLst>
          </p:cNvPr>
          <p:cNvSpPr>
            <a:spLocks noGrp="1"/>
          </p:cNvSpPr>
          <p:nvPr>
            <p:ph type="sldNum" sz="quarter" idx="10"/>
          </p:nvPr>
        </p:nvSpPr>
        <p:spPr/>
        <p:txBody>
          <a:bodyPr/>
          <a:lstStyle/>
          <a:p>
            <a:fld id="{E2FF7759-803D-4F76-9AEC-98B2D9A07B0D}" type="slidenum">
              <a:rPr lang="en-US" smtClean="0"/>
              <a:t>206</a:t>
            </a:fld>
            <a:endParaRPr lang="en-US"/>
          </a:p>
        </p:txBody>
      </p:sp>
    </p:spTree>
    <p:extLst>
      <p:ext uri="{BB962C8B-B14F-4D97-AF65-F5344CB8AC3E}">
        <p14:creationId xmlns:p14="http://schemas.microsoft.com/office/powerpoint/2010/main" val="230809532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F6493-FD0E-B501-DA39-85C302FB1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D18355-2358-6812-D9C0-976F453B6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3EFB4-B5C1-782A-81C1-D21D948A16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4725CC-70F5-0EA8-7AA9-58AF9F2CCF6A}"/>
              </a:ext>
            </a:extLst>
          </p:cNvPr>
          <p:cNvSpPr>
            <a:spLocks noGrp="1"/>
          </p:cNvSpPr>
          <p:nvPr>
            <p:ph type="sldNum" sz="quarter" idx="10"/>
          </p:nvPr>
        </p:nvSpPr>
        <p:spPr/>
        <p:txBody>
          <a:bodyPr/>
          <a:lstStyle/>
          <a:p>
            <a:fld id="{E2FF7759-803D-4F76-9AEC-98B2D9A07B0D}" type="slidenum">
              <a:rPr lang="en-US" smtClean="0"/>
              <a:t>207</a:t>
            </a:fld>
            <a:endParaRPr lang="en-US"/>
          </a:p>
        </p:txBody>
      </p:sp>
    </p:spTree>
    <p:extLst>
      <p:ext uri="{BB962C8B-B14F-4D97-AF65-F5344CB8AC3E}">
        <p14:creationId xmlns:p14="http://schemas.microsoft.com/office/powerpoint/2010/main" val="198268914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B0867-14B1-0F1F-26CE-C6C5ED805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88167-F166-A784-B00D-E412880537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07718-F944-1FAA-A9B8-8E99FC69BE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FAF235-9C89-76FB-9E23-2BBCBA6EB65A}"/>
              </a:ext>
            </a:extLst>
          </p:cNvPr>
          <p:cNvSpPr>
            <a:spLocks noGrp="1"/>
          </p:cNvSpPr>
          <p:nvPr>
            <p:ph type="sldNum" sz="quarter" idx="10"/>
          </p:nvPr>
        </p:nvSpPr>
        <p:spPr/>
        <p:txBody>
          <a:bodyPr/>
          <a:lstStyle/>
          <a:p>
            <a:fld id="{E2FF7759-803D-4F76-9AEC-98B2D9A07B0D}" type="slidenum">
              <a:rPr lang="en-US" smtClean="0"/>
              <a:t>208</a:t>
            </a:fld>
            <a:endParaRPr lang="en-US"/>
          </a:p>
        </p:txBody>
      </p:sp>
    </p:spTree>
    <p:extLst>
      <p:ext uri="{BB962C8B-B14F-4D97-AF65-F5344CB8AC3E}">
        <p14:creationId xmlns:p14="http://schemas.microsoft.com/office/powerpoint/2010/main" val="197961446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'Modéliser et partitionner des données sur Azure Cosmos DB'. C'est le modèle de choix pour la flexibilité et la scalabilité horizontale.</a:t>
            </a:r>
          </a:p>
        </p:txBody>
      </p:sp>
      <p:sp>
        <p:nvSpPr>
          <p:cNvPr id="4" name="Slide Number Placeholder 3"/>
          <p:cNvSpPr>
            <a:spLocks noGrp="1"/>
          </p:cNvSpPr>
          <p:nvPr>
            <p:ph type="sldNum" sz="quarter" idx="5"/>
          </p:nvPr>
        </p:nvSpPr>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Si vous omettez de fournir la propriété 'id' lors de l'insertion d'un document via le SDK .NET ou Java, le SDK génère automatiquement un identifiant unique sous la forme d'un GUID.</a:t>
            </a:r>
          </a:p>
        </p:txBody>
      </p:sp>
      <p:sp>
        <p:nvSpPr>
          <p:cNvPr id="4" name="Slide Number Placeholder 3"/>
          <p:cNvSpPr>
            <a:spLocks noGrp="1"/>
          </p:cNvSpPr>
          <p:nvPr>
            <p:ph type="sldNum" sz="quarter" idx="5"/>
          </p:nvPr>
        </p:nvSpPr>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'Unités de requête dans Azure Cosmos DB'. La lecture de base d'un document de 1 Ko à l'aide de son identifiant et de sa clé de partition correspond exactement à 1 RU.</a:t>
            </a:r>
          </a:p>
        </p:txBody>
      </p:sp>
      <p:sp>
        <p:nvSpPr>
          <p:cNvPr id="4" name="Slide Number Placeholder 3"/>
          <p:cNvSpPr>
            <a:spLocks noGrp="1"/>
          </p:cNvSpPr>
          <p:nvPr>
            <p:ph type="sldNum" sz="quarter" idx="5"/>
          </p:nvPr>
        </p:nvSpPr>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err="1"/>
              <a:t>Règle</a:t>
            </a:r>
            <a:r>
              <a:rPr dirty="0"/>
              <a:t> d'or AZ-204 : Pour </a:t>
            </a:r>
            <a:r>
              <a:rPr dirty="0" err="1"/>
              <a:t>optimiser</a:t>
            </a:r>
            <a:r>
              <a:rPr dirty="0"/>
              <a:t> les </a:t>
            </a:r>
            <a:r>
              <a:rPr dirty="0" err="1"/>
              <a:t>coûts</a:t>
            </a:r>
            <a:r>
              <a:rPr dirty="0"/>
              <a:t> </a:t>
            </a:r>
            <a:r>
              <a:rPr dirty="0" err="1"/>
              <a:t>applicatifs</a:t>
            </a:r>
            <a:r>
              <a:rPr dirty="0"/>
              <a:t>, </a:t>
            </a:r>
            <a:r>
              <a:rPr dirty="0" err="1"/>
              <a:t>favorisez</a:t>
            </a:r>
            <a:r>
              <a:rPr dirty="0"/>
              <a:t> </a:t>
            </a:r>
            <a:r>
              <a:rPr dirty="0" err="1"/>
              <a:t>toujours</a:t>
            </a:r>
            <a:r>
              <a:rPr dirty="0"/>
              <a:t> </a:t>
            </a:r>
            <a:r>
              <a:rPr dirty="0" err="1"/>
              <a:t>l'appel</a:t>
            </a:r>
            <a:r>
              <a:rPr dirty="0"/>
              <a:t> '</a:t>
            </a:r>
            <a:r>
              <a:rPr dirty="0" err="1"/>
              <a:t>ReadItemAsync</a:t>
            </a:r>
            <a:r>
              <a:rPr dirty="0"/>
              <a:t>' (Point Read) </a:t>
            </a:r>
            <a:r>
              <a:rPr dirty="0" err="1"/>
              <a:t>plutôt</a:t>
            </a:r>
            <a:r>
              <a:rPr dirty="0"/>
              <a:t> que '</a:t>
            </a:r>
            <a:r>
              <a:rPr dirty="0" err="1"/>
              <a:t>GetItemQueryIterator</a:t>
            </a:r>
            <a:r>
              <a:rPr dirty="0"/>
              <a:t>' (</a:t>
            </a:r>
            <a:r>
              <a:rPr dirty="0" err="1"/>
              <a:t>Requête</a:t>
            </a:r>
            <a:r>
              <a:rPr dirty="0"/>
              <a:t> SQL) </a:t>
            </a:r>
            <a:r>
              <a:rPr dirty="0" err="1"/>
              <a:t>lorsque</a:t>
            </a:r>
            <a:r>
              <a:rPr dirty="0"/>
              <a:t> </a:t>
            </a:r>
            <a:r>
              <a:rPr dirty="0" err="1"/>
              <a:t>vous</a:t>
            </a:r>
            <a:r>
              <a:rPr dirty="0"/>
              <a:t> </a:t>
            </a:r>
            <a:r>
              <a:rPr dirty="0" err="1"/>
              <a:t>connaissez</a:t>
            </a:r>
            <a:r>
              <a:rPr dirty="0"/>
              <a:t> la </a:t>
            </a:r>
            <a:r>
              <a:rPr dirty="0" err="1"/>
              <a:t>clé</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'Choix d'une clé de partition'. Un mauvais choix peut bloquer la scalabilité de votre base de données et entraîner des erreurs HTTP 429 (Too Many Requests).</a:t>
            </a:r>
          </a:p>
        </p:txBody>
      </p:sp>
      <p:sp>
        <p:nvSpPr>
          <p:cNvPr id="4" name="Slide Number Placeholder 3"/>
          <p:cNvSpPr>
            <a:spLocks noGrp="1"/>
          </p:cNvSpPr>
          <p:nvPr>
            <p:ph type="sldNum" sz="quarter" idx="5"/>
          </p:nvPr>
        </p:nvSpPr>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C'est le niveau le plus restrictif : il double le coût en RU des opérations de lecture par rapport au niveau Session et augmente la latence d'écriture.</a:t>
            </a:r>
          </a:p>
        </p:txBody>
      </p:sp>
      <p:sp>
        <p:nvSpPr>
          <p:cNvPr id="4" name="Slide Number Placeholder 3"/>
          <p:cNvSpPr>
            <a:spLocks noGrp="1"/>
          </p:cNvSpPr>
          <p:nvPr>
            <p:ph type="sldNum" sz="quarter" idx="5"/>
          </p:nvPr>
        </p:nvSpPr>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'Niveaux de cohérence dans Azure Cosmos DB'. Il offre le meilleur compromis du théorème CAP : excellentes performances, latence minimale et coût standard (1 RU par lecture).</a:t>
            </a:r>
          </a:p>
        </p:txBody>
      </p:sp>
      <p:sp>
        <p:nvSpPr>
          <p:cNvPr id="4" name="Slide Number Placeholder 3"/>
          <p:cNvSpPr>
            <a:spLocks noGrp="1"/>
          </p:cNvSpPr>
          <p:nvPr>
            <p:ph type="sldNum" sz="quarter" idx="5"/>
          </p:nvPr>
        </p:nvSpPr>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'Utilisation du flux de modification Azure Cosmos DB'. C'est le composant d'architecture central pour découpler des services (patterns Event-Driven).</a:t>
            </a:r>
          </a:p>
        </p:txBody>
      </p:sp>
      <p:sp>
        <p:nvSpPr>
          <p:cNvPr id="4" name="Slide Number Placeholder 3"/>
          <p:cNvSpPr>
            <a:spLocks noGrp="1"/>
          </p:cNvSpPr>
          <p:nvPr>
            <p:ph type="sldNum" sz="quarter" idx="5"/>
          </p:nvPr>
        </p:nvSpPr>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Cas d'usage classiques examen : mise à jour d'un cache Redis, détection de fraude en temps réel, synchronisation de données vers Azure Cognitive Search.</a:t>
            </a:r>
          </a:p>
        </p:txBody>
      </p:sp>
      <p:sp>
        <p:nvSpPr>
          <p:cNvPr id="4" name="Slide Number Placeholder 3"/>
          <p:cNvSpPr>
            <a:spLocks noGrp="1"/>
          </p:cNvSpPr>
          <p:nvPr>
            <p:ph type="sldNum" sz="quarter" idx="5"/>
          </p:nvPr>
        </p:nvSpPr>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Idéal pour purger les sessions utilisateurs obsolètes, les jetons temporaires ou les données de télémétrie IoT périmées.</a:t>
            </a:r>
          </a:p>
        </p:txBody>
      </p:sp>
      <p:sp>
        <p:nvSpPr>
          <p:cNvPr id="4" name="Slide Number Placeholder 3"/>
          <p:cNvSpPr>
            <a:spLocks noGrp="1"/>
          </p:cNvSpPr>
          <p:nvPr>
            <p:ph type="sldNum" sz="quarter" idx="5"/>
          </p:nvPr>
        </p:nvSpPr>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À l'examen, l'utilisation de l'ETag évite le problème de la mise à jour perdue ('last-write-wins' involontaire) sans avoir à verrouiller physiquement la base de données.</a:t>
            </a:r>
          </a:p>
        </p:txBody>
      </p:sp>
      <p:sp>
        <p:nvSpPr>
          <p:cNvPr id="4" name="Slide Number Placeholder 3"/>
          <p:cNvSpPr>
            <a:spLocks noGrp="1"/>
          </p:cNvSpPr>
          <p:nvPr>
            <p:ph type="sldNum" sz="quarter" idx="5"/>
          </p:nvPr>
        </p:nvSpPr>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Les autres API (MongoDB, Cassandra, Gremlin, Table) sont des couches de compatibilité destinées à faciliter la migration d'applications existantes vers Azure sans réécriture complète du code.</a:t>
            </a:r>
          </a:p>
        </p:txBody>
      </p:sp>
      <p:sp>
        <p:nvSpPr>
          <p:cNvPr id="4" name="Slide Number Placeholder 3"/>
          <p:cNvSpPr>
            <a:spLocks noGrp="1"/>
          </p:cNvSpPr>
          <p:nvPr>
            <p:ph type="sldNum" sz="quarter" idx="5"/>
          </p:nvPr>
        </p:nvSpPr>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'Présentation de l'API Azure Cosmos DB pour MongoDB'. Très stratégique pour l'examen dans les scénarios de migration 'Lift-and-Shift'.</a:t>
            </a:r>
          </a:p>
        </p:txBody>
      </p:sp>
      <p:sp>
        <p:nvSpPr>
          <p:cNvPr id="4" name="Slide Number Placeholder 3"/>
          <p:cNvSpPr>
            <a:spLocks noGrp="1"/>
          </p:cNvSpPr>
          <p:nvPr>
            <p:ph type="sldNum" sz="quarter" idx="5"/>
          </p:nvPr>
        </p:nvSpPr>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C'est le choix d'architecture parfait pour les environnements de test, de Dev ou les petites applications à faible trafic car la facture tombe à zéro s'il n'y a aucune requête.</a:t>
            </a:r>
          </a:p>
        </p:txBody>
      </p:sp>
      <p:sp>
        <p:nvSpPr>
          <p:cNvPr id="4" name="Slide Number Placeholder 3"/>
          <p:cNvSpPr>
            <a:spLocks noGrp="1"/>
          </p:cNvSpPr>
          <p:nvPr>
            <p:ph type="sldNum" sz="quarter" idx="5"/>
          </p:nvPr>
        </p:nvSpPr>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À l'examen, l'Autoscale est fortement recommandé pour les charges de travail qui connaissent des pics d'activité soudains et imprévisibles, tout en garantissant des SLAs de performance stricts.</a:t>
            </a:r>
          </a:p>
        </p:txBody>
      </p:sp>
      <p:sp>
        <p:nvSpPr>
          <p:cNvPr id="4" name="Slide Number Placeholder 3"/>
          <p:cNvSpPr>
            <a:spLocks noGrp="1"/>
          </p:cNvSpPr>
          <p:nvPr>
            <p:ph type="sldNum" sz="quarter" idx="5"/>
          </p:nvPr>
        </p:nvSpPr>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Bien que l'indexation automatique simplifie le développement, sachez pour l'examen qu'il est possible de la personnaliser (Index Policy) pour exclure certains chemins afin d'accélérer les écritures et d'économiser des RU.</a:t>
            </a:r>
          </a:p>
        </p:txBody>
      </p:sp>
      <p:sp>
        <p:nvSpPr>
          <p:cNvPr id="4" name="Slide Number Placeholder 3"/>
          <p:cNvSpPr>
            <a:spLocks noGrp="1"/>
          </p:cNvSpPr>
          <p:nvPr>
            <p:ph type="sldNum" sz="quarter" idx="5"/>
          </p:nvPr>
        </p:nvSpPr>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Pour l'AZ-204, une requête optimale doit toujours inclure la clé de partition dans sa clause WHERE afin de limiter l'exécution de la requête à une seule partition logique ('In-partition query').</a:t>
            </a:r>
          </a:p>
        </p:txBody>
      </p:sp>
      <p:sp>
        <p:nvSpPr>
          <p:cNvPr id="4" name="Slide Number Placeholder 3"/>
          <p:cNvSpPr>
            <a:spLocks noGrp="1"/>
          </p:cNvSpPr>
          <p:nvPr>
            <p:ph type="sldNum" sz="quarter" idx="5"/>
          </p:nvPr>
        </p:nvSpPr>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'Distribution mondiale avec Azure Cosmos DB'. Vous pouvez activer l'option 'Multi-région de scripts' (Multi-region writes) pour permettre l'écriture simultanée dans le monde entier.</a:t>
            </a:r>
          </a:p>
        </p:txBody>
      </p:sp>
      <p:sp>
        <p:nvSpPr>
          <p:cNvPr id="4" name="Slide Number Placeholder 3"/>
          <p:cNvSpPr>
            <a:spLocks noGrp="1"/>
          </p:cNvSpPr>
          <p:nvPr>
            <p:ph type="sldNum" sz="quarter" idx="5"/>
          </p:nvPr>
        </p:nvSpPr>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'Opérations de lot transactionnel dans Azure Cosmos DB'. Très utile pour maintenir l'intégrité des données liées.</a:t>
            </a:r>
          </a:p>
        </p:txBody>
      </p:sp>
      <p:sp>
        <p:nvSpPr>
          <p:cNvPr id="4" name="Slide Number Placeholder 3"/>
          <p:cNvSpPr>
            <a:spLocks noGrp="1"/>
          </p:cNvSpPr>
          <p:nvPr>
            <p:ph type="sldNum" sz="quarter" idx="5"/>
          </p:nvPr>
        </p:nvSpPr>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La méthode C# correspondante est : 'await container.ReadItemAsync&lt;MonType&gt;(id, new PartitionKey(partitionKeyValue));'.</a:t>
            </a:r>
          </a:p>
        </p:txBody>
      </p:sp>
      <p:sp>
        <p:nvSpPr>
          <p:cNvPr id="4" name="Slide Number Placeholder 3"/>
          <p:cNvSpPr>
            <a:spLocks noGrp="1"/>
          </p:cNvSpPr>
          <p:nvPr>
            <p:ph type="sldNum" sz="quarter" idx="5"/>
          </p:nvPr>
        </p:nvSpPr>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Les instructions courantes incluent FROM (image de base), COPY (ajout de fichiers), RUN (exécution de commandes de build), ENV (variables d'environnement) et ENTRYPOINT (commande par défaut au démarrage).</a:t>
            </a:r>
          </a:p>
        </p:txBody>
      </p:sp>
      <p:sp>
        <p:nvSpPr>
          <p:cNvPr id="4" name="Slide Number Placeholder 3"/>
          <p:cNvSpPr>
            <a:spLocks noGrp="1"/>
          </p:cNvSpPr>
          <p:nvPr>
            <p:ph type="sldNum" sz="quarter" idx="5"/>
          </p:nvPr>
        </p:nvSpPr>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err="1"/>
              <a:t>Référence</a:t>
            </a:r>
            <a:r>
              <a:rPr dirty="0"/>
              <a:t> Microsoft : '</a:t>
            </a:r>
            <a:r>
              <a:rPr dirty="0" err="1"/>
              <a:t>Présentation</a:t>
            </a:r>
            <a:r>
              <a:rPr dirty="0"/>
              <a:t> </a:t>
            </a:r>
            <a:r>
              <a:rPr dirty="0" err="1"/>
              <a:t>d'Azure</a:t>
            </a:r>
            <a:r>
              <a:rPr dirty="0"/>
              <a:t> Container Registry'. ACR </a:t>
            </a:r>
            <a:r>
              <a:rPr dirty="0" err="1"/>
              <a:t>prend</a:t>
            </a:r>
            <a:r>
              <a:rPr dirty="0"/>
              <a:t> </a:t>
            </a:r>
            <a:r>
              <a:rPr dirty="0" err="1"/>
              <a:t>en</a:t>
            </a:r>
            <a:r>
              <a:rPr dirty="0"/>
              <a:t> charge la </a:t>
            </a:r>
            <a:r>
              <a:rPr dirty="0" err="1"/>
              <a:t>géo-réplication</a:t>
            </a:r>
            <a:r>
              <a:rPr dirty="0"/>
              <a:t> (</a:t>
            </a:r>
            <a:r>
              <a:rPr dirty="0" err="1"/>
              <a:t>en</a:t>
            </a:r>
            <a:r>
              <a:rPr dirty="0"/>
              <a:t> </a:t>
            </a:r>
            <a:r>
              <a:rPr dirty="0" err="1"/>
              <a:t>niveau</a:t>
            </a:r>
            <a:r>
              <a:rPr dirty="0"/>
              <a:t> Premium) pour </a:t>
            </a:r>
            <a:r>
              <a:rPr dirty="0" err="1"/>
              <a:t>distribuer</a:t>
            </a:r>
            <a:r>
              <a:rPr dirty="0"/>
              <a:t> les images au plus près des </a:t>
            </a:r>
            <a:r>
              <a:rPr dirty="0" err="1"/>
              <a:t>centres</a:t>
            </a:r>
            <a:r>
              <a:rPr dirty="0"/>
              <a:t> de données </a:t>
            </a:r>
            <a:r>
              <a:rPr dirty="0" err="1"/>
              <a:t>d'exécution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'docker container ls' sert quant à elle à lister les conteneurs en cours d'exécution (équivalent de 'docker ps').</a:t>
            </a:r>
          </a:p>
        </p:txBody>
      </p:sp>
      <p:sp>
        <p:nvSpPr>
          <p:cNvPr id="4" name="Slide Number Placeholder 3"/>
          <p:cNvSpPr>
            <a:spLocks noGrp="1"/>
          </p:cNvSpPr>
          <p:nvPr>
            <p:ph type="sldNum" sz="quarter" idx="5"/>
          </p:nvPr>
        </p:nvSpPr>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Avant d'exécuter un push vers ACR, l'image locale doit obligatoirement être taguée avec le nom de domaine complet du registre (ex: monregistre.azurecr.io/monimage:v1).</a:t>
            </a:r>
          </a:p>
        </p:txBody>
      </p:sp>
      <p:sp>
        <p:nvSpPr>
          <p:cNvPr id="4" name="Slide Number Placeholder 3"/>
          <p:cNvSpPr>
            <a:spLocks noGrp="1"/>
          </p:cNvSpPr>
          <p:nvPr>
            <p:ph type="sldNum" sz="quarter" idx="5"/>
          </p:nvPr>
        </p:nvSpPr>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Attention au tag ':latest' : il </a:t>
            </a:r>
            <a:r>
              <a:rPr dirty="0" err="1"/>
              <a:t>s'agit</a:t>
            </a:r>
            <a:r>
              <a:rPr dirty="0"/>
              <a:t> </a:t>
            </a:r>
            <a:r>
              <a:rPr dirty="0" err="1"/>
              <a:t>simplement</a:t>
            </a:r>
            <a:r>
              <a:rPr dirty="0"/>
              <a:t> du tag par </a:t>
            </a:r>
            <a:r>
              <a:rPr dirty="0" err="1"/>
              <a:t>défaut</a:t>
            </a:r>
            <a:r>
              <a:rPr dirty="0"/>
              <a:t> appliqué </a:t>
            </a:r>
            <a:r>
              <a:rPr dirty="0" err="1"/>
              <a:t>si</a:t>
            </a:r>
            <a:r>
              <a:rPr dirty="0"/>
              <a:t> </a:t>
            </a:r>
            <a:r>
              <a:rPr dirty="0" err="1"/>
              <a:t>aucun</a:t>
            </a:r>
            <a:r>
              <a:rPr dirty="0"/>
              <a:t> tag </a:t>
            </a:r>
            <a:r>
              <a:rPr dirty="0" err="1"/>
              <a:t>n'est</a:t>
            </a:r>
            <a:r>
              <a:rPr dirty="0"/>
              <a:t> </a:t>
            </a:r>
            <a:r>
              <a:rPr dirty="0" err="1"/>
              <a:t>spécifié</a:t>
            </a:r>
            <a:r>
              <a:rPr dirty="0"/>
              <a:t> </a:t>
            </a:r>
            <a:r>
              <a:rPr dirty="0" err="1"/>
              <a:t>lors</a:t>
            </a:r>
            <a:r>
              <a:rPr dirty="0"/>
              <a:t> du build, </a:t>
            </a:r>
            <a:r>
              <a:rPr dirty="0" err="1"/>
              <a:t>mais</a:t>
            </a:r>
            <a:r>
              <a:rPr dirty="0"/>
              <a:t> il ne </a:t>
            </a:r>
            <a:r>
              <a:rPr dirty="0" err="1"/>
              <a:t>garantit</a:t>
            </a:r>
            <a:r>
              <a:rPr dirty="0"/>
              <a:t> pas </a:t>
            </a:r>
            <a:r>
              <a:rPr dirty="0" err="1"/>
              <a:t>techniquement</a:t>
            </a:r>
            <a:r>
              <a:rPr dirty="0"/>
              <a:t> </a:t>
            </a:r>
            <a:r>
              <a:rPr dirty="0" err="1"/>
              <a:t>qu'il</a:t>
            </a:r>
            <a:r>
              <a:rPr dirty="0"/>
              <a:t> </a:t>
            </a:r>
            <a:r>
              <a:rPr dirty="0" err="1"/>
              <a:t>s'agit</a:t>
            </a:r>
            <a:r>
              <a:rPr dirty="0"/>
              <a:t> de la version la plus </a:t>
            </a:r>
            <a:r>
              <a:rPr dirty="0" err="1"/>
              <a:t>récente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'Azure Container Instances'. Idéal pour les tâches simples, les traitements par lots (batchs) ou les agents de build de pipelines CI/CD.</a:t>
            </a:r>
          </a:p>
        </p:txBody>
      </p:sp>
      <p:sp>
        <p:nvSpPr>
          <p:cNvPr id="4" name="Slide Number Placeholder 3"/>
          <p:cNvSpPr>
            <a:spLocks noGrp="1"/>
          </p:cNvSpPr>
          <p:nvPr>
            <p:ph type="sldNum" sz="quarter" idx="5"/>
          </p:nvPr>
        </p:nvSpPr>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Pour conserver l'état ou partager des données, il est indispensable d'externaliser le stockage du conteneur.</a:t>
            </a:r>
          </a:p>
        </p:txBody>
      </p:sp>
      <p:sp>
        <p:nvSpPr>
          <p:cNvPr id="4" name="Slide Number Placeholder 3"/>
          <p:cNvSpPr>
            <a:spLocks noGrp="1"/>
          </p:cNvSpPr>
          <p:nvPr>
            <p:ph type="sldNum" sz="quarter" idx="5"/>
          </p:nvPr>
        </p:nvSpPr>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'Monter un partage de fichiers Azure dans Azure Container Instances'. C'est une question récurrente à l'examen AZ-204 concernant le stockage de conteneurs.</a:t>
            </a:r>
          </a:p>
        </p:txBody>
      </p:sp>
      <p:sp>
        <p:nvSpPr>
          <p:cNvPr id="4" name="Slide Number Placeholder 3"/>
          <p:cNvSpPr>
            <a:spLocks noGrp="1"/>
          </p:cNvSpPr>
          <p:nvPr>
            <p:ph type="sldNum" sz="quarter" idx="5"/>
          </p:nvPr>
        </p:nvSpPr>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Par défaut, les conteneurs .NET récents écoutent désormais sur le port non-root 8080 au lieu du port 80.</a:t>
            </a:r>
          </a:p>
        </p:txBody>
      </p:sp>
      <p:sp>
        <p:nvSpPr>
          <p:cNvPr id="4" name="Slide Number Placeholder 3"/>
          <p:cNvSpPr>
            <a:spLocks noGrp="1"/>
          </p:cNvSpPr>
          <p:nvPr>
            <p:ph type="sldNum" sz="quarter" idx="5"/>
          </p:nvPr>
        </p:nvSpPr>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Elle accepte de nombreux drapeaux indispensables : '-d' (mode détaché en arrière-plan), '-e' (variables d'environnement) et '-p' (publication de ports).</a:t>
            </a:r>
          </a:p>
        </p:txBody>
      </p:sp>
      <p:sp>
        <p:nvSpPr>
          <p:cNvPr id="4" name="Slide Number Placeholder 3"/>
          <p:cNvSpPr>
            <a:spLocks noGrp="1"/>
          </p:cNvSpPr>
          <p:nvPr>
            <p:ph type="sldNum" sz="quarter" idx="5"/>
          </p:nvPr>
        </p:nvSpPr>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Cette approche suit scrupuleusement les recommandations architecturales de la méthodologie 'Twelve-Factor App' (Facteur III : Configuration).</a:t>
            </a:r>
          </a:p>
        </p:txBody>
      </p:sp>
      <p:sp>
        <p:nvSpPr>
          <p:cNvPr id="4" name="Slide Number Placeholder 3"/>
          <p:cNvSpPr>
            <a:spLocks noGrp="1"/>
          </p:cNvSpPr>
          <p:nvPr>
            <p:ph type="sldNum" sz="quarter" idx="5"/>
          </p:nvPr>
        </p:nvSpPr>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Pour l'AZ-204, la bonne pratique consiste à injecter les secrets au moment de l'exécution à partir d'un service sécurisé externe comme Azure Key Vault ou via des variables d'environnement applicatives sécurisées.</a:t>
            </a:r>
          </a:p>
        </p:txBody>
      </p:sp>
      <p:sp>
        <p:nvSpPr>
          <p:cNvPr id="4" name="Slide Number Placeholder 3"/>
          <p:cNvSpPr>
            <a:spLocks noGrp="1"/>
          </p:cNvSpPr>
          <p:nvPr>
            <p:ph type="sldNum" sz="quarter" idx="5"/>
          </p:nvPr>
        </p:nvSpPr>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'az container logs'. C'est le premier réflexe de débogage pour comprendre pourquoi un conteneur s'est arrêté prématurément (CrashLoopBackOff ou code d'erreur de sortie).</a:t>
            </a:r>
          </a:p>
        </p:txBody>
      </p:sp>
      <p:sp>
        <p:nvSpPr>
          <p:cNvPr id="4" name="Slide Number Placeholder 3"/>
          <p:cNvSpPr>
            <a:spLocks noGrp="1"/>
          </p:cNvSpPr>
          <p:nvPr>
            <p:ph type="sldNum" sz="quarter" idx="5"/>
          </p:nvPr>
        </p:nvSpPr>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Cela supprime l'effet de bord classique des dépendances manquantes sur les serveurs de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Il supporte nativement toutes les images conformes à la spécification OCI (Open Container Initiative), y compris les images Docker.</a:t>
            </a:r>
          </a:p>
        </p:txBody>
      </p:sp>
      <p:sp>
        <p:nvSpPr>
          <p:cNvPr id="4" name="Slide Number Placeholder 3"/>
          <p:cNvSpPr>
            <a:spLocks noGrp="1"/>
          </p:cNvSpPr>
          <p:nvPr>
            <p:ph type="sldNum" sz="quarter" idx="5"/>
          </p:nvPr>
        </p:nvSpPr>
        <p:spPr/>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Syntaxe type pour ACR : 'docker tag image_locale monregistre.azurecr.io/monimage:v1'.</a:t>
            </a:r>
          </a:p>
        </p:txBody>
      </p:sp>
      <p:sp>
        <p:nvSpPr>
          <p:cNvPr id="4" name="Slide Number Placeholder 3"/>
          <p:cNvSpPr>
            <a:spLocks noGrp="1"/>
          </p:cNvSpPr>
          <p:nvPr>
            <p:ph type="sldNum" sz="quarter" idx="5"/>
          </p:nvPr>
        </p:nvSpPr>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ACR intègre également Microsoft Defender for Cloud pour analyser et détecter automatiquement les vulnérabilités de sécurité dans les packages des images stockées.</a:t>
            </a:r>
          </a:p>
        </p:txBody>
      </p:sp>
      <p:sp>
        <p:nvSpPr>
          <p:cNvPr id="4" name="Slide Number Placeholder 3"/>
          <p:cNvSpPr>
            <a:spLocks noGrp="1"/>
          </p:cNvSpPr>
          <p:nvPr>
            <p:ph type="sldNum" sz="quarter" idx="5"/>
          </p:nvPr>
        </p:nvSpPr>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Si le scénario de l'examen exige une architecture de microservices à grande échelle mais *sans la complexité de gestion d'un cluster Kubernetes*, tournez-vous plutôt vers Azure Container Apps (ACA).</a:t>
            </a:r>
          </a:p>
        </p:txBody>
      </p:sp>
      <p:sp>
        <p:nvSpPr>
          <p:cNvPr id="4" name="Slide Number Placeholder 3"/>
          <p:cNvSpPr>
            <a:spLocks noGrp="1"/>
          </p:cNvSpPr>
          <p:nvPr>
            <p:ph type="sldNum" sz="quarter" idx="5"/>
          </p:nvPr>
        </p:nvSpPr>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'Vue d'ensemble d'Azure Container Apps'. ACA combine les technologies Kubernetes (AKS), KEDA, Dapr et Envoy de manière transparente.</a:t>
            </a:r>
          </a:p>
        </p:txBody>
      </p:sp>
      <p:sp>
        <p:nvSpPr>
          <p:cNvPr id="4" name="Slide Number Placeholder 3"/>
          <p:cNvSpPr>
            <a:spLocks noGrp="1"/>
          </p:cNvSpPr>
          <p:nvPr>
            <p:ph type="sldNum" sz="quarter" idx="5"/>
          </p:nvPr>
        </p:nvSpPr>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'Environnements Azure Container Apps'. C'est le composant idéal pour regrouper des microservices qui doivent communiquer de manière étroite.</a:t>
            </a:r>
          </a:p>
        </p:txBody>
      </p:sp>
      <p:sp>
        <p:nvSpPr>
          <p:cNvPr id="4" name="Slide Number Placeholder 3"/>
          <p:cNvSpPr>
            <a:spLocks noGrp="1"/>
          </p:cNvSpPr>
          <p:nvPr>
            <p:ph type="sldNum" sz="quarter" idx="5"/>
          </p:nvPr>
        </p:nvSpPr>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À l'examen, sachez que le premier appel entrant après un scale-to-zero subira un léger délai d'attente dû au temps de démarrage du conteneur (Cold Start).</a:t>
            </a:r>
          </a:p>
        </p:txBody>
      </p:sp>
      <p:sp>
        <p:nvSpPr>
          <p:cNvPr id="4" name="Slide Number Placeholder 3"/>
          <p:cNvSpPr>
            <a:spLocks noGrp="1"/>
          </p:cNvSpPr>
          <p:nvPr>
            <p:ph type="sldNum" sz="quarter" idx="5"/>
          </p:nvPr>
        </p:nvSpPr>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'Sondes d'intégrité dans Azure Container Apps'. Indispensable pour les grosses applications monolithiques migrées ou les runtimes longs à s'initialiser.</a:t>
            </a:r>
          </a:p>
        </p:txBody>
      </p:sp>
      <p:sp>
        <p:nvSpPr>
          <p:cNvPr id="4" name="Slide Number Placeholder 3"/>
          <p:cNvSpPr>
            <a:spLocks noGrp="1"/>
          </p:cNvSpPr>
          <p:nvPr>
            <p:ph type="sldNum" sz="quarter" idx="5"/>
          </p:nvPr>
        </p:nvSpPr>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Par exemple, une Readiness probe peut vérifier si la connexion à la base de données sous-jacente est établie avant d'ouvrir le trafic.</a:t>
            </a:r>
          </a:p>
        </p:txBody>
      </p:sp>
      <p:sp>
        <p:nvSpPr>
          <p:cNvPr id="4" name="Slide Number Placeholder 3"/>
          <p:cNvSpPr>
            <a:spLocks noGrp="1"/>
          </p:cNvSpPr>
          <p:nvPr>
            <p:ph type="sldNum" sz="quarter" idx="5"/>
          </p:nvPr>
        </p:nvSpPr>
        <p:spPr/>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Attention à ne pas confondre à l'examen : Liveness déclenche un **redémarrage**, tandis que Readiness gère l'**aiguillage du trafic**.</a:t>
            </a:r>
          </a:p>
        </p:txBody>
      </p:sp>
      <p:sp>
        <p:nvSpPr>
          <p:cNvPr id="4" name="Slide Number Placeholder 3"/>
          <p:cNvSpPr>
            <a:spLocks noGrp="1"/>
          </p:cNvSpPr>
          <p:nvPr>
            <p:ph type="sldNum" sz="quarter" idx="5"/>
          </p:nvPr>
        </p:nvSpPr>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C'est l'un des piliers de la sécurité Azure pour l'AZ-204 : privilégiez toujours les Managed Identities (système ou utilisateur) face aux chaînes de connexion.</a:t>
            </a:r>
          </a:p>
        </p:txBody>
      </p:sp>
      <p:sp>
        <p:nvSpPr>
          <p:cNvPr id="4" name="Slide Number Placeholder 3"/>
          <p:cNvSpPr>
            <a:spLocks noGrp="1"/>
          </p:cNvSpPr>
          <p:nvPr>
            <p:ph type="sldNum" sz="quarter" idx="5"/>
          </p:nvPr>
        </p:nvSpPr>
        <p:spPr/>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'Rôles et autorisations Azure Container Registry'. Évitez d'attribuer le rôle 'Reader' global ou 'Contributor' qui donnent des droits excessifs.</a:t>
            </a:r>
          </a:p>
        </p:txBody>
      </p:sp>
      <p:sp>
        <p:nvSpPr>
          <p:cNvPr id="4" name="Slide Number Placeholder 3"/>
          <p:cNvSpPr>
            <a:spLocks noGrp="1"/>
          </p:cNvSpPr>
          <p:nvPr>
            <p:ph type="sldNum" sz="quarter" idx="5"/>
          </p:nvPr>
        </p:nvSpPr>
        <p:spPr/>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'Révisions dans Azure Container Apps'. Une révision est un instantané immuable d'une version de Container App.</a:t>
            </a:r>
          </a:p>
        </p:txBody>
      </p:sp>
      <p:sp>
        <p:nvSpPr>
          <p:cNvPr id="4" name="Slide Number Placeholder 3"/>
          <p:cNvSpPr>
            <a:spLocks noGrp="1"/>
          </p:cNvSpPr>
          <p:nvPr>
            <p:ph type="sldNum" sz="quarter" idx="5"/>
          </p:nvPr>
        </p:nvSpPr>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C'est la fonctionnalité clé pour implémenter des stratégies de déploiement progressives à faible risque.</a:t>
            </a:r>
          </a:p>
        </p:txBody>
      </p:sp>
      <p:sp>
        <p:nvSpPr>
          <p:cNvPr id="4" name="Slide Number Placeholder 3"/>
          <p:cNvSpPr>
            <a:spLocks noGrp="1"/>
          </p:cNvSpPr>
          <p:nvPr>
            <p:ph type="sldNum" sz="quarter" idx="5"/>
          </p:nvPr>
        </p:nvSpPr>
        <p:spPr/>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Si des anomalies ou des exceptions surviennent sur cette faible portion, l'impact sur les utilisateurs is minimisé et le retour en arrière est ultra-rapide.</a:t>
            </a:r>
          </a:p>
        </p:txBody>
      </p:sp>
      <p:sp>
        <p:nvSpPr>
          <p:cNvPr id="4" name="Slide Number Placeholder 3"/>
          <p:cNvSpPr>
            <a:spLocks noGrp="1"/>
          </p:cNvSpPr>
          <p:nvPr>
            <p:ph type="sldNum" sz="quarter" idx="5"/>
          </p:nvPr>
        </p:nvSpPr>
        <p:spPr/>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Il n'y a aucun délai lié au redéploiement d'un package, à la recompilation du code ou à la reconstruction d'une image.</a:t>
            </a:r>
          </a:p>
        </p:txBody>
      </p:sp>
      <p:sp>
        <p:nvSpPr>
          <p:cNvPr id="4" name="Slide Number Placeholder 3"/>
          <p:cNvSpPr>
            <a:spLocks noGrp="1"/>
          </p:cNvSpPr>
          <p:nvPr>
            <p:ph type="sldNum" sz="quarter" idx="5"/>
          </p:nvPr>
        </p:nvSpPr>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'Définir des règles de mise à l'échelle dans Azure Container Apps'.</a:t>
            </a:r>
          </a:p>
        </p:txBody>
      </p:sp>
      <p:sp>
        <p:nvSpPr>
          <p:cNvPr id="4" name="Slide Number Placeholder 3"/>
          <p:cNvSpPr>
            <a:spLocks noGrp="1"/>
          </p:cNvSpPr>
          <p:nvPr>
            <p:ph type="sldNum" sz="quarter" idx="5"/>
          </p:nvPr>
        </p:nvSpPr>
        <p:spPr/>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Retenez bien le nom KEDA pour l'examen AZ-204, il apparaît systématiquement dès qu'on parle d'autoscaling basé sur des événements.</a:t>
            </a:r>
          </a:p>
        </p:txBody>
      </p:sp>
      <p:sp>
        <p:nvSpPr>
          <p:cNvPr id="4" name="Slide Number Placeholder 3"/>
          <p:cNvSpPr>
            <a:spLocks noGrp="1"/>
          </p:cNvSpPr>
          <p:nvPr>
            <p:ph type="sldNum" sz="quarter" idx="5"/>
          </p:nvPr>
        </p:nvSpPr>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Pour l'AZ-204, le cas d'usage typique est le scaling basé sur le nombre de messages en attente dans une file Azure Service Bus (ActiveMessageCount).</a:t>
            </a:r>
          </a:p>
        </p:txBody>
      </p:sp>
      <p:sp>
        <p:nvSpPr>
          <p:cNvPr id="4" name="Slide Number Placeholder 3"/>
          <p:cNvSpPr>
            <a:spLocks noGrp="1"/>
          </p:cNvSpPr>
          <p:nvPr>
            <p:ph type="sldNum" sz="quarter" idx="5"/>
          </p:nvPr>
        </p:nvSpPr>
        <p:spPr/>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Le chiffrement TLS/SSL (HTTPS) est automatiquement provisionné et géré par Azure sur cet ingress externe.</a:t>
            </a:r>
          </a:p>
        </p:txBody>
      </p:sp>
      <p:sp>
        <p:nvSpPr>
          <p:cNvPr id="4" name="Slide Number Placeholder 3"/>
          <p:cNvSpPr>
            <a:spLocks noGrp="1"/>
          </p:cNvSpPr>
          <p:nvPr>
            <p:ph type="sldNum" sz="quarter" idx="5"/>
          </p:nvPr>
        </p:nvSpPr>
        <p:spPr/>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Dans une architecture microservices saine, seul le composant de 'Front-end' ou de passerelle (API Gateway) dispose d'un ingress externe.</a:t>
            </a:r>
          </a:p>
        </p:txBody>
      </p:sp>
      <p:sp>
        <p:nvSpPr>
          <p:cNvPr id="4" name="Slide Number Placeholder 3"/>
          <p:cNvSpPr>
            <a:spLocks noGrp="1"/>
          </p:cNvSpPr>
          <p:nvPr>
            <p:ph type="sldNum" sz="quarter" idx="5"/>
          </p:nvPr>
        </p:nvSpPr>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'Utiliser Dapr avec Azure Container Apps'. Dapr s'exécute selon le modèle architectural 'Sidecar' (un conteneur d'infrastructure compagnon à côté de votre conteneur applicatif).</a:t>
            </a:r>
          </a:p>
        </p:txBody>
      </p:sp>
      <p:sp>
        <p:nvSpPr>
          <p:cNvPr id="4" name="Slide Number Placeholder 3"/>
          <p:cNvSpPr>
            <a:spLocks noGrp="1"/>
          </p:cNvSpPr>
          <p:nvPr>
            <p:ph type="sldNum" sz="quarter" idx="5"/>
          </p:nvPr>
        </p:nvSpPr>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Cela évite le verrouillage technologique (vendor lock-in) et simplifie grandement les tests locaux en développement.</a:t>
            </a:r>
          </a:p>
        </p:txBody>
      </p:sp>
      <p:sp>
        <p:nvSpPr>
          <p:cNvPr id="4" name="Slide Number Placeholder 3"/>
          <p:cNvSpPr>
            <a:spLocks noGrp="1"/>
          </p:cNvSpPr>
          <p:nvPr>
            <p:ph type="sldNum" sz="quarter" idx="5"/>
          </p:nvPr>
        </p:nvSpPr>
        <p:spPr/>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Le code applicatif appelle simplement une URL locale comme : http://localhost:3500/v1.0/invoke/mon-service-b/method/mon-endpoint.</a:t>
            </a:r>
          </a:p>
        </p:txBody>
      </p:sp>
      <p:sp>
        <p:nvSpPr>
          <p:cNvPr id="4" name="Slide Number Placeholder 3"/>
          <p:cNvSpPr>
            <a:spLocks noGrp="1"/>
          </p:cNvSpPr>
          <p:nvPr>
            <p:ph type="sldNum" sz="quarter" idx="5"/>
          </p:nvPr>
        </p:nvSpPr>
        <p:spPr/>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Très fréquent dans les applications .NET où l'on passe du SDK lourd (pour le 'dotnet publish') au Runtime léger pour l'exécution en production. Cela réduit la surface d'attaque de sécurité et l'empreinte disque.</a:t>
            </a:r>
          </a:p>
        </p:txBody>
      </p:sp>
      <p:sp>
        <p:nvSpPr>
          <p:cNvPr id="4" name="Slide Number Placeholder 3"/>
          <p:cNvSpPr>
            <a:spLocks noGrp="1"/>
          </p:cNvSpPr>
          <p:nvPr>
            <p:ph type="sldNum" sz="quarter" idx="5"/>
          </p:nvPr>
        </p:nvSpPr>
        <p:spPr/>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Cette approche permet d'extraire de manière chirurgicale les fichiers publiés (ex: le dossier /app/publish d'une commande .NET) pour les injecter dans la couche finale.</a:t>
            </a:r>
          </a:p>
        </p:txBody>
      </p:sp>
      <p:sp>
        <p:nvSpPr>
          <p:cNvPr id="4" name="Slide Number Placeholder 3"/>
          <p:cNvSpPr>
            <a:spLocks noGrp="1"/>
          </p:cNvSpPr>
          <p:nvPr>
            <p:ph type="sldNum" sz="quarter" idx="5"/>
          </p:nvPr>
        </p:nvSpPr>
        <p:spPr/>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'Qu'est-ce qu'ACR Tasks ?'. ACR Tasks peut également automatiser les builds d'images lors de la mise à jour d'un code source sur GitHub ou lorsqu'une image de base OS est mise à jour (OS/Framework patching).</a:t>
            </a:r>
          </a:p>
        </p:txBody>
      </p:sp>
      <p:sp>
        <p:nvSpPr>
          <p:cNvPr id="4" name="Slide Number Placeholder 3"/>
          <p:cNvSpPr>
            <a:spLocks noGrp="1"/>
          </p:cNvSpPr>
          <p:nvPr>
            <p:ph type="sldNum" sz="quarter" idx="5"/>
          </p:nvPr>
        </p:nvSpPr>
        <p:spPr/>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Syntaxe type : 'az acr build --registry monregistre --image monapplication:v1 .'. C'est une commande clé à connaître pour l'AZ-204 pour les environnements de développement légers.</a:t>
            </a:r>
          </a:p>
        </p:txBody>
      </p:sp>
      <p:sp>
        <p:nvSpPr>
          <p:cNvPr id="4" name="Slide Number Placeholder 3"/>
          <p:cNvSpPr>
            <a:spLocks noGrp="1"/>
          </p:cNvSpPr>
          <p:nvPr>
            <p:ph type="sldNum" sz="quarter" idx="5"/>
          </p:nvPr>
        </p:nvSpPr>
        <p:spPr/>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'Utiliser les webhooks Azure Container Registry'. C'est la méthode privilégiée pour déclencher automatiquement un déploiement dès qu'une nouvelle version d'image est disponible.</a:t>
            </a:r>
          </a:p>
        </p:txBody>
      </p:sp>
      <p:sp>
        <p:nvSpPr>
          <p:cNvPr id="4" name="Slide Number Placeholder 3"/>
          <p:cNvSpPr>
            <a:spLocks noGrp="1"/>
          </p:cNvSpPr>
          <p:nvPr>
            <p:ph type="sldNum" sz="quarter" idx="5"/>
          </p:nvPr>
        </p:nvSpPr>
        <p:spPr/>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'Gérer les secrets dans Azure Container Apps'. Pour l'examen, stocker des identifiants dans le code ou l'image Docker est une mauvaise pratique de sécurité majeure éliminatoire.</a:t>
            </a:r>
          </a:p>
        </p:txBody>
      </p:sp>
      <p:sp>
        <p:nvSpPr>
          <p:cNvPr id="4" name="Slide Number Placeholder 3"/>
          <p:cNvSpPr>
            <a:spLocks noGrp="1"/>
          </p:cNvSpPr>
          <p:nvPr>
            <p:ph type="sldNum" sz="quarter" idx="5"/>
          </p:nvPr>
        </p:nvSpPr>
        <p:spPr/>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Cela permet de dissocier la configuration applicative de la valeur réelle du secret, respectant ainsi les principes de gouvernance et de sécurité.</a:t>
            </a:r>
          </a:p>
        </p:txBody>
      </p:sp>
      <p:sp>
        <p:nvSpPr>
          <p:cNvPr id="4" name="Slide Number Placeholder 3"/>
          <p:cNvSpPr>
            <a:spLocks noGrp="1"/>
          </p:cNvSpPr>
          <p:nvPr>
            <p:ph type="sldNum" sz="quarter" idx="5"/>
          </p:nvPr>
        </p:nvSpPr>
        <p:spPr/>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C'est l'un des cas d'usage d'autoscaling asynchrone les plus récurrents dans le programme de l'examen AZ-204.</a:t>
            </a:r>
          </a:p>
        </p:txBody>
      </p:sp>
      <p:sp>
        <p:nvSpPr>
          <p:cNvPr id="4" name="Slide Number Placeholder 3"/>
          <p:cNvSpPr>
            <a:spLocks noGrp="1"/>
          </p:cNvSpPr>
          <p:nvPr>
            <p:ph type="sldNum" sz="quarter" idx="5"/>
          </p:nvPr>
        </p:nvSpPr>
        <p:spPr/>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Sachez faire la différence pour l'examen : l'autoscaling Azure classique (App Service) utilise des métriques d'infrastructure (CPU/RAM). L'autoscaling ACA avec KEDA utilise des métriques applicatives/événementielles.</a:t>
            </a:r>
          </a:p>
        </p:txBody>
      </p:sp>
      <p:sp>
        <p:nvSpPr>
          <p:cNvPr id="4" name="Slide Number Placeholder 3"/>
          <p:cNvSpPr>
            <a:spLocks noGrp="1"/>
          </p:cNvSpPr>
          <p:nvPr>
            <p:ph type="sldNum" sz="quarter" idx="5"/>
          </p:nvPr>
        </p:nvSpPr>
        <p:spPr/>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'Exécuter des travaux avec Azure Container Apps Jobs'. Parfait pour le traitement de données de masse, les migrations de bases de données ou les rapports nocturnes.</a:t>
            </a:r>
          </a:p>
        </p:txBody>
      </p:sp>
      <p:sp>
        <p:nvSpPr>
          <p:cNvPr id="4" name="Slide Number Placeholder 3"/>
          <p:cNvSpPr>
            <a:spLocks noGrp="1"/>
          </p:cNvSpPr>
          <p:nvPr>
            <p:ph type="sldNum" sz="quarter" idx="5"/>
          </p:nvPr>
        </p:nvSpPr>
        <p:spPr/>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C'est le standard de sécurité recommandé pour l'ensemble des architectures cloud Microsoft actuelles.</a:t>
            </a:r>
          </a:p>
        </p:txBody>
      </p:sp>
      <p:sp>
        <p:nvSpPr>
          <p:cNvPr id="4" name="Slide Number Placeholder 3"/>
          <p:cNvSpPr>
            <a:spLocks noGrp="1"/>
          </p:cNvSpPr>
          <p:nvPr>
            <p:ph type="sldNum" sz="quarter" idx="5"/>
          </p:nvPr>
        </p:nvSpPr>
        <p:spPr/>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Microsoft conseille de désactiver systématiquement le compte administrateur dans les environnements de production pour se prémunir contre les failles de sécurité.</a:t>
            </a:r>
          </a:p>
        </p:txBody>
      </p:sp>
      <p:sp>
        <p:nvSpPr>
          <p:cNvPr id="4" name="Slide Number Placeholder 3"/>
          <p:cNvSpPr>
            <a:spLocks noGrp="1"/>
          </p:cNvSpPr>
          <p:nvPr>
            <p:ph type="sldNum" sz="quarter" idx="5"/>
          </p:nvPr>
        </p:nvSpPr>
        <p:spPr/>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C'est la solution par excellence pour offrir un stockage persistant et partagé entre plusieurs instances de conteneurs.</a:t>
            </a:r>
          </a:p>
        </p:txBody>
      </p:sp>
      <p:sp>
        <p:nvSpPr>
          <p:cNvPr id="4" name="Slide Number Placeholder 3"/>
          <p:cNvSpPr>
            <a:spLocks noGrp="1"/>
          </p:cNvSpPr>
          <p:nvPr>
            <p:ph type="sldNum" sz="quarter" idx="5"/>
          </p:nvPr>
        </p:nvSpPr>
        <p:spPr/>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Bien qu'il existe des extensions comme BlobFuse pour monter du Blob, Azure Files reste la solution native et robuste préconisée par Microsoft pour le stockage de volumes conteneurs standard.</a:t>
            </a:r>
          </a:p>
        </p:txBody>
      </p:sp>
      <p:sp>
        <p:nvSpPr>
          <p:cNvPr id="4" name="Slide Number Placeholder 3"/>
          <p:cNvSpPr>
            <a:spLocks noGrp="1"/>
          </p:cNvSpPr>
          <p:nvPr>
            <p:ph type="sldNum" sz="quarter" idx="5"/>
          </p:nvPr>
        </p:nvSpPr>
        <p:spPr/>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Idéal pour les tâches uniques où l'on souhaite analyser l'état final précis sans qu'une boucle de redémarrage ne vienne altérer le résultat.</a:t>
            </a:r>
          </a:p>
        </p:txBody>
      </p:sp>
      <p:sp>
        <p:nvSpPr>
          <p:cNvPr id="4" name="Slide Number Placeholder 3"/>
          <p:cNvSpPr>
            <a:spLocks noGrp="1"/>
          </p:cNvSpPr>
          <p:nvPr>
            <p:ph type="sldNum" sz="quarter" idx="5"/>
          </p:nvPr>
        </p:nvSpPr>
        <p:spPr/>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C'est la configuration optimale pour les tâches planifiées de type batch automatisées nécessitant de la résilience face aux pannes éphémères.</a:t>
            </a:r>
          </a:p>
        </p:txBody>
      </p:sp>
      <p:sp>
        <p:nvSpPr>
          <p:cNvPr id="4" name="Slide Number Placeholder 3"/>
          <p:cNvSpPr>
            <a:spLocks noGrp="1"/>
          </p:cNvSpPr>
          <p:nvPr>
            <p:ph type="sldNum" sz="quarter" idx="5"/>
          </p:nvPr>
        </p:nvSpPr>
        <p:spPr/>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C'est le comportement par défaut d'ACA, idéal pour les applications monolithiques traditionnelles ou les applications qui ne tolèrent pas la coexistence de deux versions en production (ex: changements de schéma de base de données cassants).</a:t>
            </a:r>
          </a:p>
        </p:txBody>
      </p:sp>
      <p:sp>
        <p:nvSpPr>
          <p:cNvPr id="4" name="Slide Number Placeholder 3"/>
          <p:cNvSpPr>
            <a:spLocks noGrp="1"/>
          </p:cNvSpPr>
          <p:nvPr>
            <p:ph type="sldNum" sz="quarter" idx="5"/>
          </p:nvPr>
        </p:nvSpPr>
        <p:spPr/>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Retenez pour l'examen qu'il est impossible de réaliser un déploiement de type 'Canary' ou 'Blue-Green' si l'application est configurée en mode de révision Single.</a:t>
            </a:r>
          </a:p>
        </p:txBody>
      </p:sp>
      <p:sp>
        <p:nvSpPr>
          <p:cNvPr id="4" name="Slide Number Placeholder 3"/>
          <p:cNvSpPr>
            <a:spLocks noGrp="1"/>
          </p:cNvSpPr>
          <p:nvPr>
            <p:ph type="sldNum" sz="quarter" idx="5"/>
          </p:nvPr>
        </p:nvSpPr>
        <p:spPr/>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Référence Microsoft : 'Concepts clés de Kubernetes pour AKS'. Bien que l'AZ-204 soit moins centré sur l'administration d'AKS, la notion de Pod reste un prérequis de base incontournable.</a:t>
            </a:r>
          </a:p>
        </p:txBody>
      </p:sp>
      <p:sp>
        <p:nvSpPr>
          <p:cNvPr id="4" name="Slide Number Placeholder 3"/>
          <p:cNvSpPr>
            <a:spLocks noGrp="1"/>
          </p:cNvSpPr>
          <p:nvPr>
            <p:ph type="sldNum" sz="quarter" idx="5"/>
          </p:nvPr>
        </p:nvSpPr>
        <p:spPr/>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Helm permet de standardiser et de paramétrer les déploiements sur les clusters AKS au sein des pipelines d'intégration et de déploiement continus (CI/CD).</a:t>
            </a:r>
          </a:p>
        </p:txBody>
      </p:sp>
      <p:sp>
        <p:nvSpPr>
          <p:cNvPr id="4" name="Slide Number Placeholder 3"/>
          <p:cNvSpPr>
            <a:spLocks noGrp="1"/>
          </p:cNvSpPr>
          <p:nvPr>
            <p:ph type="sldNum" sz="quarter" idx="5"/>
          </p:nvPr>
        </p:nvSpPr>
        <p:spPr/>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4494F-1F60-71D5-896F-9B0EDA667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F4221-62A6-788A-5C77-4E6FEA94C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4E9FA-3720-03E9-CBCC-B8BA5718BE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74A4D9-A9E2-C8E2-4739-4D3C6E203A08}"/>
              </a:ext>
            </a:extLst>
          </p:cNvPr>
          <p:cNvSpPr>
            <a:spLocks noGrp="1"/>
          </p:cNvSpPr>
          <p:nvPr>
            <p:ph type="sldNum" sz="quarter" idx="10"/>
          </p:nvPr>
        </p:nvSpPr>
        <p:spPr/>
        <p:txBody>
          <a:bodyPr/>
          <a:lstStyle/>
          <a:p>
            <a:fld id="{E2FF7759-803D-4F76-9AEC-98B2D9A07B0D}" type="slidenum">
              <a:rPr lang="en-US" smtClean="0"/>
              <a:t>372</a:t>
            </a:fld>
            <a:endParaRPr lang="en-US"/>
          </a:p>
        </p:txBody>
      </p:sp>
    </p:spTree>
    <p:extLst>
      <p:ext uri="{BB962C8B-B14F-4D97-AF65-F5344CB8AC3E}">
        <p14:creationId xmlns:p14="http://schemas.microsoft.com/office/powerpoint/2010/main" val="2450270495"/>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C91D2-2B17-BE40-C849-9422BA3CFC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62A4A-9AD3-E02E-F11B-39B9A86F8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56B88-225F-D371-7053-5EC816361C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538838-7712-C8CB-9CAE-D543234D5EE9}"/>
              </a:ext>
            </a:extLst>
          </p:cNvPr>
          <p:cNvSpPr>
            <a:spLocks noGrp="1"/>
          </p:cNvSpPr>
          <p:nvPr>
            <p:ph type="sldNum" sz="quarter" idx="10"/>
          </p:nvPr>
        </p:nvSpPr>
        <p:spPr/>
        <p:txBody>
          <a:bodyPr/>
          <a:lstStyle/>
          <a:p>
            <a:fld id="{E2FF7759-803D-4F76-9AEC-98B2D9A07B0D}" type="slidenum">
              <a:rPr lang="en-US" smtClean="0"/>
              <a:t>373</a:t>
            </a:fld>
            <a:endParaRPr lang="en-US"/>
          </a:p>
        </p:txBody>
      </p:sp>
    </p:spTree>
    <p:extLst>
      <p:ext uri="{BB962C8B-B14F-4D97-AF65-F5344CB8AC3E}">
        <p14:creationId xmlns:p14="http://schemas.microsoft.com/office/powerpoint/2010/main" val="121282668"/>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90BEC-1F2B-F79F-BDA0-AA04A7CF3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F4DC7-E988-19A8-3A47-5DEF9193E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12C7D-CFDA-E7B8-962B-B880EF3C3C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1088CE-37C8-C847-AC90-168462E6C269}"/>
              </a:ext>
            </a:extLst>
          </p:cNvPr>
          <p:cNvSpPr>
            <a:spLocks noGrp="1"/>
          </p:cNvSpPr>
          <p:nvPr>
            <p:ph type="sldNum" sz="quarter" idx="10"/>
          </p:nvPr>
        </p:nvSpPr>
        <p:spPr/>
        <p:txBody>
          <a:bodyPr/>
          <a:lstStyle/>
          <a:p>
            <a:fld id="{E2FF7759-803D-4F76-9AEC-98B2D9A07B0D}" type="slidenum">
              <a:rPr lang="en-US" smtClean="0"/>
              <a:t>375</a:t>
            </a:fld>
            <a:endParaRPr lang="en-US"/>
          </a:p>
        </p:txBody>
      </p:sp>
    </p:spTree>
    <p:extLst>
      <p:ext uri="{BB962C8B-B14F-4D97-AF65-F5344CB8AC3E}">
        <p14:creationId xmlns:p14="http://schemas.microsoft.com/office/powerpoint/2010/main" val="1329609493"/>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17AB-168B-5481-D8F3-553712328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B2B6C-DA8A-1A9D-F477-FFC93D9AE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E2BF7-C29D-018D-1A46-7AD92AACCA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E391C-8AE1-9F51-F47C-C940FF683EC8}"/>
              </a:ext>
            </a:extLst>
          </p:cNvPr>
          <p:cNvSpPr>
            <a:spLocks noGrp="1"/>
          </p:cNvSpPr>
          <p:nvPr>
            <p:ph type="sldNum" sz="quarter" idx="10"/>
          </p:nvPr>
        </p:nvSpPr>
        <p:spPr/>
        <p:txBody>
          <a:bodyPr/>
          <a:lstStyle/>
          <a:p>
            <a:fld id="{E2FF7759-803D-4F76-9AEC-98B2D9A07B0D}" type="slidenum">
              <a:rPr lang="en-US" smtClean="0"/>
              <a:t>376</a:t>
            </a:fld>
            <a:endParaRPr lang="en-US"/>
          </a:p>
        </p:txBody>
      </p:sp>
    </p:spTree>
    <p:extLst>
      <p:ext uri="{BB962C8B-B14F-4D97-AF65-F5344CB8AC3E}">
        <p14:creationId xmlns:p14="http://schemas.microsoft.com/office/powerpoint/2010/main" val="15185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OC Title Slide">
    <p:spTree>
      <p:nvGrpSpPr>
        <p:cNvPr id="1" name=""/>
        <p:cNvGrpSpPr/>
        <p:nvPr/>
      </p:nvGrpSpPr>
      <p:grpSpPr>
        <a:xfrm>
          <a:off x="0" y="0"/>
          <a:ext cx="0" cy="0"/>
          <a:chOff x="0" y="0"/>
          <a:chExt cx="0" cy="0"/>
        </a:xfrm>
      </p:grpSpPr>
      <p:sp>
        <p:nvSpPr>
          <p:cNvPr id="6" name="Rectangle 5"/>
          <p:cNvSpPr/>
          <p:nvPr userDrawn="1"/>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userDrawn="1"/>
        </p:nvSpPr>
        <p:spPr>
          <a:xfrm>
            <a:off x="533400"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sp>
        <p:nvSpPr>
          <p:cNvPr id="15" name="Text Placeholder 14"/>
          <p:cNvSpPr>
            <a:spLocks noGrp="1"/>
          </p:cNvSpPr>
          <p:nvPr>
            <p:ph type="body" sz="quarter" idx="10" hasCustomPrompt="1"/>
          </p:nvPr>
        </p:nvSpPr>
        <p:spPr>
          <a:xfrm>
            <a:off x="3108233" y="2514600"/>
            <a:ext cx="5687423" cy="1371600"/>
          </a:xfrm>
          <a:prstGeom prst="rect">
            <a:avLst/>
          </a:prstGeom>
        </p:spPr>
        <p:txBody>
          <a:bodyPr anchor="ctr"/>
          <a:lstStyle>
            <a:lvl1pPr marL="0" indent="0">
              <a:buNone/>
              <a:defRPr sz="8400" baseline="0">
                <a:solidFill>
                  <a:schemeClr val="bg1"/>
                </a:solidFill>
                <a:latin typeface="Segoe UI Light" pitchFamily="34" charset="0"/>
              </a:defRPr>
            </a:lvl1pPr>
          </a:lstStyle>
          <a:p>
            <a:pPr lvl="0"/>
            <a:r>
              <a:rPr lang="en-US" dirty="0"/>
              <a:t>&lt;Number&gt;</a:t>
            </a:r>
          </a:p>
        </p:txBody>
      </p:sp>
      <p:sp>
        <p:nvSpPr>
          <p:cNvPr id="19" name="Text Placeholder 18"/>
          <p:cNvSpPr>
            <a:spLocks noGrp="1"/>
          </p:cNvSpPr>
          <p:nvPr>
            <p:ph type="body" sz="quarter" idx="11" hasCustomPrompt="1"/>
          </p:nvPr>
        </p:nvSpPr>
        <p:spPr>
          <a:xfrm>
            <a:off x="3108233" y="3886200"/>
            <a:ext cx="5638800" cy="1143000"/>
          </a:xfrm>
          <a:prstGeom prst="rect">
            <a:avLst/>
          </a:prstGeom>
        </p:spPr>
        <p:txBody>
          <a:bodyPr/>
          <a:lstStyle>
            <a:lvl1pPr marL="0" indent="0">
              <a:buNone/>
              <a:defRPr sz="2800" baseline="0">
                <a:solidFill>
                  <a:schemeClr val="bg1"/>
                </a:solidFill>
                <a:latin typeface="Segoe UI" pitchFamily="34" charset="0"/>
                <a:ea typeface="Segoe UI" pitchFamily="34" charset="0"/>
                <a:cs typeface="Segoe UI" pitchFamily="34" charset="0"/>
              </a:defRPr>
            </a:lvl1pPr>
          </a:lstStyle>
          <a:p>
            <a:pPr lvl="0"/>
            <a:r>
              <a:rPr lang="en-US" dirty="0"/>
              <a:t>Course title starts here</a:t>
            </a:r>
          </a:p>
        </p:txBody>
      </p:sp>
      <p:pic>
        <p:nvPicPr>
          <p:cNvPr id="3" name="Picture 2"/>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400800" y="5758770"/>
            <a:ext cx="2590800" cy="953009"/>
          </a:xfrm>
          <a:prstGeom prst="rect">
            <a:avLst/>
          </a:prstGeom>
        </p:spPr>
      </p:pic>
    </p:spTree>
    <p:extLst>
      <p:ext uri="{BB962C8B-B14F-4D97-AF65-F5344CB8AC3E}">
        <p14:creationId xmlns:p14="http://schemas.microsoft.com/office/powerpoint/2010/main" val="339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ynamics Title Slide">
    <p:spTree>
      <p:nvGrpSpPr>
        <p:cNvPr id="1" name=""/>
        <p:cNvGrpSpPr/>
        <p:nvPr/>
      </p:nvGrpSpPr>
      <p:grpSpPr>
        <a:xfrm>
          <a:off x="0" y="0"/>
          <a:ext cx="0" cy="0"/>
          <a:chOff x="0" y="0"/>
          <a:chExt cx="0" cy="0"/>
        </a:xfrm>
      </p:grpSpPr>
      <p:sp>
        <p:nvSpPr>
          <p:cNvPr id="6" name="Rectangle 5"/>
          <p:cNvSpPr/>
          <p:nvPr userDrawn="1"/>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4"/>
          <p:cNvSpPr>
            <a:spLocks noGrp="1"/>
          </p:cNvSpPr>
          <p:nvPr>
            <p:ph type="body" sz="quarter" idx="10" hasCustomPrompt="1"/>
          </p:nvPr>
        </p:nvSpPr>
        <p:spPr>
          <a:xfrm>
            <a:off x="3108233" y="2514600"/>
            <a:ext cx="5687423" cy="1371600"/>
          </a:xfrm>
          <a:prstGeom prst="rect">
            <a:avLst/>
          </a:prstGeom>
        </p:spPr>
        <p:txBody>
          <a:bodyPr anchor="ctr"/>
          <a:lstStyle>
            <a:lvl1pPr marL="0" indent="0">
              <a:buNone/>
              <a:defRPr sz="8400" baseline="0">
                <a:solidFill>
                  <a:schemeClr val="bg1"/>
                </a:solidFill>
                <a:latin typeface="Segoe UI Light" pitchFamily="34" charset="0"/>
              </a:defRPr>
            </a:lvl1pPr>
          </a:lstStyle>
          <a:p>
            <a:pPr lvl="0"/>
            <a:r>
              <a:rPr lang="en-US" dirty="0"/>
              <a:t>&lt;Number&gt;</a:t>
            </a:r>
          </a:p>
        </p:txBody>
      </p:sp>
      <p:sp>
        <p:nvSpPr>
          <p:cNvPr id="19" name="Text Placeholder 18"/>
          <p:cNvSpPr>
            <a:spLocks noGrp="1"/>
          </p:cNvSpPr>
          <p:nvPr>
            <p:ph type="body" sz="quarter" idx="11" hasCustomPrompt="1"/>
          </p:nvPr>
        </p:nvSpPr>
        <p:spPr>
          <a:xfrm>
            <a:off x="3108233" y="3886200"/>
            <a:ext cx="5638800" cy="1143000"/>
          </a:xfrm>
          <a:prstGeom prst="rect">
            <a:avLst/>
          </a:prstGeom>
        </p:spPr>
        <p:txBody>
          <a:bodyPr/>
          <a:lstStyle>
            <a:lvl1pPr marL="0" indent="0">
              <a:buNone/>
              <a:defRPr sz="2800" baseline="0">
                <a:solidFill>
                  <a:schemeClr val="bg1"/>
                </a:solidFill>
                <a:latin typeface="Segoe UI" pitchFamily="34" charset="0"/>
                <a:ea typeface="Segoe UI" pitchFamily="34" charset="0"/>
                <a:cs typeface="Segoe UI" pitchFamily="34" charset="0"/>
              </a:defRPr>
            </a:lvl1pPr>
          </a:lstStyle>
          <a:p>
            <a:pPr lvl="0"/>
            <a:r>
              <a:rPr lang="en-US" dirty="0"/>
              <a:t>Course title starts here</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1193478"/>
            <a:ext cx="4710223" cy="1016322"/>
          </a:xfrm>
          <a:prstGeom prst="rect">
            <a:avLst/>
          </a:prstGeom>
        </p:spPr>
      </p:pic>
      <p:pic>
        <p:nvPicPr>
          <p:cNvPr id="10" name="Picture 9"/>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pic>
        <p:nvPicPr>
          <p:cNvPr id="2" name="Picture 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086600" y="5998843"/>
            <a:ext cx="1814119" cy="694933"/>
          </a:xfrm>
          <a:prstGeom prst="rect">
            <a:avLst/>
          </a:prstGeom>
        </p:spPr>
      </p:pic>
    </p:spTree>
    <p:extLst>
      <p:ext uri="{BB962C8B-B14F-4D97-AF65-F5344CB8AC3E}">
        <p14:creationId xmlns:p14="http://schemas.microsoft.com/office/powerpoint/2010/main" val="275450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odule opener">
    <p:spTree>
      <p:nvGrpSpPr>
        <p:cNvPr id="1" name=""/>
        <p:cNvGrpSpPr/>
        <p:nvPr/>
      </p:nvGrpSpPr>
      <p:grpSpPr>
        <a:xfrm>
          <a:off x="0" y="0"/>
          <a:ext cx="0" cy="0"/>
          <a:chOff x="0" y="0"/>
          <a:chExt cx="0" cy="0"/>
        </a:xfrm>
      </p:grpSpPr>
      <p:sp>
        <p:nvSpPr>
          <p:cNvPr id="6" name="Rectangle 5"/>
          <p:cNvSpPr/>
          <p:nvPr userDrawn="1"/>
        </p:nvSpPr>
        <p:spPr>
          <a:xfrm>
            <a:off x="-293914" y="-76200"/>
            <a:ext cx="9448800" cy="7239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2286000" y="2514600"/>
            <a:ext cx="6858000" cy="881743"/>
          </a:xfrm>
          <a:prstGeom prst="rect">
            <a:avLst/>
          </a:prstGeom>
          <a:solidFill>
            <a:srgbClr val="33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14"/>
          <p:cNvSpPr>
            <a:spLocks noGrp="1"/>
          </p:cNvSpPr>
          <p:nvPr>
            <p:ph type="body" sz="quarter" idx="11" hasCustomPrompt="1"/>
          </p:nvPr>
        </p:nvSpPr>
        <p:spPr>
          <a:xfrm>
            <a:off x="2590800" y="2514600"/>
            <a:ext cx="5638800" cy="881743"/>
          </a:xfrm>
          <a:prstGeom prst="rect">
            <a:avLst/>
          </a:prstGeom>
        </p:spPr>
        <p:txBody>
          <a:bodyPr anchor="ctr"/>
          <a:lstStyle>
            <a:lvl1pPr marL="0" indent="0">
              <a:buNone/>
              <a:defRPr sz="4800" baseline="0">
                <a:solidFill>
                  <a:schemeClr val="bg1"/>
                </a:solidFill>
                <a:latin typeface="Segoe UI" pitchFamily="34" charset="0"/>
                <a:ea typeface="Segoe UI" pitchFamily="34" charset="0"/>
                <a:cs typeface="Segoe UI" pitchFamily="34" charset="0"/>
              </a:defRPr>
            </a:lvl1pPr>
          </a:lstStyle>
          <a:p>
            <a:pPr lvl="0"/>
            <a:r>
              <a:rPr lang="en-US" dirty="0"/>
              <a:t>Module &lt;Number&gt;</a:t>
            </a:r>
          </a:p>
        </p:txBody>
      </p:sp>
      <p:sp>
        <p:nvSpPr>
          <p:cNvPr id="9" name="Text Placeholder 18"/>
          <p:cNvSpPr>
            <a:spLocks noGrp="1"/>
          </p:cNvSpPr>
          <p:nvPr>
            <p:ph type="body" sz="quarter" idx="12" hasCustomPrompt="1"/>
          </p:nvPr>
        </p:nvSpPr>
        <p:spPr>
          <a:xfrm>
            <a:off x="2590800" y="3505200"/>
            <a:ext cx="5624732" cy="1432560"/>
          </a:xfrm>
          <a:prstGeom prst="rect">
            <a:avLst/>
          </a:prstGeom>
        </p:spPr>
        <p:txBody>
          <a:bodyPr/>
          <a:lstStyle>
            <a:lvl1pPr marL="0" indent="0">
              <a:buNone/>
              <a:defRPr sz="2800" baseline="0">
                <a:solidFill>
                  <a:schemeClr val="bg1"/>
                </a:solidFill>
                <a:latin typeface="Segoe UI" pitchFamily="34" charset="0"/>
                <a:ea typeface="Segoe UI" pitchFamily="34" charset="0"/>
                <a:cs typeface="Segoe UI" pitchFamily="34" charset="0"/>
              </a:defRPr>
            </a:lvl1pPr>
          </a:lstStyle>
          <a:p>
            <a:pPr lvl="0"/>
            <a:r>
              <a:rPr lang="en-US" dirty="0"/>
              <a:t>Module title starts here</a:t>
            </a:r>
          </a:p>
        </p:txBody>
      </p:sp>
    </p:spTree>
    <p:extLst>
      <p:ext uri="{BB962C8B-B14F-4D97-AF65-F5344CB8AC3E}">
        <p14:creationId xmlns:p14="http://schemas.microsoft.com/office/powerpoint/2010/main" val="2043426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2pt Slide Title ">
    <p:spTree>
      <p:nvGrpSpPr>
        <p:cNvPr id="1" name=""/>
        <p:cNvGrpSpPr/>
        <p:nvPr/>
      </p:nvGrpSpPr>
      <p:grpSpPr>
        <a:xfrm>
          <a:off x="0" y="0"/>
          <a:ext cx="0" cy="0"/>
          <a:chOff x="0" y="0"/>
          <a:chExt cx="0" cy="0"/>
        </a:xfrm>
      </p:grpSpPr>
      <p:sp>
        <p:nvSpPr>
          <p:cNvPr id="8" name="Rectangle 7"/>
          <p:cNvSpPr/>
          <p:nvPr userDrawn="1"/>
        </p:nvSpPr>
        <p:spPr>
          <a:xfrm>
            <a:off x="0" y="0"/>
            <a:ext cx="9144000" cy="8229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0"/>
            <a:ext cx="8229600" cy="822960"/>
          </a:xfrm>
        </p:spPr>
        <p:txBody>
          <a:bodyPr>
            <a:noAutofit/>
          </a:bodyPr>
          <a:lstStyle>
            <a:lvl1pPr algn="l">
              <a:defRPr sz="3200" baseline="0">
                <a:solidFill>
                  <a:schemeClr val="bg1"/>
                </a:solidFill>
                <a:latin typeface="Segoe UI" pitchFamily="34" charset="0"/>
                <a:ea typeface="Segoe UI" pitchFamily="34" charset="0"/>
                <a:cs typeface="Segoe UI" pitchFamily="34" charset="0"/>
              </a:defRPr>
            </a:lvl1pPr>
          </a:lstStyle>
          <a:p>
            <a:r>
              <a:rPr lang="en-US" dirty="0"/>
              <a:t>32pt Slide Title</a:t>
            </a:r>
          </a:p>
        </p:txBody>
      </p:sp>
      <p:sp>
        <p:nvSpPr>
          <p:cNvPr id="10" name="Slide Number Placeholder 9"/>
          <p:cNvSpPr>
            <a:spLocks noGrp="1"/>
          </p:cNvSpPr>
          <p:nvPr>
            <p:ph type="sldNum" sz="quarter" idx="12"/>
          </p:nvPr>
        </p:nvSpPr>
        <p:spPr/>
        <p:txBody>
          <a:bodyPr/>
          <a:lstStyle>
            <a:lvl1pPr>
              <a:defRPr sz="1200">
                <a:solidFill>
                  <a:schemeClr val="tx1">
                    <a:lumMod val="65000"/>
                    <a:lumOff val="35000"/>
                  </a:schemeClr>
                </a:solidFill>
                <a:latin typeface="Segoe UI" pitchFamily="34" charset="0"/>
                <a:ea typeface="Segoe UI" pitchFamily="34" charset="0"/>
                <a:cs typeface="Segoe UI" pitchFamily="34" charset="0"/>
              </a:defRPr>
            </a:lvl1pPr>
          </a:lstStyle>
          <a:p>
            <a:fld id="{D814DA60-3BEE-4BCE-BEDB-E433FD970963}" type="slidenum">
              <a:rPr lang="en-US" smtClean="0"/>
              <a:pPr/>
              <a:t>‹N°›</a:t>
            </a:fld>
            <a:endParaRPr lang="en-US" dirty="0"/>
          </a:p>
        </p:txBody>
      </p:sp>
      <p:sp>
        <p:nvSpPr>
          <p:cNvPr id="6" name="Footer Placeholder 8"/>
          <p:cNvSpPr>
            <a:spLocks noGrp="1"/>
          </p:cNvSpPr>
          <p:nvPr>
            <p:ph type="ftr" sz="quarter" idx="11"/>
          </p:nvPr>
        </p:nvSpPr>
        <p:spPr>
          <a:xfrm>
            <a:off x="457200" y="6324600"/>
            <a:ext cx="2895600" cy="365125"/>
          </a:xfrm>
        </p:spPr>
        <p:txBody>
          <a:bodyPr/>
          <a:lstStyle>
            <a:lvl1pPr algn="l">
              <a:defRPr/>
            </a:lvl1pPr>
          </a:lstStyle>
          <a:p>
            <a:endParaRPr lang="en-US" dirty="0"/>
          </a:p>
        </p:txBody>
      </p:sp>
      <p:sp>
        <p:nvSpPr>
          <p:cNvPr id="9" name="Text Placeholder 4"/>
          <p:cNvSpPr>
            <a:spLocks noGrp="1"/>
          </p:cNvSpPr>
          <p:nvPr>
            <p:ph type="body" sz="quarter" idx="13"/>
          </p:nvPr>
        </p:nvSpPr>
        <p:spPr>
          <a:xfrm>
            <a:off x="457200" y="1066800"/>
            <a:ext cx="8229600" cy="5105400"/>
          </a:xfrm>
          <a:prstGeom prst="rect">
            <a:avLst/>
          </a:prstGeom>
        </p:spPr>
        <p:txBody>
          <a:bodyPr/>
          <a:lstStyle>
            <a:lvl1pPr marL="457200" indent="-457200">
              <a:buClr>
                <a:srgbClr val="0070C0"/>
              </a:buClr>
              <a:buFont typeface="Arial" pitchFamily="34" charset="0"/>
              <a:buChar char="•"/>
              <a:defRPr sz="2800" b="0">
                <a:latin typeface="Segoe UI" pitchFamily="34" charset="0"/>
                <a:ea typeface="Segoe UI" pitchFamily="34" charset="0"/>
                <a:cs typeface="Segoe UI" pitchFamily="34" charset="0"/>
              </a:defRPr>
            </a:lvl1pPr>
            <a:lvl2pPr marL="800100" indent="-342900">
              <a:buClr>
                <a:srgbClr val="0070C0"/>
              </a:buClr>
              <a:buFont typeface="Arial" pitchFamily="34" charset="0"/>
              <a:buChar char="•"/>
              <a:defRPr sz="2400" b="0">
                <a:latin typeface="Segoe UI" pitchFamily="34" charset="0"/>
                <a:ea typeface="Segoe UI" pitchFamily="34" charset="0"/>
                <a:cs typeface="Segoe UI" pitchFamily="34" charset="0"/>
              </a:defRPr>
            </a:lvl2pPr>
            <a:lvl3pPr marL="1257300" indent="-342900">
              <a:buClr>
                <a:srgbClr val="0070C0"/>
              </a:buClr>
              <a:buFont typeface="Arial" pitchFamily="34" charset="0"/>
              <a:buChar char="•"/>
              <a:defRPr sz="2000" b="0">
                <a:latin typeface="Segoe UI" pitchFamily="34" charset="0"/>
                <a:ea typeface="Segoe UI" pitchFamily="34" charset="0"/>
                <a:cs typeface="Segoe UI" pitchFamily="34" charset="0"/>
              </a:defRPr>
            </a:lvl3pPr>
            <a:lvl4pPr>
              <a:defRPr>
                <a:latin typeface="Segoe UI" pitchFamily="34" charset="0"/>
                <a:ea typeface="Segoe UI" pitchFamily="34" charset="0"/>
                <a:cs typeface="Segoe UI" pitchFamily="34" charset="0"/>
              </a:defRPr>
            </a:lvl4pPr>
            <a:lvl5pPr>
              <a:defRPr>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1817231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8pt Slide Title">
    <p:spTree>
      <p:nvGrpSpPr>
        <p:cNvPr id="1" name=""/>
        <p:cNvGrpSpPr/>
        <p:nvPr/>
      </p:nvGrpSpPr>
      <p:grpSpPr>
        <a:xfrm>
          <a:off x="0" y="0"/>
          <a:ext cx="0" cy="0"/>
          <a:chOff x="0" y="0"/>
          <a:chExt cx="0" cy="0"/>
        </a:xfrm>
      </p:grpSpPr>
      <p:sp>
        <p:nvSpPr>
          <p:cNvPr id="8" name="Rectangle 7"/>
          <p:cNvSpPr/>
          <p:nvPr userDrawn="1"/>
        </p:nvSpPr>
        <p:spPr>
          <a:xfrm>
            <a:off x="0" y="0"/>
            <a:ext cx="9144000" cy="8229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0"/>
            <a:ext cx="8229600" cy="822960"/>
          </a:xfrm>
        </p:spPr>
        <p:txBody>
          <a:bodyPr>
            <a:noAutofit/>
          </a:bodyPr>
          <a:lstStyle>
            <a:lvl1pPr algn="l">
              <a:defRPr sz="2800" baseline="0">
                <a:solidFill>
                  <a:schemeClr val="bg1"/>
                </a:solidFill>
                <a:latin typeface="Segoe UI" pitchFamily="34" charset="0"/>
                <a:ea typeface="Segoe UI" pitchFamily="34" charset="0"/>
                <a:cs typeface="Segoe UI" pitchFamily="34" charset="0"/>
              </a:defRPr>
            </a:lvl1pPr>
          </a:lstStyle>
          <a:p>
            <a:r>
              <a:rPr lang="en-US" dirty="0"/>
              <a:t>28 </a:t>
            </a:r>
            <a:r>
              <a:rPr lang="en-US" dirty="0" err="1"/>
              <a:t>pt</a:t>
            </a:r>
            <a:r>
              <a:rPr lang="en-US" dirty="0"/>
              <a:t> Slide Title</a:t>
            </a:r>
          </a:p>
        </p:txBody>
      </p:sp>
      <p:sp>
        <p:nvSpPr>
          <p:cNvPr id="6" name="Footer Placeholder 5"/>
          <p:cNvSpPr>
            <a:spLocks noGrp="1"/>
          </p:cNvSpPr>
          <p:nvPr>
            <p:ph type="ftr" sz="quarter" idx="11"/>
          </p:nvPr>
        </p:nvSpPr>
        <p:spPr>
          <a:xfrm>
            <a:off x="457200" y="6324600"/>
            <a:ext cx="2895600" cy="365125"/>
          </a:xfrm>
        </p:spPr>
        <p:txBody>
          <a:bodyPr/>
          <a:lstStyle>
            <a:lvl1pPr algn="l">
              <a:defRPr/>
            </a:lvl1pPr>
          </a:lstStyle>
          <a:p>
            <a:endParaRPr lang="en-US" dirty="0"/>
          </a:p>
        </p:txBody>
      </p:sp>
      <p:sp>
        <p:nvSpPr>
          <p:cNvPr id="7" name="Slide Number Placeholder 6"/>
          <p:cNvSpPr>
            <a:spLocks noGrp="1"/>
          </p:cNvSpPr>
          <p:nvPr>
            <p:ph type="sldNum" sz="quarter" idx="12"/>
          </p:nvPr>
        </p:nvSpPr>
        <p:spPr/>
        <p:txBody>
          <a:bodyPr/>
          <a:lstStyle/>
          <a:p>
            <a:fld id="{D814DA60-3BEE-4BCE-BEDB-E433FD970963}" type="slidenum">
              <a:rPr lang="en-US" smtClean="0"/>
              <a:pPr/>
              <a:t>‹N°›</a:t>
            </a:fld>
            <a:endParaRPr lang="en-US" dirty="0"/>
          </a:p>
        </p:txBody>
      </p:sp>
      <p:sp>
        <p:nvSpPr>
          <p:cNvPr id="9" name="Text Placeholder 4"/>
          <p:cNvSpPr>
            <a:spLocks noGrp="1"/>
          </p:cNvSpPr>
          <p:nvPr>
            <p:ph type="body" sz="quarter" idx="13"/>
          </p:nvPr>
        </p:nvSpPr>
        <p:spPr>
          <a:xfrm>
            <a:off x="457200" y="1066800"/>
            <a:ext cx="8229600" cy="5105400"/>
          </a:xfrm>
          <a:prstGeom prst="rect">
            <a:avLst/>
          </a:prstGeom>
        </p:spPr>
        <p:txBody>
          <a:bodyPr/>
          <a:lstStyle>
            <a:lvl1pPr marL="457200" indent="-457200">
              <a:buClr>
                <a:srgbClr val="0070C0"/>
              </a:buClr>
              <a:buFont typeface="Arial" pitchFamily="34" charset="0"/>
              <a:buChar char="•"/>
              <a:defRPr sz="2800" b="0">
                <a:latin typeface="Segoe UI" pitchFamily="34" charset="0"/>
                <a:ea typeface="Segoe UI" pitchFamily="34" charset="0"/>
                <a:cs typeface="Segoe UI" pitchFamily="34" charset="0"/>
              </a:defRPr>
            </a:lvl1pPr>
            <a:lvl2pPr marL="800100" indent="-342900">
              <a:buClr>
                <a:srgbClr val="0070C0"/>
              </a:buClr>
              <a:buFont typeface="Arial" pitchFamily="34" charset="0"/>
              <a:buChar char="•"/>
              <a:defRPr sz="2400" b="0">
                <a:latin typeface="Segoe UI" pitchFamily="34" charset="0"/>
                <a:ea typeface="Segoe UI" pitchFamily="34" charset="0"/>
                <a:cs typeface="Segoe UI" pitchFamily="34" charset="0"/>
              </a:defRPr>
            </a:lvl2pPr>
            <a:lvl3pPr marL="1257300" indent="-342900">
              <a:buClr>
                <a:srgbClr val="0070C0"/>
              </a:buClr>
              <a:buFont typeface="Arial" pitchFamily="34" charset="0"/>
              <a:buChar char="•"/>
              <a:defRPr sz="2000" b="0">
                <a:latin typeface="Segoe UI" pitchFamily="34" charset="0"/>
                <a:ea typeface="Segoe UI" pitchFamily="34" charset="0"/>
                <a:cs typeface="Segoe UI" pitchFamily="34" charset="0"/>
              </a:defRPr>
            </a:lvl3pPr>
            <a:lvl4pPr>
              <a:defRPr>
                <a:latin typeface="Segoe UI" pitchFamily="34" charset="0"/>
                <a:ea typeface="Segoe UI" pitchFamily="34" charset="0"/>
                <a:cs typeface="Segoe UI" pitchFamily="34" charset="0"/>
              </a:defRPr>
            </a:lvl4pPr>
            <a:lvl5pPr>
              <a:defRPr>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78192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57200" y="6324600"/>
            <a:ext cx="2895600" cy="365125"/>
          </a:xfrm>
        </p:spPr>
        <p:txBody>
          <a:bodyPr/>
          <a:lstStyle>
            <a:lvl1pPr algn="l">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itchFamily="34" charset="0"/>
                <a:ea typeface="Segoe UI" pitchFamily="34" charset="0"/>
                <a:cs typeface="Segoe UI" pitchFamily="34" charset="0"/>
              </a:defRPr>
            </a:lvl1pPr>
          </a:lstStyle>
          <a:p>
            <a:fld id="{D814DA60-3BEE-4BCE-BEDB-E433FD970963}" type="slidenum">
              <a:rPr lang="en-US" smtClean="0"/>
              <a:pPr/>
              <a:t>‹N°›</a:t>
            </a:fld>
            <a:endParaRPr lang="en-US" dirty="0"/>
          </a:p>
        </p:txBody>
      </p:sp>
      <p:sp>
        <p:nvSpPr>
          <p:cNvPr id="5" name="Rectangle 4"/>
          <p:cNvSpPr/>
          <p:nvPr userDrawn="1"/>
        </p:nvSpPr>
        <p:spPr>
          <a:xfrm>
            <a:off x="0" y="0"/>
            <a:ext cx="9144000" cy="8229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title" hasCustomPrompt="1"/>
          </p:nvPr>
        </p:nvSpPr>
        <p:spPr>
          <a:xfrm>
            <a:off x="457200" y="0"/>
            <a:ext cx="8229600" cy="822960"/>
          </a:xfrm>
        </p:spPr>
        <p:txBody>
          <a:bodyPr>
            <a:noAutofit/>
          </a:bodyPr>
          <a:lstStyle>
            <a:lvl1pPr algn="l">
              <a:defRPr sz="3200" baseline="0">
                <a:solidFill>
                  <a:schemeClr val="bg1"/>
                </a:solidFill>
                <a:latin typeface="Segoe UI" pitchFamily="34" charset="0"/>
                <a:ea typeface="Segoe UI" pitchFamily="34" charset="0"/>
                <a:cs typeface="Segoe UI" pitchFamily="34" charset="0"/>
              </a:defRPr>
            </a:lvl1pPr>
          </a:lstStyle>
          <a:p>
            <a:r>
              <a:rPr lang="en-US" dirty="0"/>
              <a:t>32pt Slide Title</a:t>
            </a:r>
          </a:p>
        </p:txBody>
      </p:sp>
    </p:spTree>
    <p:extLst>
      <p:ext uri="{BB962C8B-B14F-4D97-AF65-F5344CB8AC3E}">
        <p14:creationId xmlns:p14="http://schemas.microsoft.com/office/powerpoint/2010/main" val="4148112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47124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2352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685800" y="2130425"/>
            <a:ext cx="7772400" cy="1470025"/>
          </a:xfrm>
        </p:spPr>
        <p:txBody>
          <a:bodyPr/>
          <a:lstStyle>
            <a:lvl1pPr algn="ctr">
              <a:defRPr>
                <a:solidFill>
                  <a:schemeClr val="bg1"/>
                </a:solidFill>
                <a:latin typeface="Arial Black" pitchFamily="34" charset="0"/>
              </a:defRPr>
            </a:lvl1pPr>
          </a:lstStyle>
          <a:p>
            <a:r>
              <a:rPr lang="fr-FR"/>
              <a:t>Click to edit Master title style</a:t>
            </a:r>
          </a:p>
        </p:txBody>
      </p:sp>
      <p:sp>
        <p:nvSpPr>
          <p:cNvPr id="2253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fr-FR"/>
              <a:t>Click to edit Master subtitle style</a:t>
            </a:r>
          </a:p>
        </p:txBody>
      </p:sp>
      <p:sp>
        <p:nvSpPr>
          <p:cNvPr id="4" name="Rectangle 4">
            <a:extLst>
              <a:ext uri="{FF2B5EF4-FFF2-40B4-BE49-F238E27FC236}">
                <a16:creationId xmlns:a16="http://schemas.microsoft.com/office/drawing/2014/main" id="{8324C148-24F1-41F5-970C-41FEDCA6B2A9}"/>
              </a:ext>
            </a:extLst>
          </p:cNvPr>
          <p:cNvSpPr>
            <a:spLocks noGrp="1" noChangeArrowheads="1"/>
          </p:cNvSpPr>
          <p:nvPr>
            <p:ph type="dt" sz="half" idx="10"/>
          </p:nvPr>
        </p:nvSpPr>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EEA98084-A671-46A0-B2EC-8516B91AD601}"/>
              </a:ext>
            </a:extLst>
          </p:cNvPr>
          <p:cNvSpPr>
            <a:spLocks noGrp="1" noChangeArrowheads="1"/>
          </p:cNvSpPr>
          <p:nvPr>
            <p:ph type="ftr" sz="quarter" idx="11"/>
          </p:nvPr>
        </p:nvSpPr>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740A39FF-5444-401C-A581-ADB1CC1D5E2C}"/>
              </a:ext>
            </a:extLst>
          </p:cNvPr>
          <p:cNvSpPr>
            <a:spLocks noGrp="1" noChangeArrowheads="1"/>
          </p:cNvSpPr>
          <p:nvPr>
            <p:ph type="sldNum" sz="quarter" idx="12"/>
          </p:nvPr>
        </p:nvSpPr>
        <p:spPr/>
        <p:txBody>
          <a:bodyPr/>
          <a:lstStyle>
            <a:lvl1pPr>
              <a:defRPr/>
            </a:lvl1pPr>
          </a:lstStyle>
          <a:p>
            <a:fld id="{7CFA8906-AF34-440C-BFBB-705CB86ACE0A}" type="slidenum">
              <a:rPr lang="fr-FR" altLang="fr-FR"/>
              <a:pPr/>
              <a:t>‹N°›</a:t>
            </a:fld>
            <a:endParaRPr lang="fr-FR" altLang="fr-FR"/>
          </a:p>
        </p:txBody>
      </p:sp>
    </p:spTree>
    <p:extLst>
      <p:ext uri="{BB962C8B-B14F-4D97-AF65-F5344CB8AC3E}">
        <p14:creationId xmlns:p14="http://schemas.microsoft.com/office/powerpoint/2010/main" val="2370507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4">
            <a:extLst>
              <a:ext uri="{FF2B5EF4-FFF2-40B4-BE49-F238E27FC236}">
                <a16:creationId xmlns:a16="http://schemas.microsoft.com/office/drawing/2014/main" id="{09555515-9956-4FC1-8C2D-4D428829EE52}"/>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7D98E761-8537-427B-96FF-578922524AFD}"/>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D1A25831-B547-4A63-8FEF-2F4BCE4228E5}"/>
              </a:ext>
            </a:extLst>
          </p:cNvPr>
          <p:cNvSpPr>
            <a:spLocks noGrp="1" noChangeArrowheads="1"/>
          </p:cNvSpPr>
          <p:nvPr>
            <p:ph type="sldNum" sz="quarter" idx="12"/>
          </p:nvPr>
        </p:nvSpPr>
        <p:spPr>
          <a:ln/>
        </p:spPr>
        <p:txBody>
          <a:bodyPr/>
          <a:lstStyle>
            <a:lvl1pPr>
              <a:defRPr/>
            </a:lvl1pPr>
          </a:lstStyle>
          <a:p>
            <a:fld id="{72C9F0FD-2524-4C02-97FF-89F3967057E5}" type="slidenum">
              <a:rPr lang="fr-FR" altLang="fr-FR"/>
              <a:pPr/>
              <a:t>‹N°›</a:t>
            </a:fld>
            <a:endParaRPr lang="fr-FR" altLang="fr-FR"/>
          </a:p>
        </p:txBody>
      </p:sp>
    </p:spTree>
    <p:extLst>
      <p:ext uri="{BB962C8B-B14F-4D97-AF65-F5344CB8AC3E}">
        <p14:creationId xmlns:p14="http://schemas.microsoft.com/office/powerpoint/2010/main" val="1496006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fr-F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24C75B5-74BA-4A51-A74D-576E9C1F4D29}"/>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3BE28F64-90FB-4C99-852A-7D7A43A18A6B}"/>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17027411-A961-443F-92DF-4A4BAC986A04}"/>
              </a:ext>
            </a:extLst>
          </p:cNvPr>
          <p:cNvSpPr>
            <a:spLocks noGrp="1" noChangeArrowheads="1"/>
          </p:cNvSpPr>
          <p:nvPr>
            <p:ph type="sldNum" sz="quarter" idx="12"/>
          </p:nvPr>
        </p:nvSpPr>
        <p:spPr>
          <a:ln/>
        </p:spPr>
        <p:txBody>
          <a:bodyPr/>
          <a:lstStyle>
            <a:lvl1pPr>
              <a:defRPr/>
            </a:lvl1pPr>
          </a:lstStyle>
          <a:p>
            <a:fld id="{FF8CF6AC-F065-4692-B914-5AAA4B7E08D8}" type="slidenum">
              <a:rPr lang="fr-FR" altLang="fr-FR"/>
              <a:pPr/>
              <a:t>‹N°›</a:t>
            </a:fld>
            <a:endParaRPr lang="fr-FR" altLang="fr-FR"/>
          </a:p>
        </p:txBody>
      </p:sp>
    </p:spTree>
    <p:extLst>
      <p:ext uri="{BB962C8B-B14F-4D97-AF65-F5344CB8AC3E}">
        <p14:creationId xmlns:p14="http://schemas.microsoft.com/office/powerpoint/2010/main" val="12690258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Rectangle 4">
            <a:extLst>
              <a:ext uri="{FF2B5EF4-FFF2-40B4-BE49-F238E27FC236}">
                <a16:creationId xmlns:a16="http://schemas.microsoft.com/office/drawing/2014/main" id="{912BFCB4-9646-453F-A4E1-3AAE5B61BDB5}"/>
              </a:ext>
            </a:extLst>
          </p:cNvPr>
          <p:cNvSpPr>
            <a:spLocks noGrp="1" noChangeArrowheads="1"/>
          </p:cNvSpPr>
          <p:nvPr>
            <p:ph type="dt" sz="half" idx="10"/>
          </p:nvPr>
        </p:nvSpPr>
        <p:spPr>
          <a:ln/>
        </p:spPr>
        <p:txBody>
          <a:bodyPr/>
          <a:lstStyle>
            <a:lvl1pPr>
              <a:defRPr/>
            </a:lvl1pPr>
          </a:lstStyle>
          <a:p>
            <a:pPr>
              <a:defRPr/>
            </a:pPr>
            <a:endParaRPr lang="fr-FR"/>
          </a:p>
        </p:txBody>
      </p:sp>
      <p:sp>
        <p:nvSpPr>
          <p:cNvPr id="6" name="Rectangle 5">
            <a:extLst>
              <a:ext uri="{FF2B5EF4-FFF2-40B4-BE49-F238E27FC236}">
                <a16:creationId xmlns:a16="http://schemas.microsoft.com/office/drawing/2014/main" id="{3B7CB5F0-9CAD-400C-9D52-9DC6AD4CBD75}"/>
              </a:ext>
            </a:extLst>
          </p:cNvPr>
          <p:cNvSpPr>
            <a:spLocks noGrp="1" noChangeArrowheads="1"/>
          </p:cNvSpPr>
          <p:nvPr>
            <p:ph type="ftr" sz="quarter" idx="11"/>
          </p:nvPr>
        </p:nvSpPr>
        <p:spPr>
          <a:ln/>
        </p:spPr>
        <p:txBody>
          <a:bodyPr/>
          <a:lstStyle>
            <a:lvl1pPr>
              <a:defRPr/>
            </a:lvl1pPr>
          </a:lstStyle>
          <a:p>
            <a:pPr>
              <a:defRPr/>
            </a:pPr>
            <a:endParaRPr lang="fr-FR"/>
          </a:p>
        </p:txBody>
      </p:sp>
      <p:sp>
        <p:nvSpPr>
          <p:cNvPr id="7" name="Rectangle 6">
            <a:extLst>
              <a:ext uri="{FF2B5EF4-FFF2-40B4-BE49-F238E27FC236}">
                <a16:creationId xmlns:a16="http://schemas.microsoft.com/office/drawing/2014/main" id="{3761B043-85B2-4829-B53D-750F5517FE10}"/>
              </a:ext>
            </a:extLst>
          </p:cNvPr>
          <p:cNvSpPr>
            <a:spLocks noGrp="1" noChangeArrowheads="1"/>
          </p:cNvSpPr>
          <p:nvPr>
            <p:ph type="sldNum" sz="quarter" idx="12"/>
          </p:nvPr>
        </p:nvSpPr>
        <p:spPr>
          <a:ln/>
        </p:spPr>
        <p:txBody>
          <a:bodyPr/>
          <a:lstStyle>
            <a:lvl1pPr>
              <a:defRPr/>
            </a:lvl1pPr>
          </a:lstStyle>
          <a:p>
            <a:fld id="{3E2D5323-79DC-4C2E-895F-8534113BE108}" type="slidenum">
              <a:rPr lang="fr-FR" altLang="fr-FR"/>
              <a:pPr/>
              <a:t>‹N°›</a:t>
            </a:fld>
            <a:endParaRPr lang="fr-FR" altLang="fr-FR"/>
          </a:p>
        </p:txBody>
      </p:sp>
    </p:spTree>
    <p:extLst>
      <p:ext uri="{BB962C8B-B14F-4D97-AF65-F5344CB8AC3E}">
        <p14:creationId xmlns:p14="http://schemas.microsoft.com/office/powerpoint/2010/main" val="4038186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fr-F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Rectangle 4">
            <a:extLst>
              <a:ext uri="{FF2B5EF4-FFF2-40B4-BE49-F238E27FC236}">
                <a16:creationId xmlns:a16="http://schemas.microsoft.com/office/drawing/2014/main" id="{6366C242-33BD-4532-9A0D-052AA26D7B9E}"/>
              </a:ext>
            </a:extLst>
          </p:cNvPr>
          <p:cNvSpPr>
            <a:spLocks noGrp="1" noChangeArrowheads="1"/>
          </p:cNvSpPr>
          <p:nvPr>
            <p:ph type="dt" sz="half" idx="10"/>
          </p:nvPr>
        </p:nvSpPr>
        <p:spPr>
          <a:ln/>
        </p:spPr>
        <p:txBody>
          <a:bodyPr/>
          <a:lstStyle>
            <a:lvl1pPr>
              <a:defRPr/>
            </a:lvl1pPr>
          </a:lstStyle>
          <a:p>
            <a:pPr>
              <a:defRPr/>
            </a:pPr>
            <a:endParaRPr lang="fr-FR"/>
          </a:p>
        </p:txBody>
      </p:sp>
      <p:sp>
        <p:nvSpPr>
          <p:cNvPr id="8" name="Rectangle 5">
            <a:extLst>
              <a:ext uri="{FF2B5EF4-FFF2-40B4-BE49-F238E27FC236}">
                <a16:creationId xmlns:a16="http://schemas.microsoft.com/office/drawing/2014/main" id="{82FC2383-CA76-4A9A-A5EC-B43C8B5BA5AF}"/>
              </a:ext>
            </a:extLst>
          </p:cNvPr>
          <p:cNvSpPr>
            <a:spLocks noGrp="1" noChangeArrowheads="1"/>
          </p:cNvSpPr>
          <p:nvPr>
            <p:ph type="ftr" sz="quarter" idx="11"/>
          </p:nvPr>
        </p:nvSpPr>
        <p:spPr>
          <a:ln/>
        </p:spPr>
        <p:txBody>
          <a:bodyPr/>
          <a:lstStyle>
            <a:lvl1pPr>
              <a:defRPr/>
            </a:lvl1pPr>
          </a:lstStyle>
          <a:p>
            <a:pPr>
              <a:defRPr/>
            </a:pPr>
            <a:endParaRPr lang="fr-FR"/>
          </a:p>
        </p:txBody>
      </p:sp>
      <p:sp>
        <p:nvSpPr>
          <p:cNvPr id="9" name="Rectangle 6">
            <a:extLst>
              <a:ext uri="{FF2B5EF4-FFF2-40B4-BE49-F238E27FC236}">
                <a16:creationId xmlns:a16="http://schemas.microsoft.com/office/drawing/2014/main" id="{BB63B7C4-4863-460C-81C4-C56C0C9D1DDE}"/>
              </a:ext>
            </a:extLst>
          </p:cNvPr>
          <p:cNvSpPr>
            <a:spLocks noGrp="1" noChangeArrowheads="1"/>
          </p:cNvSpPr>
          <p:nvPr>
            <p:ph type="sldNum" sz="quarter" idx="12"/>
          </p:nvPr>
        </p:nvSpPr>
        <p:spPr>
          <a:ln/>
        </p:spPr>
        <p:txBody>
          <a:bodyPr/>
          <a:lstStyle>
            <a:lvl1pPr>
              <a:defRPr/>
            </a:lvl1pPr>
          </a:lstStyle>
          <a:p>
            <a:fld id="{DA7C9448-A597-498E-A12B-80A712961EAF}" type="slidenum">
              <a:rPr lang="fr-FR" altLang="fr-FR"/>
              <a:pPr/>
              <a:t>‹N°›</a:t>
            </a:fld>
            <a:endParaRPr lang="fr-FR" altLang="fr-FR"/>
          </a:p>
        </p:txBody>
      </p:sp>
    </p:spTree>
    <p:extLst>
      <p:ext uri="{BB962C8B-B14F-4D97-AF65-F5344CB8AC3E}">
        <p14:creationId xmlns:p14="http://schemas.microsoft.com/office/powerpoint/2010/main" val="348101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Rectangle 4">
            <a:extLst>
              <a:ext uri="{FF2B5EF4-FFF2-40B4-BE49-F238E27FC236}">
                <a16:creationId xmlns:a16="http://schemas.microsoft.com/office/drawing/2014/main" id="{DEE9217B-D25D-4D92-8FF4-4B5069C6BA4A}"/>
              </a:ext>
            </a:extLst>
          </p:cNvPr>
          <p:cNvSpPr>
            <a:spLocks noGrp="1" noChangeArrowheads="1"/>
          </p:cNvSpPr>
          <p:nvPr>
            <p:ph type="dt" sz="half" idx="10"/>
          </p:nvPr>
        </p:nvSpPr>
        <p:spPr>
          <a:ln/>
        </p:spPr>
        <p:txBody>
          <a:bodyPr/>
          <a:lstStyle>
            <a:lvl1pPr>
              <a:defRPr/>
            </a:lvl1pPr>
          </a:lstStyle>
          <a:p>
            <a:pPr>
              <a:defRPr/>
            </a:pPr>
            <a:endParaRPr lang="fr-FR"/>
          </a:p>
        </p:txBody>
      </p:sp>
      <p:sp>
        <p:nvSpPr>
          <p:cNvPr id="4" name="Rectangle 5">
            <a:extLst>
              <a:ext uri="{FF2B5EF4-FFF2-40B4-BE49-F238E27FC236}">
                <a16:creationId xmlns:a16="http://schemas.microsoft.com/office/drawing/2014/main" id="{937E2AC7-2332-4EE2-9F99-598281B058C5}"/>
              </a:ext>
            </a:extLst>
          </p:cNvPr>
          <p:cNvSpPr>
            <a:spLocks noGrp="1" noChangeArrowheads="1"/>
          </p:cNvSpPr>
          <p:nvPr>
            <p:ph type="ftr" sz="quarter" idx="11"/>
          </p:nvPr>
        </p:nvSpPr>
        <p:spPr>
          <a:ln/>
        </p:spPr>
        <p:txBody>
          <a:bodyPr/>
          <a:lstStyle>
            <a:lvl1pPr>
              <a:defRPr/>
            </a:lvl1pPr>
          </a:lstStyle>
          <a:p>
            <a:pPr>
              <a:defRPr/>
            </a:pPr>
            <a:endParaRPr lang="fr-FR"/>
          </a:p>
        </p:txBody>
      </p:sp>
      <p:sp>
        <p:nvSpPr>
          <p:cNvPr id="5" name="Rectangle 6">
            <a:extLst>
              <a:ext uri="{FF2B5EF4-FFF2-40B4-BE49-F238E27FC236}">
                <a16:creationId xmlns:a16="http://schemas.microsoft.com/office/drawing/2014/main" id="{3DE8EC76-5569-475F-82D1-278E78FC0E84}"/>
              </a:ext>
            </a:extLst>
          </p:cNvPr>
          <p:cNvSpPr>
            <a:spLocks noGrp="1" noChangeArrowheads="1"/>
          </p:cNvSpPr>
          <p:nvPr>
            <p:ph type="sldNum" sz="quarter" idx="12"/>
          </p:nvPr>
        </p:nvSpPr>
        <p:spPr>
          <a:ln/>
        </p:spPr>
        <p:txBody>
          <a:bodyPr/>
          <a:lstStyle>
            <a:lvl1pPr>
              <a:defRPr/>
            </a:lvl1pPr>
          </a:lstStyle>
          <a:p>
            <a:fld id="{2D762587-B5BD-4CD0-9BAF-E3651E0A5AA9}" type="slidenum">
              <a:rPr lang="fr-FR" altLang="fr-FR"/>
              <a:pPr/>
              <a:t>‹N°›</a:t>
            </a:fld>
            <a:endParaRPr lang="fr-FR" altLang="fr-FR"/>
          </a:p>
        </p:txBody>
      </p:sp>
    </p:spTree>
    <p:extLst>
      <p:ext uri="{BB962C8B-B14F-4D97-AF65-F5344CB8AC3E}">
        <p14:creationId xmlns:p14="http://schemas.microsoft.com/office/powerpoint/2010/main" val="2356318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8AB69AF-3C64-486F-8D15-8D6413807694}"/>
              </a:ext>
            </a:extLst>
          </p:cNvPr>
          <p:cNvSpPr>
            <a:spLocks noGrp="1" noChangeArrowheads="1"/>
          </p:cNvSpPr>
          <p:nvPr>
            <p:ph type="dt" sz="half" idx="10"/>
          </p:nvPr>
        </p:nvSpPr>
        <p:spPr>
          <a:ln/>
        </p:spPr>
        <p:txBody>
          <a:bodyPr/>
          <a:lstStyle>
            <a:lvl1pPr>
              <a:defRPr/>
            </a:lvl1pPr>
          </a:lstStyle>
          <a:p>
            <a:pPr>
              <a:defRPr/>
            </a:pPr>
            <a:endParaRPr lang="fr-FR"/>
          </a:p>
        </p:txBody>
      </p:sp>
      <p:sp>
        <p:nvSpPr>
          <p:cNvPr id="3" name="Rectangle 5">
            <a:extLst>
              <a:ext uri="{FF2B5EF4-FFF2-40B4-BE49-F238E27FC236}">
                <a16:creationId xmlns:a16="http://schemas.microsoft.com/office/drawing/2014/main" id="{B4E969B0-2219-4C82-9E26-4ECFEFF06403}"/>
              </a:ext>
            </a:extLst>
          </p:cNvPr>
          <p:cNvSpPr>
            <a:spLocks noGrp="1" noChangeArrowheads="1"/>
          </p:cNvSpPr>
          <p:nvPr>
            <p:ph type="ftr" sz="quarter" idx="11"/>
          </p:nvPr>
        </p:nvSpPr>
        <p:spPr>
          <a:ln/>
        </p:spPr>
        <p:txBody>
          <a:bodyPr/>
          <a:lstStyle>
            <a:lvl1pPr>
              <a:defRPr/>
            </a:lvl1pPr>
          </a:lstStyle>
          <a:p>
            <a:pPr>
              <a:defRPr/>
            </a:pPr>
            <a:endParaRPr lang="fr-FR"/>
          </a:p>
        </p:txBody>
      </p:sp>
      <p:sp>
        <p:nvSpPr>
          <p:cNvPr id="4" name="Rectangle 6">
            <a:extLst>
              <a:ext uri="{FF2B5EF4-FFF2-40B4-BE49-F238E27FC236}">
                <a16:creationId xmlns:a16="http://schemas.microsoft.com/office/drawing/2014/main" id="{0FE54CBF-07C0-4147-A5FA-DF05EACDD36B}"/>
              </a:ext>
            </a:extLst>
          </p:cNvPr>
          <p:cNvSpPr>
            <a:spLocks noGrp="1" noChangeArrowheads="1"/>
          </p:cNvSpPr>
          <p:nvPr>
            <p:ph type="sldNum" sz="quarter" idx="12"/>
          </p:nvPr>
        </p:nvSpPr>
        <p:spPr>
          <a:ln/>
        </p:spPr>
        <p:txBody>
          <a:bodyPr/>
          <a:lstStyle>
            <a:lvl1pPr>
              <a:defRPr/>
            </a:lvl1pPr>
          </a:lstStyle>
          <a:p>
            <a:fld id="{F24974C2-C79C-43FA-9941-3BE3A3A1B7F0}" type="slidenum">
              <a:rPr lang="fr-FR" altLang="fr-FR"/>
              <a:pPr/>
              <a:t>‹N°›</a:t>
            </a:fld>
            <a:endParaRPr lang="fr-FR" altLang="fr-FR"/>
          </a:p>
        </p:txBody>
      </p:sp>
    </p:spTree>
    <p:extLst>
      <p:ext uri="{BB962C8B-B14F-4D97-AF65-F5344CB8AC3E}">
        <p14:creationId xmlns:p14="http://schemas.microsoft.com/office/powerpoint/2010/main" val="2521086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fr-F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8010A09-860A-470B-9501-7AC74766A68C}"/>
              </a:ext>
            </a:extLst>
          </p:cNvPr>
          <p:cNvSpPr>
            <a:spLocks noGrp="1" noChangeArrowheads="1"/>
          </p:cNvSpPr>
          <p:nvPr>
            <p:ph type="dt" sz="half" idx="10"/>
          </p:nvPr>
        </p:nvSpPr>
        <p:spPr>
          <a:ln/>
        </p:spPr>
        <p:txBody>
          <a:bodyPr/>
          <a:lstStyle>
            <a:lvl1pPr>
              <a:defRPr/>
            </a:lvl1pPr>
          </a:lstStyle>
          <a:p>
            <a:pPr>
              <a:defRPr/>
            </a:pPr>
            <a:endParaRPr lang="fr-FR"/>
          </a:p>
        </p:txBody>
      </p:sp>
      <p:sp>
        <p:nvSpPr>
          <p:cNvPr id="6" name="Rectangle 5">
            <a:extLst>
              <a:ext uri="{FF2B5EF4-FFF2-40B4-BE49-F238E27FC236}">
                <a16:creationId xmlns:a16="http://schemas.microsoft.com/office/drawing/2014/main" id="{9B5D46C6-17A2-476A-8312-B906BFB4063E}"/>
              </a:ext>
            </a:extLst>
          </p:cNvPr>
          <p:cNvSpPr>
            <a:spLocks noGrp="1" noChangeArrowheads="1"/>
          </p:cNvSpPr>
          <p:nvPr>
            <p:ph type="ftr" sz="quarter" idx="11"/>
          </p:nvPr>
        </p:nvSpPr>
        <p:spPr>
          <a:ln/>
        </p:spPr>
        <p:txBody>
          <a:bodyPr/>
          <a:lstStyle>
            <a:lvl1pPr>
              <a:defRPr/>
            </a:lvl1pPr>
          </a:lstStyle>
          <a:p>
            <a:pPr>
              <a:defRPr/>
            </a:pPr>
            <a:endParaRPr lang="fr-FR"/>
          </a:p>
        </p:txBody>
      </p:sp>
      <p:sp>
        <p:nvSpPr>
          <p:cNvPr id="7" name="Rectangle 6">
            <a:extLst>
              <a:ext uri="{FF2B5EF4-FFF2-40B4-BE49-F238E27FC236}">
                <a16:creationId xmlns:a16="http://schemas.microsoft.com/office/drawing/2014/main" id="{21AAF871-350A-4AB2-B4F4-96B456C64414}"/>
              </a:ext>
            </a:extLst>
          </p:cNvPr>
          <p:cNvSpPr>
            <a:spLocks noGrp="1" noChangeArrowheads="1"/>
          </p:cNvSpPr>
          <p:nvPr>
            <p:ph type="sldNum" sz="quarter" idx="12"/>
          </p:nvPr>
        </p:nvSpPr>
        <p:spPr>
          <a:ln/>
        </p:spPr>
        <p:txBody>
          <a:bodyPr/>
          <a:lstStyle>
            <a:lvl1pPr>
              <a:defRPr/>
            </a:lvl1pPr>
          </a:lstStyle>
          <a:p>
            <a:fld id="{FF82F265-E5C1-47B7-B057-371ED82B50B5}" type="slidenum">
              <a:rPr lang="fr-FR" altLang="fr-FR"/>
              <a:pPr/>
              <a:t>‹N°›</a:t>
            </a:fld>
            <a:endParaRPr lang="fr-FR" altLang="fr-FR"/>
          </a:p>
        </p:txBody>
      </p:sp>
    </p:spTree>
    <p:extLst>
      <p:ext uri="{BB962C8B-B14F-4D97-AF65-F5344CB8AC3E}">
        <p14:creationId xmlns:p14="http://schemas.microsoft.com/office/powerpoint/2010/main" val="19512196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fr-F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9ACA544-F359-4F8D-9FC0-9E1F32E32646}"/>
              </a:ext>
            </a:extLst>
          </p:cNvPr>
          <p:cNvSpPr>
            <a:spLocks noGrp="1" noChangeArrowheads="1"/>
          </p:cNvSpPr>
          <p:nvPr>
            <p:ph type="dt" sz="half" idx="10"/>
          </p:nvPr>
        </p:nvSpPr>
        <p:spPr>
          <a:ln/>
        </p:spPr>
        <p:txBody>
          <a:bodyPr/>
          <a:lstStyle>
            <a:lvl1pPr>
              <a:defRPr/>
            </a:lvl1pPr>
          </a:lstStyle>
          <a:p>
            <a:pPr>
              <a:defRPr/>
            </a:pPr>
            <a:endParaRPr lang="fr-FR"/>
          </a:p>
        </p:txBody>
      </p:sp>
      <p:sp>
        <p:nvSpPr>
          <p:cNvPr id="6" name="Rectangle 5">
            <a:extLst>
              <a:ext uri="{FF2B5EF4-FFF2-40B4-BE49-F238E27FC236}">
                <a16:creationId xmlns:a16="http://schemas.microsoft.com/office/drawing/2014/main" id="{38804D07-4242-4BDA-BA12-FBEC07FA880C}"/>
              </a:ext>
            </a:extLst>
          </p:cNvPr>
          <p:cNvSpPr>
            <a:spLocks noGrp="1" noChangeArrowheads="1"/>
          </p:cNvSpPr>
          <p:nvPr>
            <p:ph type="ftr" sz="quarter" idx="11"/>
          </p:nvPr>
        </p:nvSpPr>
        <p:spPr>
          <a:ln/>
        </p:spPr>
        <p:txBody>
          <a:bodyPr/>
          <a:lstStyle>
            <a:lvl1pPr>
              <a:defRPr/>
            </a:lvl1pPr>
          </a:lstStyle>
          <a:p>
            <a:pPr>
              <a:defRPr/>
            </a:pPr>
            <a:endParaRPr lang="fr-FR"/>
          </a:p>
        </p:txBody>
      </p:sp>
      <p:sp>
        <p:nvSpPr>
          <p:cNvPr id="7" name="Rectangle 6">
            <a:extLst>
              <a:ext uri="{FF2B5EF4-FFF2-40B4-BE49-F238E27FC236}">
                <a16:creationId xmlns:a16="http://schemas.microsoft.com/office/drawing/2014/main" id="{BD183578-6148-4FE1-A1E9-E932EACD304E}"/>
              </a:ext>
            </a:extLst>
          </p:cNvPr>
          <p:cNvSpPr>
            <a:spLocks noGrp="1" noChangeArrowheads="1"/>
          </p:cNvSpPr>
          <p:nvPr>
            <p:ph type="sldNum" sz="quarter" idx="12"/>
          </p:nvPr>
        </p:nvSpPr>
        <p:spPr>
          <a:ln/>
        </p:spPr>
        <p:txBody>
          <a:bodyPr/>
          <a:lstStyle>
            <a:lvl1pPr>
              <a:defRPr/>
            </a:lvl1pPr>
          </a:lstStyle>
          <a:p>
            <a:fld id="{5A8C3837-B7D4-4059-B8EC-9DDBF0572C4C}" type="slidenum">
              <a:rPr lang="fr-FR" altLang="fr-FR"/>
              <a:pPr/>
              <a:t>‹N°›</a:t>
            </a:fld>
            <a:endParaRPr lang="fr-FR" altLang="fr-FR"/>
          </a:p>
        </p:txBody>
      </p:sp>
    </p:spTree>
    <p:extLst>
      <p:ext uri="{BB962C8B-B14F-4D97-AF65-F5344CB8AC3E}">
        <p14:creationId xmlns:p14="http://schemas.microsoft.com/office/powerpoint/2010/main" val="4528727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4">
            <a:extLst>
              <a:ext uri="{FF2B5EF4-FFF2-40B4-BE49-F238E27FC236}">
                <a16:creationId xmlns:a16="http://schemas.microsoft.com/office/drawing/2014/main" id="{3F87446A-16A6-4636-B21F-AE86B92C1CC6}"/>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5FF69104-128A-4E08-B56C-DB95ECC7B59B}"/>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96511652-8C53-4FF1-A564-29D74FFF2B2F}"/>
              </a:ext>
            </a:extLst>
          </p:cNvPr>
          <p:cNvSpPr>
            <a:spLocks noGrp="1" noChangeArrowheads="1"/>
          </p:cNvSpPr>
          <p:nvPr>
            <p:ph type="sldNum" sz="quarter" idx="12"/>
          </p:nvPr>
        </p:nvSpPr>
        <p:spPr>
          <a:ln/>
        </p:spPr>
        <p:txBody>
          <a:bodyPr/>
          <a:lstStyle>
            <a:lvl1pPr>
              <a:defRPr/>
            </a:lvl1pPr>
          </a:lstStyle>
          <a:p>
            <a:fld id="{B7616B34-4443-40D3-A82A-3C954F1AD22D}" type="slidenum">
              <a:rPr lang="fr-FR" altLang="fr-FR"/>
              <a:pPr/>
              <a:t>‹N°›</a:t>
            </a:fld>
            <a:endParaRPr lang="fr-FR" altLang="fr-FR"/>
          </a:p>
        </p:txBody>
      </p:sp>
    </p:spTree>
    <p:extLst>
      <p:ext uri="{BB962C8B-B14F-4D97-AF65-F5344CB8AC3E}">
        <p14:creationId xmlns:p14="http://schemas.microsoft.com/office/powerpoint/2010/main" val="6551258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add title</a:t>
            </a:r>
            <a:endParaRPr lang="fr-F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4">
            <a:extLst>
              <a:ext uri="{FF2B5EF4-FFF2-40B4-BE49-F238E27FC236}">
                <a16:creationId xmlns:a16="http://schemas.microsoft.com/office/drawing/2014/main" id="{1DFE1E3F-5C09-4791-A0C7-843B63C53E25}"/>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29132419-1654-4691-BB8C-1F19457993CF}"/>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8E9D2C15-9B17-4FD2-8647-188965AEA028}"/>
              </a:ext>
            </a:extLst>
          </p:cNvPr>
          <p:cNvSpPr>
            <a:spLocks noGrp="1" noChangeArrowheads="1"/>
          </p:cNvSpPr>
          <p:nvPr>
            <p:ph type="sldNum" sz="quarter" idx="12"/>
          </p:nvPr>
        </p:nvSpPr>
        <p:spPr>
          <a:ln/>
        </p:spPr>
        <p:txBody>
          <a:bodyPr/>
          <a:lstStyle>
            <a:lvl1pPr>
              <a:defRPr/>
            </a:lvl1pPr>
          </a:lstStyle>
          <a:p>
            <a:fld id="{7A065F2D-3049-4DB4-BB32-A8EAB45B617C}" type="slidenum">
              <a:rPr lang="fr-FR" altLang="fr-FR"/>
              <a:pPr/>
              <a:t>‹N°›</a:t>
            </a:fld>
            <a:endParaRPr lang="fr-FR" altLang="fr-FR"/>
          </a:p>
        </p:txBody>
      </p:sp>
    </p:spTree>
    <p:extLst>
      <p:ext uri="{BB962C8B-B14F-4D97-AF65-F5344CB8AC3E}">
        <p14:creationId xmlns:p14="http://schemas.microsoft.com/office/powerpoint/2010/main" val="10165270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4">
            <a:extLst>
              <a:ext uri="{FF2B5EF4-FFF2-40B4-BE49-F238E27FC236}">
                <a16:creationId xmlns:a16="http://schemas.microsoft.com/office/drawing/2014/main" id="{D7BE8A06-E4A7-42EA-8E4B-B61D0C1F26AB}"/>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B26C18E8-FE49-4AD2-AEC6-F15CBB3DEFD5}"/>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01D0F0EE-AABA-47AD-AEB1-E4419EE8C433}"/>
              </a:ext>
            </a:extLst>
          </p:cNvPr>
          <p:cNvSpPr>
            <a:spLocks noGrp="1" noChangeArrowheads="1"/>
          </p:cNvSpPr>
          <p:nvPr>
            <p:ph type="sldNum" sz="quarter" idx="12"/>
          </p:nvPr>
        </p:nvSpPr>
        <p:spPr>
          <a:ln/>
        </p:spPr>
        <p:txBody>
          <a:bodyPr/>
          <a:lstStyle>
            <a:lvl1pPr>
              <a:defRPr/>
            </a:lvl1pPr>
          </a:lstStyle>
          <a:p>
            <a:fld id="{09574E9E-7BE5-4D5E-8C22-5A9716D17DEC}" type="slidenum">
              <a:rPr lang="fr-FR" altLang="fr-FR"/>
              <a:pPr/>
              <a:t>‹N°›</a:t>
            </a:fld>
            <a:endParaRPr lang="fr-FR" altLang="fr-FR"/>
          </a:p>
        </p:txBody>
      </p:sp>
    </p:spTree>
    <p:extLst>
      <p:ext uri="{BB962C8B-B14F-4D97-AF65-F5344CB8AC3E}">
        <p14:creationId xmlns:p14="http://schemas.microsoft.com/office/powerpoint/2010/main" val="8236155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p:cNvSpPr>
            <a:spLocks noGrp="1"/>
          </p:cNvSpPr>
          <p:nvPr>
            <p:ph type="body"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Rectangle 4">
            <a:extLst>
              <a:ext uri="{FF2B5EF4-FFF2-40B4-BE49-F238E27FC236}">
                <a16:creationId xmlns:a16="http://schemas.microsoft.com/office/drawing/2014/main" id="{8235C41D-016B-4A94-8853-DE26ABC426E9}"/>
              </a:ext>
            </a:extLst>
          </p:cNvPr>
          <p:cNvSpPr>
            <a:spLocks noGrp="1" noChangeArrowheads="1"/>
          </p:cNvSpPr>
          <p:nvPr>
            <p:ph type="dt" sz="half" idx="10"/>
          </p:nvPr>
        </p:nvSpPr>
        <p:spPr>
          <a:ln/>
        </p:spPr>
        <p:txBody>
          <a:bodyPr/>
          <a:lstStyle>
            <a:lvl1pPr>
              <a:defRPr/>
            </a:lvl1pPr>
          </a:lstStyle>
          <a:p>
            <a:pPr>
              <a:defRPr/>
            </a:pPr>
            <a:endParaRPr lang="fr-FR"/>
          </a:p>
        </p:txBody>
      </p:sp>
      <p:sp>
        <p:nvSpPr>
          <p:cNvPr id="6" name="Rectangle 5">
            <a:extLst>
              <a:ext uri="{FF2B5EF4-FFF2-40B4-BE49-F238E27FC236}">
                <a16:creationId xmlns:a16="http://schemas.microsoft.com/office/drawing/2014/main" id="{37EBFAA2-9154-47FB-B8AC-FC9ACA312102}"/>
              </a:ext>
            </a:extLst>
          </p:cNvPr>
          <p:cNvSpPr>
            <a:spLocks noGrp="1" noChangeArrowheads="1"/>
          </p:cNvSpPr>
          <p:nvPr>
            <p:ph type="ftr" sz="quarter" idx="11"/>
          </p:nvPr>
        </p:nvSpPr>
        <p:spPr>
          <a:ln/>
        </p:spPr>
        <p:txBody>
          <a:bodyPr/>
          <a:lstStyle>
            <a:lvl1pPr>
              <a:defRPr/>
            </a:lvl1pPr>
          </a:lstStyle>
          <a:p>
            <a:pPr>
              <a:defRPr/>
            </a:pPr>
            <a:endParaRPr lang="fr-FR"/>
          </a:p>
        </p:txBody>
      </p:sp>
      <p:sp>
        <p:nvSpPr>
          <p:cNvPr id="7" name="Rectangle 6">
            <a:extLst>
              <a:ext uri="{FF2B5EF4-FFF2-40B4-BE49-F238E27FC236}">
                <a16:creationId xmlns:a16="http://schemas.microsoft.com/office/drawing/2014/main" id="{629432C8-7700-4928-AAC1-BC8D3EE9A7E9}"/>
              </a:ext>
            </a:extLst>
          </p:cNvPr>
          <p:cNvSpPr>
            <a:spLocks noGrp="1" noChangeArrowheads="1"/>
          </p:cNvSpPr>
          <p:nvPr>
            <p:ph type="sldNum" sz="quarter" idx="12"/>
          </p:nvPr>
        </p:nvSpPr>
        <p:spPr>
          <a:ln/>
        </p:spPr>
        <p:txBody>
          <a:bodyPr/>
          <a:lstStyle>
            <a:lvl1pPr>
              <a:defRPr/>
            </a:lvl1pPr>
          </a:lstStyle>
          <a:p>
            <a:fld id="{C53DEC21-18BB-4BC1-A9D7-D9E2DA18558A}" type="slidenum">
              <a:rPr lang="fr-FR" altLang="fr-FR"/>
              <a:pPr/>
              <a:t>‹N°›</a:t>
            </a:fld>
            <a:endParaRPr lang="fr-FR" altLang="fr-FR"/>
          </a:p>
        </p:txBody>
      </p:sp>
    </p:spTree>
    <p:extLst>
      <p:ext uri="{BB962C8B-B14F-4D97-AF65-F5344CB8AC3E}">
        <p14:creationId xmlns:p14="http://schemas.microsoft.com/office/powerpoint/2010/main" val="900699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685800" y="2130425"/>
            <a:ext cx="7772400" cy="1470025"/>
          </a:xfrm>
        </p:spPr>
        <p:txBody>
          <a:bodyPr/>
          <a:lstStyle>
            <a:lvl1pPr algn="ctr">
              <a:defRPr>
                <a:solidFill>
                  <a:schemeClr val="bg1"/>
                </a:solidFill>
                <a:latin typeface="Arial Black" pitchFamily="34" charset="0"/>
              </a:defRPr>
            </a:lvl1pPr>
          </a:lstStyle>
          <a:p>
            <a:r>
              <a:rPr lang="fr-FR"/>
              <a:t>Click to edit Master title style</a:t>
            </a:r>
          </a:p>
        </p:txBody>
      </p:sp>
      <p:sp>
        <p:nvSpPr>
          <p:cNvPr id="2253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fr-FR"/>
              <a:t>Click to edit Master subtitle style</a:t>
            </a:r>
          </a:p>
        </p:txBody>
      </p:sp>
      <p:sp>
        <p:nvSpPr>
          <p:cNvPr id="4" name="Rectangle 4">
            <a:extLst>
              <a:ext uri="{FF2B5EF4-FFF2-40B4-BE49-F238E27FC236}">
                <a16:creationId xmlns:a16="http://schemas.microsoft.com/office/drawing/2014/main" id="{549BA563-EEFE-467D-8C73-AFADB6549FE8}"/>
              </a:ext>
            </a:extLst>
          </p:cNvPr>
          <p:cNvSpPr>
            <a:spLocks noGrp="1" noChangeArrowheads="1"/>
          </p:cNvSpPr>
          <p:nvPr>
            <p:ph type="dt" sz="half" idx="10"/>
          </p:nvPr>
        </p:nvSpPr>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C920F562-923D-4D85-A7F7-1957683DBDA0}"/>
              </a:ext>
            </a:extLst>
          </p:cNvPr>
          <p:cNvSpPr>
            <a:spLocks noGrp="1" noChangeArrowheads="1"/>
          </p:cNvSpPr>
          <p:nvPr>
            <p:ph type="ftr" sz="quarter" idx="11"/>
          </p:nvPr>
        </p:nvSpPr>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31B00490-6141-4CC5-9C48-781889EFC2FC}"/>
              </a:ext>
            </a:extLst>
          </p:cNvPr>
          <p:cNvSpPr>
            <a:spLocks noGrp="1" noChangeArrowheads="1"/>
          </p:cNvSpPr>
          <p:nvPr>
            <p:ph type="sldNum" sz="quarter" idx="12"/>
          </p:nvPr>
        </p:nvSpPr>
        <p:spPr/>
        <p:txBody>
          <a:bodyPr/>
          <a:lstStyle>
            <a:lvl1pPr>
              <a:defRPr/>
            </a:lvl1pPr>
          </a:lstStyle>
          <a:p>
            <a:fld id="{17EA8CB1-6376-4D70-87EE-B4D02DEE5802}" type="slidenum">
              <a:rPr lang="fr-FR" altLang="fr-FR"/>
              <a:pPr/>
              <a:t>‹N°›</a:t>
            </a:fld>
            <a:endParaRPr lang="fr-FR" altLang="fr-FR"/>
          </a:p>
        </p:txBody>
      </p:sp>
    </p:spTree>
    <p:extLst>
      <p:ext uri="{BB962C8B-B14F-4D97-AF65-F5344CB8AC3E}">
        <p14:creationId xmlns:p14="http://schemas.microsoft.com/office/powerpoint/2010/main" val="1307079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4">
            <a:extLst>
              <a:ext uri="{FF2B5EF4-FFF2-40B4-BE49-F238E27FC236}">
                <a16:creationId xmlns:a16="http://schemas.microsoft.com/office/drawing/2014/main" id="{89BC0CA6-B5E6-428A-B1F2-7824CACD5DC8}"/>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63F4208E-D84B-4359-8C2C-14911A998DBB}"/>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EBEF47EE-3292-4466-B9C1-8A81776A4DAC}"/>
              </a:ext>
            </a:extLst>
          </p:cNvPr>
          <p:cNvSpPr>
            <a:spLocks noGrp="1" noChangeArrowheads="1"/>
          </p:cNvSpPr>
          <p:nvPr>
            <p:ph type="sldNum" sz="quarter" idx="12"/>
          </p:nvPr>
        </p:nvSpPr>
        <p:spPr>
          <a:ln/>
        </p:spPr>
        <p:txBody>
          <a:bodyPr/>
          <a:lstStyle>
            <a:lvl1pPr>
              <a:defRPr/>
            </a:lvl1pPr>
          </a:lstStyle>
          <a:p>
            <a:fld id="{C1C4DDA6-AB9C-47E3-8A51-C682D4D3351D}" type="slidenum">
              <a:rPr lang="fr-FR" altLang="fr-FR"/>
              <a:pPr/>
              <a:t>‹N°›</a:t>
            </a:fld>
            <a:endParaRPr lang="fr-FR" altLang="fr-FR"/>
          </a:p>
        </p:txBody>
      </p:sp>
    </p:spTree>
    <p:extLst>
      <p:ext uri="{BB962C8B-B14F-4D97-AF65-F5344CB8AC3E}">
        <p14:creationId xmlns:p14="http://schemas.microsoft.com/office/powerpoint/2010/main" val="1510185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fr-F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687ABA99-C3A8-45CB-8359-CA9829CC8DE4}"/>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E88A6C86-CC12-484E-BC3D-963CCC8967FD}"/>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02EB5413-7F3E-4D2E-B75D-FD5D67618812}"/>
              </a:ext>
            </a:extLst>
          </p:cNvPr>
          <p:cNvSpPr>
            <a:spLocks noGrp="1" noChangeArrowheads="1"/>
          </p:cNvSpPr>
          <p:nvPr>
            <p:ph type="sldNum" sz="quarter" idx="12"/>
          </p:nvPr>
        </p:nvSpPr>
        <p:spPr>
          <a:ln/>
        </p:spPr>
        <p:txBody>
          <a:bodyPr/>
          <a:lstStyle>
            <a:lvl1pPr>
              <a:defRPr/>
            </a:lvl1pPr>
          </a:lstStyle>
          <a:p>
            <a:fld id="{393BDB97-1276-4617-90A9-40959D192DB0}" type="slidenum">
              <a:rPr lang="fr-FR" altLang="fr-FR"/>
              <a:pPr/>
              <a:t>‹N°›</a:t>
            </a:fld>
            <a:endParaRPr lang="fr-FR" altLang="fr-FR"/>
          </a:p>
        </p:txBody>
      </p:sp>
    </p:spTree>
    <p:extLst>
      <p:ext uri="{BB962C8B-B14F-4D97-AF65-F5344CB8AC3E}">
        <p14:creationId xmlns:p14="http://schemas.microsoft.com/office/powerpoint/2010/main" val="32203976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Rectangle 4">
            <a:extLst>
              <a:ext uri="{FF2B5EF4-FFF2-40B4-BE49-F238E27FC236}">
                <a16:creationId xmlns:a16="http://schemas.microsoft.com/office/drawing/2014/main" id="{5676B2CE-E69E-4718-9F5F-82095A48F91A}"/>
              </a:ext>
            </a:extLst>
          </p:cNvPr>
          <p:cNvSpPr>
            <a:spLocks noGrp="1" noChangeArrowheads="1"/>
          </p:cNvSpPr>
          <p:nvPr>
            <p:ph type="dt" sz="half" idx="10"/>
          </p:nvPr>
        </p:nvSpPr>
        <p:spPr>
          <a:ln/>
        </p:spPr>
        <p:txBody>
          <a:bodyPr/>
          <a:lstStyle>
            <a:lvl1pPr>
              <a:defRPr/>
            </a:lvl1pPr>
          </a:lstStyle>
          <a:p>
            <a:pPr>
              <a:defRPr/>
            </a:pPr>
            <a:endParaRPr lang="fr-FR"/>
          </a:p>
        </p:txBody>
      </p:sp>
      <p:sp>
        <p:nvSpPr>
          <p:cNvPr id="6" name="Rectangle 5">
            <a:extLst>
              <a:ext uri="{FF2B5EF4-FFF2-40B4-BE49-F238E27FC236}">
                <a16:creationId xmlns:a16="http://schemas.microsoft.com/office/drawing/2014/main" id="{B8CD99F0-E726-48AD-A4C8-1F96098A9C39}"/>
              </a:ext>
            </a:extLst>
          </p:cNvPr>
          <p:cNvSpPr>
            <a:spLocks noGrp="1" noChangeArrowheads="1"/>
          </p:cNvSpPr>
          <p:nvPr>
            <p:ph type="ftr" sz="quarter" idx="11"/>
          </p:nvPr>
        </p:nvSpPr>
        <p:spPr>
          <a:ln/>
        </p:spPr>
        <p:txBody>
          <a:bodyPr/>
          <a:lstStyle>
            <a:lvl1pPr>
              <a:defRPr/>
            </a:lvl1pPr>
          </a:lstStyle>
          <a:p>
            <a:pPr>
              <a:defRPr/>
            </a:pPr>
            <a:endParaRPr lang="fr-FR"/>
          </a:p>
        </p:txBody>
      </p:sp>
      <p:sp>
        <p:nvSpPr>
          <p:cNvPr id="7" name="Rectangle 6">
            <a:extLst>
              <a:ext uri="{FF2B5EF4-FFF2-40B4-BE49-F238E27FC236}">
                <a16:creationId xmlns:a16="http://schemas.microsoft.com/office/drawing/2014/main" id="{5C911E19-7789-481C-91B3-7164896FDEA2}"/>
              </a:ext>
            </a:extLst>
          </p:cNvPr>
          <p:cNvSpPr>
            <a:spLocks noGrp="1" noChangeArrowheads="1"/>
          </p:cNvSpPr>
          <p:nvPr>
            <p:ph type="sldNum" sz="quarter" idx="12"/>
          </p:nvPr>
        </p:nvSpPr>
        <p:spPr>
          <a:ln/>
        </p:spPr>
        <p:txBody>
          <a:bodyPr/>
          <a:lstStyle>
            <a:lvl1pPr>
              <a:defRPr/>
            </a:lvl1pPr>
          </a:lstStyle>
          <a:p>
            <a:fld id="{076D0676-92AF-49ED-BFAD-C171DC052418}" type="slidenum">
              <a:rPr lang="fr-FR" altLang="fr-FR"/>
              <a:pPr/>
              <a:t>‹N°›</a:t>
            </a:fld>
            <a:endParaRPr lang="fr-FR" altLang="fr-FR"/>
          </a:p>
        </p:txBody>
      </p:sp>
    </p:spTree>
    <p:extLst>
      <p:ext uri="{BB962C8B-B14F-4D97-AF65-F5344CB8AC3E}">
        <p14:creationId xmlns:p14="http://schemas.microsoft.com/office/powerpoint/2010/main" val="5929112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fr-F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Rectangle 4">
            <a:extLst>
              <a:ext uri="{FF2B5EF4-FFF2-40B4-BE49-F238E27FC236}">
                <a16:creationId xmlns:a16="http://schemas.microsoft.com/office/drawing/2014/main" id="{13ECF250-EE90-441B-BC16-8E4271C1D3B3}"/>
              </a:ext>
            </a:extLst>
          </p:cNvPr>
          <p:cNvSpPr>
            <a:spLocks noGrp="1" noChangeArrowheads="1"/>
          </p:cNvSpPr>
          <p:nvPr>
            <p:ph type="dt" sz="half" idx="10"/>
          </p:nvPr>
        </p:nvSpPr>
        <p:spPr>
          <a:ln/>
        </p:spPr>
        <p:txBody>
          <a:bodyPr/>
          <a:lstStyle>
            <a:lvl1pPr>
              <a:defRPr/>
            </a:lvl1pPr>
          </a:lstStyle>
          <a:p>
            <a:pPr>
              <a:defRPr/>
            </a:pPr>
            <a:endParaRPr lang="fr-FR"/>
          </a:p>
        </p:txBody>
      </p:sp>
      <p:sp>
        <p:nvSpPr>
          <p:cNvPr id="8" name="Rectangle 5">
            <a:extLst>
              <a:ext uri="{FF2B5EF4-FFF2-40B4-BE49-F238E27FC236}">
                <a16:creationId xmlns:a16="http://schemas.microsoft.com/office/drawing/2014/main" id="{61ACFF6E-C9BC-4B64-A6C1-3B767E3FA5C9}"/>
              </a:ext>
            </a:extLst>
          </p:cNvPr>
          <p:cNvSpPr>
            <a:spLocks noGrp="1" noChangeArrowheads="1"/>
          </p:cNvSpPr>
          <p:nvPr>
            <p:ph type="ftr" sz="quarter" idx="11"/>
          </p:nvPr>
        </p:nvSpPr>
        <p:spPr>
          <a:ln/>
        </p:spPr>
        <p:txBody>
          <a:bodyPr/>
          <a:lstStyle>
            <a:lvl1pPr>
              <a:defRPr/>
            </a:lvl1pPr>
          </a:lstStyle>
          <a:p>
            <a:pPr>
              <a:defRPr/>
            </a:pPr>
            <a:endParaRPr lang="fr-FR"/>
          </a:p>
        </p:txBody>
      </p:sp>
      <p:sp>
        <p:nvSpPr>
          <p:cNvPr id="9" name="Rectangle 6">
            <a:extLst>
              <a:ext uri="{FF2B5EF4-FFF2-40B4-BE49-F238E27FC236}">
                <a16:creationId xmlns:a16="http://schemas.microsoft.com/office/drawing/2014/main" id="{6AC76142-26AC-483D-91EF-09D009533D28}"/>
              </a:ext>
            </a:extLst>
          </p:cNvPr>
          <p:cNvSpPr>
            <a:spLocks noGrp="1" noChangeArrowheads="1"/>
          </p:cNvSpPr>
          <p:nvPr>
            <p:ph type="sldNum" sz="quarter" idx="12"/>
          </p:nvPr>
        </p:nvSpPr>
        <p:spPr>
          <a:ln/>
        </p:spPr>
        <p:txBody>
          <a:bodyPr/>
          <a:lstStyle>
            <a:lvl1pPr>
              <a:defRPr/>
            </a:lvl1pPr>
          </a:lstStyle>
          <a:p>
            <a:fld id="{F8DE57D2-804E-4E18-97B3-AB95A3F2A148}" type="slidenum">
              <a:rPr lang="fr-FR" altLang="fr-FR"/>
              <a:pPr/>
              <a:t>‹N°›</a:t>
            </a:fld>
            <a:endParaRPr lang="fr-FR" altLang="fr-FR"/>
          </a:p>
        </p:txBody>
      </p:sp>
    </p:spTree>
    <p:extLst>
      <p:ext uri="{BB962C8B-B14F-4D97-AF65-F5344CB8AC3E}">
        <p14:creationId xmlns:p14="http://schemas.microsoft.com/office/powerpoint/2010/main" val="11751496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Rectangle 4">
            <a:extLst>
              <a:ext uri="{FF2B5EF4-FFF2-40B4-BE49-F238E27FC236}">
                <a16:creationId xmlns:a16="http://schemas.microsoft.com/office/drawing/2014/main" id="{7355731A-1132-4867-ADC9-075A83B15E54}"/>
              </a:ext>
            </a:extLst>
          </p:cNvPr>
          <p:cNvSpPr>
            <a:spLocks noGrp="1" noChangeArrowheads="1"/>
          </p:cNvSpPr>
          <p:nvPr>
            <p:ph type="dt" sz="half" idx="10"/>
          </p:nvPr>
        </p:nvSpPr>
        <p:spPr>
          <a:ln/>
        </p:spPr>
        <p:txBody>
          <a:bodyPr/>
          <a:lstStyle>
            <a:lvl1pPr>
              <a:defRPr/>
            </a:lvl1pPr>
          </a:lstStyle>
          <a:p>
            <a:pPr>
              <a:defRPr/>
            </a:pPr>
            <a:endParaRPr lang="fr-FR"/>
          </a:p>
        </p:txBody>
      </p:sp>
      <p:sp>
        <p:nvSpPr>
          <p:cNvPr id="4" name="Rectangle 5">
            <a:extLst>
              <a:ext uri="{FF2B5EF4-FFF2-40B4-BE49-F238E27FC236}">
                <a16:creationId xmlns:a16="http://schemas.microsoft.com/office/drawing/2014/main" id="{413FA85A-96A0-43A6-B6C6-37A86E2F9FD3}"/>
              </a:ext>
            </a:extLst>
          </p:cNvPr>
          <p:cNvSpPr>
            <a:spLocks noGrp="1" noChangeArrowheads="1"/>
          </p:cNvSpPr>
          <p:nvPr>
            <p:ph type="ftr" sz="quarter" idx="11"/>
          </p:nvPr>
        </p:nvSpPr>
        <p:spPr>
          <a:ln/>
        </p:spPr>
        <p:txBody>
          <a:bodyPr/>
          <a:lstStyle>
            <a:lvl1pPr>
              <a:defRPr/>
            </a:lvl1pPr>
          </a:lstStyle>
          <a:p>
            <a:pPr>
              <a:defRPr/>
            </a:pPr>
            <a:endParaRPr lang="fr-FR"/>
          </a:p>
        </p:txBody>
      </p:sp>
      <p:sp>
        <p:nvSpPr>
          <p:cNvPr id="5" name="Rectangle 6">
            <a:extLst>
              <a:ext uri="{FF2B5EF4-FFF2-40B4-BE49-F238E27FC236}">
                <a16:creationId xmlns:a16="http://schemas.microsoft.com/office/drawing/2014/main" id="{736A7F2F-2BE9-44AB-B713-A19EDDEDE6AC}"/>
              </a:ext>
            </a:extLst>
          </p:cNvPr>
          <p:cNvSpPr>
            <a:spLocks noGrp="1" noChangeArrowheads="1"/>
          </p:cNvSpPr>
          <p:nvPr>
            <p:ph type="sldNum" sz="quarter" idx="12"/>
          </p:nvPr>
        </p:nvSpPr>
        <p:spPr>
          <a:ln/>
        </p:spPr>
        <p:txBody>
          <a:bodyPr/>
          <a:lstStyle>
            <a:lvl1pPr>
              <a:defRPr/>
            </a:lvl1pPr>
          </a:lstStyle>
          <a:p>
            <a:fld id="{CB79E7BD-0121-4053-95DD-F1DC82C26A22}" type="slidenum">
              <a:rPr lang="fr-FR" altLang="fr-FR"/>
              <a:pPr/>
              <a:t>‹N°›</a:t>
            </a:fld>
            <a:endParaRPr lang="fr-FR" altLang="fr-FR"/>
          </a:p>
        </p:txBody>
      </p:sp>
    </p:spTree>
    <p:extLst>
      <p:ext uri="{BB962C8B-B14F-4D97-AF65-F5344CB8AC3E}">
        <p14:creationId xmlns:p14="http://schemas.microsoft.com/office/powerpoint/2010/main" val="37739301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C70DF6E-BEA3-4B36-A96F-C0F5A0021284}"/>
              </a:ext>
            </a:extLst>
          </p:cNvPr>
          <p:cNvSpPr>
            <a:spLocks noGrp="1" noChangeArrowheads="1"/>
          </p:cNvSpPr>
          <p:nvPr>
            <p:ph type="dt" sz="half" idx="10"/>
          </p:nvPr>
        </p:nvSpPr>
        <p:spPr>
          <a:ln/>
        </p:spPr>
        <p:txBody>
          <a:bodyPr/>
          <a:lstStyle>
            <a:lvl1pPr>
              <a:defRPr/>
            </a:lvl1pPr>
          </a:lstStyle>
          <a:p>
            <a:pPr>
              <a:defRPr/>
            </a:pPr>
            <a:endParaRPr lang="fr-FR"/>
          </a:p>
        </p:txBody>
      </p:sp>
      <p:sp>
        <p:nvSpPr>
          <p:cNvPr id="3" name="Rectangle 5">
            <a:extLst>
              <a:ext uri="{FF2B5EF4-FFF2-40B4-BE49-F238E27FC236}">
                <a16:creationId xmlns:a16="http://schemas.microsoft.com/office/drawing/2014/main" id="{FCF120FD-025A-4CF9-B8F7-9A925E0A9A52}"/>
              </a:ext>
            </a:extLst>
          </p:cNvPr>
          <p:cNvSpPr>
            <a:spLocks noGrp="1" noChangeArrowheads="1"/>
          </p:cNvSpPr>
          <p:nvPr>
            <p:ph type="ftr" sz="quarter" idx="11"/>
          </p:nvPr>
        </p:nvSpPr>
        <p:spPr>
          <a:ln/>
        </p:spPr>
        <p:txBody>
          <a:bodyPr/>
          <a:lstStyle>
            <a:lvl1pPr>
              <a:defRPr/>
            </a:lvl1pPr>
          </a:lstStyle>
          <a:p>
            <a:pPr>
              <a:defRPr/>
            </a:pPr>
            <a:endParaRPr lang="fr-FR"/>
          </a:p>
        </p:txBody>
      </p:sp>
      <p:sp>
        <p:nvSpPr>
          <p:cNvPr id="4" name="Rectangle 6">
            <a:extLst>
              <a:ext uri="{FF2B5EF4-FFF2-40B4-BE49-F238E27FC236}">
                <a16:creationId xmlns:a16="http://schemas.microsoft.com/office/drawing/2014/main" id="{CAB9CD80-AB71-407E-9004-5597C26AAAFE}"/>
              </a:ext>
            </a:extLst>
          </p:cNvPr>
          <p:cNvSpPr>
            <a:spLocks noGrp="1" noChangeArrowheads="1"/>
          </p:cNvSpPr>
          <p:nvPr>
            <p:ph type="sldNum" sz="quarter" idx="12"/>
          </p:nvPr>
        </p:nvSpPr>
        <p:spPr>
          <a:ln/>
        </p:spPr>
        <p:txBody>
          <a:bodyPr/>
          <a:lstStyle>
            <a:lvl1pPr>
              <a:defRPr/>
            </a:lvl1pPr>
          </a:lstStyle>
          <a:p>
            <a:fld id="{E15A7D9D-C01E-4524-B610-2A3CA90C5AF0}" type="slidenum">
              <a:rPr lang="fr-FR" altLang="fr-FR"/>
              <a:pPr/>
              <a:t>‹N°›</a:t>
            </a:fld>
            <a:endParaRPr lang="fr-FR" altLang="fr-FR"/>
          </a:p>
        </p:txBody>
      </p:sp>
    </p:spTree>
    <p:extLst>
      <p:ext uri="{BB962C8B-B14F-4D97-AF65-F5344CB8AC3E}">
        <p14:creationId xmlns:p14="http://schemas.microsoft.com/office/powerpoint/2010/main" val="27892455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fr-F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052658D-CAFC-4A96-BFF4-B544DDE482C6}"/>
              </a:ext>
            </a:extLst>
          </p:cNvPr>
          <p:cNvSpPr>
            <a:spLocks noGrp="1" noChangeArrowheads="1"/>
          </p:cNvSpPr>
          <p:nvPr>
            <p:ph type="dt" sz="half" idx="10"/>
          </p:nvPr>
        </p:nvSpPr>
        <p:spPr>
          <a:ln/>
        </p:spPr>
        <p:txBody>
          <a:bodyPr/>
          <a:lstStyle>
            <a:lvl1pPr>
              <a:defRPr/>
            </a:lvl1pPr>
          </a:lstStyle>
          <a:p>
            <a:pPr>
              <a:defRPr/>
            </a:pPr>
            <a:endParaRPr lang="fr-FR"/>
          </a:p>
        </p:txBody>
      </p:sp>
      <p:sp>
        <p:nvSpPr>
          <p:cNvPr id="6" name="Rectangle 5">
            <a:extLst>
              <a:ext uri="{FF2B5EF4-FFF2-40B4-BE49-F238E27FC236}">
                <a16:creationId xmlns:a16="http://schemas.microsoft.com/office/drawing/2014/main" id="{3BFEA213-B973-4420-A8FB-123571404FB7}"/>
              </a:ext>
            </a:extLst>
          </p:cNvPr>
          <p:cNvSpPr>
            <a:spLocks noGrp="1" noChangeArrowheads="1"/>
          </p:cNvSpPr>
          <p:nvPr>
            <p:ph type="ftr" sz="quarter" idx="11"/>
          </p:nvPr>
        </p:nvSpPr>
        <p:spPr>
          <a:ln/>
        </p:spPr>
        <p:txBody>
          <a:bodyPr/>
          <a:lstStyle>
            <a:lvl1pPr>
              <a:defRPr/>
            </a:lvl1pPr>
          </a:lstStyle>
          <a:p>
            <a:pPr>
              <a:defRPr/>
            </a:pPr>
            <a:endParaRPr lang="fr-FR"/>
          </a:p>
        </p:txBody>
      </p:sp>
      <p:sp>
        <p:nvSpPr>
          <p:cNvPr id="7" name="Rectangle 6">
            <a:extLst>
              <a:ext uri="{FF2B5EF4-FFF2-40B4-BE49-F238E27FC236}">
                <a16:creationId xmlns:a16="http://schemas.microsoft.com/office/drawing/2014/main" id="{3EBE85F9-80A7-447F-85B1-40C4E354CF7D}"/>
              </a:ext>
            </a:extLst>
          </p:cNvPr>
          <p:cNvSpPr>
            <a:spLocks noGrp="1" noChangeArrowheads="1"/>
          </p:cNvSpPr>
          <p:nvPr>
            <p:ph type="sldNum" sz="quarter" idx="12"/>
          </p:nvPr>
        </p:nvSpPr>
        <p:spPr>
          <a:ln/>
        </p:spPr>
        <p:txBody>
          <a:bodyPr/>
          <a:lstStyle>
            <a:lvl1pPr>
              <a:defRPr/>
            </a:lvl1pPr>
          </a:lstStyle>
          <a:p>
            <a:fld id="{456C6600-73CF-45BB-89D1-0428DBC86EC8}" type="slidenum">
              <a:rPr lang="fr-FR" altLang="fr-FR"/>
              <a:pPr/>
              <a:t>‹N°›</a:t>
            </a:fld>
            <a:endParaRPr lang="fr-FR" altLang="fr-FR"/>
          </a:p>
        </p:txBody>
      </p:sp>
    </p:spTree>
    <p:extLst>
      <p:ext uri="{BB962C8B-B14F-4D97-AF65-F5344CB8AC3E}">
        <p14:creationId xmlns:p14="http://schemas.microsoft.com/office/powerpoint/2010/main" val="17507725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fr-F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4786E98-3A8D-44C3-A672-31D2467D1227}"/>
              </a:ext>
            </a:extLst>
          </p:cNvPr>
          <p:cNvSpPr>
            <a:spLocks noGrp="1" noChangeArrowheads="1"/>
          </p:cNvSpPr>
          <p:nvPr>
            <p:ph type="dt" sz="half" idx="10"/>
          </p:nvPr>
        </p:nvSpPr>
        <p:spPr>
          <a:ln/>
        </p:spPr>
        <p:txBody>
          <a:bodyPr/>
          <a:lstStyle>
            <a:lvl1pPr>
              <a:defRPr/>
            </a:lvl1pPr>
          </a:lstStyle>
          <a:p>
            <a:pPr>
              <a:defRPr/>
            </a:pPr>
            <a:endParaRPr lang="fr-FR"/>
          </a:p>
        </p:txBody>
      </p:sp>
      <p:sp>
        <p:nvSpPr>
          <p:cNvPr id="6" name="Rectangle 5">
            <a:extLst>
              <a:ext uri="{FF2B5EF4-FFF2-40B4-BE49-F238E27FC236}">
                <a16:creationId xmlns:a16="http://schemas.microsoft.com/office/drawing/2014/main" id="{D9FD2B9B-7FB2-46BA-9B8A-8BFA5A6F8C29}"/>
              </a:ext>
            </a:extLst>
          </p:cNvPr>
          <p:cNvSpPr>
            <a:spLocks noGrp="1" noChangeArrowheads="1"/>
          </p:cNvSpPr>
          <p:nvPr>
            <p:ph type="ftr" sz="quarter" idx="11"/>
          </p:nvPr>
        </p:nvSpPr>
        <p:spPr>
          <a:ln/>
        </p:spPr>
        <p:txBody>
          <a:bodyPr/>
          <a:lstStyle>
            <a:lvl1pPr>
              <a:defRPr/>
            </a:lvl1pPr>
          </a:lstStyle>
          <a:p>
            <a:pPr>
              <a:defRPr/>
            </a:pPr>
            <a:endParaRPr lang="fr-FR"/>
          </a:p>
        </p:txBody>
      </p:sp>
      <p:sp>
        <p:nvSpPr>
          <p:cNvPr id="7" name="Rectangle 6">
            <a:extLst>
              <a:ext uri="{FF2B5EF4-FFF2-40B4-BE49-F238E27FC236}">
                <a16:creationId xmlns:a16="http://schemas.microsoft.com/office/drawing/2014/main" id="{DF2BCDB6-F4A1-48E0-B738-21F2760F2095}"/>
              </a:ext>
            </a:extLst>
          </p:cNvPr>
          <p:cNvSpPr>
            <a:spLocks noGrp="1" noChangeArrowheads="1"/>
          </p:cNvSpPr>
          <p:nvPr>
            <p:ph type="sldNum" sz="quarter" idx="12"/>
          </p:nvPr>
        </p:nvSpPr>
        <p:spPr>
          <a:ln/>
        </p:spPr>
        <p:txBody>
          <a:bodyPr/>
          <a:lstStyle>
            <a:lvl1pPr>
              <a:defRPr/>
            </a:lvl1pPr>
          </a:lstStyle>
          <a:p>
            <a:fld id="{ACE1DDF0-C11E-4028-A5D5-A13A95AE584C}" type="slidenum">
              <a:rPr lang="fr-FR" altLang="fr-FR"/>
              <a:pPr/>
              <a:t>‹N°›</a:t>
            </a:fld>
            <a:endParaRPr lang="fr-FR" altLang="fr-FR"/>
          </a:p>
        </p:txBody>
      </p:sp>
    </p:spTree>
    <p:extLst>
      <p:ext uri="{BB962C8B-B14F-4D97-AF65-F5344CB8AC3E}">
        <p14:creationId xmlns:p14="http://schemas.microsoft.com/office/powerpoint/2010/main" val="17149635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4">
            <a:extLst>
              <a:ext uri="{FF2B5EF4-FFF2-40B4-BE49-F238E27FC236}">
                <a16:creationId xmlns:a16="http://schemas.microsoft.com/office/drawing/2014/main" id="{60FBFB39-CE4B-42AC-84C3-9224893D3ADC}"/>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AF160B69-943E-481D-A709-14FDA75414BF}"/>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9FEF13B0-8E98-4B43-B822-058F48541630}"/>
              </a:ext>
            </a:extLst>
          </p:cNvPr>
          <p:cNvSpPr>
            <a:spLocks noGrp="1" noChangeArrowheads="1"/>
          </p:cNvSpPr>
          <p:nvPr>
            <p:ph type="sldNum" sz="quarter" idx="12"/>
          </p:nvPr>
        </p:nvSpPr>
        <p:spPr>
          <a:ln/>
        </p:spPr>
        <p:txBody>
          <a:bodyPr/>
          <a:lstStyle>
            <a:lvl1pPr>
              <a:defRPr/>
            </a:lvl1pPr>
          </a:lstStyle>
          <a:p>
            <a:fld id="{DA0EFA3B-549F-4C39-824E-40F9938D81B2}" type="slidenum">
              <a:rPr lang="fr-FR" altLang="fr-FR"/>
              <a:pPr/>
              <a:t>‹N°›</a:t>
            </a:fld>
            <a:endParaRPr lang="fr-FR" altLang="fr-FR"/>
          </a:p>
        </p:txBody>
      </p:sp>
    </p:spTree>
    <p:extLst>
      <p:ext uri="{BB962C8B-B14F-4D97-AF65-F5344CB8AC3E}">
        <p14:creationId xmlns:p14="http://schemas.microsoft.com/office/powerpoint/2010/main" val="36633254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add title</a:t>
            </a:r>
            <a:endParaRPr lang="fr-F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4">
            <a:extLst>
              <a:ext uri="{FF2B5EF4-FFF2-40B4-BE49-F238E27FC236}">
                <a16:creationId xmlns:a16="http://schemas.microsoft.com/office/drawing/2014/main" id="{F00FF322-87E2-4229-A717-A4AA9BB13D2B}"/>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3E99CCA3-FDF9-40DA-BCF6-34C4A8DFC4D4}"/>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9C306C7F-FC57-4E69-A3F9-DF0D6F7C7F53}"/>
              </a:ext>
            </a:extLst>
          </p:cNvPr>
          <p:cNvSpPr>
            <a:spLocks noGrp="1" noChangeArrowheads="1"/>
          </p:cNvSpPr>
          <p:nvPr>
            <p:ph type="sldNum" sz="quarter" idx="12"/>
          </p:nvPr>
        </p:nvSpPr>
        <p:spPr>
          <a:ln/>
        </p:spPr>
        <p:txBody>
          <a:bodyPr/>
          <a:lstStyle>
            <a:lvl1pPr>
              <a:defRPr/>
            </a:lvl1pPr>
          </a:lstStyle>
          <a:p>
            <a:fld id="{EB31238A-C0E4-4E74-93A0-C735AFA3ADDD}" type="slidenum">
              <a:rPr lang="fr-FR" altLang="fr-FR"/>
              <a:pPr/>
              <a:t>‹N°›</a:t>
            </a:fld>
            <a:endParaRPr lang="fr-FR" altLang="fr-FR"/>
          </a:p>
        </p:txBody>
      </p:sp>
    </p:spTree>
    <p:extLst>
      <p:ext uri="{BB962C8B-B14F-4D97-AF65-F5344CB8AC3E}">
        <p14:creationId xmlns:p14="http://schemas.microsoft.com/office/powerpoint/2010/main" val="14695782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4">
            <a:extLst>
              <a:ext uri="{FF2B5EF4-FFF2-40B4-BE49-F238E27FC236}">
                <a16:creationId xmlns:a16="http://schemas.microsoft.com/office/drawing/2014/main" id="{C267CAE9-6794-4AE6-AB3C-ABCA05EDD496}"/>
              </a:ext>
            </a:extLst>
          </p:cNvPr>
          <p:cNvSpPr>
            <a:spLocks noGrp="1" noChangeArrowheads="1"/>
          </p:cNvSpPr>
          <p:nvPr>
            <p:ph type="dt" sz="half" idx="10"/>
          </p:nvPr>
        </p:nvSpPr>
        <p:spPr>
          <a:ln/>
        </p:spPr>
        <p:txBody>
          <a:bodyPr/>
          <a:lstStyle>
            <a:lvl1pPr>
              <a:defRPr/>
            </a:lvl1pPr>
          </a:lstStyle>
          <a:p>
            <a:pPr>
              <a:defRPr/>
            </a:pPr>
            <a:endParaRPr lang="fr-FR"/>
          </a:p>
        </p:txBody>
      </p:sp>
      <p:sp>
        <p:nvSpPr>
          <p:cNvPr id="5" name="Rectangle 5">
            <a:extLst>
              <a:ext uri="{FF2B5EF4-FFF2-40B4-BE49-F238E27FC236}">
                <a16:creationId xmlns:a16="http://schemas.microsoft.com/office/drawing/2014/main" id="{7DC1FBF2-7077-4885-8EA0-CAE2A1294EED}"/>
              </a:ext>
            </a:extLst>
          </p:cNvPr>
          <p:cNvSpPr>
            <a:spLocks noGrp="1" noChangeArrowheads="1"/>
          </p:cNvSpPr>
          <p:nvPr>
            <p:ph type="ftr" sz="quarter" idx="11"/>
          </p:nvPr>
        </p:nvSpPr>
        <p:spPr>
          <a:ln/>
        </p:spPr>
        <p:txBody>
          <a:bodyPr/>
          <a:lstStyle>
            <a:lvl1pPr>
              <a:defRPr/>
            </a:lvl1pPr>
          </a:lstStyle>
          <a:p>
            <a:pPr>
              <a:defRPr/>
            </a:pPr>
            <a:endParaRPr lang="fr-FR"/>
          </a:p>
        </p:txBody>
      </p:sp>
      <p:sp>
        <p:nvSpPr>
          <p:cNvPr id="6" name="Rectangle 6">
            <a:extLst>
              <a:ext uri="{FF2B5EF4-FFF2-40B4-BE49-F238E27FC236}">
                <a16:creationId xmlns:a16="http://schemas.microsoft.com/office/drawing/2014/main" id="{B737E24F-30E6-4B2C-84E0-A9366E1AF297}"/>
              </a:ext>
            </a:extLst>
          </p:cNvPr>
          <p:cNvSpPr>
            <a:spLocks noGrp="1" noChangeArrowheads="1"/>
          </p:cNvSpPr>
          <p:nvPr>
            <p:ph type="sldNum" sz="quarter" idx="12"/>
          </p:nvPr>
        </p:nvSpPr>
        <p:spPr>
          <a:ln/>
        </p:spPr>
        <p:txBody>
          <a:bodyPr/>
          <a:lstStyle>
            <a:lvl1pPr>
              <a:defRPr/>
            </a:lvl1pPr>
          </a:lstStyle>
          <a:p>
            <a:fld id="{3FD78178-68A3-4536-91FF-59BA6B3131A3}" type="slidenum">
              <a:rPr lang="fr-FR" altLang="fr-FR"/>
              <a:pPr/>
              <a:t>‹N°›</a:t>
            </a:fld>
            <a:endParaRPr lang="fr-FR" altLang="fr-FR"/>
          </a:p>
        </p:txBody>
      </p:sp>
    </p:spTree>
    <p:extLst>
      <p:ext uri="{BB962C8B-B14F-4D97-AF65-F5344CB8AC3E}">
        <p14:creationId xmlns:p14="http://schemas.microsoft.com/office/powerpoint/2010/main" val="19191957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p:cNvSpPr>
            <a:spLocks noGrp="1"/>
          </p:cNvSpPr>
          <p:nvPr>
            <p:ph type="body"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Rectangle 4">
            <a:extLst>
              <a:ext uri="{FF2B5EF4-FFF2-40B4-BE49-F238E27FC236}">
                <a16:creationId xmlns:a16="http://schemas.microsoft.com/office/drawing/2014/main" id="{36C03EC6-0FB9-4A34-AE54-8771F4A09DFF}"/>
              </a:ext>
            </a:extLst>
          </p:cNvPr>
          <p:cNvSpPr>
            <a:spLocks noGrp="1" noChangeArrowheads="1"/>
          </p:cNvSpPr>
          <p:nvPr>
            <p:ph type="dt" sz="half" idx="10"/>
          </p:nvPr>
        </p:nvSpPr>
        <p:spPr>
          <a:ln/>
        </p:spPr>
        <p:txBody>
          <a:bodyPr/>
          <a:lstStyle>
            <a:lvl1pPr>
              <a:defRPr/>
            </a:lvl1pPr>
          </a:lstStyle>
          <a:p>
            <a:pPr>
              <a:defRPr/>
            </a:pPr>
            <a:endParaRPr lang="fr-FR"/>
          </a:p>
        </p:txBody>
      </p:sp>
      <p:sp>
        <p:nvSpPr>
          <p:cNvPr id="6" name="Rectangle 5">
            <a:extLst>
              <a:ext uri="{FF2B5EF4-FFF2-40B4-BE49-F238E27FC236}">
                <a16:creationId xmlns:a16="http://schemas.microsoft.com/office/drawing/2014/main" id="{488D16CC-FC7D-4982-91AE-250438B39DE9}"/>
              </a:ext>
            </a:extLst>
          </p:cNvPr>
          <p:cNvSpPr>
            <a:spLocks noGrp="1" noChangeArrowheads="1"/>
          </p:cNvSpPr>
          <p:nvPr>
            <p:ph type="ftr" sz="quarter" idx="11"/>
          </p:nvPr>
        </p:nvSpPr>
        <p:spPr>
          <a:ln/>
        </p:spPr>
        <p:txBody>
          <a:bodyPr/>
          <a:lstStyle>
            <a:lvl1pPr>
              <a:defRPr/>
            </a:lvl1pPr>
          </a:lstStyle>
          <a:p>
            <a:pPr>
              <a:defRPr/>
            </a:pPr>
            <a:endParaRPr lang="fr-FR"/>
          </a:p>
        </p:txBody>
      </p:sp>
      <p:sp>
        <p:nvSpPr>
          <p:cNvPr id="7" name="Rectangle 6">
            <a:extLst>
              <a:ext uri="{FF2B5EF4-FFF2-40B4-BE49-F238E27FC236}">
                <a16:creationId xmlns:a16="http://schemas.microsoft.com/office/drawing/2014/main" id="{DCB9A2CF-D064-4BFB-9868-5166F794F771}"/>
              </a:ext>
            </a:extLst>
          </p:cNvPr>
          <p:cNvSpPr>
            <a:spLocks noGrp="1" noChangeArrowheads="1"/>
          </p:cNvSpPr>
          <p:nvPr>
            <p:ph type="sldNum" sz="quarter" idx="12"/>
          </p:nvPr>
        </p:nvSpPr>
        <p:spPr>
          <a:ln/>
        </p:spPr>
        <p:txBody>
          <a:bodyPr/>
          <a:lstStyle>
            <a:lvl1pPr>
              <a:defRPr/>
            </a:lvl1pPr>
          </a:lstStyle>
          <a:p>
            <a:fld id="{57E78546-B504-43E4-AC7A-9E44B4D623D2}" type="slidenum">
              <a:rPr lang="fr-FR" altLang="fr-FR"/>
              <a:pPr/>
              <a:t>‹N°›</a:t>
            </a:fld>
            <a:endParaRPr lang="fr-FR" altLang="fr-FR"/>
          </a:p>
        </p:txBody>
      </p:sp>
    </p:spTree>
    <p:extLst>
      <p:ext uri="{BB962C8B-B14F-4D97-AF65-F5344CB8AC3E}">
        <p14:creationId xmlns:p14="http://schemas.microsoft.com/office/powerpoint/2010/main" val="4041197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image" Target="../media/image8.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image" Target="../media/image7.png"/><Relationship Id="rId2" Type="http://schemas.openxmlformats.org/officeDocument/2006/relationships/slideLayout" Target="../slideLayouts/slideLayout10.xml"/><Relationship Id="rId16"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image" Target="../media/image5.jpeg"/><Relationship Id="rId10" Type="http://schemas.openxmlformats.org/officeDocument/2006/relationships/slideLayout" Target="../slideLayouts/slideLayout18.xml"/><Relationship Id="rId19" Type="http://schemas.openxmlformats.org/officeDocument/2006/relationships/image" Target="../media/image9.png"/><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image" Target="../media/image8.pn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7.png"/><Relationship Id="rId2" Type="http://schemas.openxmlformats.org/officeDocument/2006/relationships/slideLayout" Target="../slideLayouts/slideLayout23.xml"/><Relationship Id="rId16" Type="http://schemas.openxmlformats.org/officeDocument/2006/relationships/image" Target="../media/image6.png"/><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image" Target="../media/image5.jpeg"/><Relationship Id="rId10" Type="http://schemas.openxmlformats.org/officeDocument/2006/relationships/slideLayout" Target="../slideLayouts/slideLayout31.xml"/><Relationship Id="rId19" Type="http://schemas.openxmlformats.org/officeDocument/2006/relationships/image" Target="../media/image9.png"/><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69B7DB-8367-4EA5-BD31-DC3A1C807884}" type="datetimeFigureOut">
              <a:rPr lang="en-US" smtClean="0"/>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Segoe UI" pitchFamily="34" charset="0"/>
                <a:ea typeface="Segoe UI" pitchFamily="34" charset="0"/>
                <a:cs typeface="Segoe UI" pitchFamily="34" charset="0"/>
              </a:defRPr>
            </a:lvl1pPr>
          </a:lstStyle>
          <a:p>
            <a:fld id="{D814DA60-3BEE-4BCE-BEDB-E433FD970963}" type="slidenum">
              <a:rPr lang="en-US" smtClean="0"/>
              <a:pPr/>
              <a:t>‹N°›</a:t>
            </a:fld>
            <a:endParaRPr lang="en-US" dirty="0"/>
          </a:p>
        </p:txBody>
      </p:sp>
    </p:spTree>
    <p:extLst>
      <p:ext uri="{BB962C8B-B14F-4D97-AF65-F5344CB8AC3E}">
        <p14:creationId xmlns:p14="http://schemas.microsoft.com/office/powerpoint/2010/main" val="375470492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0" r:id="rId4"/>
    <p:sldLayoutId id="2147483661" r:id="rId5"/>
    <p:sldLayoutId id="2147483655" r:id="rId6"/>
    <p:sldLayoutId id="2147483693" r:id="rId7"/>
    <p:sldLayoutId id="2147483694"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C1E9FEE-BFF8-4670-AEE1-F22F2887B221}"/>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Click to edit Master title style</a:t>
            </a:r>
          </a:p>
        </p:txBody>
      </p:sp>
      <p:sp>
        <p:nvSpPr>
          <p:cNvPr id="1027" name="Rectangle 3">
            <a:extLst>
              <a:ext uri="{FF2B5EF4-FFF2-40B4-BE49-F238E27FC236}">
                <a16:creationId xmlns:a16="http://schemas.microsoft.com/office/drawing/2014/main" id="{1932A8BB-C93C-4BCC-B29A-4F9400449FCE}"/>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Click to edit Master text styles</a:t>
            </a:r>
          </a:p>
          <a:p>
            <a:pPr lvl="1"/>
            <a:r>
              <a:rPr lang="fr-FR" altLang="fr-FR"/>
              <a:t>Second level</a:t>
            </a:r>
          </a:p>
          <a:p>
            <a:pPr lvl="2"/>
            <a:r>
              <a:rPr lang="fr-FR" altLang="fr-FR"/>
              <a:t>Third level</a:t>
            </a:r>
          </a:p>
          <a:p>
            <a:pPr lvl="3"/>
            <a:r>
              <a:rPr lang="fr-FR" altLang="fr-FR"/>
              <a:t>Fourth level</a:t>
            </a:r>
          </a:p>
          <a:p>
            <a:pPr lvl="4"/>
            <a:r>
              <a:rPr lang="fr-FR" altLang="fr-FR"/>
              <a:t>Fifth level</a:t>
            </a:r>
          </a:p>
        </p:txBody>
      </p:sp>
      <p:sp>
        <p:nvSpPr>
          <p:cNvPr id="21508" name="Rectangle 4">
            <a:extLst>
              <a:ext uri="{FF2B5EF4-FFF2-40B4-BE49-F238E27FC236}">
                <a16:creationId xmlns:a16="http://schemas.microsoft.com/office/drawing/2014/main" id="{D084CC6D-5774-40B0-AB7F-1806EF179EF5}"/>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fr-FR"/>
          </a:p>
        </p:txBody>
      </p:sp>
      <p:sp>
        <p:nvSpPr>
          <p:cNvPr id="21509" name="Rectangle 5">
            <a:extLst>
              <a:ext uri="{FF2B5EF4-FFF2-40B4-BE49-F238E27FC236}">
                <a16:creationId xmlns:a16="http://schemas.microsoft.com/office/drawing/2014/main" id="{B8761B40-5473-44D3-B816-AD85E3FCF084}"/>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fr-FR"/>
          </a:p>
        </p:txBody>
      </p:sp>
      <p:sp>
        <p:nvSpPr>
          <p:cNvPr id="21510" name="Rectangle 6">
            <a:extLst>
              <a:ext uri="{FF2B5EF4-FFF2-40B4-BE49-F238E27FC236}">
                <a16:creationId xmlns:a16="http://schemas.microsoft.com/office/drawing/2014/main" id="{29E4F431-D1D5-4892-AA74-284837B0B744}"/>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E0AAFADD-C5E7-4903-A3F5-D63422F713E6}" type="slidenum">
              <a:rPr lang="fr-FR" altLang="fr-FR"/>
              <a:pPr/>
              <a:t>‹N°›</a:t>
            </a:fld>
            <a:endParaRPr lang="fr-FR" altLang="fr-FR"/>
          </a:p>
        </p:txBody>
      </p:sp>
    </p:spTree>
    <p:extLst>
      <p:ext uri="{BB962C8B-B14F-4D97-AF65-F5344CB8AC3E}">
        <p14:creationId xmlns:p14="http://schemas.microsoft.com/office/powerpoint/2010/main" val="1721207987"/>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Lst>
  <p:txStyles>
    <p:titleStyle>
      <a:lvl1pPr algn="l" rtl="0" eaLnBrk="0" fontAlgn="base" hangingPunct="0">
        <a:spcBef>
          <a:spcPct val="0"/>
        </a:spcBef>
        <a:spcAft>
          <a:spcPct val="0"/>
        </a:spcAft>
        <a:defRPr sz="4000" b="1">
          <a:solidFill>
            <a:srgbClr val="FFCC00"/>
          </a:solidFill>
          <a:latin typeface="+mj-lt"/>
          <a:ea typeface="+mj-ea"/>
          <a:cs typeface="+mj-cs"/>
        </a:defRPr>
      </a:lvl1pPr>
      <a:lvl2pPr algn="l" rtl="0" eaLnBrk="0" fontAlgn="base" hangingPunct="0">
        <a:spcBef>
          <a:spcPct val="0"/>
        </a:spcBef>
        <a:spcAft>
          <a:spcPct val="0"/>
        </a:spcAft>
        <a:defRPr sz="4000" b="1">
          <a:solidFill>
            <a:srgbClr val="FFCC00"/>
          </a:solidFill>
          <a:latin typeface="Trebuchet MS" pitchFamily="34" charset="0"/>
        </a:defRPr>
      </a:lvl2pPr>
      <a:lvl3pPr algn="l" rtl="0" eaLnBrk="0" fontAlgn="base" hangingPunct="0">
        <a:spcBef>
          <a:spcPct val="0"/>
        </a:spcBef>
        <a:spcAft>
          <a:spcPct val="0"/>
        </a:spcAft>
        <a:defRPr sz="4000" b="1">
          <a:solidFill>
            <a:srgbClr val="FFCC00"/>
          </a:solidFill>
          <a:latin typeface="Trebuchet MS" pitchFamily="34" charset="0"/>
        </a:defRPr>
      </a:lvl3pPr>
      <a:lvl4pPr algn="l" rtl="0" eaLnBrk="0" fontAlgn="base" hangingPunct="0">
        <a:spcBef>
          <a:spcPct val="0"/>
        </a:spcBef>
        <a:spcAft>
          <a:spcPct val="0"/>
        </a:spcAft>
        <a:defRPr sz="4000" b="1">
          <a:solidFill>
            <a:srgbClr val="FFCC00"/>
          </a:solidFill>
          <a:latin typeface="Trebuchet MS" pitchFamily="34" charset="0"/>
        </a:defRPr>
      </a:lvl4pPr>
      <a:lvl5pPr algn="l" rtl="0" eaLnBrk="0" fontAlgn="base" hangingPunct="0">
        <a:spcBef>
          <a:spcPct val="0"/>
        </a:spcBef>
        <a:spcAft>
          <a:spcPct val="0"/>
        </a:spcAft>
        <a:defRPr sz="4000" b="1">
          <a:solidFill>
            <a:srgbClr val="FFCC00"/>
          </a:solidFill>
          <a:latin typeface="Trebuchet MS" pitchFamily="34" charset="0"/>
        </a:defRPr>
      </a:lvl5pPr>
      <a:lvl6pPr marL="457200" algn="l" rtl="0" fontAlgn="base">
        <a:spcBef>
          <a:spcPct val="0"/>
        </a:spcBef>
        <a:spcAft>
          <a:spcPct val="0"/>
        </a:spcAft>
        <a:defRPr sz="4000" b="1">
          <a:solidFill>
            <a:srgbClr val="FFCC00"/>
          </a:solidFill>
          <a:latin typeface="Trebuchet MS" pitchFamily="34" charset="0"/>
        </a:defRPr>
      </a:lvl6pPr>
      <a:lvl7pPr marL="914400" algn="l" rtl="0" fontAlgn="base">
        <a:spcBef>
          <a:spcPct val="0"/>
        </a:spcBef>
        <a:spcAft>
          <a:spcPct val="0"/>
        </a:spcAft>
        <a:defRPr sz="4000" b="1">
          <a:solidFill>
            <a:srgbClr val="FFCC00"/>
          </a:solidFill>
          <a:latin typeface="Trebuchet MS" pitchFamily="34" charset="0"/>
        </a:defRPr>
      </a:lvl7pPr>
      <a:lvl8pPr marL="1371600" algn="l" rtl="0" fontAlgn="base">
        <a:spcBef>
          <a:spcPct val="0"/>
        </a:spcBef>
        <a:spcAft>
          <a:spcPct val="0"/>
        </a:spcAft>
        <a:defRPr sz="4000" b="1">
          <a:solidFill>
            <a:srgbClr val="FFCC00"/>
          </a:solidFill>
          <a:latin typeface="Trebuchet MS" pitchFamily="34" charset="0"/>
        </a:defRPr>
      </a:lvl8pPr>
      <a:lvl9pPr marL="1828800" algn="l" rtl="0" fontAlgn="base">
        <a:spcBef>
          <a:spcPct val="0"/>
        </a:spcBef>
        <a:spcAft>
          <a:spcPct val="0"/>
        </a:spcAft>
        <a:defRPr sz="4000" b="1">
          <a:solidFill>
            <a:srgbClr val="FFCC00"/>
          </a:solidFill>
          <a:latin typeface="Trebuchet MS" pitchFamily="34" charset="0"/>
        </a:defRPr>
      </a:lvl9pPr>
    </p:titleStyle>
    <p:bodyStyle>
      <a:lvl1pPr marL="342900" indent="-342900" algn="l" rtl="0" eaLnBrk="0" fontAlgn="base" hangingPunct="0">
        <a:spcBef>
          <a:spcPct val="20000"/>
        </a:spcBef>
        <a:spcAft>
          <a:spcPct val="0"/>
        </a:spcAft>
        <a:buSzPct val="90000"/>
        <a:buBlip>
          <a:blip r:embed="rId16"/>
        </a:buBlip>
        <a:defRPr sz="3400" b="1">
          <a:solidFill>
            <a:schemeClr val="bg1"/>
          </a:solidFill>
          <a:latin typeface="+mn-lt"/>
          <a:ea typeface="+mn-ea"/>
          <a:cs typeface="+mn-cs"/>
        </a:defRPr>
      </a:lvl1pPr>
      <a:lvl2pPr marL="742950" indent="-285750" algn="l" rtl="0" eaLnBrk="0" fontAlgn="base" hangingPunct="0">
        <a:spcBef>
          <a:spcPct val="20000"/>
        </a:spcBef>
        <a:spcAft>
          <a:spcPct val="0"/>
        </a:spcAft>
        <a:buSzPct val="90000"/>
        <a:buBlip>
          <a:blip r:embed="rId17"/>
        </a:buBlip>
        <a:defRPr sz="3200">
          <a:solidFill>
            <a:schemeClr val="bg1"/>
          </a:solidFill>
          <a:latin typeface="+mn-lt"/>
        </a:defRPr>
      </a:lvl2pPr>
      <a:lvl3pPr marL="1143000" indent="-228600" algn="l" rtl="0" eaLnBrk="0" fontAlgn="base" hangingPunct="0">
        <a:spcBef>
          <a:spcPct val="20000"/>
        </a:spcBef>
        <a:spcAft>
          <a:spcPct val="0"/>
        </a:spcAft>
        <a:buSzPct val="90000"/>
        <a:buBlip>
          <a:blip r:embed="rId18"/>
        </a:buBlip>
        <a:defRPr sz="2800">
          <a:solidFill>
            <a:schemeClr val="bg1"/>
          </a:solidFill>
          <a:latin typeface="+mn-lt"/>
        </a:defRPr>
      </a:lvl3pPr>
      <a:lvl4pPr marL="1600200" indent="-228600" algn="l" rtl="0" eaLnBrk="0" fontAlgn="base" hangingPunct="0">
        <a:spcBef>
          <a:spcPct val="20000"/>
        </a:spcBef>
        <a:spcAft>
          <a:spcPct val="0"/>
        </a:spcAft>
        <a:buSzPct val="90000"/>
        <a:buBlip>
          <a:blip r:embed="rId19"/>
        </a:buBlip>
        <a:defRPr sz="2400">
          <a:solidFill>
            <a:schemeClr val="bg1"/>
          </a:solidFill>
          <a:latin typeface="+mn-lt"/>
        </a:defRPr>
      </a:lvl4pPr>
      <a:lvl5pPr marL="2057400" indent="-228600" algn="l" rtl="0" eaLnBrk="0" fontAlgn="base" hangingPunct="0">
        <a:spcBef>
          <a:spcPct val="20000"/>
        </a:spcBef>
        <a:spcAft>
          <a:spcPct val="0"/>
        </a:spcAft>
        <a:buSzPct val="90000"/>
        <a:buBlip>
          <a:blip r:embed="rId19"/>
        </a:buBlip>
        <a:defRPr sz="2400">
          <a:solidFill>
            <a:schemeClr val="bg1"/>
          </a:solidFill>
          <a:latin typeface="+mn-lt"/>
        </a:defRPr>
      </a:lvl5pPr>
      <a:lvl6pPr marL="2514600" indent="-228600" algn="l" rtl="0" fontAlgn="base">
        <a:spcBef>
          <a:spcPct val="20000"/>
        </a:spcBef>
        <a:spcAft>
          <a:spcPct val="0"/>
        </a:spcAft>
        <a:buSzPct val="90000"/>
        <a:buBlip>
          <a:blip r:embed="rId19"/>
        </a:buBlip>
        <a:defRPr sz="2400">
          <a:solidFill>
            <a:schemeClr val="bg1"/>
          </a:solidFill>
          <a:latin typeface="+mn-lt"/>
        </a:defRPr>
      </a:lvl6pPr>
      <a:lvl7pPr marL="2971800" indent="-228600" algn="l" rtl="0" fontAlgn="base">
        <a:spcBef>
          <a:spcPct val="20000"/>
        </a:spcBef>
        <a:spcAft>
          <a:spcPct val="0"/>
        </a:spcAft>
        <a:buSzPct val="90000"/>
        <a:buBlip>
          <a:blip r:embed="rId19"/>
        </a:buBlip>
        <a:defRPr sz="2400">
          <a:solidFill>
            <a:schemeClr val="bg1"/>
          </a:solidFill>
          <a:latin typeface="+mn-lt"/>
        </a:defRPr>
      </a:lvl7pPr>
      <a:lvl8pPr marL="3429000" indent="-228600" algn="l" rtl="0" fontAlgn="base">
        <a:spcBef>
          <a:spcPct val="20000"/>
        </a:spcBef>
        <a:spcAft>
          <a:spcPct val="0"/>
        </a:spcAft>
        <a:buSzPct val="90000"/>
        <a:buBlip>
          <a:blip r:embed="rId19"/>
        </a:buBlip>
        <a:defRPr sz="2400">
          <a:solidFill>
            <a:schemeClr val="bg1"/>
          </a:solidFill>
          <a:latin typeface="+mn-lt"/>
        </a:defRPr>
      </a:lvl8pPr>
      <a:lvl9pPr marL="3886200" indent="-228600" algn="l" rtl="0" fontAlgn="base">
        <a:spcBef>
          <a:spcPct val="20000"/>
        </a:spcBef>
        <a:spcAft>
          <a:spcPct val="0"/>
        </a:spcAft>
        <a:buSzPct val="90000"/>
        <a:buBlip>
          <a:blip r:embed="rId19"/>
        </a:buBlip>
        <a:defRPr sz="2400">
          <a:solidFill>
            <a:schemeClr val="bg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1903DDD-0BE8-4107-BA61-325099D33E82}"/>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Click to edit Master title style</a:t>
            </a:r>
          </a:p>
        </p:txBody>
      </p:sp>
      <p:sp>
        <p:nvSpPr>
          <p:cNvPr id="2051" name="Rectangle 3">
            <a:extLst>
              <a:ext uri="{FF2B5EF4-FFF2-40B4-BE49-F238E27FC236}">
                <a16:creationId xmlns:a16="http://schemas.microsoft.com/office/drawing/2014/main" id="{4CEE084D-0598-4073-A316-C5248A828B47}"/>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Click to edit Master text styles</a:t>
            </a:r>
          </a:p>
          <a:p>
            <a:pPr lvl="1"/>
            <a:r>
              <a:rPr lang="fr-FR" altLang="fr-FR"/>
              <a:t>Second level</a:t>
            </a:r>
          </a:p>
          <a:p>
            <a:pPr lvl="2"/>
            <a:r>
              <a:rPr lang="fr-FR" altLang="fr-FR"/>
              <a:t>Third level</a:t>
            </a:r>
          </a:p>
          <a:p>
            <a:pPr lvl="3"/>
            <a:r>
              <a:rPr lang="fr-FR" altLang="fr-FR"/>
              <a:t>Fourth level</a:t>
            </a:r>
          </a:p>
          <a:p>
            <a:pPr lvl="4"/>
            <a:r>
              <a:rPr lang="fr-FR" altLang="fr-FR"/>
              <a:t>Fifth level</a:t>
            </a:r>
          </a:p>
        </p:txBody>
      </p:sp>
      <p:sp>
        <p:nvSpPr>
          <p:cNvPr id="21508" name="Rectangle 4">
            <a:extLst>
              <a:ext uri="{FF2B5EF4-FFF2-40B4-BE49-F238E27FC236}">
                <a16:creationId xmlns:a16="http://schemas.microsoft.com/office/drawing/2014/main" id="{90AC327B-17FE-4F0F-83AC-E6276D526AB8}"/>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fr-FR"/>
          </a:p>
        </p:txBody>
      </p:sp>
      <p:sp>
        <p:nvSpPr>
          <p:cNvPr id="21509" name="Rectangle 5">
            <a:extLst>
              <a:ext uri="{FF2B5EF4-FFF2-40B4-BE49-F238E27FC236}">
                <a16:creationId xmlns:a16="http://schemas.microsoft.com/office/drawing/2014/main" id="{65412E73-6693-499F-99FC-B1D2B29A7F2B}"/>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fr-FR"/>
          </a:p>
        </p:txBody>
      </p:sp>
      <p:sp>
        <p:nvSpPr>
          <p:cNvPr id="21510" name="Rectangle 6">
            <a:extLst>
              <a:ext uri="{FF2B5EF4-FFF2-40B4-BE49-F238E27FC236}">
                <a16:creationId xmlns:a16="http://schemas.microsoft.com/office/drawing/2014/main" id="{8B565E9B-DB8D-4D22-AF33-7492A45A71D0}"/>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D0EDA111-6C13-4FEC-8F31-1355B8513C9A}" type="slidenum">
              <a:rPr lang="fr-FR" altLang="fr-FR"/>
              <a:pPr/>
              <a:t>‹N°›</a:t>
            </a:fld>
            <a:endParaRPr lang="fr-FR" altLang="fr-FR"/>
          </a:p>
        </p:txBody>
      </p:sp>
    </p:spTree>
    <p:extLst>
      <p:ext uri="{BB962C8B-B14F-4D97-AF65-F5344CB8AC3E}">
        <p14:creationId xmlns:p14="http://schemas.microsoft.com/office/powerpoint/2010/main" val="259211549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Lst>
  <p:txStyles>
    <p:titleStyle>
      <a:lvl1pPr algn="l" rtl="0" eaLnBrk="0" fontAlgn="base" hangingPunct="0">
        <a:spcBef>
          <a:spcPct val="0"/>
        </a:spcBef>
        <a:spcAft>
          <a:spcPct val="0"/>
        </a:spcAft>
        <a:defRPr sz="4000" b="1">
          <a:solidFill>
            <a:srgbClr val="FFCC00"/>
          </a:solidFill>
          <a:latin typeface="+mj-lt"/>
          <a:ea typeface="+mj-ea"/>
          <a:cs typeface="+mj-cs"/>
        </a:defRPr>
      </a:lvl1pPr>
      <a:lvl2pPr algn="l" rtl="0" eaLnBrk="0" fontAlgn="base" hangingPunct="0">
        <a:spcBef>
          <a:spcPct val="0"/>
        </a:spcBef>
        <a:spcAft>
          <a:spcPct val="0"/>
        </a:spcAft>
        <a:defRPr sz="4000" b="1">
          <a:solidFill>
            <a:srgbClr val="FFCC00"/>
          </a:solidFill>
          <a:latin typeface="Trebuchet MS" pitchFamily="34" charset="0"/>
        </a:defRPr>
      </a:lvl2pPr>
      <a:lvl3pPr algn="l" rtl="0" eaLnBrk="0" fontAlgn="base" hangingPunct="0">
        <a:spcBef>
          <a:spcPct val="0"/>
        </a:spcBef>
        <a:spcAft>
          <a:spcPct val="0"/>
        </a:spcAft>
        <a:defRPr sz="4000" b="1">
          <a:solidFill>
            <a:srgbClr val="FFCC00"/>
          </a:solidFill>
          <a:latin typeface="Trebuchet MS" pitchFamily="34" charset="0"/>
        </a:defRPr>
      </a:lvl3pPr>
      <a:lvl4pPr algn="l" rtl="0" eaLnBrk="0" fontAlgn="base" hangingPunct="0">
        <a:spcBef>
          <a:spcPct val="0"/>
        </a:spcBef>
        <a:spcAft>
          <a:spcPct val="0"/>
        </a:spcAft>
        <a:defRPr sz="4000" b="1">
          <a:solidFill>
            <a:srgbClr val="FFCC00"/>
          </a:solidFill>
          <a:latin typeface="Trebuchet MS" pitchFamily="34" charset="0"/>
        </a:defRPr>
      </a:lvl4pPr>
      <a:lvl5pPr algn="l" rtl="0" eaLnBrk="0" fontAlgn="base" hangingPunct="0">
        <a:spcBef>
          <a:spcPct val="0"/>
        </a:spcBef>
        <a:spcAft>
          <a:spcPct val="0"/>
        </a:spcAft>
        <a:defRPr sz="4000" b="1">
          <a:solidFill>
            <a:srgbClr val="FFCC00"/>
          </a:solidFill>
          <a:latin typeface="Trebuchet MS" pitchFamily="34" charset="0"/>
        </a:defRPr>
      </a:lvl5pPr>
      <a:lvl6pPr marL="457200" algn="l" rtl="0" fontAlgn="base">
        <a:spcBef>
          <a:spcPct val="0"/>
        </a:spcBef>
        <a:spcAft>
          <a:spcPct val="0"/>
        </a:spcAft>
        <a:defRPr sz="4000" b="1">
          <a:solidFill>
            <a:srgbClr val="FFCC00"/>
          </a:solidFill>
          <a:latin typeface="Trebuchet MS" pitchFamily="34" charset="0"/>
        </a:defRPr>
      </a:lvl6pPr>
      <a:lvl7pPr marL="914400" algn="l" rtl="0" fontAlgn="base">
        <a:spcBef>
          <a:spcPct val="0"/>
        </a:spcBef>
        <a:spcAft>
          <a:spcPct val="0"/>
        </a:spcAft>
        <a:defRPr sz="4000" b="1">
          <a:solidFill>
            <a:srgbClr val="FFCC00"/>
          </a:solidFill>
          <a:latin typeface="Trebuchet MS" pitchFamily="34" charset="0"/>
        </a:defRPr>
      </a:lvl7pPr>
      <a:lvl8pPr marL="1371600" algn="l" rtl="0" fontAlgn="base">
        <a:spcBef>
          <a:spcPct val="0"/>
        </a:spcBef>
        <a:spcAft>
          <a:spcPct val="0"/>
        </a:spcAft>
        <a:defRPr sz="4000" b="1">
          <a:solidFill>
            <a:srgbClr val="FFCC00"/>
          </a:solidFill>
          <a:latin typeface="Trebuchet MS" pitchFamily="34" charset="0"/>
        </a:defRPr>
      </a:lvl8pPr>
      <a:lvl9pPr marL="1828800" algn="l" rtl="0" fontAlgn="base">
        <a:spcBef>
          <a:spcPct val="0"/>
        </a:spcBef>
        <a:spcAft>
          <a:spcPct val="0"/>
        </a:spcAft>
        <a:defRPr sz="4000" b="1">
          <a:solidFill>
            <a:srgbClr val="FFCC00"/>
          </a:solidFill>
          <a:latin typeface="Trebuchet MS" pitchFamily="34" charset="0"/>
        </a:defRPr>
      </a:lvl9pPr>
    </p:titleStyle>
    <p:bodyStyle>
      <a:lvl1pPr marL="342900" indent="-342900" algn="l" rtl="0" eaLnBrk="0" fontAlgn="base" hangingPunct="0">
        <a:spcBef>
          <a:spcPct val="20000"/>
        </a:spcBef>
        <a:spcAft>
          <a:spcPct val="0"/>
        </a:spcAft>
        <a:buSzPct val="90000"/>
        <a:buBlip>
          <a:blip r:embed="rId16"/>
        </a:buBlip>
        <a:defRPr sz="3400" b="1">
          <a:solidFill>
            <a:schemeClr val="bg1"/>
          </a:solidFill>
          <a:latin typeface="+mn-lt"/>
          <a:ea typeface="+mn-ea"/>
          <a:cs typeface="+mn-cs"/>
        </a:defRPr>
      </a:lvl1pPr>
      <a:lvl2pPr marL="742950" indent="-285750" algn="l" rtl="0" eaLnBrk="0" fontAlgn="base" hangingPunct="0">
        <a:spcBef>
          <a:spcPct val="20000"/>
        </a:spcBef>
        <a:spcAft>
          <a:spcPct val="0"/>
        </a:spcAft>
        <a:buSzPct val="90000"/>
        <a:buBlip>
          <a:blip r:embed="rId17"/>
        </a:buBlip>
        <a:defRPr sz="3200">
          <a:solidFill>
            <a:schemeClr val="bg1"/>
          </a:solidFill>
          <a:latin typeface="+mn-lt"/>
        </a:defRPr>
      </a:lvl2pPr>
      <a:lvl3pPr marL="1143000" indent="-228600" algn="l" rtl="0" eaLnBrk="0" fontAlgn="base" hangingPunct="0">
        <a:spcBef>
          <a:spcPct val="20000"/>
        </a:spcBef>
        <a:spcAft>
          <a:spcPct val="0"/>
        </a:spcAft>
        <a:buSzPct val="90000"/>
        <a:buBlip>
          <a:blip r:embed="rId18"/>
        </a:buBlip>
        <a:defRPr sz="2800">
          <a:solidFill>
            <a:schemeClr val="bg1"/>
          </a:solidFill>
          <a:latin typeface="+mn-lt"/>
        </a:defRPr>
      </a:lvl3pPr>
      <a:lvl4pPr marL="1600200" indent="-228600" algn="l" rtl="0" eaLnBrk="0" fontAlgn="base" hangingPunct="0">
        <a:spcBef>
          <a:spcPct val="20000"/>
        </a:spcBef>
        <a:spcAft>
          <a:spcPct val="0"/>
        </a:spcAft>
        <a:buSzPct val="90000"/>
        <a:buBlip>
          <a:blip r:embed="rId19"/>
        </a:buBlip>
        <a:defRPr sz="2400">
          <a:solidFill>
            <a:schemeClr val="bg1"/>
          </a:solidFill>
          <a:latin typeface="+mn-lt"/>
        </a:defRPr>
      </a:lvl4pPr>
      <a:lvl5pPr marL="2057400" indent="-228600" algn="l" rtl="0" eaLnBrk="0" fontAlgn="base" hangingPunct="0">
        <a:spcBef>
          <a:spcPct val="20000"/>
        </a:spcBef>
        <a:spcAft>
          <a:spcPct val="0"/>
        </a:spcAft>
        <a:buSzPct val="90000"/>
        <a:buBlip>
          <a:blip r:embed="rId19"/>
        </a:buBlip>
        <a:defRPr sz="2400">
          <a:solidFill>
            <a:schemeClr val="bg1"/>
          </a:solidFill>
          <a:latin typeface="+mn-lt"/>
        </a:defRPr>
      </a:lvl5pPr>
      <a:lvl6pPr marL="2514600" indent="-228600" algn="l" rtl="0" fontAlgn="base">
        <a:spcBef>
          <a:spcPct val="20000"/>
        </a:spcBef>
        <a:spcAft>
          <a:spcPct val="0"/>
        </a:spcAft>
        <a:buSzPct val="90000"/>
        <a:buBlip>
          <a:blip r:embed="rId19"/>
        </a:buBlip>
        <a:defRPr sz="2400">
          <a:solidFill>
            <a:schemeClr val="bg1"/>
          </a:solidFill>
          <a:latin typeface="+mn-lt"/>
        </a:defRPr>
      </a:lvl6pPr>
      <a:lvl7pPr marL="2971800" indent="-228600" algn="l" rtl="0" fontAlgn="base">
        <a:spcBef>
          <a:spcPct val="20000"/>
        </a:spcBef>
        <a:spcAft>
          <a:spcPct val="0"/>
        </a:spcAft>
        <a:buSzPct val="90000"/>
        <a:buBlip>
          <a:blip r:embed="rId19"/>
        </a:buBlip>
        <a:defRPr sz="2400">
          <a:solidFill>
            <a:schemeClr val="bg1"/>
          </a:solidFill>
          <a:latin typeface="+mn-lt"/>
        </a:defRPr>
      </a:lvl7pPr>
      <a:lvl8pPr marL="3429000" indent="-228600" algn="l" rtl="0" fontAlgn="base">
        <a:spcBef>
          <a:spcPct val="20000"/>
        </a:spcBef>
        <a:spcAft>
          <a:spcPct val="0"/>
        </a:spcAft>
        <a:buSzPct val="90000"/>
        <a:buBlip>
          <a:blip r:embed="rId19"/>
        </a:buBlip>
        <a:defRPr sz="2400">
          <a:solidFill>
            <a:schemeClr val="bg1"/>
          </a:solidFill>
          <a:latin typeface="+mn-lt"/>
        </a:defRPr>
      </a:lvl8pPr>
      <a:lvl9pPr marL="3886200" indent="-228600" algn="l" rtl="0" fontAlgn="base">
        <a:spcBef>
          <a:spcPct val="20000"/>
        </a:spcBef>
        <a:spcAft>
          <a:spcPct val="0"/>
        </a:spcAft>
        <a:buSzPct val="90000"/>
        <a:buBlip>
          <a:blip r:embed="rId19"/>
        </a:buBlip>
        <a:defRPr sz="2400">
          <a:solidFill>
            <a:schemeClr val="bg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slide" Target="slide6.xml"/><Relationship Id="rId39" Type="http://schemas.openxmlformats.org/officeDocument/2006/relationships/slide" Target="slide209.xml"/><Relationship Id="rId3" Type="http://schemas.openxmlformats.org/officeDocument/2006/relationships/image" Target="../media/image11.png"/><Relationship Id="rId21" Type="http://schemas.openxmlformats.org/officeDocument/2006/relationships/image" Target="../media/image29.png"/><Relationship Id="rId34" Type="http://schemas.openxmlformats.org/officeDocument/2006/relationships/slide" Target="slide94.xml"/><Relationship Id="rId42" Type="http://schemas.openxmlformats.org/officeDocument/2006/relationships/slide" Target="slide273.xml"/><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slide" Target="slide3.xml"/><Relationship Id="rId33" Type="http://schemas.openxmlformats.org/officeDocument/2006/relationships/slide" Target="slide73.xml"/><Relationship Id="rId38" Type="http://schemas.openxmlformats.org/officeDocument/2006/relationships/slide" Target="slide177.xml"/><Relationship Id="rId46" Type="http://schemas.openxmlformats.org/officeDocument/2006/relationships/slide" Target="slide374.xml"/><Relationship Id="rId2" Type="http://schemas.openxmlformats.org/officeDocument/2006/relationships/notesSlide" Target="../notesSlides/notesSlide2.xml"/><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slide" Target="slide34.xml"/><Relationship Id="rId41" Type="http://schemas.openxmlformats.org/officeDocument/2006/relationships/slide" Target="slide252.xml"/><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slide" Target="slide60.xml"/><Relationship Id="rId37" Type="http://schemas.openxmlformats.org/officeDocument/2006/relationships/slide" Target="slide154.xml"/><Relationship Id="rId40" Type="http://schemas.openxmlformats.org/officeDocument/2006/relationships/slide" Target="slide230.xml"/><Relationship Id="rId45" Type="http://schemas.openxmlformats.org/officeDocument/2006/relationships/slide" Target="slide355.xml"/><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slide" Target="slide24.xml"/><Relationship Id="rId36" Type="http://schemas.openxmlformats.org/officeDocument/2006/relationships/slide" Target="slide133.xml"/><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slide" Target="slide52.xml"/><Relationship Id="rId44" Type="http://schemas.openxmlformats.org/officeDocument/2006/relationships/slide" Target="slide325.xml"/><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slide" Target="slide15.xml"/><Relationship Id="rId30" Type="http://schemas.openxmlformats.org/officeDocument/2006/relationships/slide" Target="slide45.xml"/><Relationship Id="rId35" Type="http://schemas.openxmlformats.org/officeDocument/2006/relationships/slide" Target="slide122.xml"/><Relationship Id="rId43" Type="http://schemas.openxmlformats.org/officeDocument/2006/relationships/slide" Target="slide29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hyperlink" Target="https://learn.microsoft.com/fr-fr/azure/app-service/deploy-staging-slots" TargetMode="External"/><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4.xml"/><Relationship Id="rId1" Type="http://schemas.openxmlformats.org/officeDocument/2006/relationships/slideLayout" Target="../slideLayouts/slideLayout8.xml"/><Relationship Id="rId5" Type="http://schemas.openxmlformats.org/officeDocument/2006/relationships/image" Target="../media/image44.png"/><Relationship Id="rId4" Type="http://schemas.openxmlformats.org/officeDocument/2006/relationships/image" Target="../media/image43.png"/></Relationships>
</file>

<file path=ppt/slides/_rels/slide106.xml.rels><?xml version="1.0" encoding="UTF-8" standalone="yes"?>
<Relationships xmlns="http://schemas.openxmlformats.org/package/2006/relationships"><Relationship Id="rId3" Type="http://schemas.openxmlformats.org/officeDocument/2006/relationships/hyperlink" Target="https://learn.microsoft.com/en-us/azure/azure-functions/functions-scale" TargetMode="External"/><Relationship Id="rId2" Type="http://schemas.openxmlformats.org/officeDocument/2006/relationships/notesSlide" Target="../notesSlides/notesSlide75.xml"/><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8.xml"/><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9.xml"/><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80.xml"/><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9.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slideLayout" Target="../slideLayouts/slideLayout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7.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8.xml"/><Relationship Id="rId4" Type="http://schemas.openxmlformats.org/officeDocument/2006/relationships/image" Target="../media/image59.emf"/></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8.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6.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8.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8.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8.xml"/></Relationships>
</file>

<file path=ppt/slides/_rels/slide182.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8.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5.xml.rels><?xml version="1.0" encoding="UTF-8" standalone="yes"?>
<Relationships xmlns="http://schemas.openxmlformats.org/package/2006/relationships"><Relationship Id="rId2" Type="http://schemas.openxmlformats.org/officeDocument/2006/relationships/hyperlink" Target="https://learn.microsoft.com/en-us/azure/azure-monitor/alerts/alerts-create-log-alert-rule" TargetMode="External"/><Relationship Id="rId1" Type="http://schemas.openxmlformats.org/officeDocument/2006/relationships/slideLayout" Target="../slideLayouts/slideLayout8.xml"/></Relationships>
</file>

<file path=ppt/slides/_rels/slide186.xml.rels><?xml version="1.0" encoding="UTF-8" standalone="yes"?>
<Relationships xmlns="http://schemas.openxmlformats.org/package/2006/relationships"><Relationship Id="rId3" Type="http://schemas.openxmlformats.org/officeDocument/2006/relationships/hyperlink" Target="https://github.com/MicrosoftDocs/azure-monitor-docs/blob/main/articles/azure-monitor/alerts/alerts-types.md" TargetMode="External"/><Relationship Id="rId2" Type="http://schemas.openxmlformats.org/officeDocument/2006/relationships/notesSlide" Target="../notesSlides/notesSlide94.xml"/><Relationship Id="rId1" Type="http://schemas.openxmlformats.org/officeDocument/2006/relationships/slideLayout" Target="../slideLayouts/slideLayout8.xml"/><Relationship Id="rId4" Type="http://schemas.openxmlformats.org/officeDocument/2006/relationships/hyperlink" Target="https://learn.microsoft.com/en-us/azure/azure-monitor/alerts/alerts-types" TargetMode="External"/></Relationships>
</file>

<file path=ppt/slides/_rels/slide187.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95.xml"/><Relationship Id="rId1" Type="http://schemas.openxmlformats.org/officeDocument/2006/relationships/slideLayout" Target="../slideLayouts/slideLayout8.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8.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8.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8.xml"/></Relationships>
</file>

<file path=ppt/slides/_rels/slide191.xml.rels><?xml version="1.0" encoding="UTF-8" standalone="yes"?>
<Relationships xmlns="http://schemas.openxmlformats.org/package/2006/relationships"><Relationship Id="rId3" Type="http://schemas.openxmlformats.org/officeDocument/2006/relationships/hyperlink" Target="https://learn.microsoft.com/en-us/azure/azure-monitor/app/dependencies" TargetMode="External"/><Relationship Id="rId2" Type="http://schemas.openxmlformats.org/officeDocument/2006/relationships/notesSlide" Target="../notesSlides/notesSlide99.xml"/><Relationship Id="rId1" Type="http://schemas.openxmlformats.org/officeDocument/2006/relationships/slideLayout" Target="../slideLayouts/slideLayout8.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8.xml"/></Relationships>
</file>

<file path=ppt/slides/_rels/slide193.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101.xml"/><Relationship Id="rId1" Type="http://schemas.openxmlformats.org/officeDocument/2006/relationships/slideLayout" Target="../slideLayouts/slideLayout8.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8.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8.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8.xml"/></Relationships>
</file>

<file path=ppt/slides/_rels/slide197.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105.xml"/><Relationship Id="rId1" Type="http://schemas.openxmlformats.org/officeDocument/2006/relationships/slideLayout" Target="../slideLayouts/slideLayout8.xml"/><Relationship Id="rId4" Type="http://schemas.openxmlformats.org/officeDocument/2006/relationships/image" Target="../media/image65.emf"/></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8.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8.xml"/></Relationships>
</file>

<file path=ppt/slides/_rels/slide20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8.xml"/><Relationship Id="rId1" Type="http://schemas.openxmlformats.org/officeDocument/2006/relationships/slideLayout" Target="../slideLayouts/slideLayout8.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4.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4.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4.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4.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8.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8.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8.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8.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8.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8.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8.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8.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8.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8.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8.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8.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8.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8.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8.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8.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8.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8.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8.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8.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8.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8.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8.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8.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8.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8.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8.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8.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8.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8.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8.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8.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8.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8.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8.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8.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8.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8.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8.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8.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8.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8.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8.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8.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8.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8.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8.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8.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8.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8.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8.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8.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8.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8.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8.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8.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8.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8.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8.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8.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8.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8.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8.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8.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8.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8.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8.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8.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8.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8.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8.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8.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8.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8.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8.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8.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8.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8.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8.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8.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8.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2.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4.xml"/></Relationships>
</file>

<file path=ppt/slides/_rels/slide373.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4.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5.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4.xml"/></Relationships>
</file>

<file path=ppt/slides/_rels/slide376.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lstStyle/>
          <a:p>
            <a:r>
              <a:rPr lang="en-US" dirty="0"/>
              <a:t>Az 204</a:t>
            </a:r>
          </a:p>
        </p:txBody>
      </p:sp>
      <p:sp>
        <p:nvSpPr>
          <p:cNvPr id="7" name="Text Placeholder 6"/>
          <p:cNvSpPr>
            <a:spLocks noGrp="1"/>
          </p:cNvSpPr>
          <p:nvPr>
            <p:ph type="body" sz="quarter" idx="11"/>
          </p:nvPr>
        </p:nvSpPr>
        <p:spPr/>
        <p:txBody>
          <a:bodyPr/>
          <a:lstStyle/>
          <a:p>
            <a:endParaRPr lang="en-GB" dirty="0"/>
          </a:p>
          <a:p>
            <a:r>
              <a:rPr lang="en-GB" dirty="0"/>
              <a:t>Jean-Pierre Planas </a:t>
            </a:r>
            <a:endParaRPr lang="en-US" dirty="0"/>
          </a:p>
        </p:txBody>
      </p:sp>
      <p:sp>
        <p:nvSpPr>
          <p:cNvPr id="3" name="Rectangle 2">
            <a:extLst>
              <a:ext uri="{FF2B5EF4-FFF2-40B4-BE49-F238E27FC236}">
                <a16:creationId xmlns:a16="http://schemas.microsoft.com/office/drawing/2014/main" id="{99735547-7BE1-83C6-F465-926E38CCA1E4}"/>
              </a:ext>
            </a:extLst>
          </p:cNvPr>
          <p:cNvSpPr/>
          <p:nvPr/>
        </p:nvSpPr>
        <p:spPr>
          <a:xfrm>
            <a:off x="3203848" y="1412776"/>
            <a:ext cx="4536504" cy="86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1332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AF7725-25BE-4580-A3E4-B653C07B3B58}"/>
              </a:ext>
            </a:extLst>
          </p:cNvPr>
          <p:cNvSpPr>
            <a:spLocks noGrp="1"/>
          </p:cNvSpPr>
          <p:nvPr>
            <p:ph type="title"/>
          </p:nvPr>
        </p:nvSpPr>
        <p:spPr/>
        <p:txBody>
          <a:bodyPr/>
          <a:lstStyle/>
          <a:p>
            <a:r>
              <a:rPr lang="fr-FR" dirty="0"/>
              <a:t>Index</a:t>
            </a:r>
          </a:p>
        </p:txBody>
      </p:sp>
      <p:sp>
        <p:nvSpPr>
          <p:cNvPr id="3" name="Espace réservé du numéro de diapositive 2">
            <a:extLst>
              <a:ext uri="{FF2B5EF4-FFF2-40B4-BE49-F238E27FC236}">
                <a16:creationId xmlns:a16="http://schemas.microsoft.com/office/drawing/2014/main" id="{E6981389-878A-4B8E-9A29-128B9284B8FA}"/>
              </a:ext>
            </a:extLst>
          </p:cNvPr>
          <p:cNvSpPr>
            <a:spLocks noGrp="1"/>
          </p:cNvSpPr>
          <p:nvPr>
            <p:ph type="sldNum" sz="quarter" idx="12"/>
          </p:nvPr>
        </p:nvSpPr>
        <p:spPr/>
        <p:txBody>
          <a:bodyPr/>
          <a:lstStyle/>
          <a:p>
            <a:fld id="{D814DA60-3BEE-4BCE-BEDB-E433FD970963}" type="slidenum">
              <a:rPr lang="en-US" smtClean="0"/>
              <a:pPr/>
              <a:t>2</a:t>
            </a:fld>
            <a:endParaRPr lang="en-US" dirty="0"/>
          </a:p>
        </p:txBody>
      </p:sp>
      <mc:AlternateContent xmlns:mc="http://schemas.openxmlformats.org/markup-compatibility/2006">
        <mc:Choice xmlns:psuz="http://schemas.microsoft.com/office/powerpoint/2016/summaryzoom" Requires="psuz">
          <p:graphicFrame>
            <p:nvGraphicFramePr>
              <p:cNvPr id="5" name="Zoom de résumé 4">
                <a:extLst>
                  <a:ext uri="{FF2B5EF4-FFF2-40B4-BE49-F238E27FC236}">
                    <a16:creationId xmlns:a16="http://schemas.microsoft.com/office/drawing/2014/main" id="{C5316EC3-9F46-4F83-9EAD-A0034249B7EF}"/>
                  </a:ext>
                </a:extLst>
              </p:cNvPr>
              <p:cNvGraphicFramePr>
                <a:graphicFrameLocks noChangeAspect="1"/>
              </p:cNvGraphicFramePr>
              <p:nvPr>
                <p:extLst>
                  <p:ext uri="{D42A27DB-BD31-4B8C-83A1-F6EECF244321}">
                    <p14:modId xmlns:p14="http://schemas.microsoft.com/office/powerpoint/2010/main" val="3677517658"/>
                  </p:ext>
                </p:extLst>
              </p:nvPr>
            </p:nvGraphicFramePr>
            <p:xfrm>
              <a:off x="251520" y="980728"/>
              <a:ext cx="7992888" cy="5328592"/>
            </p:xfrm>
            <a:graphic>
              <a:graphicData uri="http://schemas.microsoft.com/office/powerpoint/2016/summaryzoom">
                <psuz:summaryZm>
                  <psuz:summaryZmObj sectionId="{EBED56B4-3C1D-4CFD-A1D6-1A15375D1CA8}">
                    <psuz:zmPr id="{16639C3A-209A-42F0-BF00-46128AE4C5D1}" transitionDur="1000">
                      <p166:blipFill xmlns:p166="http://schemas.microsoft.com/office/powerpoint/2016/6/main">
                        <a:blip r:embed="rId3"/>
                        <a:stretch>
                          <a:fillRect/>
                        </a:stretch>
                      </p166:blipFill>
                      <p166:spPr xmlns:p166="http://schemas.microsoft.com/office/powerpoint/2016/6/main">
                        <a:xfrm>
                          <a:off x="671405" y="138545"/>
                          <a:ext cx="1278861" cy="959146"/>
                        </a:xfrm>
                        <a:prstGeom prst="rect">
                          <a:avLst/>
                        </a:prstGeom>
                        <a:ln w="3175">
                          <a:solidFill>
                            <a:prstClr val="ltGray"/>
                          </a:solidFill>
                        </a:ln>
                      </p166:spPr>
                    </psuz:zmPr>
                  </psuz:summaryZmObj>
                  <psuz:summaryZmObj sectionId="{7046F919-A105-48F5-A5F9-9DA19C9AE151}">
                    <psuz:zmPr id="{BA5A5E8B-ED4E-44A7-BF34-0998F4FBB16B}" transitionDur="1000">
                      <p166:blipFill xmlns:p166="http://schemas.microsoft.com/office/powerpoint/2016/6/main">
                        <a:blip r:embed="rId4"/>
                        <a:stretch>
                          <a:fillRect/>
                        </a:stretch>
                      </p166:blipFill>
                      <p166:spPr xmlns:p166="http://schemas.microsoft.com/office/powerpoint/2016/6/main">
                        <a:xfrm>
                          <a:off x="2014209" y="138545"/>
                          <a:ext cx="1278861" cy="959146"/>
                        </a:xfrm>
                        <a:prstGeom prst="rect">
                          <a:avLst/>
                        </a:prstGeom>
                        <a:ln w="3175">
                          <a:solidFill>
                            <a:prstClr val="ltGray"/>
                          </a:solidFill>
                        </a:ln>
                      </p166:spPr>
                    </psuz:zmPr>
                  </psuz:summaryZmObj>
                  <psuz:summaryZmObj sectionId="{7F3652BA-3E35-45E1-B71E-23B0060EE444}">
                    <psuz:zmPr id="{93DE87CF-B26B-4F97-8767-26A580BC8648}" transitionDur="1000">
                      <p166:blipFill xmlns:p166="http://schemas.microsoft.com/office/powerpoint/2016/6/main">
                        <a:blip r:embed="rId5"/>
                        <a:stretch>
                          <a:fillRect/>
                        </a:stretch>
                      </p166:blipFill>
                      <p166:spPr xmlns:p166="http://schemas.microsoft.com/office/powerpoint/2016/6/main">
                        <a:xfrm>
                          <a:off x="3357013" y="138545"/>
                          <a:ext cx="1278861" cy="959146"/>
                        </a:xfrm>
                        <a:prstGeom prst="rect">
                          <a:avLst/>
                        </a:prstGeom>
                        <a:ln w="3175">
                          <a:solidFill>
                            <a:prstClr val="ltGray"/>
                          </a:solidFill>
                        </a:ln>
                      </p166:spPr>
                    </psuz:zmPr>
                  </psuz:summaryZmObj>
                  <psuz:summaryZmObj sectionId="{4C473A86-CEB8-47C2-881C-D2EBC041EAD5}">
                    <psuz:zmPr id="{A305F9D1-D9B5-47C6-B0B0-F38FC50A1B71}" transitionDur="1000">
                      <p166:blipFill xmlns:p166="http://schemas.microsoft.com/office/powerpoint/2016/6/main">
                        <a:blip r:embed="rId6"/>
                        <a:stretch>
                          <a:fillRect/>
                        </a:stretch>
                      </p166:blipFill>
                      <p166:spPr xmlns:p166="http://schemas.microsoft.com/office/powerpoint/2016/6/main">
                        <a:xfrm>
                          <a:off x="4699817" y="138545"/>
                          <a:ext cx="1278861" cy="959146"/>
                        </a:xfrm>
                        <a:prstGeom prst="rect">
                          <a:avLst/>
                        </a:prstGeom>
                        <a:ln w="3175">
                          <a:solidFill>
                            <a:prstClr val="ltGray"/>
                          </a:solidFill>
                        </a:ln>
                      </p166:spPr>
                    </psuz:zmPr>
                  </psuz:summaryZmObj>
                  <psuz:summaryZmObj sectionId="{01A0A55E-AC30-4CE1-9728-6B91DC43C340}">
                    <psuz:zmPr id="{E9176AEE-0C96-4C8E-B7BB-855E6832F660}" transitionDur="1000">
                      <p166:blipFill xmlns:p166="http://schemas.microsoft.com/office/powerpoint/2016/6/main">
                        <a:blip r:embed="rId7"/>
                        <a:stretch>
                          <a:fillRect/>
                        </a:stretch>
                      </p166:blipFill>
                      <p166:spPr xmlns:p166="http://schemas.microsoft.com/office/powerpoint/2016/6/main">
                        <a:xfrm>
                          <a:off x="6042621" y="138545"/>
                          <a:ext cx="1278861" cy="959146"/>
                        </a:xfrm>
                        <a:prstGeom prst="rect">
                          <a:avLst/>
                        </a:prstGeom>
                        <a:ln w="3175">
                          <a:solidFill>
                            <a:prstClr val="ltGray"/>
                          </a:solidFill>
                        </a:ln>
                      </p166:spPr>
                    </psuz:zmPr>
                  </psuz:summaryZmObj>
                  <psuz:summaryZmObj sectionId="{D6C45DD4-B671-4EBA-9C29-D43279D02CB4}">
                    <psuz:zmPr id="{D9A5A130-EFEF-49B8-A3B5-988DADEA6478}" transitionDur="1000">
                      <p166:blipFill xmlns:p166="http://schemas.microsoft.com/office/powerpoint/2016/6/main">
                        <a:blip r:embed="rId8"/>
                        <a:stretch>
                          <a:fillRect/>
                        </a:stretch>
                      </p166:blipFill>
                      <p166:spPr xmlns:p166="http://schemas.microsoft.com/office/powerpoint/2016/6/main">
                        <a:xfrm>
                          <a:off x="671405" y="1161634"/>
                          <a:ext cx="1278861" cy="959146"/>
                        </a:xfrm>
                        <a:prstGeom prst="rect">
                          <a:avLst/>
                        </a:prstGeom>
                        <a:ln w="3175">
                          <a:solidFill>
                            <a:prstClr val="ltGray"/>
                          </a:solidFill>
                        </a:ln>
                      </p166:spPr>
                    </psuz:zmPr>
                  </psuz:summaryZmObj>
                  <psuz:summaryZmObj sectionId="{C8E57E16-58E2-45D9-8BB9-14CBAD3826FF}">
                    <psuz:zmPr id="{4A91B124-8F88-4445-9570-2993EB23F837}" transitionDur="1000">
                      <p166:blipFill xmlns:p166="http://schemas.microsoft.com/office/powerpoint/2016/6/main">
                        <a:blip r:embed="rId9"/>
                        <a:stretch>
                          <a:fillRect/>
                        </a:stretch>
                      </p166:blipFill>
                      <p166:spPr xmlns:p166="http://schemas.microsoft.com/office/powerpoint/2016/6/main">
                        <a:xfrm>
                          <a:off x="2014209" y="1161634"/>
                          <a:ext cx="1278861" cy="959146"/>
                        </a:xfrm>
                        <a:prstGeom prst="rect">
                          <a:avLst/>
                        </a:prstGeom>
                        <a:ln w="3175">
                          <a:solidFill>
                            <a:prstClr val="ltGray"/>
                          </a:solidFill>
                        </a:ln>
                      </p166:spPr>
                    </psuz:zmPr>
                  </psuz:summaryZmObj>
                  <psuz:summaryZmObj sectionId="{7D7DCE2D-6EC9-406D-9C6F-4B3C16A40121}">
                    <psuz:zmPr id="{26249E4A-BACE-4842-B7B8-0F23CEA3CC56}" transitionDur="1000">
                      <p166:blipFill xmlns:p166="http://schemas.microsoft.com/office/powerpoint/2016/6/main">
                        <a:blip r:embed="rId10"/>
                        <a:stretch>
                          <a:fillRect/>
                        </a:stretch>
                      </p166:blipFill>
                      <p166:spPr xmlns:p166="http://schemas.microsoft.com/office/powerpoint/2016/6/main">
                        <a:xfrm>
                          <a:off x="3357013" y="1161634"/>
                          <a:ext cx="1278861" cy="959146"/>
                        </a:xfrm>
                        <a:prstGeom prst="rect">
                          <a:avLst/>
                        </a:prstGeom>
                        <a:ln w="3175">
                          <a:solidFill>
                            <a:prstClr val="ltGray"/>
                          </a:solidFill>
                        </a:ln>
                      </p166:spPr>
                    </psuz:zmPr>
                  </psuz:summaryZmObj>
                  <psuz:summaryZmObj sectionId="{2B36A63A-8001-4B0E-A1C5-9D5D47576B16}">
                    <psuz:zmPr id="{7CC05DDE-9719-4BA8-BED9-D0F9070FDAE5}" transitionDur="1000">
                      <p166:blipFill xmlns:p166="http://schemas.microsoft.com/office/powerpoint/2016/6/main">
                        <a:blip r:embed="rId11"/>
                        <a:stretch>
                          <a:fillRect/>
                        </a:stretch>
                      </p166:blipFill>
                      <p166:spPr xmlns:p166="http://schemas.microsoft.com/office/powerpoint/2016/6/main">
                        <a:xfrm>
                          <a:off x="4699817" y="1161634"/>
                          <a:ext cx="1278861" cy="959146"/>
                        </a:xfrm>
                        <a:prstGeom prst="rect">
                          <a:avLst/>
                        </a:prstGeom>
                        <a:ln w="3175">
                          <a:solidFill>
                            <a:prstClr val="ltGray"/>
                          </a:solidFill>
                        </a:ln>
                      </p166:spPr>
                    </psuz:zmPr>
                  </psuz:summaryZmObj>
                  <psuz:summaryZmObj sectionId="{58F12FDE-D556-42EF-8AC3-F7F555F694EC}">
                    <psuz:zmPr id="{2737CF0F-7E28-4F2B-BF25-083F50916074}" transitionDur="1000">
                      <p166:blipFill xmlns:p166="http://schemas.microsoft.com/office/powerpoint/2016/6/main">
                        <a:blip r:embed="rId12"/>
                        <a:stretch>
                          <a:fillRect/>
                        </a:stretch>
                      </p166:blipFill>
                      <p166:spPr xmlns:p166="http://schemas.microsoft.com/office/powerpoint/2016/6/main">
                        <a:xfrm>
                          <a:off x="6042621" y="1161634"/>
                          <a:ext cx="1278861" cy="959146"/>
                        </a:xfrm>
                        <a:prstGeom prst="rect">
                          <a:avLst/>
                        </a:prstGeom>
                        <a:ln w="3175">
                          <a:solidFill>
                            <a:prstClr val="ltGray"/>
                          </a:solidFill>
                        </a:ln>
                      </p166:spPr>
                    </psuz:zmPr>
                  </psuz:summaryZmObj>
                  <psuz:summaryZmObj sectionId="{A9BD5DDD-8564-4000-A824-269A0A0AC22D}">
                    <psuz:zmPr id="{42A19E90-0172-47B6-A3B9-0D9036D7FC77}" transitionDur="1000">
                      <p166:blipFill xmlns:p166="http://schemas.microsoft.com/office/powerpoint/2016/6/main">
                        <a:blip r:embed="rId13"/>
                        <a:stretch>
                          <a:fillRect/>
                        </a:stretch>
                      </p166:blipFill>
                      <p166:spPr xmlns:p166="http://schemas.microsoft.com/office/powerpoint/2016/6/main">
                        <a:xfrm>
                          <a:off x="671405" y="2184723"/>
                          <a:ext cx="1278861" cy="959146"/>
                        </a:xfrm>
                        <a:prstGeom prst="rect">
                          <a:avLst/>
                        </a:prstGeom>
                        <a:ln w="3175">
                          <a:solidFill>
                            <a:prstClr val="ltGray"/>
                          </a:solidFill>
                        </a:ln>
                      </p166:spPr>
                    </psuz:zmPr>
                  </psuz:summaryZmObj>
                  <psuz:summaryZmObj sectionId="{20941169-1845-41FC-9D92-4A2D87420A14}">
                    <psuz:zmPr id="{CEBAB7FC-3943-4DF8-AAA9-7D29928BBD58}" transitionDur="1000">
                      <p166:blipFill xmlns:p166="http://schemas.microsoft.com/office/powerpoint/2016/6/main">
                        <a:blip r:embed="rId14"/>
                        <a:stretch>
                          <a:fillRect/>
                        </a:stretch>
                      </p166:blipFill>
                      <p166:spPr xmlns:p166="http://schemas.microsoft.com/office/powerpoint/2016/6/main">
                        <a:xfrm>
                          <a:off x="2014209" y="2184723"/>
                          <a:ext cx="1278861" cy="959146"/>
                        </a:xfrm>
                        <a:prstGeom prst="rect">
                          <a:avLst/>
                        </a:prstGeom>
                        <a:ln w="3175">
                          <a:solidFill>
                            <a:prstClr val="ltGray"/>
                          </a:solidFill>
                        </a:ln>
                      </p166:spPr>
                    </psuz:zmPr>
                  </psuz:summaryZmObj>
                  <psuz:summaryZmObj sectionId="{36274EC8-C7F8-428F-8013-3FB42E28D0B7}">
                    <psuz:zmPr id="{343A1210-326F-4BE8-B982-78BA33EE4293}" transitionDur="1000">
                      <p166:blipFill xmlns:p166="http://schemas.microsoft.com/office/powerpoint/2016/6/main">
                        <a:blip r:embed="rId15"/>
                        <a:stretch>
                          <a:fillRect/>
                        </a:stretch>
                      </p166:blipFill>
                      <p166:spPr xmlns:p166="http://schemas.microsoft.com/office/powerpoint/2016/6/main">
                        <a:xfrm>
                          <a:off x="3357013" y="2184723"/>
                          <a:ext cx="1278861" cy="959146"/>
                        </a:xfrm>
                        <a:prstGeom prst="rect">
                          <a:avLst/>
                        </a:prstGeom>
                        <a:ln w="3175">
                          <a:solidFill>
                            <a:prstClr val="ltGray"/>
                          </a:solidFill>
                        </a:ln>
                      </p166:spPr>
                    </psuz:zmPr>
                  </psuz:summaryZmObj>
                  <psuz:summaryZmObj sectionId="{587ACA08-3417-46CA-84CD-55E1AA27674F}">
                    <psuz:zmPr id="{767FE17E-9B52-4E19-BFB6-CA3483B61783}" transitionDur="1000">
                      <p166:blipFill xmlns:p166="http://schemas.microsoft.com/office/powerpoint/2016/6/main">
                        <a:blip r:embed="rId16"/>
                        <a:stretch>
                          <a:fillRect/>
                        </a:stretch>
                      </p166:blipFill>
                      <p166:spPr xmlns:p166="http://schemas.microsoft.com/office/powerpoint/2016/6/main">
                        <a:xfrm>
                          <a:off x="4699817" y="2184723"/>
                          <a:ext cx="1278861" cy="959146"/>
                        </a:xfrm>
                        <a:prstGeom prst="rect">
                          <a:avLst/>
                        </a:prstGeom>
                        <a:ln w="3175">
                          <a:solidFill>
                            <a:prstClr val="ltGray"/>
                          </a:solidFill>
                        </a:ln>
                      </p166:spPr>
                    </psuz:zmPr>
                  </psuz:summaryZmObj>
                  <psuz:summaryZmObj sectionId="{5F8925C1-6F0A-421B-BD09-CC17662FDA78}">
                    <psuz:zmPr id="{E69BF127-BCC8-4EE2-AE87-0CDFCD7A3F09}" transitionDur="1000">
                      <p166:blipFill xmlns:p166="http://schemas.microsoft.com/office/powerpoint/2016/6/main">
                        <a:blip r:embed="rId17"/>
                        <a:stretch>
                          <a:fillRect/>
                        </a:stretch>
                      </p166:blipFill>
                      <p166:spPr xmlns:p166="http://schemas.microsoft.com/office/powerpoint/2016/6/main">
                        <a:xfrm>
                          <a:off x="6042621" y="2184723"/>
                          <a:ext cx="1278861" cy="959146"/>
                        </a:xfrm>
                        <a:prstGeom prst="rect">
                          <a:avLst/>
                        </a:prstGeom>
                        <a:ln w="3175">
                          <a:solidFill>
                            <a:prstClr val="ltGray"/>
                          </a:solidFill>
                        </a:ln>
                      </p166:spPr>
                    </psuz:zmPr>
                  </psuz:summaryZmObj>
                  <psuz:summaryZmObj sectionId="{7023BF61-CCAF-48F6-B231-3BFEF50BC1FE}">
                    <psuz:zmPr id="{DD825434-923A-43E4-92E5-1972363D9A0A}" transitionDur="1000">
                      <p166:blipFill xmlns:p166="http://schemas.microsoft.com/office/powerpoint/2016/6/main">
                        <a:blip r:embed="rId18"/>
                        <a:stretch>
                          <a:fillRect/>
                        </a:stretch>
                      </p166:blipFill>
                      <p166:spPr xmlns:p166="http://schemas.microsoft.com/office/powerpoint/2016/6/main">
                        <a:xfrm>
                          <a:off x="671405" y="3207812"/>
                          <a:ext cx="1278861" cy="959146"/>
                        </a:xfrm>
                        <a:prstGeom prst="rect">
                          <a:avLst/>
                        </a:prstGeom>
                        <a:ln w="3175">
                          <a:solidFill>
                            <a:prstClr val="ltGray"/>
                          </a:solidFill>
                        </a:ln>
                      </p166:spPr>
                    </psuz:zmPr>
                  </psuz:summaryZmObj>
                  <psuz:summaryZmObj sectionId="{949E7E73-3F0C-458F-94CE-3DC2632BB6D7}">
                    <psuz:zmPr id="{6AFCF3D9-6C0E-40FB-8274-DBD6570FB327}" transitionDur="1000">
                      <p166:blipFill xmlns:p166="http://schemas.microsoft.com/office/powerpoint/2016/6/main">
                        <a:blip r:embed="rId19"/>
                        <a:stretch>
                          <a:fillRect/>
                        </a:stretch>
                      </p166:blipFill>
                      <p166:spPr xmlns:p166="http://schemas.microsoft.com/office/powerpoint/2016/6/main">
                        <a:xfrm>
                          <a:off x="2014209" y="3207812"/>
                          <a:ext cx="1278861" cy="959146"/>
                        </a:xfrm>
                        <a:prstGeom prst="rect">
                          <a:avLst/>
                        </a:prstGeom>
                        <a:ln w="3175">
                          <a:solidFill>
                            <a:prstClr val="ltGray"/>
                          </a:solidFill>
                        </a:ln>
                      </p166:spPr>
                    </psuz:zmPr>
                  </psuz:summaryZmObj>
                  <psuz:summaryZmObj sectionId="{EAA2ED20-E926-4E7C-ACDA-7534F0D7B696}">
                    <psuz:zmPr id="{2D43F02A-7896-4C7B-9196-6143308C3BEB}" transitionDur="1000">
                      <p166:blipFill xmlns:p166="http://schemas.microsoft.com/office/powerpoint/2016/6/main">
                        <a:blip r:embed="rId20"/>
                        <a:stretch>
                          <a:fillRect/>
                        </a:stretch>
                      </p166:blipFill>
                      <p166:spPr xmlns:p166="http://schemas.microsoft.com/office/powerpoint/2016/6/main">
                        <a:xfrm>
                          <a:off x="3357013" y="3207812"/>
                          <a:ext cx="1278861" cy="959146"/>
                        </a:xfrm>
                        <a:prstGeom prst="rect">
                          <a:avLst/>
                        </a:prstGeom>
                        <a:ln w="3175">
                          <a:solidFill>
                            <a:prstClr val="ltGray"/>
                          </a:solidFill>
                        </a:ln>
                      </p166:spPr>
                    </psuz:zmPr>
                  </psuz:summaryZmObj>
                  <psuz:summaryZmObj sectionId="{73C134E1-9213-409D-847A-BDE51716CA48}">
                    <psuz:zmPr id="{F20F9089-8CAA-42DE-9281-A1632245BD16}" transitionDur="1000">
                      <p166:blipFill xmlns:p166="http://schemas.microsoft.com/office/powerpoint/2016/6/main">
                        <a:blip r:embed="rId21"/>
                        <a:stretch>
                          <a:fillRect/>
                        </a:stretch>
                      </p166:blipFill>
                      <p166:spPr xmlns:p166="http://schemas.microsoft.com/office/powerpoint/2016/6/main">
                        <a:xfrm>
                          <a:off x="4699817" y="3207812"/>
                          <a:ext cx="1278861" cy="959146"/>
                        </a:xfrm>
                        <a:prstGeom prst="rect">
                          <a:avLst/>
                        </a:prstGeom>
                        <a:ln w="3175">
                          <a:solidFill>
                            <a:prstClr val="ltGray"/>
                          </a:solidFill>
                        </a:ln>
                      </p166:spPr>
                    </psuz:zmPr>
                  </psuz:summaryZmObj>
                  <psuz:summaryZmObj sectionId="{9B505052-75E6-4331-8FAC-E66777AEC7EB}">
                    <psuz:zmPr id="{8EC1379E-3FDF-4F8A-9DD9-C0800838CB3A}" transitionDur="1000">
                      <p166:blipFill xmlns:p166="http://schemas.microsoft.com/office/powerpoint/2016/6/main">
                        <a:blip r:embed="rId22"/>
                        <a:stretch>
                          <a:fillRect/>
                        </a:stretch>
                      </p166:blipFill>
                      <p166:spPr xmlns:p166="http://schemas.microsoft.com/office/powerpoint/2016/6/main">
                        <a:xfrm>
                          <a:off x="6042621" y="3207812"/>
                          <a:ext cx="1278861" cy="959146"/>
                        </a:xfrm>
                        <a:prstGeom prst="rect">
                          <a:avLst/>
                        </a:prstGeom>
                        <a:ln w="3175">
                          <a:solidFill>
                            <a:prstClr val="ltGray"/>
                          </a:solidFill>
                        </a:ln>
                      </p166:spPr>
                    </psuz:zmPr>
                  </psuz:summaryZmObj>
                  <psuz:summaryZmObj sectionId="{DC5CC35C-F5CA-4B58-B97B-26EC44708D3B}">
                    <psuz:zmPr id="{B59FA571-F094-4941-A382-01C90B447266}" transitionDur="1000">
                      <p166:blipFill xmlns:p166="http://schemas.microsoft.com/office/powerpoint/2016/6/main">
                        <a:blip r:embed="rId23"/>
                        <a:stretch>
                          <a:fillRect/>
                        </a:stretch>
                      </p166:blipFill>
                      <p166:spPr xmlns:p166="http://schemas.microsoft.com/office/powerpoint/2016/6/main">
                        <a:xfrm>
                          <a:off x="671405" y="4230901"/>
                          <a:ext cx="1278861" cy="959146"/>
                        </a:xfrm>
                        <a:prstGeom prst="rect">
                          <a:avLst/>
                        </a:prstGeom>
                        <a:ln w="3175">
                          <a:solidFill>
                            <a:prstClr val="ltGray"/>
                          </a:solidFill>
                        </a:ln>
                      </p166:spPr>
                    </psuz:zmPr>
                  </psuz:summaryZmObj>
                  <psuz:summaryZmObj sectionId="{BEF1AD5F-0008-433C-9B6F-B813F94E6E0F}">
                    <psuz:zmPr id="{5355B53B-13A0-4596-A323-1A55E01E81F9}" transitionDur="1000">
                      <p166:blipFill xmlns:p166="http://schemas.microsoft.com/office/powerpoint/2016/6/main">
                        <a:blip r:embed="rId24"/>
                        <a:stretch>
                          <a:fillRect/>
                        </a:stretch>
                      </p166:blipFill>
                      <p166:spPr xmlns:p166="http://schemas.microsoft.com/office/powerpoint/2016/6/main">
                        <a:xfrm>
                          <a:off x="2014209" y="4230901"/>
                          <a:ext cx="1278861" cy="959146"/>
                        </a:xfrm>
                        <a:prstGeom prst="rect">
                          <a:avLst/>
                        </a:prstGeom>
                        <a:ln w="3175">
                          <a:solidFill>
                            <a:prstClr val="ltGray"/>
                          </a:solidFill>
                        </a:ln>
                      </p166:spPr>
                    </psuz:zmPr>
                  </psuz:summaryZmObj>
                  <psuz:gridLayout/>
                </psuz:summaryZm>
              </a:graphicData>
            </a:graphic>
          </p:graphicFrame>
        </mc:Choice>
        <mc:Fallback>
          <p:grpSp>
            <p:nvGrpSpPr>
              <p:cNvPr id="5" name="Zoom de résumé 4">
                <a:extLst>
                  <a:ext uri="{FF2B5EF4-FFF2-40B4-BE49-F238E27FC236}">
                    <a16:creationId xmlns:a16="http://schemas.microsoft.com/office/drawing/2014/main" id="{C5316EC3-9F46-4F83-9EAD-A0034249B7EF}"/>
                  </a:ext>
                </a:extLst>
              </p:cNvPr>
              <p:cNvGrpSpPr>
                <a:grpSpLocks noGrp="1" noUngrp="1" noRot="1" noChangeAspect="1" noMove="1" noResize="1"/>
              </p:cNvGrpSpPr>
              <p:nvPr/>
            </p:nvGrpSpPr>
            <p:grpSpPr>
              <a:xfrm>
                <a:off x="251520" y="980728"/>
                <a:ext cx="7992888" cy="5328592"/>
                <a:chOff x="251520" y="980728"/>
                <a:chExt cx="7992888" cy="5328592"/>
              </a:xfrm>
            </p:grpSpPr>
            <p:pic>
              <p:nvPicPr>
                <p:cNvPr id="4" name="Image 4">
                  <a:hlinkClick r:id="rId25"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922925" y="1119273"/>
                  <a:ext cx="1278861" cy="959146"/>
                </a:xfrm>
                <a:prstGeom prst="rect">
                  <a:avLst/>
                </a:prstGeom>
                <a:ln w="3175">
                  <a:solidFill>
                    <a:prstClr val="ltGray"/>
                  </a:solidFill>
                </a:ln>
              </p:spPr>
            </p:pic>
            <p:pic>
              <p:nvPicPr>
                <p:cNvPr id="6" name="Image 6">
                  <a:hlinkClick r:id="rId26"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2265729" y="1119273"/>
                  <a:ext cx="1278861" cy="959146"/>
                </a:xfrm>
                <a:prstGeom prst="rect">
                  <a:avLst/>
                </a:prstGeom>
                <a:ln w="3175">
                  <a:solidFill>
                    <a:prstClr val="ltGray"/>
                  </a:solidFill>
                </a:ln>
              </p:spPr>
            </p:pic>
            <p:pic>
              <p:nvPicPr>
                <p:cNvPr id="7" name="Image 7">
                  <a:hlinkClick r:id="rId27"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3608533" y="1119273"/>
                  <a:ext cx="1278861" cy="959146"/>
                </a:xfrm>
                <a:prstGeom prst="rect">
                  <a:avLst/>
                </a:prstGeom>
                <a:ln w="3175">
                  <a:solidFill>
                    <a:prstClr val="ltGray"/>
                  </a:solidFill>
                </a:ln>
              </p:spPr>
            </p:pic>
            <p:pic>
              <p:nvPicPr>
                <p:cNvPr id="8" name="Image 8">
                  <a:hlinkClick r:id="rId28" action="ppaction://hlinksldjump"/>
                </p:cNvPr>
                <p:cNvPicPr>
                  <a:picLocks noSelect="1" noRot="1" noChangeAspect="1" noMove="1" noResize="1" noEditPoints="1" noAdjustHandles="1" noChangeArrowheads="1" noChangeShapeType="1"/>
                </p:cNvPicPr>
                <p:nvPr/>
              </p:nvPicPr>
              <p:blipFill>
                <a:blip r:embed="rId6"/>
                <a:stretch>
                  <a:fillRect/>
                </a:stretch>
              </p:blipFill>
              <p:spPr>
                <a:xfrm>
                  <a:off x="4951337" y="1119273"/>
                  <a:ext cx="1278861" cy="959146"/>
                </a:xfrm>
                <a:prstGeom prst="rect">
                  <a:avLst/>
                </a:prstGeom>
                <a:ln w="3175">
                  <a:solidFill>
                    <a:prstClr val="ltGray"/>
                  </a:solidFill>
                </a:ln>
              </p:spPr>
            </p:pic>
            <p:pic>
              <p:nvPicPr>
                <p:cNvPr id="9" name="Image 9">
                  <a:hlinkClick r:id="rId29" action="ppaction://hlinksldjump"/>
                </p:cNvPr>
                <p:cNvPicPr>
                  <a:picLocks noSelect="1" noRot="1" noChangeAspect="1" noMove="1" noResize="1" noEditPoints="1" noAdjustHandles="1" noChangeArrowheads="1" noChangeShapeType="1"/>
                </p:cNvPicPr>
                <p:nvPr/>
              </p:nvPicPr>
              <p:blipFill>
                <a:blip r:embed="rId7"/>
                <a:stretch>
                  <a:fillRect/>
                </a:stretch>
              </p:blipFill>
              <p:spPr>
                <a:xfrm>
                  <a:off x="6294141" y="1119273"/>
                  <a:ext cx="1278861" cy="959146"/>
                </a:xfrm>
                <a:prstGeom prst="rect">
                  <a:avLst/>
                </a:prstGeom>
                <a:ln w="3175">
                  <a:solidFill>
                    <a:prstClr val="ltGray"/>
                  </a:solidFill>
                </a:ln>
              </p:spPr>
            </p:pic>
            <p:pic>
              <p:nvPicPr>
                <p:cNvPr id="10" name="Image 10">
                  <a:hlinkClick r:id="rId30" action="ppaction://hlinksldjump"/>
                </p:cNvPr>
                <p:cNvPicPr>
                  <a:picLocks noSelect="1" noRot="1" noChangeAspect="1" noMove="1" noResize="1" noEditPoints="1" noAdjustHandles="1" noChangeArrowheads="1" noChangeShapeType="1"/>
                </p:cNvPicPr>
                <p:nvPr/>
              </p:nvPicPr>
              <p:blipFill>
                <a:blip r:embed="rId8"/>
                <a:stretch>
                  <a:fillRect/>
                </a:stretch>
              </p:blipFill>
              <p:spPr>
                <a:xfrm>
                  <a:off x="922925" y="2142362"/>
                  <a:ext cx="1278861" cy="959146"/>
                </a:xfrm>
                <a:prstGeom prst="rect">
                  <a:avLst/>
                </a:prstGeom>
                <a:ln w="3175">
                  <a:solidFill>
                    <a:prstClr val="ltGray"/>
                  </a:solidFill>
                </a:ln>
              </p:spPr>
            </p:pic>
            <p:pic>
              <p:nvPicPr>
                <p:cNvPr id="11" name="Image 11">
                  <a:hlinkClick r:id="rId31" action="ppaction://hlinksldjump"/>
                </p:cNvPr>
                <p:cNvPicPr>
                  <a:picLocks noSelect="1" noRot="1" noChangeAspect="1" noMove="1" noResize="1" noEditPoints="1" noAdjustHandles="1" noChangeArrowheads="1" noChangeShapeType="1"/>
                </p:cNvPicPr>
                <p:nvPr/>
              </p:nvPicPr>
              <p:blipFill>
                <a:blip r:embed="rId9"/>
                <a:stretch>
                  <a:fillRect/>
                </a:stretch>
              </p:blipFill>
              <p:spPr>
                <a:xfrm>
                  <a:off x="2265729" y="2142362"/>
                  <a:ext cx="1278861" cy="959146"/>
                </a:xfrm>
                <a:prstGeom prst="rect">
                  <a:avLst/>
                </a:prstGeom>
                <a:ln w="3175">
                  <a:solidFill>
                    <a:prstClr val="ltGray"/>
                  </a:solidFill>
                </a:ln>
              </p:spPr>
            </p:pic>
            <p:pic>
              <p:nvPicPr>
                <p:cNvPr id="12" name="Image 12">
                  <a:hlinkClick r:id="rId32" action="ppaction://hlinksldjump"/>
                </p:cNvPr>
                <p:cNvPicPr>
                  <a:picLocks noSelect="1" noRot="1" noChangeAspect="1" noMove="1" noResize="1" noEditPoints="1" noAdjustHandles="1" noChangeArrowheads="1" noChangeShapeType="1"/>
                </p:cNvPicPr>
                <p:nvPr/>
              </p:nvPicPr>
              <p:blipFill>
                <a:blip r:embed="rId10"/>
                <a:stretch>
                  <a:fillRect/>
                </a:stretch>
              </p:blipFill>
              <p:spPr>
                <a:xfrm>
                  <a:off x="3608533" y="2142362"/>
                  <a:ext cx="1278861" cy="959146"/>
                </a:xfrm>
                <a:prstGeom prst="rect">
                  <a:avLst/>
                </a:prstGeom>
                <a:ln w="3175">
                  <a:solidFill>
                    <a:prstClr val="ltGray"/>
                  </a:solidFill>
                </a:ln>
              </p:spPr>
            </p:pic>
            <p:pic>
              <p:nvPicPr>
                <p:cNvPr id="13" name="Image 13">
                  <a:hlinkClick r:id="rId33" action="ppaction://hlinksldjump"/>
                </p:cNvPr>
                <p:cNvPicPr>
                  <a:picLocks noSelect="1" noRot="1" noChangeAspect="1" noMove="1" noResize="1" noEditPoints="1" noAdjustHandles="1" noChangeArrowheads="1" noChangeShapeType="1"/>
                </p:cNvPicPr>
                <p:nvPr/>
              </p:nvPicPr>
              <p:blipFill>
                <a:blip r:embed="rId11"/>
                <a:stretch>
                  <a:fillRect/>
                </a:stretch>
              </p:blipFill>
              <p:spPr>
                <a:xfrm>
                  <a:off x="4951337" y="2142362"/>
                  <a:ext cx="1278861" cy="959146"/>
                </a:xfrm>
                <a:prstGeom prst="rect">
                  <a:avLst/>
                </a:prstGeom>
                <a:ln w="3175">
                  <a:solidFill>
                    <a:prstClr val="ltGray"/>
                  </a:solidFill>
                </a:ln>
              </p:spPr>
            </p:pic>
            <p:pic>
              <p:nvPicPr>
                <p:cNvPr id="14" name="Image 14">
                  <a:hlinkClick r:id="rId34" action="ppaction://hlinksldjump"/>
                </p:cNvPr>
                <p:cNvPicPr>
                  <a:picLocks noSelect="1" noRot="1" noChangeAspect="1" noMove="1" noResize="1" noEditPoints="1" noAdjustHandles="1" noChangeArrowheads="1" noChangeShapeType="1"/>
                </p:cNvPicPr>
                <p:nvPr/>
              </p:nvPicPr>
              <p:blipFill>
                <a:blip r:embed="rId12"/>
                <a:stretch>
                  <a:fillRect/>
                </a:stretch>
              </p:blipFill>
              <p:spPr>
                <a:xfrm>
                  <a:off x="6294141" y="2142362"/>
                  <a:ext cx="1278861" cy="959146"/>
                </a:xfrm>
                <a:prstGeom prst="rect">
                  <a:avLst/>
                </a:prstGeom>
                <a:ln w="3175">
                  <a:solidFill>
                    <a:prstClr val="ltGray"/>
                  </a:solidFill>
                </a:ln>
              </p:spPr>
            </p:pic>
            <p:pic>
              <p:nvPicPr>
                <p:cNvPr id="15" name="Image 15">
                  <a:hlinkClick r:id="rId35" action="ppaction://hlinksldjump"/>
                </p:cNvPr>
                <p:cNvPicPr>
                  <a:picLocks noSelect="1" noRot="1" noChangeAspect="1" noMove="1" noResize="1" noEditPoints="1" noAdjustHandles="1" noChangeArrowheads="1" noChangeShapeType="1"/>
                </p:cNvPicPr>
                <p:nvPr/>
              </p:nvPicPr>
              <p:blipFill>
                <a:blip r:embed="rId13"/>
                <a:stretch>
                  <a:fillRect/>
                </a:stretch>
              </p:blipFill>
              <p:spPr>
                <a:xfrm>
                  <a:off x="922925" y="3165451"/>
                  <a:ext cx="1278861" cy="959146"/>
                </a:xfrm>
                <a:prstGeom prst="rect">
                  <a:avLst/>
                </a:prstGeom>
                <a:ln w="3175">
                  <a:solidFill>
                    <a:prstClr val="ltGray"/>
                  </a:solidFill>
                </a:ln>
              </p:spPr>
            </p:pic>
            <p:pic>
              <p:nvPicPr>
                <p:cNvPr id="16" name="Image 16">
                  <a:hlinkClick r:id="rId36" action="ppaction://hlinksldjump"/>
                </p:cNvPr>
                <p:cNvPicPr>
                  <a:picLocks noSelect="1" noRot="1" noChangeAspect="1" noMove="1" noResize="1" noEditPoints="1" noAdjustHandles="1" noChangeArrowheads="1" noChangeShapeType="1"/>
                </p:cNvPicPr>
                <p:nvPr/>
              </p:nvPicPr>
              <p:blipFill>
                <a:blip r:embed="rId14"/>
                <a:stretch>
                  <a:fillRect/>
                </a:stretch>
              </p:blipFill>
              <p:spPr>
                <a:xfrm>
                  <a:off x="2265729" y="3165451"/>
                  <a:ext cx="1278861" cy="959146"/>
                </a:xfrm>
                <a:prstGeom prst="rect">
                  <a:avLst/>
                </a:prstGeom>
                <a:ln w="3175">
                  <a:solidFill>
                    <a:prstClr val="ltGray"/>
                  </a:solidFill>
                </a:ln>
              </p:spPr>
            </p:pic>
            <p:pic>
              <p:nvPicPr>
                <p:cNvPr id="17" name="Image 17">
                  <a:hlinkClick r:id="rId37" action="ppaction://hlinksldjump"/>
                </p:cNvPr>
                <p:cNvPicPr>
                  <a:picLocks noSelect="1" noRot="1" noChangeAspect="1" noMove="1" noResize="1" noEditPoints="1" noAdjustHandles="1" noChangeArrowheads="1" noChangeShapeType="1"/>
                </p:cNvPicPr>
                <p:nvPr/>
              </p:nvPicPr>
              <p:blipFill>
                <a:blip r:embed="rId15"/>
                <a:stretch>
                  <a:fillRect/>
                </a:stretch>
              </p:blipFill>
              <p:spPr>
                <a:xfrm>
                  <a:off x="3608533" y="3165451"/>
                  <a:ext cx="1278861" cy="959146"/>
                </a:xfrm>
                <a:prstGeom prst="rect">
                  <a:avLst/>
                </a:prstGeom>
                <a:ln w="3175">
                  <a:solidFill>
                    <a:prstClr val="ltGray"/>
                  </a:solidFill>
                </a:ln>
              </p:spPr>
            </p:pic>
            <p:pic>
              <p:nvPicPr>
                <p:cNvPr id="18" name="Image 18">
                  <a:hlinkClick r:id="rId38" action="ppaction://hlinksldjump"/>
                </p:cNvPr>
                <p:cNvPicPr>
                  <a:picLocks noSelect="1" noRot="1" noChangeAspect="1" noMove="1" noResize="1" noEditPoints="1" noAdjustHandles="1" noChangeArrowheads="1" noChangeShapeType="1"/>
                </p:cNvPicPr>
                <p:nvPr/>
              </p:nvPicPr>
              <p:blipFill>
                <a:blip r:embed="rId16"/>
                <a:stretch>
                  <a:fillRect/>
                </a:stretch>
              </p:blipFill>
              <p:spPr>
                <a:xfrm>
                  <a:off x="4951337" y="3165451"/>
                  <a:ext cx="1278861" cy="959146"/>
                </a:xfrm>
                <a:prstGeom prst="rect">
                  <a:avLst/>
                </a:prstGeom>
                <a:ln w="3175">
                  <a:solidFill>
                    <a:prstClr val="ltGray"/>
                  </a:solidFill>
                </a:ln>
              </p:spPr>
            </p:pic>
            <p:pic>
              <p:nvPicPr>
                <p:cNvPr id="19" name="Image 19">
                  <a:hlinkClick r:id="rId39" action="ppaction://hlinksldjump"/>
                </p:cNvPr>
                <p:cNvPicPr>
                  <a:picLocks noSelect="1" noRot="1" noChangeAspect="1" noMove="1" noResize="1" noEditPoints="1" noAdjustHandles="1" noChangeArrowheads="1" noChangeShapeType="1"/>
                </p:cNvPicPr>
                <p:nvPr/>
              </p:nvPicPr>
              <p:blipFill>
                <a:blip r:embed="rId17"/>
                <a:stretch>
                  <a:fillRect/>
                </a:stretch>
              </p:blipFill>
              <p:spPr>
                <a:xfrm>
                  <a:off x="6294141" y="3165451"/>
                  <a:ext cx="1278861" cy="959146"/>
                </a:xfrm>
                <a:prstGeom prst="rect">
                  <a:avLst/>
                </a:prstGeom>
                <a:ln w="3175">
                  <a:solidFill>
                    <a:prstClr val="ltGray"/>
                  </a:solidFill>
                </a:ln>
              </p:spPr>
            </p:pic>
            <p:pic>
              <p:nvPicPr>
                <p:cNvPr id="20" name="Image 20">
                  <a:hlinkClick r:id="rId40" action="ppaction://hlinksldjump"/>
                </p:cNvPr>
                <p:cNvPicPr>
                  <a:picLocks noSelect="1" noRot="1" noChangeAspect="1" noMove="1" noResize="1" noEditPoints="1" noAdjustHandles="1" noChangeArrowheads="1" noChangeShapeType="1"/>
                </p:cNvPicPr>
                <p:nvPr/>
              </p:nvPicPr>
              <p:blipFill>
                <a:blip r:embed="rId18"/>
                <a:stretch>
                  <a:fillRect/>
                </a:stretch>
              </p:blipFill>
              <p:spPr>
                <a:xfrm>
                  <a:off x="922925" y="4188540"/>
                  <a:ext cx="1278861" cy="959146"/>
                </a:xfrm>
                <a:prstGeom prst="rect">
                  <a:avLst/>
                </a:prstGeom>
                <a:ln w="3175">
                  <a:solidFill>
                    <a:prstClr val="ltGray"/>
                  </a:solidFill>
                </a:ln>
              </p:spPr>
            </p:pic>
            <p:pic>
              <p:nvPicPr>
                <p:cNvPr id="21" name="Image 21">
                  <a:hlinkClick r:id="rId41" action="ppaction://hlinksldjump"/>
                </p:cNvPr>
                <p:cNvPicPr>
                  <a:picLocks noSelect="1" noRot="1" noChangeAspect="1" noMove="1" noResize="1" noEditPoints="1" noAdjustHandles="1" noChangeArrowheads="1" noChangeShapeType="1"/>
                </p:cNvPicPr>
                <p:nvPr/>
              </p:nvPicPr>
              <p:blipFill>
                <a:blip r:embed="rId19"/>
                <a:stretch>
                  <a:fillRect/>
                </a:stretch>
              </p:blipFill>
              <p:spPr>
                <a:xfrm>
                  <a:off x="2265729" y="4188540"/>
                  <a:ext cx="1278861" cy="959146"/>
                </a:xfrm>
                <a:prstGeom prst="rect">
                  <a:avLst/>
                </a:prstGeom>
                <a:ln w="3175">
                  <a:solidFill>
                    <a:prstClr val="ltGray"/>
                  </a:solidFill>
                </a:ln>
              </p:spPr>
            </p:pic>
            <p:pic>
              <p:nvPicPr>
                <p:cNvPr id="22" name="Image 22">
                  <a:hlinkClick r:id="rId42" action="ppaction://hlinksldjump"/>
                </p:cNvPr>
                <p:cNvPicPr>
                  <a:picLocks noSelect="1" noRot="1" noChangeAspect="1" noMove="1" noResize="1" noEditPoints="1" noAdjustHandles="1" noChangeArrowheads="1" noChangeShapeType="1"/>
                </p:cNvPicPr>
                <p:nvPr/>
              </p:nvPicPr>
              <p:blipFill>
                <a:blip r:embed="rId20"/>
                <a:stretch>
                  <a:fillRect/>
                </a:stretch>
              </p:blipFill>
              <p:spPr>
                <a:xfrm>
                  <a:off x="3608533" y="4188540"/>
                  <a:ext cx="1278861" cy="959146"/>
                </a:xfrm>
                <a:prstGeom prst="rect">
                  <a:avLst/>
                </a:prstGeom>
                <a:ln w="3175">
                  <a:solidFill>
                    <a:prstClr val="ltGray"/>
                  </a:solidFill>
                </a:ln>
              </p:spPr>
            </p:pic>
            <p:pic>
              <p:nvPicPr>
                <p:cNvPr id="23" name="Image 23">
                  <a:hlinkClick r:id="rId43" action="ppaction://hlinksldjump"/>
                </p:cNvPr>
                <p:cNvPicPr>
                  <a:picLocks noSelect="1" noRot="1" noChangeAspect="1" noMove="1" noResize="1" noEditPoints="1" noAdjustHandles="1" noChangeArrowheads="1" noChangeShapeType="1"/>
                </p:cNvPicPr>
                <p:nvPr/>
              </p:nvPicPr>
              <p:blipFill>
                <a:blip r:embed="rId21"/>
                <a:stretch>
                  <a:fillRect/>
                </a:stretch>
              </p:blipFill>
              <p:spPr>
                <a:xfrm>
                  <a:off x="4951337" y="4188540"/>
                  <a:ext cx="1278861" cy="959146"/>
                </a:xfrm>
                <a:prstGeom prst="rect">
                  <a:avLst/>
                </a:prstGeom>
                <a:ln w="3175">
                  <a:solidFill>
                    <a:prstClr val="ltGray"/>
                  </a:solidFill>
                </a:ln>
              </p:spPr>
            </p:pic>
            <p:pic>
              <p:nvPicPr>
                <p:cNvPr id="25" name="Image 25">
                  <a:hlinkClick r:id="rId44" action="ppaction://hlinksldjump"/>
                </p:cNvPr>
                <p:cNvPicPr>
                  <a:picLocks noSelect="1" noRot="1" noChangeAspect="1" noMove="1" noResize="1" noEditPoints="1" noAdjustHandles="1" noChangeArrowheads="1" noChangeShapeType="1"/>
                </p:cNvPicPr>
                <p:nvPr/>
              </p:nvPicPr>
              <p:blipFill>
                <a:blip r:embed="rId22"/>
                <a:stretch>
                  <a:fillRect/>
                </a:stretch>
              </p:blipFill>
              <p:spPr>
                <a:xfrm>
                  <a:off x="6294141" y="4188540"/>
                  <a:ext cx="1278861" cy="959146"/>
                </a:xfrm>
                <a:prstGeom prst="rect">
                  <a:avLst/>
                </a:prstGeom>
                <a:ln w="3175">
                  <a:solidFill>
                    <a:prstClr val="ltGray"/>
                  </a:solidFill>
                </a:ln>
              </p:spPr>
            </p:pic>
            <p:pic>
              <p:nvPicPr>
                <p:cNvPr id="26" name="Image 26">
                  <a:hlinkClick r:id="rId45" action="ppaction://hlinksldjump"/>
                </p:cNvPr>
                <p:cNvPicPr>
                  <a:picLocks noSelect="1" noRot="1" noChangeAspect="1" noMove="1" noResize="1" noEditPoints="1" noAdjustHandles="1" noChangeArrowheads="1" noChangeShapeType="1"/>
                </p:cNvPicPr>
                <p:nvPr/>
              </p:nvPicPr>
              <p:blipFill>
                <a:blip r:embed="rId23"/>
                <a:stretch>
                  <a:fillRect/>
                </a:stretch>
              </p:blipFill>
              <p:spPr>
                <a:xfrm>
                  <a:off x="922925" y="5211629"/>
                  <a:ext cx="1278861" cy="959146"/>
                </a:xfrm>
                <a:prstGeom prst="rect">
                  <a:avLst/>
                </a:prstGeom>
                <a:ln w="3175">
                  <a:solidFill>
                    <a:prstClr val="ltGray"/>
                  </a:solidFill>
                </a:ln>
              </p:spPr>
            </p:pic>
            <p:pic>
              <p:nvPicPr>
                <p:cNvPr id="24" name="Image 24">
                  <a:hlinkClick r:id="rId46" action="ppaction://hlinksldjump"/>
                </p:cNvPr>
                <p:cNvPicPr>
                  <a:picLocks noSelect="1" noRot="1" noChangeAspect="1" noMove="1" noResize="1" noEditPoints="1" noAdjustHandles="1" noChangeArrowheads="1" noChangeShapeType="1"/>
                </p:cNvPicPr>
                <p:nvPr/>
              </p:nvPicPr>
              <p:blipFill>
                <a:blip r:embed="rId24"/>
                <a:stretch>
                  <a:fillRect/>
                </a:stretch>
              </p:blipFill>
              <p:spPr>
                <a:xfrm>
                  <a:off x="2265729" y="5211629"/>
                  <a:ext cx="1278861" cy="959146"/>
                </a:xfrm>
                <a:prstGeom prst="rect">
                  <a:avLst/>
                </a:prstGeom>
                <a:ln w="3175">
                  <a:solidFill>
                    <a:prstClr val="ltGray"/>
                  </a:solidFill>
                </a:ln>
              </p:spPr>
            </p:pic>
          </p:grpSp>
        </mc:Fallback>
      </mc:AlternateContent>
    </p:spTree>
    <p:extLst>
      <p:ext uri="{BB962C8B-B14F-4D97-AF65-F5344CB8AC3E}">
        <p14:creationId xmlns:p14="http://schemas.microsoft.com/office/powerpoint/2010/main" val="1758347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41515-557B-DEA5-2FC7-FC3C3EDFF969}"/>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BD480C6-FB36-2C68-681A-D63714A51E0A}"/>
              </a:ext>
            </a:extLst>
          </p:cNvPr>
          <p:cNvSpPr>
            <a:spLocks noGrp="1"/>
          </p:cNvSpPr>
          <p:nvPr>
            <p:ph type="body" sz="quarter" idx="11"/>
          </p:nvPr>
        </p:nvSpPr>
        <p:spPr/>
        <p:txBody>
          <a:bodyPr/>
          <a:lstStyle/>
          <a:p>
            <a:r>
              <a:rPr lang="fr-FR" dirty="0"/>
              <a:t>Projet fil rouge</a:t>
            </a:r>
          </a:p>
        </p:txBody>
      </p:sp>
      <p:sp>
        <p:nvSpPr>
          <p:cNvPr id="3" name="Espace réservé du texte 2">
            <a:extLst>
              <a:ext uri="{FF2B5EF4-FFF2-40B4-BE49-F238E27FC236}">
                <a16:creationId xmlns:a16="http://schemas.microsoft.com/office/drawing/2014/main" id="{A18950CF-D898-FDBC-1D51-7AEC01B06894}"/>
              </a:ext>
            </a:extLst>
          </p:cNvPr>
          <p:cNvSpPr>
            <a:spLocks noGrp="1"/>
          </p:cNvSpPr>
          <p:nvPr>
            <p:ph type="body" sz="quarter" idx="12"/>
          </p:nvPr>
        </p:nvSpPr>
        <p:spPr/>
        <p:txBody>
          <a:bodyPr/>
          <a:lstStyle/>
          <a:p>
            <a:r>
              <a:rPr lang="fr-FR" dirty="0" err="1"/>
              <a:t>AzureQuizLab</a:t>
            </a:r>
            <a:endParaRPr lang="fr-FR" dirty="0"/>
          </a:p>
        </p:txBody>
      </p:sp>
    </p:spTree>
    <p:extLst>
      <p:ext uri="{BB962C8B-B14F-4D97-AF65-F5344CB8AC3E}">
        <p14:creationId xmlns:p14="http://schemas.microsoft.com/office/powerpoint/2010/main" val="2473318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D7901-8C9D-EA9A-E55F-55CE8C1ED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F94F8-7AAA-46E3-6ACA-C0C28C97D52B}"/>
              </a:ext>
            </a:extLst>
          </p:cNvPr>
          <p:cNvSpPr>
            <a:spLocks noGrp="1"/>
          </p:cNvSpPr>
          <p:nvPr>
            <p:ph type="title"/>
          </p:nvPr>
        </p:nvSpPr>
        <p:spPr/>
        <p:txBody>
          <a:bodyPr/>
          <a:lstStyle/>
          <a:p>
            <a:r>
              <a:rPr lang="en-US" dirty="0" err="1"/>
              <a:t>AzureQuizLab</a:t>
            </a:r>
            <a:r>
              <a:rPr lang="en-US" dirty="0"/>
              <a:t> </a:t>
            </a:r>
          </a:p>
        </p:txBody>
      </p:sp>
      <p:sp>
        <p:nvSpPr>
          <p:cNvPr id="3" name="Content Placeholder 2">
            <a:extLst>
              <a:ext uri="{FF2B5EF4-FFF2-40B4-BE49-F238E27FC236}">
                <a16:creationId xmlns:a16="http://schemas.microsoft.com/office/drawing/2014/main" id="{80795096-E3E0-8AD1-8302-22BBC631CA79}"/>
              </a:ext>
            </a:extLst>
          </p:cNvPr>
          <p:cNvSpPr>
            <a:spLocks noGrp="1"/>
          </p:cNvSpPr>
          <p:nvPr>
            <p:ph type="body" sz="quarter" idx="13"/>
          </p:nvPr>
        </p:nvSpPr>
        <p:spPr>
          <a:xfrm>
            <a:off x="427487" y="1098033"/>
            <a:ext cx="8229600" cy="1224136"/>
          </a:xfrm>
          <a:prstGeom prst="rect">
            <a:avLst/>
          </a:prstGeom>
        </p:spPr>
        <p:txBody>
          <a:bodyPr/>
          <a:lstStyle/>
          <a:p>
            <a:pPr marL="0" indent="0">
              <a:buNone/>
            </a:pPr>
            <a:r>
              <a:rPr lang="fr-FR" sz="2400" dirty="0"/>
              <a:t>Tables et relations</a:t>
            </a:r>
          </a:p>
        </p:txBody>
      </p:sp>
      <p:sp>
        <p:nvSpPr>
          <p:cNvPr id="4" name="ZoneTexte 3">
            <a:extLst>
              <a:ext uri="{FF2B5EF4-FFF2-40B4-BE49-F238E27FC236}">
                <a16:creationId xmlns:a16="http://schemas.microsoft.com/office/drawing/2014/main" id="{C6B0F212-7C23-36A0-FC5D-201BBE8D244A}"/>
              </a:ext>
            </a:extLst>
          </p:cNvPr>
          <p:cNvSpPr txBox="1"/>
          <p:nvPr/>
        </p:nvSpPr>
        <p:spPr>
          <a:xfrm>
            <a:off x="971600" y="2708920"/>
            <a:ext cx="649537" cy="369332"/>
          </a:xfrm>
          <a:prstGeom prst="rect">
            <a:avLst/>
          </a:prstGeom>
          <a:solidFill>
            <a:schemeClr val="bg1">
              <a:lumMod val="85000"/>
            </a:schemeClr>
          </a:solidFill>
        </p:spPr>
        <p:txBody>
          <a:bodyPr wrap="none" rtlCol="0">
            <a:spAutoFit/>
          </a:bodyPr>
          <a:lstStyle/>
          <a:p>
            <a:r>
              <a:rPr lang="fr-FR" dirty="0"/>
              <a:t>Quiz</a:t>
            </a:r>
          </a:p>
        </p:txBody>
      </p:sp>
      <p:sp>
        <p:nvSpPr>
          <p:cNvPr id="6" name="ZoneTexte 5">
            <a:extLst>
              <a:ext uri="{FF2B5EF4-FFF2-40B4-BE49-F238E27FC236}">
                <a16:creationId xmlns:a16="http://schemas.microsoft.com/office/drawing/2014/main" id="{54086CD7-FB30-9D7C-E1F0-E97ECF34DA20}"/>
              </a:ext>
            </a:extLst>
          </p:cNvPr>
          <p:cNvSpPr txBox="1"/>
          <p:nvPr/>
        </p:nvSpPr>
        <p:spPr>
          <a:xfrm>
            <a:off x="1011072" y="4005064"/>
            <a:ext cx="1484702" cy="369332"/>
          </a:xfrm>
          <a:prstGeom prst="rect">
            <a:avLst/>
          </a:prstGeom>
          <a:solidFill>
            <a:schemeClr val="bg1">
              <a:lumMod val="85000"/>
            </a:schemeClr>
          </a:solidFill>
        </p:spPr>
        <p:txBody>
          <a:bodyPr wrap="none" rtlCol="0">
            <a:spAutoFit/>
          </a:bodyPr>
          <a:lstStyle/>
          <a:p>
            <a:r>
              <a:rPr lang="fr-FR" dirty="0" err="1"/>
              <a:t>QuizAttempt</a:t>
            </a:r>
            <a:endParaRPr lang="fr-FR" dirty="0"/>
          </a:p>
        </p:txBody>
      </p:sp>
      <p:sp>
        <p:nvSpPr>
          <p:cNvPr id="7" name="ZoneTexte 6">
            <a:extLst>
              <a:ext uri="{FF2B5EF4-FFF2-40B4-BE49-F238E27FC236}">
                <a16:creationId xmlns:a16="http://schemas.microsoft.com/office/drawing/2014/main" id="{54E71314-9CBB-ABE3-0D74-A49799DA2B4C}"/>
              </a:ext>
            </a:extLst>
          </p:cNvPr>
          <p:cNvSpPr txBox="1"/>
          <p:nvPr/>
        </p:nvSpPr>
        <p:spPr>
          <a:xfrm>
            <a:off x="4139952" y="4108430"/>
            <a:ext cx="2227341" cy="369332"/>
          </a:xfrm>
          <a:prstGeom prst="rect">
            <a:avLst/>
          </a:prstGeom>
          <a:solidFill>
            <a:schemeClr val="bg1">
              <a:lumMod val="85000"/>
            </a:schemeClr>
          </a:solidFill>
        </p:spPr>
        <p:txBody>
          <a:bodyPr wrap="none" rtlCol="0">
            <a:spAutoFit/>
          </a:bodyPr>
          <a:lstStyle/>
          <a:p>
            <a:r>
              <a:rPr lang="fr-FR" dirty="0" err="1"/>
              <a:t>QuizAttemptAnswer</a:t>
            </a:r>
            <a:endParaRPr lang="fr-FR" dirty="0"/>
          </a:p>
        </p:txBody>
      </p:sp>
      <p:sp>
        <p:nvSpPr>
          <p:cNvPr id="8" name="ZoneTexte 7">
            <a:extLst>
              <a:ext uri="{FF2B5EF4-FFF2-40B4-BE49-F238E27FC236}">
                <a16:creationId xmlns:a16="http://schemas.microsoft.com/office/drawing/2014/main" id="{FC568B97-B1FE-8E6A-693B-784B725F06FE}"/>
              </a:ext>
            </a:extLst>
          </p:cNvPr>
          <p:cNvSpPr txBox="1"/>
          <p:nvPr/>
        </p:nvSpPr>
        <p:spPr>
          <a:xfrm>
            <a:off x="3131840" y="2708920"/>
            <a:ext cx="1106393" cy="369332"/>
          </a:xfrm>
          <a:prstGeom prst="rect">
            <a:avLst/>
          </a:prstGeom>
          <a:solidFill>
            <a:schemeClr val="bg1">
              <a:lumMod val="85000"/>
            </a:schemeClr>
          </a:solidFill>
        </p:spPr>
        <p:txBody>
          <a:bodyPr wrap="none" rtlCol="0">
            <a:spAutoFit/>
          </a:bodyPr>
          <a:lstStyle/>
          <a:p>
            <a:r>
              <a:rPr lang="fr-FR" dirty="0"/>
              <a:t>Question</a:t>
            </a:r>
          </a:p>
        </p:txBody>
      </p:sp>
      <p:sp>
        <p:nvSpPr>
          <p:cNvPr id="9" name="ZoneTexte 8">
            <a:extLst>
              <a:ext uri="{FF2B5EF4-FFF2-40B4-BE49-F238E27FC236}">
                <a16:creationId xmlns:a16="http://schemas.microsoft.com/office/drawing/2014/main" id="{47F4E833-4C37-BA92-AD42-6B2673685E99}"/>
              </a:ext>
            </a:extLst>
          </p:cNvPr>
          <p:cNvSpPr txBox="1"/>
          <p:nvPr/>
        </p:nvSpPr>
        <p:spPr>
          <a:xfrm>
            <a:off x="5748936" y="2708920"/>
            <a:ext cx="927305" cy="369332"/>
          </a:xfrm>
          <a:prstGeom prst="rect">
            <a:avLst/>
          </a:prstGeom>
          <a:solidFill>
            <a:schemeClr val="bg1">
              <a:lumMod val="85000"/>
            </a:schemeClr>
          </a:solidFill>
        </p:spPr>
        <p:txBody>
          <a:bodyPr wrap="none" rtlCol="0">
            <a:spAutoFit/>
          </a:bodyPr>
          <a:lstStyle/>
          <a:p>
            <a:r>
              <a:rPr lang="fr-FR" dirty="0" err="1"/>
              <a:t>Answer</a:t>
            </a:r>
            <a:endParaRPr lang="fr-FR" dirty="0"/>
          </a:p>
        </p:txBody>
      </p:sp>
      <p:cxnSp>
        <p:nvCxnSpPr>
          <p:cNvPr id="11" name="Connecteur droit avec flèche 10">
            <a:extLst>
              <a:ext uri="{FF2B5EF4-FFF2-40B4-BE49-F238E27FC236}">
                <a16:creationId xmlns:a16="http://schemas.microsoft.com/office/drawing/2014/main" id="{E52CE749-AC68-1A54-108A-FDA6CE720562}"/>
              </a:ext>
            </a:extLst>
          </p:cNvPr>
          <p:cNvCxnSpPr>
            <a:cxnSpLocks/>
            <a:stCxn id="8" idx="1"/>
            <a:endCxn id="4" idx="3"/>
          </p:cNvCxnSpPr>
          <p:nvPr/>
        </p:nvCxnSpPr>
        <p:spPr>
          <a:xfrm flipH="1">
            <a:off x="1621137" y="2893586"/>
            <a:ext cx="1510703" cy="0"/>
          </a:xfrm>
          <a:prstGeom prst="straightConnector1">
            <a:avLst/>
          </a:prstGeom>
          <a:ln>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E6C89A95-1D41-C14E-7B72-D7A63320AF12}"/>
              </a:ext>
            </a:extLst>
          </p:cNvPr>
          <p:cNvCxnSpPr>
            <a:cxnSpLocks/>
            <a:stCxn id="9" idx="1"/>
            <a:endCxn id="8" idx="3"/>
          </p:cNvCxnSpPr>
          <p:nvPr/>
        </p:nvCxnSpPr>
        <p:spPr>
          <a:xfrm flipH="1">
            <a:off x="4238233" y="2893586"/>
            <a:ext cx="1510703" cy="0"/>
          </a:xfrm>
          <a:prstGeom prst="straightConnector1">
            <a:avLst/>
          </a:prstGeom>
          <a:ln>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F63E2895-DCCB-E8D2-E192-6837D07C4AA2}"/>
              </a:ext>
            </a:extLst>
          </p:cNvPr>
          <p:cNvCxnSpPr>
            <a:cxnSpLocks/>
            <a:stCxn id="6" idx="0"/>
            <a:endCxn id="4" idx="2"/>
          </p:cNvCxnSpPr>
          <p:nvPr/>
        </p:nvCxnSpPr>
        <p:spPr>
          <a:xfrm flipH="1" flipV="1">
            <a:off x="1296369" y="3078252"/>
            <a:ext cx="457054" cy="926812"/>
          </a:xfrm>
          <a:prstGeom prst="straightConnector1">
            <a:avLst/>
          </a:prstGeom>
          <a:ln>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BACFE6E0-D63E-9016-D396-4EFA2EE7D8F5}"/>
              </a:ext>
            </a:extLst>
          </p:cNvPr>
          <p:cNvCxnSpPr>
            <a:cxnSpLocks/>
            <a:stCxn id="7" idx="1"/>
            <a:endCxn id="6" idx="3"/>
          </p:cNvCxnSpPr>
          <p:nvPr/>
        </p:nvCxnSpPr>
        <p:spPr>
          <a:xfrm flipH="1" flipV="1">
            <a:off x="2495774" y="4189730"/>
            <a:ext cx="1644178" cy="103366"/>
          </a:xfrm>
          <a:prstGeom prst="straightConnector1">
            <a:avLst/>
          </a:prstGeom>
          <a:ln>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F944A0BF-2CD8-7B8D-8ECB-5B79DD216B75}"/>
              </a:ext>
            </a:extLst>
          </p:cNvPr>
          <p:cNvCxnSpPr>
            <a:cxnSpLocks/>
            <a:stCxn id="7" idx="0"/>
            <a:endCxn id="8" idx="2"/>
          </p:cNvCxnSpPr>
          <p:nvPr/>
        </p:nvCxnSpPr>
        <p:spPr>
          <a:xfrm flipH="1" flipV="1">
            <a:off x="3685037" y="3078252"/>
            <a:ext cx="1568586" cy="1030178"/>
          </a:xfrm>
          <a:prstGeom prst="straightConnector1">
            <a:avLst/>
          </a:prstGeom>
          <a:ln>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B3C07C9E-7820-ED81-1C1A-E492E0055EC2}"/>
              </a:ext>
            </a:extLst>
          </p:cNvPr>
          <p:cNvCxnSpPr>
            <a:cxnSpLocks/>
            <a:stCxn id="7" idx="0"/>
            <a:endCxn id="9" idx="2"/>
          </p:cNvCxnSpPr>
          <p:nvPr/>
        </p:nvCxnSpPr>
        <p:spPr>
          <a:xfrm flipV="1">
            <a:off x="5253623" y="3078252"/>
            <a:ext cx="958966" cy="1030178"/>
          </a:xfrm>
          <a:prstGeom prst="straightConnector1">
            <a:avLst/>
          </a:prstGeom>
          <a:ln>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3682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E450F-2A6D-3051-D527-CF8E157E0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60E84-A24E-BA9F-2B9B-E827B7F7CD2D}"/>
              </a:ext>
            </a:extLst>
          </p:cNvPr>
          <p:cNvSpPr>
            <a:spLocks noGrp="1"/>
          </p:cNvSpPr>
          <p:nvPr>
            <p:ph type="title"/>
          </p:nvPr>
        </p:nvSpPr>
        <p:spPr/>
        <p:txBody>
          <a:bodyPr/>
          <a:lstStyle/>
          <a:p>
            <a:r>
              <a:rPr lang="en-US" dirty="0" err="1"/>
              <a:t>Prochaines</a:t>
            </a:r>
            <a:r>
              <a:rPr lang="en-US" dirty="0"/>
              <a:t> sessions </a:t>
            </a:r>
          </a:p>
        </p:txBody>
      </p:sp>
      <p:sp>
        <p:nvSpPr>
          <p:cNvPr id="3" name="Content Placeholder 2">
            <a:extLst>
              <a:ext uri="{FF2B5EF4-FFF2-40B4-BE49-F238E27FC236}">
                <a16:creationId xmlns:a16="http://schemas.microsoft.com/office/drawing/2014/main" id="{20A93CD9-FB4E-0BFA-E918-BF9765B48284}"/>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Server SQL</a:t>
            </a:r>
          </a:p>
          <a:p>
            <a:pPr marL="0" indent="0">
              <a:buNone/>
            </a:pPr>
            <a:r>
              <a:rPr lang="fr-FR" sz="2400" dirty="0"/>
              <a:t>Configuration Web App</a:t>
            </a:r>
          </a:p>
          <a:p>
            <a:pPr marL="0" indent="0">
              <a:buNone/>
            </a:pPr>
            <a:r>
              <a:rPr lang="fr-FR" sz="2400" dirty="0"/>
              <a:t>Logs App Service</a:t>
            </a:r>
          </a:p>
          <a:p>
            <a:pPr marL="0" indent="0">
              <a:buNone/>
            </a:pPr>
            <a:r>
              <a:rPr lang="fr-FR" sz="2400" dirty="0"/>
              <a:t>Azure Service Bus</a:t>
            </a:r>
          </a:p>
          <a:p>
            <a:pPr marL="0" indent="0">
              <a:buNone/>
            </a:pPr>
            <a:r>
              <a:rPr lang="fr-FR" sz="2400" dirty="0"/>
              <a:t>Azure </a:t>
            </a:r>
            <a:r>
              <a:rPr lang="fr-FR" sz="2400" dirty="0" err="1"/>
              <a:t>Functions</a:t>
            </a:r>
            <a:endParaRPr lang="fr-FR" sz="2400" dirty="0"/>
          </a:p>
          <a:p>
            <a:pPr marL="0" indent="0">
              <a:buNone/>
            </a:pPr>
            <a:r>
              <a:rPr lang="fr-FR" sz="2400" dirty="0"/>
              <a:t>Azure Blob </a:t>
            </a:r>
            <a:r>
              <a:rPr lang="fr-FR" sz="2400" dirty="0" err="1"/>
              <a:t>storage</a:t>
            </a:r>
            <a:endParaRPr lang="fr-FR" sz="2400" dirty="0"/>
          </a:p>
          <a:p>
            <a:pPr marL="0" indent="0">
              <a:buNone/>
            </a:pPr>
            <a:r>
              <a:rPr lang="fr-FR" sz="2400" dirty="0"/>
              <a:t>Sécurité (</a:t>
            </a:r>
            <a:r>
              <a:rPr lang="fr-FR" sz="2400" dirty="0" err="1"/>
              <a:t>Managed</a:t>
            </a:r>
            <a:r>
              <a:rPr lang="fr-FR" sz="2400" dirty="0"/>
              <a:t> Identity, Azure Key Vault et RBAC)</a:t>
            </a:r>
          </a:p>
          <a:p>
            <a:pPr marL="0" indent="0">
              <a:buNone/>
            </a:pPr>
            <a:r>
              <a:rPr lang="fr-FR" sz="2400" dirty="0"/>
              <a:t>Application Insights, Monitoring Alertes</a:t>
            </a:r>
          </a:p>
          <a:p>
            <a:pPr marL="0" indent="0">
              <a:buNone/>
            </a:pPr>
            <a:r>
              <a:rPr lang="fr-FR" sz="2400" dirty="0"/>
              <a:t>Containers</a:t>
            </a:r>
          </a:p>
          <a:p>
            <a:pPr marL="0" indent="0">
              <a:buNone/>
            </a:pPr>
            <a:r>
              <a:rPr lang="fr-FR" sz="2400"/>
              <a:t>Cache Redis</a:t>
            </a:r>
            <a:endParaRPr lang="fr-FR" sz="2400" dirty="0"/>
          </a:p>
        </p:txBody>
      </p:sp>
    </p:spTree>
    <p:extLst>
      <p:ext uri="{BB962C8B-B14F-4D97-AF65-F5344CB8AC3E}">
        <p14:creationId xmlns:p14="http://schemas.microsoft.com/office/powerpoint/2010/main" val="3884907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A966BEE-76B2-82B1-9023-337F22A0DB0D}"/>
              </a:ext>
            </a:extLst>
          </p:cNvPr>
          <p:cNvSpPr>
            <a:spLocks noGrp="1"/>
          </p:cNvSpPr>
          <p:nvPr>
            <p:ph type="body" sz="quarter" idx="11"/>
          </p:nvPr>
        </p:nvSpPr>
        <p:spPr/>
        <p:txBody>
          <a:bodyPr/>
          <a:lstStyle/>
          <a:p>
            <a:r>
              <a:rPr lang="fr-FR" dirty="0"/>
              <a:t>Quiz 1</a:t>
            </a:r>
          </a:p>
        </p:txBody>
      </p:sp>
      <p:sp>
        <p:nvSpPr>
          <p:cNvPr id="3" name="Espace réservé du texte 2">
            <a:extLst>
              <a:ext uri="{FF2B5EF4-FFF2-40B4-BE49-F238E27FC236}">
                <a16:creationId xmlns:a16="http://schemas.microsoft.com/office/drawing/2014/main" id="{D8E81DBE-2A21-0BB1-8C60-8CD85153BBA2}"/>
              </a:ext>
            </a:extLst>
          </p:cNvPr>
          <p:cNvSpPr>
            <a:spLocks noGrp="1"/>
          </p:cNvSpPr>
          <p:nvPr>
            <p:ph type="body" sz="quarter" idx="12"/>
          </p:nvPr>
        </p:nvSpPr>
        <p:spPr/>
        <p:txBody>
          <a:bodyPr/>
          <a:lstStyle/>
          <a:p>
            <a:r>
              <a:rPr lang="en-US" dirty="0"/>
              <a:t>On Premises vs </a:t>
            </a:r>
          </a:p>
          <a:p>
            <a:r>
              <a:rPr lang="en-US" dirty="0" err="1"/>
              <a:t>Iaas</a:t>
            </a:r>
            <a:r>
              <a:rPr lang="en-US" dirty="0"/>
              <a:t> vs </a:t>
            </a:r>
            <a:r>
              <a:rPr lang="en-US" dirty="0" err="1"/>
              <a:t>Paas</a:t>
            </a:r>
            <a:r>
              <a:rPr lang="en-US" dirty="0"/>
              <a:t> vs Saas</a:t>
            </a:r>
            <a:r>
              <a:rPr lang="fr-FR" dirty="0"/>
              <a:t> </a:t>
            </a:r>
          </a:p>
        </p:txBody>
      </p:sp>
    </p:spTree>
    <p:extLst>
      <p:ext uri="{BB962C8B-B14F-4D97-AF65-F5344CB8AC3E}">
        <p14:creationId xmlns:p14="http://schemas.microsoft.com/office/powerpoint/2010/main" val="1577767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8AFAC-8A36-92FB-8D6F-B9B8ECD17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8932B-29E8-0A6B-55DC-EA08A59B3937}"/>
              </a:ext>
            </a:extLst>
          </p:cNvPr>
          <p:cNvSpPr>
            <a:spLocks noGrp="1"/>
          </p:cNvSpPr>
          <p:nvPr>
            <p:ph type="title"/>
          </p:nvPr>
        </p:nvSpPr>
        <p:spPr/>
        <p:txBody>
          <a:bodyPr/>
          <a:lstStyle/>
          <a:p>
            <a:r>
              <a:rPr lang="en-US" dirty="0"/>
              <a:t>On Premises vs </a:t>
            </a:r>
            <a:r>
              <a:rPr lang="en-US" dirty="0" err="1"/>
              <a:t>Iaas</a:t>
            </a:r>
            <a:r>
              <a:rPr lang="en-US" dirty="0"/>
              <a:t> vs </a:t>
            </a:r>
            <a:r>
              <a:rPr lang="en-US" dirty="0" err="1"/>
              <a:t>Paas</a:t>
            </a:r>
            <a:r>
              <a:rPr lang="en-US" dirty="0"/>
              <a:t> vs Saas</a:t>
            </a:r>
          </a:p>
        </p:txBody>
      </p:sp>
      <p:pic>
        <p:nvPicPr>
          <p:cNvPr id="1026" name="Picture 2" descr="Image by Microsoft.">
            <a:extLst>
              <a:ext uri="{FF2B5EF4-FFF2-40B4-BE49-F238E27FC236}">
                <a16:creationId xmlns:a16="http://schemas.microsoft.com/office/drawing/2014/main" id="{1E37AF8B-A4E1-A897-A7D2-93C1375A6B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3" y="952500"/>
            <a:ext cx="8943975"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926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EBD5B-C62F-55BE-8D30-7B8C9C66A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12DF2-C13D-99EC-46B7-79C844E8FB52}"/>
              </a:ext>
            </a:extLst>
          </p:cNvPr>
          <p:cNvSpPr>
            <a:spLocks noGrp="1"/>
          </p:cNvSpPr>
          <p:nvPr>
            <p:ph type="title"/>
          </p:nvPr>
        </p:nvSpPr>
        <p:spPr/>
        <p:txBody>
          <a:bodyPr/>
          <a:lstStyle/>
          <a:p>
            <a:r>
              <a:rPr lang="en-US" dirty="0"/>
              <a:t>Question 1 </a:t>
            </a:r>
          </a:p>
        </p:txBody>
      </p:sp>
      <p:sp>
        <p:nvSpPr>
          <p:cNvPr id="3" name="Content Placeholder 2">
            <a:extLst>
              <a:ext uri="{FF2B5EF4-FFF2-40B4-BE49-F238E27FC236}">
                <a16:creationId xmlns:a16="http://schemas.microsoft.com/office/drawing/2014/main" id="{9092D2E5-0636-461C-82F6-197A31CE5F42}"/>
              </a:ext>
            </a:extLst>
          </p:cNvPr>
          <p:cNvSpPr>
            <a:spLocks noGrp="1"/>
          </p:cNvSpPr>
          <p:nvPr>
            <p:ph type="body" sz="quarter" idx="13"/>
          </p:nvPr>
        </p:nvSpPr>
        <p:spPr>
          <a:xfrm>
            <a:off x="457200" y="1066800"/>
            <a:ext cx="8363272" cy="5314528"/>
          </a:xfrm>
          <a:prstGeom prst="rect">
            <a:avLst/>
          </a:prstGeom>
        </p:spPr>
        <p:txBody>
          <a:bodyPr/>
          <a:lstStyle/>
          <a:p>
            <a:pPr marL="0" indent="0">
              <a:buNone/>
            </a:pPr>
            <a:r>
              <a:rPr lang="fr-FR" sz="2400" dirty="0"/>
              <a:t>Quelle est la principale différence entre </a:t>
            </a:r>
            <a:r>
              <a:rPr lang="fr-FR" sz="2400" b="1" dirty="0"/>
              <a:t>IaaS, PaaS et SaaS</a:t>
            </a:r>
            <a:r>
              <a:rPr lang="fr-FR" sz="2400" dirty="0"/>
              <a:t> ?</a:t>
            </a:r>
          </a:p>
          <a:p>
            <a:pPr marL="0" indent="0">
              <a:buNone/>
            </a:pPr>
            <a:endParaRPr lang="fr-FR" sz="2400" dirty="0"/>
          </a:p>
          <a:p>
            <a:pPr>
              <a:buFont typeface="+mj-lt"/>
              <a:buAutoNum type="arabicPeriod"/>
            </a:pPr>
            <a:r>
              <a:rPr lang="fr-FR" sz="2400" dirty="0"/>
              <a:t>Le prix</a:t>
            </a:r>
          </a:p>
          <a:p>
            <a:pPr>
              <a:buFont typeface="+mj-lt"/>
              <a:buAutoNum type="arabicPeriod"/>
            </a:pPr>
            <a:r>
              <a:rPr lang="fr-FR" sz="2400" dirty="0"/>
              <a:t>La localisation des serveurs</a:t>
            </a:r>
          </a:p>
          <a:p>
            <a:pPr>
              <a:buFont typeface="+mj-lt"/>
              <a:buAutoNum type="arabicPeriod"/>
            </a:pPr>
            <a:r>
              <a:rPr lang="fr-FR" sz="2400" dirty="0"/>
              <a:t>Le niveau de responsabilité du client</a:t>
            </a:r>
          </a:p>
          <a:p>
            <a:pPr>
              <a:buFont typeface="+mj-lt"/>
              <a:buAutoNum type="arabicPeriod"/>
            </a:pPr>
            <a:r>
              <a:rPr lang="fr-FR" sz="2400" dirty="0"/>
              <a:t>La vitesse de déploiement</a:t>
            </a:r>
          </a:p>
          <a:p>
            <a:pPr marL="0" indent="0">
              <a:buNone/>
            </a:pPr>
            <a:endParaRPr lang="fr-FR" sz="2400" dirty="0"/>
          </a:p>
        </p:txBody>
      </p:sp>
      <p:sp>
        <p:nvSpPr>
          <p:cNvPr id="4" name="ZoneTexte 3">
            <a:extLst>
              <a:ext uri="{FF2B5EF4-FFF2-40B4-BE49-F238E27FC236}">
                <a16:creationId xmlns:a16="http://schemas.microsoft.com/office/drawing/2014/main" id="{85A1F7E1-CDAF-180E-8F8E-94581DE83BE8}"/>
              </a:ext>
            </a:extLst>
          </p:cNvPr>
          <p:cNvSpPr txBox="1"/>
          <p:nvPr/>
        </p:nvSpPr>
        <p:spPr>
          <a:xfrm>
            <a:off x="7020272" y="3789040"/>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5E9EF6D4-A601-DF88-7F70-3DDE6555ACBF}"/>
              </a:ext>
            </a:extLst>
          </p:cNvPr>
          <p:cNvSpPr txBox="1"/>
          <p:nvPr/>
        </p:nvSpPr>
        <p:spPr>
          <a:xfrm>
            <a:off x="1691680" y="4581128"/>
            <a:ext cx="4227439" cy="1477328"/>
          </a:xfrm>
          <a:prstGeom prst="rect">
            <a:avLst/>
          </a:prstGeom>
          <a:noFill/>
        </p:spPr>
        <p:txBody>
          <a:bodyPr wrap="none" rtlCol="0">
            <a:spAutoFit/>
          </a:bodyPr>
          <a:lstStyle/>
          <a:p>
            <a:r>
              <a:rPr lang="fr-FR" b="1" dirty="0"/>
              <a:t>On-</a:t>
            </a:r>
            <a:r>
              <a:rPr lang="fr-FR" b="1" dirty="0" err="1"/>
              <a:t>premise</a:t>
            </a:r>
            <a:r>
              <a:rPr lang="fr-FR" dirty="0"/>
              <a:t> : vous gérez tout</a:t>
            </a:r>
          </a:p>
          <a:p>
            <a:r>
              <a:rPr lang="fr-FR" b="1" dirty="0"/>
              <a:t>IaaS</a:t>
            </a:r>
            <a:r>
              <a:rPr lang="fr-FR" dirty="0"/>
              <a:t> : Azure gère les serveurs physiques</a:t>
            </a:r>
          </a:p>
          <a:p>
            <a:r>
              <a:rPr lang="fr-FR" b="1" dirty="0"/>
              <a:t>PaaS</a:t>
            </a:r>
            <a:r>
              <a:rPr lang="fr-FR" dirty="0"/>
              <a:t> : Azure gère OS + runtime</a:t>
            </a:r>
          </a:p>
          <a:p>
            <a:r>
              <a:rPr lang="fr-FR" b="1" dirty="0"/>
              <a:t>SaaS</a:t>
            </a:r>
            <a:r>
              <a:rPr lang="fr-FR" dirty="0"/>
              <a:t> : Azure gère tout</a:t>
            </a:r>
          </a:p>
          <a:p>
            <a:endParaRPr lang="fr-FR" dirty="0"/>
          </a:p>
        </p:txBody>
      </p:sp>
      <p:sp>
        <p:nvSpPr>
          <p:cNvPr id="7" name="ZoneTexte 6">
            <a:extLst>
              <a:ext uri="{FF2B5EF4-FFF2-40B4-BE49-F238E27FC236}">
                <a16:creationId xmlns:a16="http://schemas.microsoft.com/office/drawing/2014/main" id="{B15ADECA-8DD2-739B-3415-9A889EDE4AC2}"/>
              </a:ext>
            </a:extLst>
          </p:cNvPr>
          <p:cNvSpPr txBox="1"/>
          <p:nvPr/>
        </p:nvSpPr>
        <p:spPr>
          <a:xfrm>
            <a:off x="107504" y="2852936"/>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673969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981AA-7F14-DA34-AD4A-043C9F1F9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3C141-DB63-2ABE-48C3-0FEABA2C8EB4}"/>
              </a:ext>
            </a:extLst>
          </p:cNvPr>
          <p:cNvSpPr>
            <a:spLocks noGrp="1"/>
          </p:cNvSpPr>
          <p:nvPr>
            <p:ph type="title"/>
          </p:nvPr>
        </p:nvSpPr>
        <p:spPr/>
        <p:txBody>
          <a:bodyPr/>
          <a:lstStyle/>
          <a:p>
            <a:r>
              <a:rPr lang="en-US" dirty="0"/>
              <a:t>Question 2 </a:t>
            </a:r>
          </a:p>
        </p:txBody>
      </p:sp>
      <p:sp>
        <p:nvSpPr>
          <p:cNvPr id="3" name="Content Placeholder 2">
            <a:extLst>
              <a:ext uri="{FF2B5EF4-FFF2-40B4-BE49-F238E27FC236}">
                <a16:creationId xmlns:a16="http://schemas.microsoft.com/office/drawing/2014/main" id="{C1C3ADB8-CDF7-6000-1DEB-746832479E5A}"/>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Dans quel modèle </a:t>
            </a:r>
            <a:r>
              <a:rPr lang="fr-FR" sz="2400" b="1" dirty="0"/>
              <a:t>le client est responsable du système d’exploitation</a:t>
            </a:r>
            <a:r>
              <a:rPr lang="fr-FR" sz="2400" dirty="0"/>
              <a:t> ?</a:t>
            </a:r>
          </a:p>
          <a:p>
            <a:pPr marL="0" indent="0">
              <a:buNone/>
            </a:pPr>
            <a:endParaRPr lang="fr-FR" sz="2400" dirty="0"/>
          </a:p>
          <a:p>
            <a:pPr>
              <a:buFont typeface="+mj-lt"/>
              <a:buAutoNum type="arabicPeriod"/>
            </a:pPr>
            <a:r>
              <a:rPr lang="fr-FR" sz="2400" dirty="0"/>
              <a:t>Aucun</a:t>
            </a:r>
          </a:p>
          <a:p>
            <a:pPr>
              <a:buFont typeface="+mj-lt"/>
              <a:buAutoNum type="arabicPeriod"/>
            </a:pPr>
            <a:r>
              <a:rPr lang="fr-FR" sz="2400" dirty="0"/>
              <a:t>SaaS</a:t>
            </a:r>
          </a:p>
          <a:p>
            <a:pPr>
              <a:buFont typeface="+mj-lt"/>
              <a:buAutoNum type="arabicPeriod"/>
            </a:pPr>
            <a:r>
              <a:rPr lang="fr-FR" sz="2400" dirty="0"/>
              <a:t>PaaS</a:t>
            </a:r>
          </a:p>
          <a:p>
            <a:pPr>
              <a:buFont typeface="+mj-lt"/>
              <a:buAutoNum type="arabicPeriod"/>
            </a:pPr>
            <a:r>
              <a:rPr lang="fr-FR" sz="2400" dirty="0"/>
              <a:t>IaaS</a:t>
            </a:r>
          </a:p>
          <a:p>
            <a:pPr marL="0" indent="0">
              <a:buNone/>
            </a:pPr>
            <a:endParaRPr lang="fr-FR" sz="2400" dirty="0"/>
          </a:p>
        </p:txBody>
      </p:sp>
      <p:sp>
        <p:nvSpPr>
          <p:cNvPr id="4" name="ZoneTexte 3">
            <a:extLst>
              <a:ext uri="{FF2B5EF4-FFF2-40B4-BE49-F238E27FC236}">
                <a16:creationId xmlns:a16="http://schemas.microsoft.com/office/drawing/2014/main" id="{84F318B1-379D-0479-C0B7-5D66D184E196}"/>
              </a:ext>
            </a:extLst>
          </p:cNvPr>
          <p:cNvSpPr txBox="1"/>
          <p:nvPr/>
        </p:nvSpPr>
        <p:spPr>
          <a:xfrm>
            <a:off x="6660232" y="2060848"/>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
        <p:nvSpPr>
          <p:cNvPr id="5" name="ZoneTexte 4">
            <a:extLst>
              <a:ext uri="{FF2B5EF4-FFF2-40B4-BE49-F238E27FC236}">
                <a16:creationId xmlns:a16="http://schemas.microsoft.com/office/drawing/2014/main" id="{BCB148BA-9364-668D-F540-A24A57BA94DC}"/>
              </a:ext>
            </a:extLst>
          </p:cNvPr>
          <p:cNvSpPr txBox="1"/>
          <p:nvPr/>
        </p:nvSpPr>
        <p:spPr>
          <a:xfrm>
            <a:off x="3995936" y="3429000"/>
            <a:ext cx="4166525" cy="2862322"/>
          </a:xfrm>
          <a:prstGeom prst="rect">
            <a:avLst/>
          </a:prstGeom>
          <a:noFill/>
        </p:spPr>
        <p:txBody>
          <a:bodyPr wrap="none" rtlCol="0">
            <a:spAutoFit/>
          </a:bodyPr>
          <a:lstStyle/>
          <a:p>
            <a:r>
              <a:rPr lang="fr-FR" dirty="0"/>
              <a:t>Dans </a:t>
            </a:r>
            <a:r>
              <a:rPr lang="fr-FR" b="1" dirty="0"/>
              <a:t>IaaS</a:t>
            </a:r>
            <a:r>
              <a:rPr lang="fr-FR" dirty="0"/>
              <a:t>, le fournisseur cloud fournit :</a:t>
            </a:r>
          </a:p>
          <a:p>
            <a:pPr marL="171450" indent="-171450">
              <a:buFont typeface="Arial" panose="020B0604020202020204" pitchFamily="34" charset="0"/>
              <a:buChar char="•"/>
            </a:pPr>
            <a:r>
              <a:rPr lang="fr-FR" dirty="0"/>
              <a:t>les serveurs</a:t>
            </a:r>
          </a:p>
          <a:p>
            <a:pPr marL="171450" indent="-171450">
              <a:buFont typeface="Arial" panose="020B0604020202020204" pitchFamily="34" charset="0"/>
              <a:buChar char="•"/>
            </a:pPr>
            <a:r>
              <a:rPr lang="fr-FR" dirty="0"/>
              <a:t>le réseau</a:t>
            </a:r>
          </a:p>
          <a:p>
            <a:pPr marL="171450" indent="-171450">
              <a:buFont typeface="Arial" panose="020B0604020202020204" pitchFamily="34" charset="0"/>
              <a:buChar char="•"/>
            </a:pPr>
            <a:r>
              <a:rPr lang="fr-FR" dirty="0"/>
              <a:t>la virtualisation</a:t>
            </a:r>
          </a:p>
          <a:p>
            <a:r>
              <a:rPr lang="fr-FR" dirty="0"/>
              <a:t>Mais le client gère :</a:t>
            </a:r>
          </a:p>
          <a:p>
            <a:pPr marL="171450" indent="-171450">
              <a:buFont typeface="Arial" panose="020B0604020202020204" pitchFamily="34" charset="0"/>
              <a:buChar char="•"/>
            </a:pPr>
            <a:r>
              <a:rPr lang="fr-FR" dirty="0"/>
              <a:t>le système d’exploitation</a:t>
            </a:r>
          </a:p>
          <a:p>
            <a:pPr marL="171450" indent="-171450">
              <a:buFont typeface="Arial" panose="020B0604020202020204" pitchFamily="34" charset="0"/>
              <a:buChar char="•"/>
            </a:pPr>
            <a:r>
              <a:rPr lang="fr-FR" dirty="0"/>
              <a:t>les patchs</a:t>
            </a:r>
          </a:p>
          <a:p>
            <a:pPr marL="171450" indent="-171450">
              <a:buFont typeface="Arial" panose="020B0604020202020204" pitchFamily="34" charset="0"/>
              <a:buChar char="•"/>
            </a:pPr>
            <a:r>
              <a:rPr lang="fr-FR" dirty="0"/>
              <a:t>les applications</a:t>
            </a:r>
          </a:p>
          <a:p>
            <a:r>
              <a:rPr lang="fr-FR" dirty="0"/>
              <a:t>Exemple Azure :</a:t>
            </a:r>
          </a:p>
          <a:p>
            <a:pPr marL="171450" indent="-171450">
              <a:buFont typeface="Arial" panose="020B0604020202020204" pitchFamily="34" charset="0"/>
              <a:buChar char="•"/>
            </a:pPr>
            <a:r>
              <a:rPr lang="fr-FR" dirty="0"/>
              <a:t>Azure Virtual Machines</a:t>
            </a:r>
          </a:p>
        </p:txBody>
      </p:sp>
      <p:sp>
        <p:nvSpPr>
          <p:cNvPr id="6" name="ZoneTexte 5">
            <a:extLst>
              <a:ext uri="{FF2B5EF4-FFF2-40B4-BE49-F238E27FC236}">
                <a16:creationId xmlns:a16="http://schemas.microsoft.com/office/drawing/2014/main" id="{93935482-7178-450D-F2CA-15C3191433A7}"/>
              </a:ext>
            </a:extLst>
          </p:cNvPr>
          <p:cNvSpPr txBox="1"/>
          <p:nvPr/>
        </p:nvSpPr>
        <p:spPr>
          <a:xfrm>
            <a:off x="107504" y="3645024"/>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404369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E7029-67A7-3C24-6DF5-04151E917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B199-0544-709B-7801-D5289091F108}"/>
              </a:ext>
            </a:extLst>
          </p:cNvPr>
          <p:cNvSpPr>
            <a:spLocks noGrp="1"/>
          </p:cNvSpPr>
          <p:nvPr>
            <p:ph type="title"/>
          </p:nvPr>
        </p:nvSpPr>
        <p:spPr/>
        <p:txBody>
          <a:bodyPr/>
          <a:lstStyle/>
          <a:p>
            <a:r>
              <a:rPr lang="en-US" dirty="0"/>
              <a:t>Question 3</a:t>
            </a:r>
          </a:p>
        </p:txBody>
      </p:sp>
      <p:sp>
        <p:nvSpPr>
          <p:cNvPr id="3" name="Content Placeholder 2">
            <a:extLst>
              <a:ext uri="{FF2B5EF4-FFF2-40B4-BE49-F238E27FC236}">
                <a16:creationId xmlns:a16="http://schemas.microsoft.com/office/drawing/2014/main" id="{386FF521-BF8B-B0C6-AE53-5C0D800968F0}"/>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Dans quel modèle </a:t>
            </a:r>
            <a:r>
              <a:rPr lang="fr-FR" sz="2400" b="1" dirty="0"/>
              <a:t>le fournisseur cloud gère le système d’exploitation et le runtime</a:t>
            </a:r>
            <a:r>
              <a:rPr lang="fr-FR" sz="2400" dirty="0"/>
              <a:t> ?</a:t>
            </a:r>
          </a:p>
          <a:p>
            <a:pPr marL="0" indent="0">
              <a:buNone/>
            </a:pPr>
            <a:endParaRPr lang="fr-FR" sz="2400" dirty="0"/>
          </a:p>
          <a:p>
            <a:pPr>
              <a:buFont typeface="+mj-lt"/>
              <a:buAutoNum type="arabicPeriod"/>
            </a:pPr>
            <a:r>
              <a:rPr lang="fr-FR" sz="2400" dirty="0"/>
              <a:t>On-</a:t>
            </a:r>
            <a:r>
              <a:rPr lang="fr-FR" sz="2400" dirty="0" err="1"/>
              <a:t>premise</a:t>
            </a:r>
            <a:endParaRPr lang="fr-FR" sz="2400" dirty="0"/>
          </a:p>
          <a:p>
            <a:pPr>
              <a:buFont typeface="+mj-lt"/>
              <a:buAutoNum type="arabicPeriod"/>
            </a:pPr>
            <a:r>
              <a:rPr lang="fr-FR" sz="2400" dirty="0"/>
              <a:t>SaaS</a:t>
            </a:r>
          </a:p>
          <a:p>
            <a:pPr>
              <a:buFont typeface="+mj-lt"/>
              <a:buAutoNum type="arabicPeriod"/>
            </a:pPr>
            <a:r>
              <a:rPr lang="fr-FR" sz="2400" dirty="0"/>
              <a:t>PaaS</a:t>
            </a:r>
          </a:p>
          <a:p>
            <a:pPr>
              <a:buFont typeface="+mj-lt"/>
              <a:buAutoNum type="arabicPeriod"/>
            </a:pPr>
            <a:r>
              <a:rPr lang="fr-FR" sz="2400" dirty="0"/>
              <a:t>IaaS</a:t>
            </a:r>
          </a:p>
          <a:p>
            <a:pPr marL="0" indent="0">
              <a:buNone/>
            </a:pPr>
            <a:endParaRPr lang="fr-FR" sz="2400" dirty="0"/>
          </a:p>
        </p:txBody>
      </p:sp>
      <p:sp>
        <p:nvSpPr>
          <p:cNvPr id="4" name="ZoneTexte 3">
            <a:extLst>
              <a:ext uri="{FF2B5EF4-FFF2-40B4-BE49-F238E27FC236}">
                <a16:creationId xmlns:a16="http://schemas.microsoft.com/office/drawing/2014/main" id="{DDBC2EFA-6E3D-C53B-7A80-76441BC62F37}"/>
              </a:ext>
            </a:extLst>
          </p:cNvPr>
          <p:cNvSpPr txBox="1"/>
          <p:nvPr/>
        </p:nvSpPr>
        <p:spPr>
          <a:xfrm>
            <a:off x="6228184" y="2132856"/>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4C536A06-92E2-B682-72A6-7FB242847983}"/>
              </a:ext>
            </a:extLst>
          </p:cNvPr>
          <p:cNvSpPr txBox="1"/>
          <p:nvPr/>
        </p:nvSpPr>
        <p:spPr>
          <a:xfrm>
            <a:off x="3275856" y="3242007"/>
            <a:ext cx="5764911" cy="3139321"/>
          </a:xfrm>
          <a:prstGeom prst="rect">
            <a:avLst/>
          </a:prstGeom>
          <a:noFill/>
        </p:spPr>
        <p:txBody>
          <a:bodyPr wrap="none" rtlCol="0">
            <a:spAutoFit/>
          </a:bodyPr>
          <a:lstStyle/>
          <a:p>
            <a:r>
              <a:rPr lang="fr-FR" dirty="0"/>
              <a:t>Dans </a:t>
            </a:r>
            <a:r>
              <a:rPr lang="fr-FR" b="1" dirty="0"/>
              <a:t>PaaS</a:t>
            </a:r>
            <a:r>
              <a:rPr lang="fr-FR" dirty="0"/>
              <a:t>, vous déployez seulement votre application.</a:t>
            </a:r>
          </a:p>
          <a:p>
            <a:r>
              <a:rPr lang="fr-FR" dirty="0"/>
              <a:t>Le fournisseur gère :</a:t>
            </a:r>
          </a:p>
          <a:p>
            <a:pPr marL="171450" indent="-171450">
              <a:buFont typeface="Arial" panose="020B0604020202020204" pitchFamily="34" charset="0"/>
              <a:buChar char="•"/>
            </a:pPr>
            <a:r>
              <a:rPr lang="fr-FR" dirty="0"/>
              <a:t>OS</a:t>
            </a:r>
          </a:p>
          <a:p>
            <a:pPr marL="171450" indent="-171450">
              <a:buFont typeface="Arial" panose="020B0604020202020204" pitchFamily="34" charset="0"/>
              <a:buChar char="•"/>
            </a:pPr>
            <a:r>
              <a:rPr lang="fr-FR" dirty="0"/>
              <a:t>runtime (.NET, Java…)</a:t>
            </a:r>
          </a:p>
          <a:p>
            <a:pPr marL="171450" indent="-171450">
              <a:buFont typeface="Arial" panose="020B0604020202020204" pitchFamily="34" charset="0"/>
              <a:buChar char="•"/>
            </a:pPr>
            <a:r>
              <a:rPr lang="fr-FR" dirty="0"/>
              <a:t>infrastructure</a:t>
            </a:r>
          </a:p>
          <a:p>
            <a:pPr marL="171450" indent="-171450">
              <a:buFont typeface="Arial" panose="020B0604020202020204" pitchFamily="34" charset="0"/>
              <a:buChar char="•"/>
            </a:pPr>
            <a:r>
              <a:rPr lang="fr-FR" dirty="0"/>
              <a:t>patchs</a:t>
            </a:r>
          </a:p>
          <a:p>
            <a:r>
              <a:rPr lang="fr-FR" dirty="0"/>
              <a:t>Exemple Azure :</a:t>
            </a:r>
          </a:p>
          <a:p>
            <a:r>
              <a:rPr lang="fr-FR" dirty="0"/>
              <a:t>Azure App Service</a:t>
            </a:r>
          </a:p>
          <a:p>
            <a:r>
              <a:rPr lang="fr-FR" dirty="0"/>
              <a:t>Le développeur se concentre uniquement sur :</a:t>
            </a:r>
          </a:p>
          <a:p>
            <a:pPr marL="171450" indent="-171450">
              <a:buFont typeface="Arial" panose="020B0604020202020204" pitchFamily="34" charset="0"/>
              <a:buChar char="•"/>
            </a:pPr>
            <a:r>
              <a:rPr lang="fr-FR" dirty="0"/>
              <a:t>Code</a:t>
            </a:r>
          </a:p>
          <a:p>
            <a:pPr marL="171450" indent="-171450">
              <a:buFont typeface="Arial" panose="020B0604020202020204" pitchFamily="34" charset="0"/>
              <a:buChar char="•"/>
            </a:pPr>
            <a:r>
              <a:rPr lang="fr-FR" dirty="0"/>
              <a:t>Configuration</a:t>
            </a:r>
          </a:p>
        </p:txBody>
      </p:sp>
      <p:sp>
        <p:nvSpPr>
          <p:cNvPr id="6" name="ZoneTexte 5">
            <a:extLst>
              <a:ext uri="{FF2B5EF4-FFF2-40B4-BE49-F238E27FC236}">
                <a16:creationId xmlns:a16="http://schemas.microsoft.com/office/drawing/2014/main" id="{B3CE3E45-103E-2F10-9159-B1AF69D907AF}"/>
              </a:ext>
            </a:extLst>
          </p:cNvPr>
          <p:cNvSpPr txBox="1"/>
          <p:nvPr/>
        </p:nvSpPr>
        <p:spPr>
          <a:xfrm>
            <a:off x="103233" y="3242007"/>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37962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BBF7D-2E86-9B00-49CB-4067BBC90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2D52B-CA21-EC00-3B5F-608B360D5391}"/>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6B792D06-F4C4-78CC-919C-99D3884D44E3}"/>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Dans quel modèle le client </a:t>
            </a:r>
            <a:r>
              <a:rPr lang="fr-FR" sz="2400" b="1" dirty="0"/>
              <a:t>ne gère absolument rien de technique</a:t>
            </a:r>
            <a:r>
              <a:rPr lang="fr-FR" sz="2400" dirty="0"/>
              <a:t> ?</a:t>
            </a:r>
          </a:p>
          <a:p>
            <a:pPr marL="0" indent="0">
              <a:buNone/>
            </a:pPr>
            <a:endParaRPr lang="fr-FR" sz="2400" dirty="0"/>
          </a:p>
          <a:p>
            <a:pPr>
              <a:buFont typeface="+mj-lt"/>
              <a:buAutoNum type="arabicPeriod"/>
            </a:pPr>
            <a:r>
              <a:rPr lang="fr-FR" sz="2400" dirty="0"/>
              <a:t>SaaS</a:t>
            </a:r>
          </a:p>
          <a:p>
            <a:pPr>
              <a:buFont typeface="+mj-lt"/>
              <a:buAutoNum type="arabicPeriod"/>
            </a:pPr>
            <a:r>
              <a:rPr lang="fr-FR" sz="2400" dirty="0"/>
              <a:t>PaaS</a:t>
            </a:r>
          </a:p>
          <a:p>
            <a:pPr>
              <a:buFont typeface="+mj-lt"/>
              <a:buAutoNum type="arabicPeriod"/>
            </a:pPr>
            <a:r>
              <a:rPr lang="fr-FR" sz="2400" dirty="0"/>
              <a:t>IaaS</a:t>
            </a:r>
          </a:p>
          <a:p>
            <a:pPr>
              <a:buFont typeface="+mj-lt"/>
              <a:buAutoNum type="arabicPeriod"/>
            </a:pPr>
            <a:r>
              <a:rPr lang="fr-FR" sz="2400" dirty="0"/>
              <a:t>On-</a:t>
            </a:r>
            <a:r>
              <a:rPr lang="fr-FR" sz="2400" dirty="0" err="1"/>
              <a:t>premise</a:t>
            </a:r>
            <a:endParaRPr lang="fr-FR" sz="2400" dirty="0"/>
          </a:p>
          <a:p>
            <a:pPr>
              <a:buFont typeface="+mj-lt"/>
              <a:buAutoNum type="arabicPeriod"/>
            </a:pPr>
            <a:endParaRPr lang="fr-FR" sz="2400" dirty="0"/>
          </a:p>
        </p:txBody>
      </p:sp>
      <p:sp>
        <p:nvSpPr>
          <p:cNvPr id="4" name="ZoneTexte 3">
            <a:extLst>
              <a:ext uri="{FF2B5EF4-FFF2-40B4-BE49-F238E27FC236}">
                <a16:creationId xmlns:a16="http://schemas.microsoft.com/office/drawing/2014/main" id="{A18484D4-9BA5-D5F6-B737-FC749EF39EFF}"/>
              </a:ext>
            </a:extLst>
          </p:cNvPr>
          <p:cNvSpPr txBox="1"/>
          <p:nvPr/>
        </p:nvSpPr>
        <p:spPr>
          <a:xfrm>
            <a:off x="6732240" y="1844824"/>
            <a:ext cx="1230465" cy="923330"/>
          </a:xfrm>
          <a:prstGeom prst="rect">
            <a:avLst/>
          </a:prstGeom>
          <a:noFill/>
        </p:spPr>
        <p:txBody>
          <a:bodyPr wrap="none" rtlCol="0">
            <a:spAutoFit/>
          </a:bodyPr>
          <a:lstStyle/>
          <a:p>
            <a:r>
              <a:rPr lang="fr-FR" b="1" u="sng" dirty="0"/>
              <a:t>Réponse :</a:t>
            </a:r>
          </a:p>
          <a:p>
            <a:r>
              <a:rPr lang="fr-FR" dirty="0"/>
              <a:t>1</a:t>
            </a:r>
          </a:p>
          <a:p>
            <a:endParaRPr lang="fr-FR" dirty="0"/>
          </a:p>
        </p:txBody>
      </p:sp>
      <p:sp>
        <p:nvSpPr>
          <p:cNvPr id="5" name="ZoneTexte 4">
            <a:extLst>
              <a:ext uri="{FF2B5EF4-FFF2-40B4-BE49-F238E27FC236}">
                <a16:creationId xmlns:a16="http://schemas.microsoft.com/office/drawing/2014/main" id="{80AE3B44-FDA1-6CF2-98C3-789564D18E76}"/>
              </a:ext>
            </a:extLst>
          </p:cNvPr>
          <p:cNvSpPr txBox="1"/>
          <p:nvPr/>
        </p:nvSpPr>
        <p:spPr>
          <a:xfrm>
            <a:off x="3203848" y="2589582"/>
            <a:ext cx="5755999" cy="3970318"/>
          </a:xfrm>
          <a:prstGeom prst="rect">
            <a:avLst/>
          </a:prstGeom>
          <a:noFill/>
        </p:spPr>
        <p:txBody>
          <a:bodyPr wrap="none" rtlCol="0">
            <a:spAutoFit/>
          </a:bodyPr>
          <a:lstStyle/>
          <a:p>
            <a:r>
              <a:rPr lang="fr-FR" dirty="0"/>
              <a:t>Dans </a:t>
            </a:r>
            <a:r>
              <a:rPr lang="fr-FR" b="1" dirty="0"/>
              <a:t>SaaS</a:t>
            </a:r>
            <a:r>
              <a:rPr lang="fr-FR" dirty="0"/>
              <a:t>, l'utilisateur utilise directement l’application.</a:t>
            </a:r>
          </a:p>
          <a:p>
            <a:r>
              <a:rPr lang="fr-FR" dirty="0"/>
              <a:t>Il ne gère pas :</a:t>
            </a:r>
          </a:p>
          <a:p>
            <a:pPr marL="171450" indent="-171450">
              <a:buFont typeface="Arial" panose="020B0604020202020204" pitchFamily="34" charset="0"/>
              <a:buChar char="•"/>
            </a:pPr>
            <a:r>
              <a:rPr lang="fr-FR" dirty="0"/>
              <a:t>serveurs</a:t>
            </a:r>
          </a:p>
          <a:p>
            <a:pPr marL="171450" indent="-171450">
              <a:buFont typeface="Arial" panose="020B0604020202020204" pitchFamily="34" charset="0"/>
              <a:buChar char="•"/>
            </a:pPr>
            <a:r>
              <a:rPr lang="fr-FR" dirty="0"/>
              <a:t>OS</a:t>
            </a:r>
          </a:p>
          <a:p>
            <a:pPr marL="171450" indent="-171450">
              <a:buFont typeface="Arial" panose="020B0604020202020204" pitchFamily="34" charset="0"/>
              <a:buChar char="•"/>
            </a:pPr>
            <a:r>
              <a:rPr lang="fr-FR" dirty="0"/>
              <a:t>runtime</a:t>
            </a:r>
          </a:p>
          <a:p>
            <a:pPr marL="171450" indent="-171450">
              <a:buFont typeface="Arial" panose="020B0604020202020204" pitchFamily="34" charset="0"/>
              <a:buChar char="•"/>
            </a:pPr>
            <a:r>
              <a:rPr lang="fr-FR" dirty="0"/>
              <a:t>application</a:t>
            </a:r>
          </a:p>
          <a:p>
            <a:r>
              <a:rPr lang="fr-FR" dirty="0"/>
              <a:t>Exemples :</a:t>
            </a:r>
          </a:p>
          <a:p>
            <a:pPr marL="171450" indent="-171450">
              <a:buFont typeface="Arial" panose="020B0604020202020204" pitchFamily="34" charset="0"/>
              <a:buChar char="•"/>
            </a:pPr>
            <a:r>
              <a:rPr lang="fr-FR" dirty="0"/>
              <a:t>Microsoft 365</a:t>
            </a:r>
          </a:p>
          <a:p>
            <a:pPr marL="171450" indent="-171450">
              <a:buFont typeface="Arial" panose="020B0604020202020204" pitchFamily="34" charset="0"/>
              <a:buChar char="•"/>
            </a:pPr>
            <a:r>
              <a:rPr lang="fr-FR" dirty="0"/>
              <a:t>Salesforce</a:t>
            </a:r>
          </a:p>
          <a:p>
            <a:pPr marL="171450" indent="-171450">
              <a:buFont typeface="Arial" panose="020B0604020202020204" pitchFamily="34" charset="0"/>
              <a:buChar char="•"/>
            </a:pPr>
            <a:r>
              <a:rPr lang="fr-FR" dirty="0"/>
              <a:t>Google Workspace</a:t>
            </a:r>
          </a:p>
          <a:p>
            <a:r>
              <a:rPr lang="fr-FR" dirty="0"/>
              <a:t>L'utilisateur gère seulement :</a:t>
            </a:r>
          </a:p>
          <a:p>
            <a:pPr marL="171450" indent="-171450">
              <a:buFont typeface="Arial" panose="020B0604020202020204" pitchFamily="34" charset="0"/>
              <a:buChar char="•"/>
            </a:pPr>
            <a:r>
              <a:rPr lang="fr-FR" dirty="0"/>
              <a:t>comptes utilisateurs</a:t>
            </a:r>
          </a:p>
          <a:p>
            <a:pPr marL="171450" indent="-171450">
              <a:buFont typeface="Arial" panose="020B0604020202020204" pitchFamily="34" charset="0"/>
              <a:buChar char="•"/>
            </a:pPr>
            <a:r>
              <a:rPr lang="fr-FR" dirty="0"/>
              <a:t>données</a:t>
            </a:r>
          </a:p>
          <a:p>
            <a:pPr marL="171450" indent="-171450">
              <a:buFont typeface="Arial" panose="020B0604020202020204" pitchFamily="34" charset="0"/>
              <a:buChar char="•"/>
            </a:pPr>
            <a:r>
              <a:rPr lang="fr-FR" dirty="0"/>
              <a:t>configuration fonctionnelle</a:t>
            </a:r>
          </a:p>
        </p:txBody>
      </p:sp>
      <p:sp>
        <p:nvSpPr>
          <p:cNvPr id="6" name="ZoneTexte 5">
            <a:extLst>
              <a:ext uri="{FF2B5EF4-FFF2-40B4-BE49-F238E27FC236}">
                <a16:creationId xmlns:a16="http://schemas.microsoft.com/office/drawing/2014/main" id="{700B0FBD-1E12-432E-4587-8126A1BD75E7}"/>
              </a:ext>
            </a:extLst>
          </p:cNvPr>
          <p:cNvSpPr txBox="1"/>
          <p:nvPr/>
        </p:nvSpPr>
        <p:spPr>
          <a:xfrm>
            <a:off x="26747" y="2384990"/>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41325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BB473-17BD-E50E-95D8-966EB6973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19FF7-80A6-AFEA-86F3-D33AE3022E3A}"/>
              </a:ext>
            </a:extLst>
          </p:cNvPr>
          <p:cNvSpPr>
            <a:spLocks noGrp="1"/>
          </p:cNvSpPr>
          <p:nvPr>
            <p:ph type="title"/>
          </p:nvPr>
        </p:nvSpPr>
        <p:spPr/>
        <p:txBody>
          <a:bodyPr/>
          <a:lstStyle/>
          <a:p>
            <a:r>
              <a:rPr lang="en-US" dirty="0"/>
              <a:t>Question 5 </a:t>
            </a:r>
          </a:p>
        </p:txBody>
      </p:sp>
      <p:sp>
        <p:nvSpPr>
          <p:cNvPr id="3" name="Content Placeholder 2">
            <a:extLst>
              <a:ext uri="{FF2B5EF4-FFF2-40B4-BE49-F238E27FC236}">
                <a16:creationId xmlns:a16="http://schemas.microsoft.com/office/drawing/2014/main" id="{EA4821C7-CBEC-B3A9-6F17-AB0ACB345114}"/>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Vous devez installer </a:t>
            </a:r>
            <a:r>
              <a:rPr lang="fr-FR" sz="2400" b="1" dirty="0"/>
              <a:t>une application métier </a:t>
            </a:r>
            <a:r>
              <a:rPr lang="fr-FR" sz="2400" b="1" dirty="0" err="1"/>
              <a:t>legacy</a:t>
            </a:r>
            <a:r>
              <a:rPr lang="fr-FR" sz="2400" b="1" dirty="0"/>
              <a:t> nécessitant un accès complet au serveur</a:t>
            </a:r>
            <a:r>
              <a:rPr lang="fr-FR" sz="2400" dirty="0"/>
              <a:t>.</a:t>
            </a:r>
          </a:p>
          <a:p>
            <a:pPr marL="0" indent="0">
              <a:buNone/>
            </a:pPr>
            <a:r>
              <a:rPr lang="fr-FR" sz="2400" dirty="0"/>
              <a:t>Quel modèle est le plus adapté ?</a:t>
            </a:r>
          </a:p>
          <a:p>
            <a:pPr>
              <a:buFont typeface="+mj-lt"/>
              <a:buAutoNum type="arabicPeriod"/>
            </a:pPr>
            <a:r>
              <a:rPr lang="fr-FR" sz="2400" dirty="0"/>
              <a:t>SaaS</a:t>
            </a:r>
          </a:p>
          <a:p>
            <a:pPr>
              <a:buFont typeface="+mj-lt"/>
              <a:buAutoNum type="arabicPeriod"/>
            </a:pPr>
            <a:r>
              <a:rPr lang="fr-FR" sz="2400" dirty="0"/>
              <a:t>PaaS</a:t>
            </a:r>
          </a:p>
          <a:p>
            <a:pPr>
              <a:buFont typeface="+mj-lt"/>
              <a:buAutoNum type="arabicPeriod"/>
            </a:pPr>
            <a:r>
              <a:rPr lang="fr-FR" sz="2400" dirty="0"/>
              <a:t>IaaS</a:t>
            </a:r>
          </a:p>
          <a:p>
            <a:pPr>
              <a:buFont typeface="+mj-lt"/>
              <a:buAutoNum type="arabicPeriod"/>
            </a:pPr>
            <a:r>
              <a:rPr lang="fr-FR" sz="2400" dirty="0" err="1"/>
              <a:t>Serverless</a:t>
            </a:r>
            <a:endParaRPr lang="fr-FR" sz="2400" dirty="0"/>
          </a:p>
          <a:p>
            <a:pPr marL="0" indent="0">
              <a:buNone/>
            </a:pPr>
            <a:endParaRPr lang="fr-FR" sz="2400" dirty="0"/>
          </a:p>
        </p:txBody>
      </p:sp>
      <p:sp>
        <p:nvSpPr>
          <p:cNvPr id="4" name="ZoneTexte 3">
            <a:extLst>
              <a:ext uri="{FF2B5EF4-FFF2-40B4-BE49-F238E27FC236}">
                <a16:creationId xmlns:a16="http://schemas.microsoft.com/office/drawing/2014/main" id="{CD77AACB-600F-9B4D-35C8-B58C1FCAB241}"/>
              </a:ext>
            </a:extLst>
          </p:cNvPr>
          <p:cNvSpPr txBox="1"/>
          <p:nvPr/>
        </p:nvSpPr>
        <p:spPr>
          <a:xfrm>
            <a:off x="6948264" y="2420888"/>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AE22EDD4-5587-AF3A-50A8-9E2B96FB26FB}"/>
              </a:ext>
            </a:extLst>
          </p:cNvPr>
          <p:cNvSpPr txBox="1"/>
          <p:nvPr/>
        </p:nvSpPr>
        <p:spPr>
          <a:xfrm>
            <a:off x="4067944" y="3429000"/>
            <a:ext cx="4261551" cy="2585323"/>
          </a:xfrm>
          <a:prstGeom prst="rect">
            <a:avLst/>
          </a:prstGeom>
          <a:noFill/>
        </p:spPr>
        <p:txBody>
          <a:bodyPr wrap="none" rtlCol="0">
            <a:spAutoFit/>
          </a:bodyPr>
          <a:lstStyle/>
          <a:p>
            <a:r>
              <a:rPr lang="fr-FR" dirty="0"/>
              <a:t>Une application </a:t>
            </a:r>
            <a:r>
              <a:rPr lang="fr-FR" dirty="0" err="1"/>
              <a:t>legacy</a:t>
            </a:r>
            <a:r>
              <a:rPr lang="fr-FR" dirty="0"/>
              <a:t> peut nécessiter :</a:t>
            </a:r>
          </a:p>
          <a:p>
            <a:pPr marL="171450" indent="-171450">
              <a:buFont typeface="Arial" panose="020B0604020202020204" pitchFamily="34" charset="0"/>
              <a:buChar char="•"/>
            </a:pPr>
            <a:r>
              <a:rPr lang="fr-FR" dirty="0"/>
              <a:t>accès administrateur</a:t>
            </a:r>
          </a:p>
          <a:p>
            <a:pPr marL="171450" indent="-171450">
              <a:buFont typeface="Arial" panose="020B0604020202020204" pitchFamily="34" charset="0"/>
              <a:buChar char="•"/>
            </a:pPr>
            <a:r>
              <a:rPr lang="fr-FR" dirty="0"/>
              <a:t>installation de composants</a:t>
            </a:r>
          </a:p>
          <a:p>
            <a:pPr marL="171450" indent="-171450">
              <a:buFont typeface="Arial" panose="020B0604020202020204" pitchFamily="34" charset="0"/>
              <a:buChar char="•"/>
            </a:pPr>
            <a:r>
              <a:rPr lang="fr-FR" dirty="0"/>
              <a:t>configuration système</a:t>
            </a:r>
          </a:p>
          <a:p>
            <a:r>
              <a:rPr lang="fr-FR" dirty="0"/>
              <a:t>Ces besoins sont compatibles avec </a:t>
            </a:r>
            <a:r>
              <a:rPr lang="fr-FR" b="1" dirty="0"/>
              <a:t>IaaS</a:t>
            </a:r>
            <a:r>
              <a:rPr lang="fr-FR" dirty="0"/>
              <a:t>.</a:t>
            </a:r>
          </a:p>
          <a:p>
            <a:r>
              <a:rPr lang="fr-FR" dirty="0"/>
              <a:t>Exemple Azure :</a:t>
            </a:r>
          </a:p>
          <a:p>
            <a:pPr marL="171450" indent="-171450">
              <a:buFont typeface="Arial" panose="020B0604020202020204" pitchFamily="34" charset="0"/>
              <a:buChar char="•"/>
            </a:pPr>
            <a:r>
              <a:rPr lang="fr-FR" dirty="0"/>
              <a:t>Azure Virtual Machine</a:t>
            </a:r>
          </a:p>
          <a:p>
            <a:pPr marL="171450" indent="-171450">
              <a:buFont typeface="Arial" panose="020B0604020202020204" pitchFamily="34" charset="0"/>
              <a:buChar char="•"/>
            </a:pPr>
            <a:r>
              <a:rPr lang="fr-FR" dirty="0"/>
              <a:t>Windows Server</a:t>
            </a:r>
          </a:p>
          <a:p>
            <a:pPr marL="171450" indent="-171450">
              <a:buFont typeface="Arial" panose="020B0604020202020204" pitchFamily="34" charset="0"/>
              <a:buChar char="•"/>
            </a:pPr>
            <a:r>
              <a:rPr lang="fr-FR" dirty="0"/>
              <a:t>SQL Server installé manuellement</a:t>
            </a:r>
          </a:p>
        </p:txBody>
      </p:sp>
      <p:sp>
        <p:nvSpPr>
          <p:cNvPr id="6" name="ZoneTexte 5">
            <a:extLst>
              <a:ext uri="{FF2B5EF4-FFF2-40B4-BE49-F238E27FC236}">
                <a16:creationId xmlns:a16="http://schemas.microsoft.com/office/drawing/2014/main" id="{EAB1E3B0-82F7-8D8D-D9F7-55FE8F57973E}"/>
              </a:ext>
            </a:extLst>
          </p:cNvPr>
          <p:cNvSpPr txBox="1"/>
          <p:nvPr/>
        </p:nvSpPr>
        <p:spPr>
          <a:xfrm>
            <a:off x="32925" y="3244334"/>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402983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66B09-394F-8B05-BDCE-E805FEC564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54569-C56A-F363-7617-5D31F8E564F9}"/>
              </a:ext>
            </a:extLst>
          </p:cNvPr>
          <p:cNvSpPr>
            <a:spLocks noGrp="1"/>
          </p:cNvSpPr>
          <p:nvPr>
            <p:ph type="title"/>
          </p:nvPr>
        </p:nvSpPr>
        <p:spPr/>
        <p:txBody>
          <a:bodyPr/>
          <a:lstStyle/>
          <a:p>
            <a:r>
              <a:rPr lang="en-US" dirty="0"/>
              <a:t>Question 6 </a:t>
            </a:r>
          </a:p>
        </p:txBody>
      </p:sp>
      <p:sp>
        <p:nvSpPr>
          <p:cNvPr id="3" name="Content Placeholder 2">
            <a:extLst>
              <a:ext uri="{FF2B5EF4-FFF2-40B4-BE49-F238E27FC236}">
                <a16:creationId xmlns:a16="http://schemas.microsoft.com/office/drawing/2014/main" id="{DED0C4CE-7E92-E02B-B0C7-69EEA1BA2864}"/>
              </a:ext>
            </a:extLst>
          </p:cNvPr>
          <p:cNvSpPr>
            <a:spLocks noGrp="1"/>
          </p:cNvSpPr>
          <p:nvPr>
            <p:ph type="body" sz="quarter" idx="13"/>
          </p:nvPr>
        </p:nvSpPr>
        <p:spPr>
          <a:xfrm>
            <a:off x="457200" y="1066800"/>
            <a:ext cx="8435280" cy="5314528"/>
          </a:xfrm>
          <a:prstGeom prst="rect">
            <a:avLst/>
          </a:prstGeom>
        </p:spPr>
        <p:txBody>
          <a:bodyPr/>
          <a:lstStyle/>
          <a:p>
            <a:pPr marL="0" indent="0">
              <a:buNone/>
            </a:pPr>
            <a:r>
              <a:rPr lang="fr-FR" sz="2400" dirty="0"/>
              <a:t>Quelle solution est </a:t>
            </a:r>
            <a:r>
              <a:rPr lang="fr-FR" sz="2400" b="1" dirty="0"/>
              <a:t>la plus proche du modèle On-</a:t>
            </a:r>
            <a:r>
              <a:rPr lang="fr-FR" sz="2400" b="1" dirty="0" err="1"/>
              <a:t>premise</a:t>
            </a:r>
            <a:r>
              <a:rPr lang="fr-FR" sz="2400" dirty="0"/>
              <a:t> ?</a:t>
            </a:r>
          </a:p>
          <a:p>
            <a:endParaRPr lang="fr-FR" sz="2400" dirty="0"/>
          </a:p>
          <a:p>
            <a:pPr>
              <a:buFont typeface="+mj-lt"/>
              <a:buAutoNum type="arabicPeriod"/>
            </a:pPr>
            <a:r>
              <a:rPr lang="fr-FR" sz="2400" dirty="0"/>
              <a:t>SaaS</a:t>
            </a:r>
          </a:p>
          <a:p>
            <a:pPr>
              <a:buFont typeface="+mj-lt"/>
              <a:buAutoNum type="arabicPeriod"/>
            </a:pPr>
            <a:r>
              <a:rPr lang="fr-FR" sz="2400" dirty="0"/>
              <a:t>PaaS</a:t>
            </a:r>
          </a:p>
          <a:p>
            <a:pPr>
              <a:buFont typeface="+mj-lt"/>
              <a:buAutoNum type="arabicPeriod"/>
            </a:pPr>
            <a:r>
              <a:rPr lang="fr-FR" sz="2400" dirty="0"/>
              <a:t>IaaS</a:t>
            </a:r>
          </a:p>
          <a:p>
            <a:pPr>
              <a:buFont typeface="+mj-lt"/>
              <a:buAutoNum type="arabicPeriod"/>
            </a:pPr>
            <a:r>
              <a:rPr lang="fr-FR" sz="2400" dirty="0" err="1"/>
              <a:t>Serverless</a:t>
            </a:r>
            <a:endParaRPr lang="fr-FR" sz="2400" dirty="0"/>
          </a:p>
          <a:p>
            <a:pPr marL="0" indent="0">
              <a:buNone/>
            </a:pPr>
            <a:endParaRPr lang="fr-FR" sz="2400" dirty="0"/>
          </a:p>
        </p:txBody>
      </p:sp>
      <p:sp>
        <p:nvSpPr>
          <p:cNvPr id="4" name="ZoneTexte 3">
            <a:extLst>
              <a:ext uri="{FF2B5EF4-FFF2-40B4-BE49-F238E27FC236}">
                <a16:creationId xmlns:a16="http://schemas.microsoft.com/office/drawing/2014/main" id="{EC032C81-75F3-2D89-53B9-E61D349A2527}"/>
              </a:ext>
            </a:extLst>
          </p:cNvPr>
          <p:cNvSpPr txBox="1"/>
          <p:nvPr/>
        </p:nvSpPr>
        <p:spPr>
          <a:xfrm>
            <a:off x="6444208" y="2132856"/>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7" name="ZoneTexte 6">
            <a:extLst>
              <a:ext uri="{FF2B5EF4-FFF2-40B4-BE49-F238E27FC236}">
                <a16:creationId xmlns:a16="http://schemas.microsoft.com/office/drawing/2014/main" id="{6856BF31-66EA-1344-E68D-EFA02BD98992}"/>
              </a:ext>
            </a:extLst>
          </p:cNvPr>
          <p:cNvSpPr txBox="1"/>
          <p:nvPr/>
        </p:nvSpPr>
        <p:spPr>
          <a:xfrm>
            <a:off x="2699792" y="4017868"/>
            <a:ext cx="4825424" cy="369332"/>
          </a:xfrm>
          <a:prstGeom prst="rect">
            <a:avLst/>
          </a:prstGeom>
          <a:noFill/>
        </p:spPr>
        <p:txBody>
          <a:bodyPr wrap="none" rtlCol="0">
            <a:spAutoFit/>
          </a:bodyPr>
          <a:lstStyle/>
          <a:p>
            <a:r>
              <a:rPr lang="fr-FR" dirty="0"/>
              <a:t>IaaS est presque identique à un serveur local :</a:t>
            </a:r>
          </a:p>
        </p:txBody>
      </p:sp>
      <p:graphicFrame>
        <p:nvGraphicFramePr>
          <p:cNvPr id="12" name="Tableau 11">
            <a:extLst>
              <a:ext uri="{FF2B5EF4-FFF2-40B4-BE49-F238E27FC236}">
                <a16:creationId xmlns:a16="http://schemas.microsoft.com/office/drawing/2014/main" id="{6DD26C20-8322-8A8E-FA9A-854E3EE1D52A}"/>
              </a:ext>
            </a:extLst>
          </p:cNvPr>
          <p:cNvGraphicFramePr>
            <a:graphicFrameLocks noGrp="1"/>
          </p:cNvGraphicFramePr>
          <p:nvPr>
            <p:extLst>
              <p:ext uri="{D42A27DB-BD31-4B8C-83A1-F6EECF244321}">
                <p14:modId xmlns:p14="http://schemas.microsoft.com/office/powerpoint/2010/main" val="2242193663"/>
              </p:ext>
            </p:extLst>
          </p:nvPr>
        </p:nvGraphicFramePr>
        <p:xfrm>
          <a:off x="2699792" y="4437112"/>
          <a:ext cx="5256584" cy="1463040"/>
        </p:xfrm>
        <a:graphic>
          <a:graphicData uri="http://schemas.openxmlformats.org/drawingml/2006/table">
            <a:tbl>
              <a:tblPr/>
              <a:tblGrid>
                <a:gridCol w="2628292">
                  <a:extLst>
                    <a:ext uri="{9D8B030D-6E8A-4147-A177-3AD203B41FA5}">
                      <a16:colId xmlns:a16="http://schemas.microsoft.com/office/drawing/2014/main" val="1899080999"/>
                    </a:ext>
                  </a:extLst>
                </a:gridCol>
                <a:gridCol w="2628292">
                  <a:extLst>
                    <a:ext uri="{9D8B030D-6E8A-4147-A177-3AD203B41FA5}">
                      <a16:colId xmlns:a16="http://schemas.microsoft.com/office/drawing/2014/main" val="434509571"/>
                    </a:ext>
                  </a:extLst>
                </a:gridCol>
              </a:tblGrid>
              <a:tr h="0">
                <a:tc>
                  <a:txBody>
                    <a:bodyPr/>
                    <a:lstStyle/>
                    <a:p>
                      <a:pPr>
                        <a:buNone/>
                      </a:pPr>
                      <a:r>
                        <a:rPr lang="fr-FR" b="1" dirty="0"/>
                        <a:t>On-</a:t>
                      </a:r>
                      <a:r>
                        <a:rPr lang="fr-FR" b="1" dirty="0" err="1"/>
                        <a:t>premise</a:t>
                      </a:r>
                      <a:endParaRPr lang="fr-FR" b="1" dirty="0"/>
                    </a:p>
                  </a:txBody>
                  <a:tcPr anchor="ctr">
                    <a:lnL>
                      <a:noFill/>
                    </a:lnL>
                    <a:lnR>
                      <a:noFill/>
                    </a:lnR>
                    <a:lnT>
                      <a:noFill/>
                    </a:lnT>
                    <a:lnB>
                      <a:noFill/>
                    </a:lnB>
                    <a:noFill/>
                  </a:tcPr>
                </a:tc>
                <a:tc>
                  <a:txBody>
                    <a:bodyPr/>
                    <a:lstStyle/>
                    <a:p>
                      <a:pPr>
                        <a:buNone/>
                      </a:pPr>
                      <a:r>
                        <a:rPr lang="fr-FR" b="1" dirty="0"/>
                        <a:t>IaaS</a:t>
                      </a:r>
                    </a:p>
                  </a:txBody>
                  <a:tcPr anchor="ctr">
                    <a:lnL>
                      <a:noFill/>
                    </a:lnL>
                    <a:lnR>
                      <a:noFill/>
                    </a:lnR>
                    <a:lnT>
                      <a:noFill/>
                    </a:lnT>
                    <a:lnB>
                      <a:noFill/>
                    </a:lnB>
                    <a:noFill/>
                  </a:tcPr>
                </a:tc>
                <a:extLst>
                  <a:ext uri="{0D108BD9-81ED-4DB2-BD59-A6C34878D82A}">
                    <a16:rowId xmlns:a16="http://schemas.microsoft.com/office/drawing/2014/main" val="2123819636"/>
                  </a:ext>
                </a:extLst>
              </a:tr>
              <a:tr h="0">
                <a:tc>
                  <a:txBody>
                    <a:bodyPr/>
                    <a:lstStyle/>
                    <a:p>
                      <a:pPr>
                        <a:buNone/>
                      </a:pPr>
                      <a:r>
                        <a:rPr lang="fr-FR"/>
                        <a:t>serveur physique</a:t>
                      </a:r>
                      <a:endParaRPr lang="fr-FR" dirty="0"/>
                    </a:p>
                  </a:txBody>
                  <a:tcPr anchor="ctr">
                    <a:lnL>
                      <a:noFill/>
                    </a:lnL>
                    <a:lnR>
                      <a:noFill/>
                    </a:lnR>
                    <a:lnT>
                      <a:noFill/>
                    </a:lnT>
                    <a:lnB>
                      <a:noFill/>
                    </a:lnB>
                    <a:noFill/>
                  </a:tcPr>
                </a:tc>
                <a:tc>
                  <a:txBody>
                    <a:bodyPr/>
                    <a:lstStyle/>
                    <a:p>
                      <a:pPr>
                        <a:buNone/>
                      </a:pPr>
                      <a:r>
                        <a:rPr lang="fr-FR"/>
                        <a:t>VM</a:t>
                      </a:r>
                    </a:p>
                  </a:txBody>
                  <a:tcPr anchor="ctr">
                    <a:lnL>
                      <a:noFill/>
                    </a:lnL>
                    <a:lnR>
                      <a:noFill/>
                    </a:lnR>
                    <a:lnT>
                      <a:noFill/>
                    </a:lnT>
                    <a:lnB>
                      <a:noFill/>
                    </a:lnB>
                    <a:noFill/>
                  </a:tcPr>
                </a:tc>
                <a:extLst>
                  <a:ext uri="{0D108BD9-81ED-4DB2-BD59-A6C34878D82A}">
                    <a16:rowId xmlns:a16="http://schemas.microsoft.com/office/drawing/2014/main" val="2452285362"/>
                  </a:ext>
                </a:extLst>
              </a:tr>
              <a:tr h="0">
                <a:tc>
                  <a:txBody>
                    <a:bodyPr/>
                    <a:lstStyle/>
                    <a:p>
                      <a:pPr>
                        <a:buNone/>
                      </a:pPr>
                      <a:r>
                        <a:rPr lang="fr-FR" dirty="0"/>
                        <a:t>OS installé</a:t>
                      </a:r>
                    </a:p>
                  </a:txBody>
                  <a:tcPr anchor="ctr">
                    <a:lnL>
                      <a:noFill/>
                    </a:lnL>
                    <a:lnR>
                      <a:noFill/>
                    </a:lnR>
                    <a:lnT>
                      <a:noFill/>
                    </a:lnT>
                    <a:lnB>
                      <a:noFill/>
                    </a:lnB>
                    <a:noFill/>
                  </a:tcPr>
                </a:tc>
                <a:tc>
                  <a:txBody>
                    <a:bodyPr/>
                    <a:lstStyle/>
                    <a:p>
                      <a:pPr>
                        <a:buNone/>
                      </a:pPr>
                      <a:r>
                        <a:rPr lang="fr-FR" dirty="0"/>
                        <a:t>OS installé</a:t>
                      </a:r>
                    </a:p>
                  </a:txBody>
                  <a:tcPr anchor="ctr">
                    <a:lnL>
                      <a:noFill/>
                    </a:lnL>
                    <a:lnR>
                      <a:noFill/>
                    </a:lnR>
                    <a:lnT>
                      <a:noFill/>
                    </a:lnT>
                    <a:lnB>
                      <a:noFill/>
                    </a:lnB>
                    <a:noFill/>
                  </a:tcPr>
                </a:tc>
                <a:extLst>
                  <a:ext uri="{0D108BD9-81ED-4DB2-BD59-A6C34878D82A}">
                    <a16:rowId xmlns:a16="http://schemas.microsoft.com/office/drawing/2014/main" val="1653899310"/>
                  </a:ext>
                </a:extLst>
              </a:tr>
              <a:tr h="0">
                <a:tc>
                  <a:txBody>
                    <a:bodyPr/>
                    <a:lstStyle/>
                    <a:p>
                      <a:pPr>
                        <a:buNone/>
                      </a:pPr>
                      <a:r>
                        <a:rPr lang="fr-FR"/>
                        <a:t>gestion OS</a:t>
                      </a:r>
                    </a:p>
                  </a:txBody>
                  <a:tcPr anchor="ctr">
                    <a:lnL>
                      <a:noFill/>
                    </a:lnL>
                    <a:lnR>
                      <a:noFill/>
                    </a:lnR>
                    <a:lnT>
                      <a:noFill/>
                    </a:lnT>
                    <a:lnB>
                      <a:noFill/>
                    </a:lnB>
                    <a:noFill/>
                  </a:tcPr>
                </a:tc>
                <a:tc>
                  <a:txBody>
                    <a:bodyPr/>
                    <a:lstStyle/>
                    <a:p>
                      <a:pPr>
                        <a:buNone/>
                      </a:pPr>
                      <a:r>
                        <a:rPr lang="fr-FR" dirty="0"/>
                        <a:t>gestion OS</a:t>
                      </a:r>
                    </a:p>
                  </a:txBody>
                  <a:tcPr anchor="ctr">
                    <a:lnL>
                      <a:noFill/>
                    </a:lnL>
                    <a:lnR>
                      <a:noFill/>
                    </a:lnR>
                    <a:lnT>
                      <a:noFill/>
                    </a:lnT>
                    <a:lnB>
                      <a:noFill/>
                    </a:lnB>
                    <a:noFill/>
                  </a:tcPr>
                </a:tc>
                <a:extLst>
                  <a:ext uri="{0D108BD9-81ED-4DB2-BD59-A6C34878D82A}">
                    <a16:rowId xmlns:a16="http://schemas.microsoft.com/office/drawing/2014/main" val="1556535890"/>
                  </a:ext>
                </a:extLst>
              </a:tr>
            </a:tbl>
          </a:graphicData>
        </a:graphic>
      </p:graphicFrame>
      <p:sp>
        <p:nvSpPr>
          <p:cNvPr id="14" name="ZoneTexte 13">
            <a:extLst>
              <a:ext uri="{FF2B5EF4-FFF2-40B4-BE49-F238E27FC236}">
                <a16:creationId xmlns:a16="http://schemas.microsoft.com/office/drawing/2014/main" id="{4931D466-D046-E98F-18D0-0E280CAE0502}"/>
              </a:ext>
            </a:extLst>
          </p:cNvPr>
          <p:cNvSpPr txBox="1"/>
          <p:nvPr/>
        </p:nvSpPr>
        <p:spPr>
          <a:xfrm>
            <a:off x="2671850" y="6067918"/>
            <a:ext cx="4857805" cy="369332"/>
          </a:xfrm>
          <a:prstGeom prst="rect">
            <a:avLst/>
          </a:prstGeom>
          <a:noFill/>
        </p:spPr>
        <p:txBody>
          <a:bodyPr wrap="none" rtlCol="0">
            <a:spAutoFit/>
          </a:bodyPr>
          <a:lstStyle/>
          <a:p>
            <a:r>
              <a:rPr lang="fr-FR" dirty="0"/>
              <a:t>La différence : le matériel est géré par le cloud</a:t>
            </a:r>
          </a:p>
        </p:txBody>
      </p:sp>
      <p:sp>
        <p:nvSpPr>
          <p:cNvPr id="15" name="ZoneTexte 14">
            <a:extLst>
              <a:ext uri="{FF2B5EF4-FFF2-40B4-BE49-F238E27FC236}">
                <a16:creationId xmlns:a16="http://schemas.microsoft.com/office/drawing/2014/main" id="{F8945FFA-2FA9-6472-5AE9-887AED35037C}"/>
              </a:ext>
            </a:extLst>
          </p:cNvPr>
          <p:cNvSpPr txBox="1"/>
          <p:nvPr/>
        </p:nvSpPr>
        <p:spPr>
          <a:xfrm>
            <a:off x="107504" y="2852936"/>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143911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4"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5B598-A574-F116-70BC-F15DE031E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1C6BE-6599-4BBB-7369-59A23E966E17}"/>
              </a:ext>
            </a:extLst>
          </p:cNvPr>
          <p:cNvSpPr>
            <a:spLocks noGrp="1"/>
          </p:cNvSpPr>
          <p:nvPr>
            <p:ph type="title"/>
          </p:nvPr>
        </p:nvSpPr>
        <p:spPr/>
        <p:txBody>
          <a:bodyPr/>
          <a:lstStyle/>
          <a:p>
            <a:r>
              <a:rPr lang="en-US" dirty="0"/>
              <a:t>Question 7</a:t>
            </a:r>
          </a:p>
        </p:txBody>
      </p:sp>
      <p:sp>
        <p:nvSpPr>
          <p:cNvPr id="3" name="Content Placeholder 2">
            <a:extLst>
              <a:ext uri="{FF2B5EF4-FFF2-40B4-BE49-F238E27FC236}">
                <a16:creationId xmlns:a16="http://schemas.microsoft.com/office/drawing/2014/main" id="{E07F63B5-57C6-E5E7-B72C-9F275778EF10}"/>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Une équipe utilise </a:t>
            </a:r>
            <a:r>
              <a:rPr lang="fr-FR" sz="2400" b="1" dirty="0"/>
              <a:t>Azure App Service</a:t>
            </a:r>
            <a:r>
              <a:rPr lang="fr-FR" sz="2400" dirty="0"/>
              <a:t> pour héberger une application web.</a:t>
            </a:r>
          </a:p>
          <a:p>
            <a:pPr marL="0" indent="0">
              <a:buNone/>
            </a:pPr>
            <a:r>
              <a:rPr lang="fr-FR" sz="2400" dirty="0"/>
              <a:t>Quel modèle cloud est utilisé ?</a:t>
            </a:r>
          </a:p>
          <a:p>
            <a:pPr marL="0" indent="0">
              <a:buNone/>
            </a:pPr>
            <a:endParaRPr lang="fr-FR" sz="2400" dirty="0"/>
          </a:p>
          <a:p>
            <a:pPr>
              <a:buFont typeface="+mj-lt"/>
              <a:buAutoNum type="arabicPeriod"/>
            </a:pPr>
            <a:r>
              <a:rPr lang="fr-FR" sz="2400" dirty="0"/>
              <a:t>On-</a:t>
            </a:r>
            <a:r>
              <a:rPr lang="fr-FR" sz="2400" dirty="0" err="1"/>
              <a:t>premise</a:t>
            </a:r>
            <a:endParaRPr lang="fr-FR" sz="2400" dirty="0"/>
          </a:p>
          <a:p>
            <a:pPr>
              <a:buFont typeface="+mj-lt"/>
              <a:buAutoNum type="arabicPeriod"/>
            </a:pPr>
            <a:r>
              <a:rPr lang="fr-FR" sz="2400" dirty="0"/>
              <a:t>IaaS</a:t>
            </a:r>
          </a:p>
          <a:p>
            <a:pPr>
              <a:buFont typeface="+mj-lt"/>
              <a:buAutoNum type="arabicPeriod"/>
            </a:pPr>
            <a:r>
              <a:rPr lang="fr-FR" sz="2400" dirty="0"/>
              <a:t>PaaS</a:t>
            </a:r>
          </a:p>
          <a:p>
            <a:pPr>
              <a:buFont typeface="+mj-lt"/>
              <a:buAutoNum type="arabicPeriod"/>
            </a:pPr>
            <a:r>
              <a:rPr lang="fr-FR" sz="2400" dirty="0"/>
              <a:t>SaaS</a:t>
            </a:r>
          </a:p>
          <a:p>
            <a:pPr marL="0" indent="0">
              <a:buNone/>
            </a:pPr>
            <a:endParaRPr lang="fr-FR" sz="2400" dirty="0"/>
          </a:p>
        </p:txBody>
      </p:sp>
      <p:sp>
        <p:nvSpPr>
          <p:cNvPr id="4" name="ZoneTexte 3">
            <a:extLst>
              <a:ext uri="{FF2B5EF4-FFF2-40B4-BE49-F238E27FC236}">
                <a16:creationId xmlns:a16="http://schemas.microsoft.com/office/drawing/2014/main" id="{33F6F0DE-9789-6082-12B6-4CC09773A756}"/>
              </a:ext>
            </a:extLst>
          </p:cNvPr>
          <p:cNvSpPr txBox="1"/>
          <p:nvPr/>
        </p:nvSpPr>
        <p:spPr>
          <a:xfrm>
            <a:off x="7020272" y="2420888"/>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3E0157CE-F9BF-64D5-7E74-016C9FAAD904}"/>
              </a:ext>
            </a:extLst>
          </p:cNvPr>
          <p:cNvSpPr txBox="1"/>
          <p:nvPr/>
        </p:nvSpPr>
        <p:spPr>
          <a:xfrm>
            <a:off x="2699792" y="4017868"/>
            <a:ext cx="5871864" cy="2308324"/>
          </a:xfrm>
          <a:prstGeom prst="rect">
            <a:avLst/>
          </a:prstGeom>
          <a:noFill/>
        </p:spPr>
        <p:txBody>
          <a:bodyPr wrap="none" rtlCol="0">
            <a:spAutoFit/>
          </a:bodyPr>
          <a:lstStyle/>
          <a:p>
            <a:r>
              <a:rPr lang="fr-FR" dirty="0"/>
              <a:t>Azure App Service est un service </a:t>
            </a:r>
            <a:r>
              <a:rPr lang="fr-FR" b="1" dirty="0"/>
              <a:t>Platform as a Service</a:t>
            </a:r>
            <a:r>
              <a:rPr lang="fr-FR" dirty="0"/>
              <a:t>.</a:t>
            </a:r>
          </a:p>
          <a:p>
            <a:r>
              <a:rPr lang="fr-FR" dirty="0"/>
              <a:t>Azure gère :</a:t>
            </a:r>
          </a:p>
          <a:p>
            <a:pPr marL="171450" indent="-171450">
              <a:buFont typeface="Arial" panose="020B0604020202020204" pitchFamily="34" charset="0"/>
              <a:buChar char="•"/>
            </a:pPr>
            <a:r>
              <a:rPr lang="fr-FR" dirty="0"/>
              <a:t>OS</a:t>
            </a:r>
          </a:p>
          <a:p>
            <a:pPr marL="171450" indent="-171450">
              <a:buFont typeface="Arial" panose="020B0604020202020204" pitchFamily="34" charset="0"/>
              <a:buChar char="•"/>
            </a:pPr>
            <a:r>
              <a:rPr lang="fr-FR" dirty="0"/>
              <a:t>runtime</a:t>
            </a:r>
          </a:p>
          <a:p>
            <a:pPr marL="171450" indent="-171450">
              <a:buFont typeface="Arial" panose="020B0604020202020204" pitchFamily="34" charset="0"/>
              <a:buChar char="•"/>
            </a:pPr>
            <a:r>
              <a:rPr lang="fr-FR" dirty="0"/>
              <a:t>patchs</a:t>
            </a:r>
          </a:p>
          <a:p>
            <a:pPr marL="171450" indent="-171450">
              <a:buFont typeface="Arial" panose="020B0604020202020204" pitchFamily="34" charset="0"/>
              <a:buChar char="•"/>
            </a:pPr>
            <a:r>
              <a:rPr lang="fr-FR" dirty="0" err="1"/>
              <a:t>scaling</a:t>
            </a:r>
            <a:endParaRPr lang="fr-FR" dirty="0"/>
          </a:p>
          <a:p>
            <a:pPr marL="171450" indent="-171450">
              <a:buFont typeface="Arial" panose="020B0604020202020204" pitchFamily="34" charset="0"/>
              <a:buChar char="•"/>
            </a:pPr>
            <a:r>
              <a:rPr lang="fr-FR" dirty="0" err="1"/>
              <a:t>load</a:t>
            </a:r>
            <a:r>
              <a:rPr lang="fr-FR" dirty="0"/>
              <a:t> balancing</a:t>
            </a:r>
          </a:p>
          <a:p>
            <a:r>
              <a:rPr lang="fr-FR" dirty="0"/>
              <a:t>Le développeur déploie seulement l'application</a:t>
            </a:r>
          </a:p>
        </p:txBody>
      </p:sp>
      <p:sp>
        <p:nvSpPr>
          <p:cNvPr id="6" name="ZoneTexte 5">
            <a:extLst>
              <a:ext uri="{FF2B5EF4-FFF2-40B4-BE49-F238E27FC236}">
                <a16:creationId xmlns:a16="http://schemas.microsoft.com/office/drawing/2014/main" id="{2FB6178A-81CB-8E80-4890-1EDEC7574C85}"/>
              </a:ext>
            </a:extLst>
          </p:cNvPr>
          <p:cNvSpPr txBox="1"/>
          <p:nvPr/>
        </p:nvSpPr>
        <p:spPr>
          <a:xfrm>
            <a:off x="35104" y="3673469"/>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391742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2CBDB-5DC4-74D8-3666-FD89CF834012}"/>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5CFD655-3410-CEFF-D5D4-A2A0BBF5C16E}"/>
              </a:ext>
            </a:extLst>
          </p:cNvPr>
          <p:cNvSpPr>
            <a:spLocks noGrp="1"/>
          </p:cNvSpPr>
          <p:nvPr>
            <p:ph type="body" sz="quarter" idx="11"/>
          </p:nvPr>
        </p:nvSpPr>
        <p:spPr/>
        <p:txBody>
          <a:bodyPr/>
          <a:lstStyle/>
          <a:p>
            <a:r>
              <a:rPr lang="fr-FR" dirty="0"/>
              <a:t>Quiz 2</a:t>
            </a:r>
          </a:p>
        </p:txBody>
      </p:sp>
      <p:sp>
        <p:nvSpPr>
          <p:cNvPr id="3" name="Espace réservé du texte 2">
            <a:extLst>
              <a:ext uri="{FF2B5EF4-FFF2-40B4-BE49-F238E27FC236}">
                <a16:creationId xmlns:a16="http://schemas.microsoft.com/office/drawing/2014/main" id="{22363C05-E42F-3D86-57DF-F539E9505639}"/>
              </a:ext>
            </a:extLst>
          </p:cNvPr>
          <p:cNvSpPr>
            <a:spLocks noGrp="1"/>
          </p:cNvSpPr>
          <p:nvPr>
            <p:ph type="body" sz="quarter" idx="12"/>
          </p:nvPr>
        </p:nvSpPr>
        <p:spPr/>
        <p:txBody>
          <a:bodyPr/>
          <a:lstStyle/>
          <a:p>
            <a:r>
              <a:rPr lang="fr-FR" dirty="0"/>
              <a:t>App Services</a:t>
            </a:r>
          </a:p>
        </p:txBody>
      </p:sp>
    </p:spTree>
    <p:extLst>
      <p:ext uri="{BB962C8B-B14F-4D97-AF65-F5344CB8AC3E}">
        <p14:creationId xmlns:p14="http://schemas.microsoft.com/office/powerpoint/2010/main" val="1726710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7D5D3-EE04-4304-4A25-1FF553E6B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69EDC-458E-D9D1-20F7-9D95C6016AB6}"/>
              </a:ext>
            </a:extLst>
          </p:cNvPr>
          <p:cNvSpPr>
            <a:spLocks noGrp="1"/>
          </p:cNvSpPr>
          <p:nvPr>
            <p:ph type="title"/>
          </p:nvPr>
        </p:nvSpPr>
        <p:spPr/>
        <p:txBody>
          <a:bodyPr/>
          <a:lstStyle/>
          <a:p>
            <a:r>
              <a:rPr lang="en-US" dirty="0"/>
              <a:t>Question 1</a:t>
            </a:r>
          </a:p>
        </p:txBody>
      </p:sp>
      <p:sp>
        <p:nvSpPr>
          <p:cNvPr id="3" name="Content Placeholder 2">
            <a:extLst>
              <a:ext uri="{FF2B5EF4-FFF2-40B4-BE49-F238E27FC236}">
                <a16:creationId xmlns:a16="http://schemas.microsoft.com/office/drawing/2014/main" id="{742040DA-FE87-2FED-E1F1-4427BEE1B694}"/>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000" dirty="0"/>
              <a:t>Vous déployez une application ASP.NET </a:t>
            </a:r>
            <a:r>
              <a:rPr lang="fr-FR" sz="2000" dirty="0" err="1"/>
              <a:t>Core</a:t>
            </a:r>
            <a:r>
              <a:rPr lang="fr-FR" sz="2000" dirty="0"/>
              <a:t> sur </a:t>
            </a:r>
            <a:r>
              <a:rPr lang="fr-FR" sz="2000" b="1" dirty="0"/>
              <a:t>Azure App Service</a:t>
            </a:r>
            <a:r>
              <a:rPr lang="fr-FR" sz="2000" dirty="0"/>
              <a:t>.</a:t>
            </a:r>
            <a:br>
              <a:rPr lang="fr-FR" sz="2000" dirty="0"/>
            </a:br>
            <a:r>
              <a:rPr lang="fr-FR" sz="2000" dirty="0"/>
              <a:t>Vous voulez </a:t>
            </a:r>
            <a:r>
              <a:rPr lang="fr-FR" sz="2000" b="1" dirty="0"/>
              <a:t>mettre à jour l’application sans interruption pour les utilisateurs</a:t>
            </a:r>
            <a:r>
              <a:rPr lang="fr-FR" sz="2000" dirty="0"/>
              <a:t>.</a:t>
            </a:r>
          </a:p>
          <a:p>
            <a:pPr marL="0" indent="0">
              <a:buNone/>
            </a:pPr>
            <a:endParaRPr lang="fr-FR" sz="2000" dirty="0"/>
          </a:p>
          <a:p>
            <a:pPr marL="0" indent="0">
              <a:buNone/>
            </a:pPr>
            <a:r>
              <a:rPr lang="fr-FR" sz="2000" dirty="0"/>
              <a:t>Quelle fonctionnalité devez-vous utiliser ?</a:t>
            </a:r>
          </a:p>
          <a:p>
            <a:pPr marL="514350" indent="-514350">
              <a:buFont typeface="+mj-lt"/>
              <a:buAutoNum type="arabicPeriod"/>
            </a:pPr>
            <a:r>
              <a:rPr lang="fr-FR" sz="2000" dirty="0" err="1"/>
              <a:t>Deployment</a:t>
            </a:r>
            <a:r>
              <a:rPr lang="fr-FR" sz="2000" dirty="0"/>
              <a:t> Center</a:t>
            </a:r>
          </a:p>
          <a:p>
            <a:pPr marL="514350" indent="-514350">
              <a:buFont typeface="+mj-lt"/>
              <a:buAutoNum type="arabicPeriod"/>
            </a:pPr>
            <a:r>
              <a:rPr lang="fr-FR" sz="2000" dirty="0" err="1"/>
              <a:t>Deployment</a:t>
            </a:r>
            <a:r>
              <a:rPr lang="fr-FR" sz="2000" dirty="0"/>
              <a:t> Slots</a:t>
            </a:r>
          </a:p>
          <a:p>
            <a:pPr marL="514350" indent="-514350">
              <a:buFont typeface="+mj-lt"/>
              <a:buAutoNum type="arabicPeriod"/>
            </a:pPr>
            <a:r>
              <a:rPr lang="fr-FR" sz="2000" dirty="0"/>
              <a:t>Auto-</a:t>
            </a:r>
            <a:r>
              <a:rPr lang="fr-FR" sz="2000" dirty="0" err="1"/>
              <a:t>scaling</a:t>
            </a:r>
            <a:endParaRPr lang="fr-FR" sz="2000" dirty="0"/>
          </a:p>
          <a:p>
            <a:pPr marL="514350" indent="-514350">
              <a:buFont typeface="+mj-lt"/>
              <a:buAutoNum type="arabicPeriod"/>
            </a:pPr>
            <a:r>
              <a:rPr lang="fr-FR" sz="2000" dirty="0"/>
              <a:t>App Service Plan </a:t>
            </a:r>
            <a:r>
              <a:rPr lang="fr-FR" sz="2000" dirty="0" err="1"/>
              <a:t>Scaling</a:t>
            </a:r>
            <a:endParaRPr lang="fr-FR" sz="2000" dirty="0"/>
          </a:p>
          <a:p>
            <a:pPr marL="457200" lvl="1" indent="0">
              <a:buNone/>
            </a:pPr>
            <a:endParaRPr lang="en-US" dirty="0"/>
          </a:p>
        </p:txBody>
      </p:sp>
      <p:sp>
        <p:nvSpPr>
          <p:cNvPr id="4" name="ZoneTexte 3">
            <a:extLst>
              <a:ext uri="{FF2B5EF4-FFF2-40B4-BE49-F238E27FC236}">
                <a16:creationId xmlns:a16="http://schemas.microsoft.com/office/drawing/2014/main" id="{FBABB121-6B54-52D7-2267-209906E8F9D1}"/>
              </a:ext>
            </a:extLst>
          </p:cNvPr>
          <p:cNvSpPr txBox="1"/>
          <p:nvPr/>
        </p:nvSpPr>
        <p:spPr>
          <a:xfrm>
            <a:off x="7236296" y="2074837"/>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5" name="ZoneTexte 4">
            <a:extLst>
              <a:ext uri="{FF2B5EF4-FFF2-40B4-BE49-F238E27FC236}">
                <a16:creationId xmlns:a16="http://schemas.microsoft.com/office/drawing/2014/main" id="{E2B4E96E-C909-8099-8C32-9C4C290D41C3}"/>
              </a:ext>
            </a:extLst>
          </p:cNvPr>
          <p:cNvSpPr txBox="1"/>
          <p:nvPr/>
        </p:nvSpPr>
        <p:spPr>
          <a:xfrm>
            <a:off x="4067944" y="2853531"/>
            <a:ext cx="5076056" cy="3046988"/>
          </a:xfrm>
          <a:prstGeom prst="rect">
            <a:avLst/>
          </a:prstGeom>
          <a:noFill/>
        </p:spPr>
        <p:txBody>
          <a:bodyPr wrap="square" rtlCol="0">
            <a:spAutoFit/>
          </a:bodyPr>
          <a:lstStyle/>
          <a:p>
            <a:r>
              <a:rPr lang="fr-FR" sz="1600" dirty="0"/>
              <a:t>Les </a:t>
            </a:r>
            <a:r>
              <a:rPr lang="fr-FR" sz="1600" b="1" dirty="0" err="1"/>
              <a:t>Deployment</a:t>
            </a:r>
            <a:r>
              <a:rPr lang="fr-FR" sz="1600" b="1" dirty="0"/>
              <a:t> Slots</a:t>
            </a:r>
            <a:r>
              <a:rPr lang="fr-FR" sz="1600" dirty="0"/>
              <a:t> de Azure App Service permettent de :</a:t>
            </a:r>
          </a:p>
          <a:p>
            <a:pPr marL="171450" indent="-171450">
              <a:buFont typeface="Arial" panose="020B0604020202020204" pitchFamily="34" charset="0"/>
              <a:buChar char="•"/>
            </a:pPr>
            <a:r>
              <a:rPr lang="fr-FR" sz="1600" dirty="0"/>
              <a:t>déployer une nouvelle version dans un slot </a:t>
            </a:r>
            <a:r>
              <a:rPr lang="fr-FR" sz="1600" b="1" dirty="0" err="1"/>
              <a:t>staging</a:t>
            </a:r>
            <a:endParaRPr lang="fr-FR" sz="1600" dirty="0"/>
          </a:p>
          <a:p>
            <a:pPr marL="171450" indent="-171450">
              <a:buFont typeface="Arial" panose="020B0604020202020204" pitchFamily="34" charset="0"/>
              <a:buChar char="•"/>
            </a:pPr>
            <a:r>
              <a:rPr lang="fr-FR" sz="1600" dirty="0"/>
              <a:t>tester la version</a:t>
            </a:r>
          </a:p>
          <a:p>
            <a:pPr marL="171450" indent="-171450">
              <a:buFont typeface="Arial" panose="020B0604020202020204" pitchFamily="34" charset="0"/>
              <a:buChar char="•"/>
            </a:pPr>
            <a:r>
              <a:rPr lang="fr-FR" sz="1600" dirty="0"/>
              <a:t>faire un </a:t>
            </a:r>
            <a:r>
              <a:rPr lang="fr-FR" sz="1600" b="1" dirty="0"/>
              <a:t>swap vers production</a:t>
            </a:r>
            <a:endParaRPr lang="fr-FR" sz="1600" dirty="0"/>
          </a:p>
          <a:p>
            <a:r>
              <a:rPr lang="fr-FR" sz="1600" dirty="0"/>
              <a:t>Le swap est </a:t>
            </a:r>
            <a:r>
              <a:rPr lang="fr-FR" sz="1600" b="1" dirty="0"/>
              <a:t>instantané</a:t>
            </a:r>
            <a:r>
              <a:rPr lang="fr-FR" sz="1600" dirty="0"/>
              <a:t>, donc :</a:t>
            </a:r>
          </a:p>
          <a:p>
            <a:pPr marL="171450" indent="-171450">
              <a:buFont typeface="Arial" panose="020B0604020202020204" pitchFamily="34" charset="0"/>
              <a:buChar char="•"/>
            </a:pPr>
            <a:r>
              <a:rPr lang="fr-FR" sz="1600" dirty="0"/>
              <a:t>pas de </a:t>
            </a:r>
            <a:r>
              <a:rPr lang="fr-FR" sz="1600" dirty="0" err="1"/>
              <a:t>downtime</a:t>
            </a:r>
            <a:endParaRPr lang="fr-FR" sz="1600" dirty="0"/>
          </a:p>
          <a:p>
            <a:pPr marL="171450" indent="-171450">
              <a:buFont typeface="Arial" panose="020B0604020202020204" pitchFamily="34" charset="0"/>
              <a:buChar char="•"/>
            </a:pPr>
            <a:r>
              <a:rPr lang="fr-FR" sz="1600" dirty="0"/>
              <a:t>rollback rapide possible</a:t>
            </a:r>
          </a:p>
          <a:p>
            <a:r>
              <a:rPr lang="fr-FR" sz="1600" dirty="0"/>
              <a:t>❌ Mauvaises réponses :</a:t>
            </a:r>
          </a:p>
          <a:p>
            <a:r>
              <a:rPr lang="fr-FR" sz="1600" b="1" dirty="0" err="1"/>
              <a:t>Deployment</a:t>
            </a:r>
            <a:r>
              <a:rPr lang="fr-FR" sz="1600" b="1" dirty="0"/>
              <a:t> Center</a:t>
            </a:r>
            <a:r>
              <a:rPr lang="fr-FR" sz="1600" dirty="0"/>
              <a:t> : configure la CI/CD</a:t>
            </a:r>
          </a:p>
          <a:p>
            <a:r>
              <a:rPr lang="fr-FR" sz="1600" b="1" dirty="0"/>
              <a:t>Auto-</a:t>
            </a:r>
            <a:r>
              <a:rPr lang="fr-FR" sz="1600" b="1" dirty="0" err="1"/>
              <a:t>scaling</a:t>
            </a:r>
            <a:r>
              <a:rPr lang="fr-FR" sz="1600" dirty="0"/>
              <a:t> : gère la charge</a:t>
            </a:r>
          </a:p>
          <a:p>
            <a:r>
              <a:rPr lang="fr-FR" sz="1600" b="1" dirty="0" err="1"/>
              <a:t>Scaling</a:t>
            </a:r>
            <a:r>
              <a:rPr lang="fr-FR" sz="1600" b="1" dirty="0"/>
              <a:t> plan</a:t>
            </a:r>
            <a:r>
              <a:rPr lang="fr-FR" sz="1600" dirty="0"/>
              <a:t> : change la puissance</a:t>
            </a:r>
          </a:p>
        </p:txBody>
      </p:sp>
    </p:spTree>
    <p:extLst>
      <p:ext uri="{BB962C8B-B14F-4D97-AF65-F5344CB8AC3E}">
        <p14:creationId xmlns:p14="http://schemas.microsoft.com/office/powerpoint/2010/main" val="1695571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927FC-4537-9D77-27E1-3B7348ED3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89536-F678-FC8E-50EE-38D4B04021CD}"/>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FB7C2998-F925-52BB-6CC0-0F5ED6B55701}"/>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dirty="0"/>
              <a:t>Dans </a:t>
            </a:r>
            <a:r>
              <a:rPr lang="fr-FR" b="1" dirty="0"/>
              <a:t>Azure App Service</a:t>
            </a:r>
            <a:r>
              <a:rPr lang="fr-FR" dirty="0"/>
              <a:t>, que permet la fonctionnalité </a:t>
            </a:r>
            <a:r>
              <a:rPr lang="fr-FR" b="1" dirty="0"/>
              <a:t>Auto-</a:t>
            </a:r>
            <a:r>
              <a:rPr lang="fr-FR" b="1" dirty="0" err="1"/>
              <a:t>scaling</a:t>
            </a:r>
            <a:r>
              <a:rPr lang="fr-FR" dirty="0"/>
              <a:t> ?</a:t>
            </a:r>
          </a:p>
          <a:p>
            <a:pPr marL="0" indent="0">
              <a:buNone/>
            </a:pPr>
            <a:endParaRPr lang="fr-FR" dirty="0"/>
          </a:p>
          <a:p>
            <a:pPr marL="514350" indent="-514350">
              <a:buFont typeface="+mj-lt"/>
              <a:buAutoNum type="arabicPeriod"/>
            </a:pPr>
            <a:r>
              <a:rPr lang="fr-FR" dirty="0"/>
              <a:t>Augmenter automatiquement la taille des disques</a:t>
            </a:r>
          </a:p>
          <a:p>
            <a:pPr marL="514350" indent="-514350">
              <a:buFont typeface="+mj-lt"/>
              <a:buAutoNum type="arabicPeriod"/>
            </a:pPr>
            <a:r>
              <a:rPr lang="fr-FR" dirty="0"/>
              <a:t>Ajuster dynamiquement le nombre d’instances selon des métriques</a:t>
            </a:r>
          </a:p>
          <a:p>
            <a:pPr marL="514350" indent="-514350">
              <a:buFont typeface="+mj-lt"/>
              <a:buAutoNum type="arabicPeriod"/>
            </a:pPr>
            <a:r>
              <a:rPr lang="fr-FR" dirty="0"/>
              <a:t>Mettre à jour automatiquement la version .NET</a:t>
            </a:r>
          </a:p>
          <a:p>
            <a:pPr marL="514350" indent="-514350">
              <a:buFont typeface="+mj-lt"/>
              <a:buAutoNum type="arabicPeriod"/>
            </a:pPr>
            <a:r>
              <a:rPr lang="fr-FR" dirty="0"/>
              <a:t>Changer automatiquement le plan tarifaire</a:t>
            </a:r>
            <a:endParaRPr lang="en-US" dirty="0"/>
          </a:p>
        </p:txBody>
      </p:sp>
      <p:sp>
        <p:nvSpPr>
          <p:cNvPr id="4" name="ZoneTexte 3">
            <a:extLst>
              <a:ext uri="{FF2B5EF4-FFF2-40B4-BE49-F238E27FC236}">
                <a16:creationId xmlns:a16="http://schemas.microsoft.com/office/drawing/2014/main" id="{11B6192A-ED67-3B42-8433-1FD78C81D97C}"/>
              </a:ext>
            </a:extLst>
          </p:cNvPr>
          <p:cNvSpPr txBox="1"/>
          <p:nvPr/>
        </p:nvSpPr>
        <p:spPr>
          <a:xfrm>
            <a:off x="7164288" y="5457998"/>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Tree>
    <p:extLst>
      <p:ext uri="{BB962C8B-B14F-4D97-AF65-F5344CB8AC3E}">
        <p14:creationId xmlns:p14="http://schemas.microsoft.com/office/powerpoint/2010/main" val="364667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EEA1-2A65-6CFF-5A52-5FF0893E5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4395EA-7A3F-6798-4545-46486541EE54}"/>
              </a:ext>
            </a:extLst>
          </p:cNvPr>
          <p:cNvSpPr>
            <a:spLocks noGrp="1"/>
          </p:cNvSpPr>
          <p:nvPr>
            <p:ph type="title"/>
          </p:nvPr>
        </p:nvSpPr>
        <p:spPr/>
        <p:txBody>
          <a:bodyPr/>
          <a:lstStyle/>
          <a:p>
            <a:r>
              <a:rPr lang="en-US" dirty="0"/>
              <a:t>Question 3</a:t>
            </a:r>
          </a:p>
        </p:txBody>
      </p:sp>
      <p:sp>
        <p:nvSpPr>
          <p:cNvPr id="3" name="Content Placeholder 2">
            <a:extLst>
              <a:ext uri="{FF2B5EF4-FFF2-40B4-BE49-F238E27FC236}">
                <a16:creationId xmlns:a16="http://schemas.microsoft.com/office/drawing/2014/main" id="{3A1931A2-C67C-DB90-4B45-E88DC6353D67}"/>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Quelle est la différence principale entre </a:t>
            </a:r>
            <a:r>
              <a:rPr lang="fr-FR" sz="2400" b="1" dirty="0" err="1"/>
              <a:t>scale</a:t>
            </a:r>
            <a:r>
              <a:rPr lang="fr-FR" sz="2400" b="1" dirty="0"/>
              <a:t> up</a:t>
            </a:r>
            <a:r>
              <a:rPr lang="fr-FR" sz="2400" dirty="0"/>
              <a:t> et </a:t>
            </a:r>
            <a:r>
              <a:rPr lang="fr-FR" sz="2400" b="1" dirty="0" err="1"/>
              <a:t>scale</a:t>
            </a:r>
            <a:r>
              <a:rPr lang="fr-FR" sz="2400" b="1" dirty="0"/>
              <a:t> out</a:t>
            </a:r>
            <a:r>
              <a:rPr lang="fr-FR" sz="2400" dirty="0"/>
              <a:t> dans App Service ?</a:t>
            </a:r>
          </a:p>
          <a:p>
            <a:r>
              <a:rPr lang="fr-FR" sz="2400" dirty="0"/>
              <a:t>A.</a:t>
            </a:r>
          </a:p>
          <a:p>
            <a:pPr lvl="1"/>
            <a:r>
              <a:rPr lang="fr-FR" sz="2000" dirty="0" err="1"/>
              <a:t>Scale</a:t>
            </a:r>
            <a:r>
              <a:rPr lang="fr-FR" sz="2000" dirty="0"/>
              <a:t> up : augmenter stockage</a:t>
            </a:r>
          </a:p>
          <a:p>
            <a:pPr lvl="1"/>
            <a:r>
              <a:rPr lang="fr-FR" sz="2000" dirty="0" err="1"/>
              <a:t>Scale</a:t>
            </a:r>
            <a:r>
              <a:rPr lang="fr-FR" sz="2000" dirty="0"/>
              <a:t> out : augmenter RAM</a:t>
            </a:r>
          </a:p>
          <a:p>
            <a:r>
              <a:rPr lang="fr-FR" sz="2400" dirty="0"/>
              <a:t>B.</a:t>
            </a:r>
          </a:p>
          <a:p>
            <a:pPr lvl="1"/>
            <a:r>
              <a:rPr lang="fr-FR" sz="2000" dirty="0" err="1"/>
              <a:t>Scale</a:t>
            </a:r>
            <a:r>
              <a:rPr lang="fr-FR" sz="2000" dirty="0"/>
              <a:t> up : augmenter réseau</a:t>
            </a:r>
          </a:p>
          <a:p>
            <a:pPr lvl="1"/>
            <a:r>
              <a:rPr lang="fr-FR" sz="2000" dirty="0" err="1"/>
              <a:t>Scale</a:t>
            </a:r>
            <a:r>
              <a:rPr lang="fr-FR" sz="2000" dirty="0"/>
              <a:t> out : augmenter stockage</a:t>
            </a:r>
          </a:p>
          <a:p>
            <a:r>
              <a:rPr lang="fr-FR" sz="2400" dirty="0"/>
              <a:t>C.</a:t>
            </a:r>
          </a:p>
          <a:p>
            <a:pPr lvl="1"/>
            <a:r>
              <a:rPr lang="fr-FR" sz="2000" dirty="0" err="1"/>
              <a:t>Scale</a:t>
            </a:r>
            <a:r>
              <a:rPr lang="fr-FR" sz="2000" dirty="0"/>
              <a:t> up : ajouter des instances</a:t>
            </a:r>
          </a:p>
          <a:p>
            <a:pPr lvl="1"/>
            <a:r>
              <a:rPr lang="fr-FR" sz="2000" dirty="0" err="1"/>
              <a:t>Scale</a:t>
            </a:r>
            <a:r>
              <a:rPr lang="fr-FR" sz="2000" dirty="0"/>
              <a:t> out : augmenter CPU/RAM</a:t>
            </a:r>
          </a:p>
          <a:p>
            <a:r>
              <a:rPr lang="fr-FR" sz="2400" dirty="0"/>
              <a:t>D.</a:t>
            </a:r>
          </a:p>
          <a:p>
            <a:pPr lvl="1"/>
            <a:r>
              <a:rPr lang="fr-FR" sz="2000" dirty="0" err="1"/>
              <a:t>Scale</a:t>
            </a:r>
            <a:r>
              <a:rPr lang="fr-FR" sz="2000" dirty="0"/>
              <a:t> up : augmenter CPU/RAM</a:t>
            </a:r>
          </a:p>
          <a:p>
            <a:pPr lvl="1"/>
            <a:r>
              <a:rPr lang="fr-FR" sz="2000" dirty="0" err="1"/>
              <a:t>Scale</a:t>
            </a:r>
            <a:r>
              <a:rPr lang="fr-FR" sz="2000" dirty="0"/>
              <a:t> out : ajouter des instances</a:t>
            </a:r>
          </a:p>
        </p:txBody>
      </p:sp>
      <p:sp>
        <p:nvSpPr>
          <p:cNvPr id="4" name="ZoneTexte 3">
            <a:extLst>
              <a:ext uri="{FF2B5EF4-FFF2-40B4-BE49-F238E27FC236}">
                <a16:creationId xmlns:a16="http://schemas.microsoft.com/office/drawing/2014/main" id="{32AA1060-936D-7B71-E1D2-0D130A543361}"/>
              </a:ext>
            </a:extLst>
          </p:cNvPr>
          <p:cNvSpPr txBox="1"/>
          <p:nvPr/>
        </p:nvSpPr>
        <p:spPr>
          <a:xfrm>
            <a:off x="7020272" y="3789040"/>
            <a:ext cx="1230465" cy="923330"/>
          </a:xfrm>
          <a:prstGeom prst="rect">
            <a:avLst/>
          </a:prstGeom>
          <a:noFill/>
        </p:spPr>
        <p:txBody>
          <a:bodyPr wrap="none" rtlCol="0">
            <a:spAutoFit/>
          </a:bodyPr>
          <a:lstStyle/>
          <a:p>
            <a:r>
              <a:rPr lang="fr-FR" b="1" u="sng" dirty="0"/>
              <a:t>Réponse :</a:t>
            </a:r>
          </a:p>
          <a:p>
            <a:r>
              <a:rPr lang="fr-FR" dirty="0"/>
              <a:t>D</a:t>
            </a:r>
          </a:p>
          <a:p>
            <a:endParaRPr lang="fr-FR" dirty="0"/>
          </a:p>
        </p:txBody>
      </p:sp>
    </p:spTree>
    <p:extLst>
      <p:ext uri="{BB962C8B-B14F-4D97-AF65-F5344CB8AC3E}">
        <p14:creationId xmlns:p14="http://schemas.microsoft.com/office/powerpoint/2010/main" val="106078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3534D-C190-A8DA-253A-ECF302002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DE38A-E1C9-46F1-8616-20346DD9B13C}"/>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5C016702-3191-568E-9E7A-918D001214E9}"/>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Vous déployez une application via </a:t>
            </a:r>
            <a:r>
              <a:rPr lang="fr-FR" sz="2400" b="1" dirty="0"/>
              <a:t>GitHub Actions</a:t>
            </a:r>
            <a:r>
              <a:rPr lang="fr-FR" sz="2400" dirty="0"/>
              <a:t> vers Azure App Service.</a:t>
            </a:r>
          </a:p>
          <a:p>
            <a:pPr marL="0" indent="0">
              <a:buNone/>
            </a:pPr>
            <a:r>
              <a:rPr lang="fr-FR" sz="2400" dirty="0"/>
              <a:t>Quel mécanisme permet de connecter automatiquement votre repo GitHub à votre Web App ?</a:t>
            </a:r>
          </a:p>
          <a:p>
            <a:pPr>
              <a:buFont typeface="+mj-lt"/>
              <a:buAutoNum type="arabicPeriod"/>
            </a:pPr>
            <a:r>
              <a:rPr lang="fr-FR" sz="2400" dirty="0"/>
              <a:t>Azure Pipelines</a:t>
            </a:r>
          </a:p>
          <a:p>
            <a:pPr>
              <a:buFont typeface="+mj-lt"/>
              <a:buAutoNum type="arabicPeriod"/>
            </a:pPr>
            <a:r>
              <a:rPr lang="fr-FR" sz="2400" dirty="0"/>
              <a:t>Azure Monitor</a:t>
            </a:r>
          </a:p>
          <a:p>
            <a:pPr>
              <a:buFont typeface="+mj-lt"/>
              <a:buAutoNum type="arabicPeriod"/>
            </a:pPr>
            <a:r>
              <a:rPr lang="fr-FR" sz="2400" dirty="0" err="1"/>
              <a:t>Deployment</a:t>
            </a:r>
            <a:r>
              <a:rPr lang="fr-FR" sz="2400" dirty="0"/>
              <a:t> Center</a:t>
            </a:r>
          </a:p>
          <a:p>
            <a:pPr>
              <a:buFont typeface="+mj-lt"/>
              <a:buAutoNum type="arabicPeriod"/>
            </a:pPr>
            <a:r>
              <a:rPr lang="fr-FR" sz="2400" dirty="0"/>
              <a:t>Application Insights</a:t>
            </a:r>
          </a:p>
        </p:txBody>
      </p:sp>
      <p:sp>
        <p:nvSpPr>
          <p:cNvPr id="4" name="ZoneTexte 3">
            <a:extLst>
              <a:ext uri="{FF2B5EF4-FFF2-40B4-BE49-F238E27FC236}">
                <a16:creationId xmlns:a16="http://schemas.microsoft.com/office/drawing/2014/main" id="{FD36630B-FF93-3732-7006-AC5E54F704C9}"/>
              </a:ext>
            </a:extLst>
          </p:cNvPr>
          <p:cNvSpPr txBox="1"/>
          <p:nvPr/>
        </p:nvSpPr>
        <p:spPr>
          <a:xfrm>
            <a:off x="7020272" y="3789040"/>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Tree>
    <p:extLst>
      <p:ext uri="{BB962C8B-B14F-4D97-AF65-F5344CB8AC3E}">
        <p14:creationId xmlns:p14="http://schemas.microsoft.com/office/powerpoint/2010/main" val="158155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401C7-0DB0-F5BE-8F3C-247B92076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2EB3B-47B4-2827-38FE-A39F988A4494}"/>
              </a:ext>
            </a:extLst>
          </p:cNvPr>
          <p:cNvSpPr>
            <a:spLocks noGrp="1"/>
          </p:cNvSpPr>
          <p:nvPr>
            <p:ph type="title"/>
          </p:nvPr>
        </p:nvSpPr>
        <p:spPr/>
        <p:txBody>
          <a:bodyPr/>
          <a:lstStyle/>
          <a:p>
            <a:r>
              <a:rPr lang="en-US" dirty="0"/>
              <a:t>Question 5</a:t>
            </a:r>
          </a:p>
        </p:txBody>
      </p:sp>
      <p:sp>
        <p:nvSpPr>
          <p:cNvPr id="3" name="Content Placeholder 2">
            <a:extLst>
              <a:ext uri="{FF2B5EF4-FFF2-40B4-BE49-F238E27FC236}">
                <a16:creationId xmlns:a16="http://schemas.microsoft.com/office/drawing/2014/main" id="{07100989-CA66-E7BB-A6C8-7078841BF65E}"/>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Parmi les options suivantes, laquelle n’est pas une source de déploiement automatisé valide ?</a:t>
            </a:r>
          </a:p>
          <a:p>
            <a:pPr marL="0" indent="0">
              <a:buNone/>
            </a:pPr>
            <a:endParaRPr lang="fr-FR" sz="2400" dirty="0"/>
          </a:p>
          <a:p>
            <a:pPr>
              <a:buFont typeface="+mj-lt"/>
              <a:buAutoNum type="arabicPeriod"/>
            </a:pPr>
            <a:r>
              <a:rPr lang="fr-FR" sz="2400" dirty="0"/>
              <a:t>GitHub</a:t>
            </a:r>
          </a:p>
          <a:p>
            <a:pPr>
              <a:buFont typeface="+mj-lt"/>
              <a:buAutoNum type="arabicPeriod"/>
            </a:pPr>
            <a:r>
              <a:rPr lang="fr-FR" sz="2400" dirty="0"/>
              <a:t>Azure Repos</a:t>
            </a:r>
          </a:p>
          <a:p>
            <a:pPr>
              <a:buFont typeface="+mj-lt"/>
              <a:buAutoNum type="arabicPeriod"/>
            </a:pPr>
            <a:r>
              <a:rPr lang="fr-FR" sz="2400" dirty="0"/>
              <a:t>SharePoint</a:t>
            </a:r>
          </a:p>
        </p:txBody>
      </p:sp>
      <p:sp>
        <p:nvSpPr>
          <p:cNvPr id="4" name="ZoneTexte 3">
            <a:extLst>
              <a:ext uri="{FF2B5EF4-FFF2-40B4-BE49-F238E27FC236}">
                <a16:creationId xmlns:a16="http://schemas.microsoft.com/office/drawing/2014/main" id="{88239BF0-5485-1F77-7BFF-46FC5BC706C6}"/>
              </a:ext>
            </a:extLst>
          </p:cNvPr>
          <p:cNvSpPr txBox="1"/>
          <p:nvPr/>
        </p:nvSpPr>
        <p:spPr>
          <a:xfrm>
            <a:off x="7020272" y="3789040"/>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Tree>
    <p:extLst>
      <p:ext uri="{BB962C8B-B14F-4D97-AF65-F5344CB8AC3E}">
        <p14:creationId xmlns:p14="http://schemas.microsoft.com/office/powerpoint/2010/main" val="366501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CC21C-0864-2E11-528D-09A0F0908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AEC38-5679-2668-2634-6ED17C819457}"/>
              </a:ext>
            </a:extLst>
          </p:cNvPr>
          <p:cNvSpPr>
            <a:spLocks noGrp="1"/>
          </p:cNvSpPr>
          <p:nvPr>
            <p:ph type="title"/>
          </p:nvPr>
        </p:nvSpPr>
        <p:spPr/>
        <p:txBody>
          <a:bodyPr/>
          <a:lstStyle/>
          <a:p>
            <a:r>
              <a:rPr lang="en-US" dirty="0"/>
              <a:t>Question 6</a:t>
            </a:r>
          </a:p>
        </p:txBody>
      </p:sp>
      <p:sp>
        <p:nvSpPr>
          <p:cNvPr id="3" name="Content Placeholder 2">
            <a:extLst>
              <a:ext uri="{FF2B5EF4-FFF2-40B4-BE49-F238E27FC236}">
                <a16:creationId xmlns:a16="http://schemas.microsoft.com/office/drawing/2014/main" id="{66EDF3D5-C338-CB7C-980C-AD6650E6559B}"/>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Vous avez une Web App qui subit </a:t>
            </a:r>
            <a:r>
              <a:rPr lang="fr-FR" sz="2400" b="1" dirty="0"/>
              <a:t>des pics de trafic imprévisibles</a:t>
            </a:r>
            <a:r>
              <a:rPr lang="fr-FR" sz="2400" dirty="0"/>
              <a:t>.</a:t>
            </a:r>
            <a:br>
              <a:rPr lang="fr-FR" sz="2400" dirty="0"/>
            </a:br>
            <a:r>
              <a:rPr lang="fr-FR" sz="2400" dirty="0"/>
              <a:t>Quelle stratégie est la plus adaptée ?</a:t>
            </a:r>
          </a:p>
          <a:p>
            <a:pPr>
              <a:buFont typeface="+mj-lt"/>
              <a:buAutoNum type="arabicPeriod"/>
            </a:pPr>
            <a:r>
              <a:rPr lang="fr-FR" sz="2400" dirty="0"/>
              <a:t>Augmenter le CPU manuellement</a:t>
            </a:r>
          </a:p>
          <a:p>
            <a:pPr>
              <a:buFont typeface="+mj-lt"/>
              <a:buAutoNum type="arabicPeriod"/>
            </a:pPr>
            <a:r>
              <a:rPr lang="fr-FR" sz="2400" dirty="0"/>
              <a:t>Auto-</a:t>
            </a:r>
            <a:r>
              <a:rPr lang="fr-FR" sz="2400" dirty="0" err="1"/>
              <a:t>scale</a:t>
            </a:r>
            <a:r>
              <a:rPr lang="fr-FR" sz="2400" dirty="0"/>
              <a:t> basé sur les métriques CPU</a:t>
            </a:r>
          </a:p>
          <a:p>
            <a:pPr>
              <a:buFont typeface="+mj-lt"/>
              <a:buAutoNum type="arabicPeriod"/>
            </a:pPr>
            <a:r>
              <a:rPr lang="fr-FR" sz="2400" dirty="0"/>
              <a:t>Ajouter Application Insights</a:t>
            </a:r>
          </a:p>
          <a:p>
            <a:pPr>
              <a:buFont typeface="+mj-lt"/>
              <a:buAutoNum type="arabicPeriod"/>
            </a:pPr>
            <a:r>
              <a:rPr lang="fr-FR" sz="2400" dirty="0"/>
              <a:t>Utiliser un </a:t>
            </a:r>
            <a:r>
              <a:rPr lang="fr-FR" sz="2400" dirty="0" err="1"/>
              <a:t>Deployment</a:t>
            </a:r>
            <a:r>
              <a:rPr lang="fr-FR" sz="2400" dirty="0"/>
              <a:t> Slot</a:t>
            </a:r>
          </a:p>
        </p:txBody>
      </p:sp>
      <p:sp>
        <p:nvSpPr>
          <p:cNvPr id="4" name="ZoneTexte 3">
            <a:extLst>
              <a:ext uri="{FF2B5EF4-FFF2-40B4-BE49-F238E27FC236}">
                <a16:creationId xmlns:a16="http://schemas.microsoft.com/office/drawing/2014/main" id="{EF22294A-373F-78FD-3A6C-D7425E7CFC3C}"/>
              </a:ext>
            </a:extLst>
          </p:cNvPr>
          <p:cNvSpPr txBox="1"/>
          <p:nvPr/>
        </p:nvSpPr>
        <p:spPr>
          <a:xfrm>
            <a:off x="7020272" y="3789040"/>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Tree>
    <p:extLst>
      <p:ext uri="{BB962C8B-B14F-4D97-AF65-F5344CB8AC3E}">
        <p14:creationId xmlns:p14="http://schemas.microsoft.com/office/powerpoint/2010/main" val="396833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72E56-2321-C8A8-77FE-8417AC1A9B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56A9A-11CC-A6FA-156A-D842E91B0547}"/>
              </a:ext>
            </a:extLst>
          </p:cNvPr>
          <p:cNvSpPr>
            <a:spLocks noGrp="1"/>
          </p:cNvSpPr>
          <p:nvPr>
            <p:ph type="title"/>
          </p:nvPr>
        </p:nvSpPr>
        <p:spPr/>
        <p:txBody>
          <a:bodyPr/>
          <a:lstStyle/>
          <a:p>
            <a:r>
              <a:rPr lang="en-US" dirty="0"/>
              <a:t>Question 7 </a:t>
            </a:r>
          </a:p>
        </p:txBody>
      </p:sp>
      <p:sp>
        <p:nvSpPr>
          <p:cNvPr id="3" name="Content Placeholder 2">
            <a:extLst>
              <a:ext uri="{FF2B5EF4-FFF2-40B4-BE49-F238E27FC236}">
                <a16:creationId xmlns:a16="http://schemas.microsoft.com/office/drawing/2014/main" id="{11A1E114-CFF4-6B9C-9900-493E94D035B9}"/>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Vous voulez tester une nouvelle version d’une Web App </a:t>
            </a:r>
            <a:r>
              <a:rPr lang="fr-FR" sz="2400" b="1" dirty="0"/>
              <a:t>avec 10 % du trafic utilisateur</a:t>
            </a:r>
            <a:r>
              <a:rPr lang="fr-FR" sz="2400" dirty="0"/>
              <a:t>, tout en laissant 90 % sur la version actuelle.</a:t>
            </a:r>
          </a:p>
          <a:p>
            <a:pPr marL="0" indent="0">
              <a:buNone/>
            </a:pPr>
            <a:r>
              <a:rPr lang="fr-FR" sz="2400" dirty="0"/>
              <a:t>Quelle fonctionnalité utilisez-vous ?</a:t>
            </a:r>
          </a:p>
          <a:p>
            <a:pPr>
              <a:buFont typeface="+mj-lt"/>
              <a:buAutoNum type="arabicPeriod"/>
            </a:pPr>
            <a:r>
              <a:rPr lang="fr-FR" sz="2400" dirty="0"/>
              <a:t>Azure Front </a:t>
            </a:r>
            <a:r>
              <a:rPr lang="fr-FR" sz="2400" dirty="0" err="1"/>
              <a:t>Door</a:t>
            </a:r>
            <a:endParaRPr lang="fr-FR" sz="2400" dirty="0"/>
          </a:p>
          <a:p>
            <a:pPr>
              <a:buFont typeface="+mj-lt"/>
              <a:buAutoNum type="arabicPeriod"/>
            </a:pPr>
            <a:r>
              <a:rPr lang="fr-FR" sz="2400" dirty="0"/>
              <a:t>Azure CDN</a:t>
            </a:r>
          </a:p>
          <a:p>
            <a:pPr>
              <a:buFont typeface="+mj-lt"/>
              <a:buAutoNum type="arabicPeriod"/>
            </a:pPr>
            <a:r>
              <a:rPr lang="fr-FR" sz="2400" dirty="0"/>
              <a:t>Traffic Manager</a:t>
            </a:r>
          </a:p>
          <a:p>
            <a:pPr>
              <a:buFont typeface="+mj-lt"/>
              <a:buAutoNum type="arabicPeriod"/>
            </a:pPr>
            <a:r>
              <a:rPr lang="fr-FR" sz="2400" dirty="0" err="1"/>
              <a:t>Deployment</a:t>
            </a:r>
            <a:r>
              <a:rPr lang="fr-FR" sz="2400" dirty="0"/>
              <a:t> Slots avec Traffic </a:t>
            </a:r>
            <a:r>
              <a:rPr lang="fr-FR" sz="2400" dirty="0" err="1"/>
              <a:t>Routing</a:t>
            </a:r>
            <a:br>
              <a:rPr lang="fr-FR" sz="2400" dirty="0"/>
            </a:br>
            <a:endParaRPr lang="fr-FR" sz="2400" dirty="0"/>
          </a:p>
        </p:txBody>
      </p:sp>
      <p:sp>
        <p:nvSpPr>
          <p:cNvPr id="4" name="ZoneTexte 3">
            <a:extLst>
              <a:ext uri="{FF2B5EF4-FFF2-40B4-BE49-F238E27FC236}">
                <a16:creationId xmlns:a16="http://schemas.microsoft.com/office/drawing/2014/main" id="{972BD138-7317-4EF0-4D55-A6495480B0BA}"/>
              </a:ext>
            </a:extLst>
          </p:cNvPr>
          <p:cNvSpPr txBox="1"/>
          <p:nvPr/>
        </p:nvSpPr>
        <p:spPr>
          <a:xfrm>
            <a:off x="7020272" y="3789040"/>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Tree>
    <p:extLst>
      <p:ext uri="{BB962C8B-B14F-4D97-AF65-F5344CB8AC3E}">
        <p14:creationId xmlns:p14="http://schemas.microsoft.com/office/powerpoint/2010/main" val="74395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B69F9-D754-3DEC-F756-7BD1B019C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805A2-2E54-014D-8B9D-AA8EAA7E35F5}"/>
              </a:ext>
            </a:extLst>
          </p:cNvPr>
          <p:cNvSpPr>
            <a:spLocks noGrp="1"/>
          </p:cNvSpPr>
          <p:nvPr>
            <p:ph type="title"/>
          </p:nvPr>
        </p:nvSpPr>
        <p:spPr/>
        <p:txBody>
          <a:bodyPr/>
          <a:lstStyle/>
          <a:p>
            <a:r>
              <a:rPr lang="en-US" dirty="0"/>
              <a:t>Question 8</a:t>
            </a:r>
          </a:p>
        </p:txBody>
      </p:sp>
      <p:sp>
        <p:nvSpPr>
          <p:cNvPr id="3" name="Content Placeholder 2">
            <a:extLst>
              <a:ext uri="{FF2B5EF4-FFF2-40B4-BE49-F238E27FC236}">
                <a16:creationId xmlns:a16="http://schemas.microsoft.com/office/drawing/2014/main" id="{08758DA9-C6F8-917C-7560-6B9508E34E63}"/>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Quelle fonctionnalité permet </a:t>
            </a:r>
            <a:r>
              <a:rPr lang="fr-FR" sz="2400" b="1" dirty="0"/>
              <a:t>d’observer les performances, exceptions et requêtes HTTP</a:t>
            </a:r>
            <a:r>
              <a:rPr lang="fr-FR" sz="2400" dirty="0"/>
              <a:t> d’une Web App ?</a:t>
            </a:r>
          </a:p>
          <a:p>
            <a:pPr marL="0" indent="0">
              <a:buNone/>
            </a:pPr>
            <a:endParaRPr lang="fr-FR" sz="2400" dirty="0"/>
          </a:p>
          <a:p>
            <a:pPr>
              <a:buFont typeface="+mj-lt"/>
              <a:buAutoNum type="arabicPeriod"/>
            </a:pPr>
            <a:r>
              <a:rPr lang="fr-FR" sz="2400" dirty="0"/>
              <a:t>Azure Monitor Logs</a:t>
            </a:r>
          </a:p>
          <a:p>
            <a:pPr>
              <a:buFont typeface="+mj-lt"/>
              <a:buAutoNum type="arabicPeriod"/>
            </a:pPr>
            <a:r>
              <a:rPr lang="fr-FR" sz="2400" dirty="0"/>
              <a:t>Azure Storage Analytics</a:t>
            </a:r>
          </a:p>
          <a:p>
            <a:pPr>
              <a:buFont typeface="+mj-lt"/>
              <a:buAutoNum type="arabicPeriod"/>
            </a:pPr>
            <a:r>
              <a:rPr lang="fr-FR" sz="2400" dirty="0"/>
              <a:t>Application Insights</a:t>
            </a:r>
          </a:p>
          <a:p>
            <a:pPr>
              <a:buFont typeface="+mj-lt"/>
              <a:buAutoNum type="arabicPeriod"/>
            </a:pPr>
            <a:r>
              <a:rPr lang="fr-FR" sz="2400" dirty="0"/>
              <a:t>Azure Advisor</a:t>
            </a:r>
          </a:p>
          <a:p>
            <a:pPr marL="0" indent="0">
              <a:buNone/>
            </a:pPr>
            <a:endParaRPr lang="fr-FR" sz="2400" dirty="0"/>
          </a:p>
        </p:txBody>
      </p:sp>
      <p:sp>
        <p:nvSpPr>
          <p:cNvPr id="4" name="ZoneTexte 3">
            <a:extLst>
              <a:ext uri="{FF2B5EF4-FFF2-40B4-BE49-F238E27FC236}">
                <a16:creationId xmlns:a16="http://schemas.microsoft.com/office/drawing/2014/main" id="{AA50E37D-B2BF-118D-63D5-BBDD79376F59}"/>
              </a:ext>
            </a:extLst>
          </p:cNvPr>
          <p:cNvSpPr txBox="1"/>
          <p:nvPr/>
        </p:nvSpPr>
        <p:spPr>
          <a:xfrm>
            <a:off x="7020272" y="3789040"/>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Tree>
    <p:extLst>
      <p:ext uri="{BB962C8B-B14F-4D97-AF65-F5344CB8AC3E}">
        <p14:creationId xmlns:p14="http://schemas.microsoft.com/office/powerpoint/2010/main" val="1934861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CCC72-4CF5-32B9-4B96-1BD32F05EEAD}"/>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12798EB-97E5-81E9-B1D4-EFEBF376A08D}"/>
              </a:ext>
            </a:extLst>
          </p:cNvPr>
          <p:cNvSpPr>
            <a:spLocks noGrp="1"/>
          </p:cNvSpPr>
          <p:nvPr>
            <p:ph type="body" sz="quarter" idx="11"/>
          </p:nvPr>
        </p:nvSpPr>
        <p:spPr/>
        <p:txBody>
          <a:bodyPr/>
          <a:lstStyle/>
          <a:p>
            <a:r>
              <a:rPr lang="fr-FR" dirty="0"/>
              <a:t>Quiz 3</a:t>
            </a:r>
          </a:p>
        </p:txBody>
      </p:sp>
      <p:sp>
        <p:nvSpPr>
          <p:cNvPr id="3" name="Espace réservé du texte 2">
            <a:extLst>
              <a:ext uri="{FF2B5EF4-FFF2-40B4-BE49-F238E27FC236}">
                <a16:creationId xmlns:a16="http://schemas.microsoft.com/office/drawing/2014/main" id="{C3528D43-42F4-3AA4-6B75-2385946DA9E4}"/>
              </a:ext>
            </a:extLst>
          </p:cNvPr>
          <p:cNvSpPr>
            <a:spLocks noGrp="1"/>
          </p:cNvSpPr>
          <p:nvPr>
            <p:ph type="body" sz="quarter" idx="12"/>
          </p:nvPr>
        </p:nvSpPr>
        <p:spPr/>
        <p:txBody>
          <a:bodyPr/>
          <a:lstStyle/>
          <a:p>
            <a:r>
              <a:rPr lang="fr-FR" dirty="0"/>
              <a:t>App Service Plans</a:t>
            </a:r>
          </a:p>
        </p:txBody>
      </p:sp>
    </p:spTree>
    <p:extLst>
      <p:ext uri="{BB962C8B-B14F-4D97-AF65-F5344CB8AC3E}">
        <p14:creationId xmlns:p14="http://schemas.microsoft.com/office/powerpoint/2010/main" val="2557337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9C2D2-0C9A-CCD0-3D11-C75C58CB2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3BB8D-1B60-6829-8267-7B4557312598}"/>
              </a:ext>
            </a:extLst>
          </p:cNvPr>
          <p:cNvSpPr>
            <a:spLocks noGrp="1"/>
          </p:cNvSpPr>
          <p:nvPr>
            <p:ph type="title"/>
          </p:nvPr>
        </p:nvSpPr>
        <p:spPr/>
        <p:txBody>
          <a:bodyPr/>
          <a:lstStyle/>
          <a:p>
            <a:r>
              <a:rPr lang="en-US" dirty="0"/>
              <a:t>Question 1</a:t>
            </a:r>
          </a:p>
        </p:txBody>
      </p:sp>
      <p:sp>
        <p:nvSpPr>
          <p:cNvPr id="3" name="Content Placeholder 2">
            <a:extLst>
              <a:ext uri="{FF2B5EF4-FFF2-40B4-BE49-F238E27FC236}">
                <a16:creationId xmlns:a16="http://schemas.microsoft.com/office/drawing/2014/main" id="{B9497842-48F6-9F92-A50A-5AF4CA9DF0A7}"/>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 est le rôle principal d’un </a:t>
            </a:r>
            <a:r>
              <a:rPr lang="fr-FR" sz="2400" b="1" dirty="0"/>
              <a:t>App Service Plan</a:t>
            </a:r>
            <a:r>
              <a:rPr lang="fr-FR" sz="2400" dirty="0"/>
              <a:t> dans Azure App Service ?</a:t>
            </a:r>
          </a:p>
          <a:p>
            <a:pPr marL="0" indent="0">
              <a:buNone/>
            </a:pPr>
            <a:endParaRPr lang="fr-FR" sz="2400" dirty="0"/>
          </a:p>
          <a:p>
            <a:pPr>
              <a:buFont typeface="+mj-lt"/>
              <a:buAutoNum type="arabicPeriod"/>
            </a:pPr>
            <a:r>
              <a:rPr lang="fr-FR" sz="2400" dirty="0"/>
              <a:t>Héberger le code de l’application web</a:t>
            </a:r>
          </a:p>
          <a:p>
            <a:pPr>
              <a:buFont typeface="+mj-lt"/>
              <a:buAutoNum type="arabicPeriod"/>
            </a:pPr>
            <a:r>
              <a:rPr lang="fr-FR" sz="2400" dirty="0"/>
              <a:t>Gérer les logs et la télémétrie</a:t>
            </a:r>
          </a:p>
          <a:p>
            <a:pPr>
              <a:buFont typeface="+mj-lt"/>
              <a:buAutoNum type="arabicPeriod"/>
            </a:pPr>
            <a:r>
              <a:rPr lang="fr-FR" sz="2400" dirty="0"/>
              <a:t>Stocker les fichiers statiques de l’application</a:t>
            </a:r>
          </a:p>
          <a:p>
            <a:pPr>
              <a:buFont typeface="+mj-lt"/>
              <a:buAutoNum type="arabicPeriod"/>
            </a:pPr>
            <a:r>
              <a:rPr lang="fr-FR" sz="2400" dirty="0"/>
              <a:t>Fournir l’infrastructure (CPU, RAM, instances) utilisée par les applications</a:t>
            </a:r>
          </a:p>
          <a:p>
            <a:pPr marL="0" indent="0">
              <a:buNone/>
            </a:pPr>
            <a:endParaRPr lang="fr-FR" sz="2400" dirty="0"/>
          </a:p>
        </p:txBody>
      </p:sp>
      <p:sp>
        <p:nvSpPr>
          <p:cNvPr id="4" name="ZoneTexte 3">
            <a:extLst>
              <a:ext uri="{FF2B5EF4-FFF2-40B4-BE49-F238E27FC236}">
                <a16:creationId xmlns:a16="http://schemas.microsoft.com/office/drawing/2014/main" id="{7D3E8612-6C13-D1AA-F939-BADAAA7B813F}"/>
              </a:ext>
            </a:extLst>
          </p:cNvPr>
          <p:cNvSpPr txBox="1"/>
          <p:nvPr/>
        </p:nvSpPr>
        <p:spPr>
          <a:xfrm>
            <a:off x="7164288" y="4941168"/>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Tree>
    <p:extLst>
      <p:ext uri="{BB962C8B-B14F-4D97-AF65-F5344CB8AC3E}">
        <p14:creationId xmlns:p14="http://schemas.microsoft.com/office/powerpoint/2010/main" val="218468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ED377-C1B3-0351-3A29-C94601C3F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A5D97-F258-514A-9822-15BC951B2C1D}"/>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B255CE64-4C15-6D73-54FD-D44BF180E37F}"/>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 se passe-t-il si </a:t>
            </a:r>
            <a:r>
              <a:rPr lang="fr-FR" sz="2400" b="1" dirty="0"/>
              <a:t>plusieurs Web Apps utilisent le même App Service Plan</a:t>
            </a:r>
            <a:r>
              <a:rPr lang="fr-FR" sz="2400" dirty="0"/>
              <a:t> ?</a:t>
            </a:r>
          </a:p>
          <a:p>
            <a:pPr marL="0" indent="0">
              <a:buNone/>
            </a:pPr>
            <a:endParaRPr lang="fr-FR" sz="2400" dirty="0"/>
          </a:p>
          <a:p>
            <a:pPr>
              <a:buFont typeface="+mj-lt"/>
              <a:buAutoNum type="arabicPeriod"/>
            </a:pPr>
            <a:r>
              <a:rPr lang="fr-FR" sz="2400" dirty="0"/>
              <a:t>Chaque application possède son propre CPU</a:t>
            </a:r>
          </a:p>
          <a:p>
            <a:pPr>
              <a:buFont typeface="+mj-lt"/>
              <a:buAutoNum type="arabicPeriod"/>
            </a:pPr>
            <a:r>
              <a:rPr lang="fr-FR" sz="2400" dirty="0"/>
              <a:t>Les applications partagent les ressources du plan</a:t>
            </a:r>
          </a:p>
          <a:p>
            <a:pPr>
              <a:buFont typeface="+mj-lt"/>
              <a:buAutoNum type="arabicPeriod"/>
            </a:pPr>
            <a:r>
              <a:rPr lang="fr-FR" sz="2400" dirty="0"/>
              <a:t>Azure crée automatiquement un nouveau plan pour chaque app</a:t>
            </a:r>
          </a:p>
          <a:p>
            <a:pPr>
              <a:buFont typeface="+mj-lt"/>
              <a:buAutoNum type="arabicPeriod"/>
            </a:pPr>
            <a:r>
              <a:rPr lang="fr-FR" sz="2400" dirty="0"/>
              <a:t>Les applications ne peuvent pas partager un plan</a:t>
            </a:r>
          </a:p>
          <a:p>
            <a:pPr marL="0" indent="0">
              <a:buNone/>
            </a:pPr>
            <a:endParaRPr lang="fr-FR" sz="2400" dirty="0"/>
          </a:p>
        </p:txBody>
      </p:sp>
      <p:sp>
        <p:nvSpPr>
          <p:cNvPr id="4" name="ZoneTexte 3">
            <a:extLst>
              <a:ext uri="{FF2B5EF4-FFF2-40B4-BE49-F238E27FC236}">
                <a16:creationId xmlns:a16="http://schemas.microsoft.com/office/drawing/2014/main" id="{62EE32B7-9A1A-A164-148E-52571145A41E}"/>
              </a:ext>
            </a:extLst>
          </p:cNvPr>
          <p:cNvSpPr txBox="1"/>
          <p:nvPr/>
        </p:nvSpPr>
        <p:spPr>
          <a:xfrm>
            <a:off x="7236296" y="4797152"/>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Tree>
    <p:extLst>
      <p:ext uri="{BB962C8B-B14F-4D97-AF65-F5344CB8AC3E}">
        <p14:creationId xmlns:p14="http://schemas.microsoft.com/office/powerpoint/2010/main" val="42912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D5526-EE01-444B-EBA2-E7EC78029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154BD-863F-8350-4759-E87BF7B29AFB}"/>
              </a:ext>
            </a:extLst>
          </p:cNvPr>
          <p:cNvSpPr>
            <a:spLocks noGrp="1"/>
          </p:cNvSpPr>
          <p:nvPr>
            <p:ph type="title"/>
          </p:nvPr>
        </p:nvSpPr>
        <p:spPr/>
        <p:txBody>
          <a:bodyPr/>
          <a:lstStyle/>
          <a:p>
            <a:r>
              <a:rPr lang="en-US" dirty="0"/>
              <a:t>Question 3 </a:t>
            </a:r>
          </a:p>
        </p:txBody>
      </p:sp>
      <p:sp>
        <p:nvSpPr>
          <p:cNvPr id="3" name="Content Placeholder 2">
            <a:extLst>
              <a:ext uri="{FF2B5EF4-FFF2-40B4-BE49-F238E27FC236}">
                <a16:creationId xmlns:a16="http://schemas.microsoft.com/office/drawing/2014/main" id="{8FDB84CC-2152-A0BB-2E91-782BDD101DE2}"/>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Où configure-t-on </a:t>
            </a:r>
            <a:r>
              <a:rPr lang="fr-FR" sz="2400" b="1" dirty="0"/>
              <a:t>le </a:t>
            </a:r>
            <a:r>
              <a:rPr lang="fr-FR" sz="2400" b="1" dirty="0" err="1"/>
              <a:t>scaling</a:t>
            </a:r>
            <a:r>
              <a:rPr lang="fr-FR" sz="2400" b="1" dirty="0"/>
              <a:t> (nombre d’instances)</a:t>
            </a:r>
            <a:r>
              <a:rPr lang="fr-FR" sz="2400" dirty="0"/>
              <a:t> pour une Web App ?</a:t>
            </a:r>
          </a:p>
          <a:p>
            <a:pPr marL="0" indent="0">
              <a:buNone/>
            </a:pPr>
            <a:endParaRPr lang="fr-FR" sz="2400" dirty="0"/>
          </a:p>
          <a:p>
            <a:pPr>
              <a:buFont typeface="+mj-lt"/>
              <a:buAutoNum type="arabicPeriod"/>
            </a:pPr>
            <a:r>
              <a:rPr lang="fr-FR" sz="2400" dirty="0"/>
              <a:t>Dans l’App Service Plan</a:t>
            </a:r>
          </a:p>
          <a:p>
            <a:pPr>
              <a:buFont typeface="+mj-lt"/>
              <a:buAutoNum type="arabicPeriod"/>
            </a:pPr>
            <a:r>
              <a:rPr lang="fr-FR" sz="2400" dirty="0"/>
              <a:t>Dans chaque App Service individuellement</a:t>
            </a:r>
          </a:p>
          <a:p>
            <a:pPr>
              <a:buFont typeface="+mj-lt"/>
              <a:buAutoNum type="arabicPeriod"/>
            </a:pPr>
            <a:r>
              <a:rPr lang="fr-FR" sz="2400" dirty="0"/>
              <a:t>Dans Azure Storage</a:t>
            </a:r>
          </a:p>
          <a:p>
            <a:pPr>
              <a:buFont typeface="+mj-lt"/>
              <a:buAutoNum type="arabicPeriod"/>
            </a:pPr>
            <a:r>
              <a:rPr lang="fr-FR" sz="2400" dirty="0"/>
              <a:t>Dans Application Insights</a:t>
            </a:r>
          </a:p>
          <a:p>
            <a:pPr marL="0" indent="0">
              <a:buNone/>
            </a:pPr>
            <a:endParaRPr lang="fr-FR" sz="2400" dirty="0"/>
          </a:p>
        </p:txBody>
      </p:sp>
      <p:sp>
        <p:nvSpPr>
          <p:cNvPr id="4" name="ZoneTexte 3">
            <a:extLst>
              <a:ext uri="{FF2B5EF4-FFF2-40B4-BE49-F238E27FC236}">
                <a16:creationId xmlns:a16="http://schemas.microsoft.com/office/drawing/2014/main" id="{E7C4B110-4603-3EEF-F487-D73CE8F2F7E8}"/>
              </a:ext>
            </a:extLst>
          </p:cNvPr>
          <p:cNvSpPr txBox="1"/>
          <p:nvPr/>
        </p:nvSpPr>
        <p:spPr>
          <a:xfrm>
            <a:off x="7020272" y="3789040"/>
            <a:ext cx="1230465" cy="923330"/>
          </a:xfrm>
          <a:prstGeom prst="rect">
            <a:avLst/>
          </a:prstGeom>
          <a:noFill/>
        </p:spPr>
        <p:txBody>
          <a:bodyPr wrap="none" rtlCol="0">
            <a:spAutoFit/>
          </a:bodyPr>
          <a:lstStyle/>
          <a:p>
            <a:r>
              <a:rPr lang="fr-FR" b="1" u="sng" dirty="0"/>
              <a:t>Réponse :</a:t>
            </a:r>
          </a:p>
          <a:p>
            <a:r>
              <a:rPr lang="fr-FR" dirty="0"/>
              <a:t>1</a:t>
            </a:r>
          </a:p>
          <a:p>
            <a:endParaRPr lang="fr-FR" dirty="0"/>
          </a:p>
        </p:txBody>
      </p:sp>
    </p:spTree>
    <p:extLst>
      <p:ext uri="{BB962C8B-B14F-4D97-AF65-F5344CB8AC3E}">
        <p14:creationId xmlns:p14="http://schemas.microsoft.com/office/powerpoint/2010/main" val="2698472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BC1C9-4EE9-84B8-689D-3E956F386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1EA99-3132-4200-2F6C-866B1410EE0F}"/>
              </a:ext>
            </a:extLst>
          </p:cNvPr>
          <p:cNvSpPr>
            <a:spLocks noGrp="1"/>
          </p:cNvSpPr>
          <p:nvPr>
            <p:ph type="title"/>
          </p:nvPr>
        </p:nvSpPr>
        <p:spPr/>
        <p:txBody>
          <a:bodyPr/>
          <a:lstStyle/>
          <a:p>
            <a:r>
              <a:rPr lang="en-US" dirty="0"/>
              <a:t>Question 3 bis </a:t>
            </a:r>
          </a:p>
        </p:txBody>
      </p:sp>
      <p:sp>
        <p:nvSpPr>
          <p:cNvPr id="3" name="Content Placeholder 2">
            <a:extLst>
              <a:ext uri="{FF2B5EF4-FFF2-40B4-BE49-F238E27FC236}">
                <a16:creationId xmlns:a16="http://schemas.microsoft.com/office/drawing/2014/main" id="{3A1D1DC7-2992-1B42-8748-C38D9612D725}"/>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Vous avez </a:t>
            </a:r>
            <a:r>
              <a:rPr lang="fr-FR" sz="2400" b="1" dirty="0"/>
              <a:t>3 Web Apps</a:t>
            </a:r>
            <a:r>
              <a:rPr lang="fr-FR" sz="2400" dirty="0"/>
              <a:t> hébergées sur le même </a:t>
            </a:r>
            <a:r>
              <a:rPr lang="fr-FR" sz="2400" b="1" dirty="0"/>
              <a:t>Azure App Service Plan</a:t>
            </a:r>
            <a:r>
              <a:rPr lang="fr-FR" sz="2400" dirty="0"/>
              <a:t>.</a:t>
            </a:r>
            <a:br>
              <a:rPr lang="fr-FR" sz="2400" dirty="0"/>
            </a:br>
            <a:r>
              <a:rPr lang="fr-FR" sz="2400" dirty="0"/>
              <a:t>L’une des applications commence à subir des pics de trafic et vous souhaitez </a:t>
            </a:r>
            <a:r>
              <a:rPr lang="fr-FR" sz="2400" b="1" dirty="0"/>
              <a:t>configurer l’auto-</a:t>
            </a:r>
            <a:r>
              <a:rPr lang="fr-FR" sz="2400" b="1" dirty="0" err="1"/>
              <a:t>scaling</a:t>
            </a:r>
            <a:r>
              <a:rPr lang="fr-FR" sz="2400" b="1" dirty="0"/>
              <a:t> basé sur l’utilisation CPU</a:t>
            </a:r>
            <a:r>
              <a:rPr lang="fr-FR" sz="2400" dirty="0"/>
              <a:t>.</a:t>
            </a:r>
          </a:p>
          <a:p>
            <a:pPr marL="0" indent="0">
              <a:buNone/>
            </a:pPr>
            <a:r>
              <a:rPr lang="fr-FR" sz="2400" dirty="0"/>
              <a:t>Où devez-vous configurer cette règle d’auto-</a:t>
            </a:r>
            <a:r>
              <a:rPr lang="fr-FR" sz="2400" dirty="0" err="1"/>
              <a:t>scaling</a:t>
            </a:r>
            <a:r>
              <a:rPr lang="fr-FR" sz="2400" dirty="0"/>
              <a:t> ?</a:t>
            </a:r>
          </a:p>
          <a:p>
            <a:pPr>
              <a:buFont typeface="+mj-lt"/>
              <a:buAutoNum type="arabicPeriod"/>
            </a:pPr>
            <a:r>
              <a:rPr lang="fr-FR" sz="2400" dirty="0"/>
              <a:t>Sur l’App Service qui héberge l’application qui subit le pic de trafic</a:t>
            </a:r>
          </a:p>
          <a:p>
            <a:pPr>
              <a:buFont typeface="+mj-lt"/>
              <a:buAutoNum type="arabicPeriod"/>
            </a:pPr>
            <a:r>
              <a:rPr lang="fr-FR" sz="2400" dirty="0"/>
              <a:t>Dans la configuration globale Azure App Service pour la région</a:t>
            </a:r>
          </a:p>
          <a:p>
            <a:pPr>
              <a:buFont typeface="+mj-lt"/>
              <a:buAutoNum type="arabicPeriod"/>
            </a:pPr>
            <a:r>
              <a:rPr lang="fr-FR" sz="2400" dirty="0"/>
              <a:t>Dans l’App Service Plan qui héberge les applications</a:t>
            </a:r>
          </a:p>
          <a:p>
            <a:pPr>
              <a:buFont typeface="+mj-lt"/>
              <a:buAutoNum type="arabicPeriod"/>
            </a:pPr>
            <a:r>
              <a:rPr lang="fr-FR" sz="2400" dirty="0"/>
              <a:t>Dans Application Insights pour déclencher automatiquement le </a:t>
            </a:r>
            <a:r>
              <a:rPr lang="fr-FR" sz="2400" dirty="0" err="1"/>
              <a:t>scaling</a:t>
            </a:r>
            <a:endParaRPr lang="fr-FR" sz="2400" dirty="0"/>
          </a:p>
          <a:p>
            <a:pPr marL="0" indent="0">
              <a:buNone/>
            </a:pPr>
            <a:endParaRPr lang="fr-FR" sz="2400" dirty="0"/>
          </a:p>
        </p:txBody>
      </p:sp>
      <p:sp>
        <p:nvSpPr>
          <p:cNvPr id="4" name="ZoneTexte 3">
            <a:extLst>
              <a:ext uri="{FF2B5EF4-FFF2-40B4-BE49-F238E27FC236}">
                <a16:creationId xmlns:a16="http://schemas.microsoft.com/office/drawing/2014/main" id="{B847E74A-474A-43F8-E1F9-9FB6AD2E588D}"/>
              </a:ext>
            </a:extLst>
          </p:cNvPr>
          <p:cNvSpPr txBox="1"/>
          <p:nvPr/>
        </p:nvSpPr>
        <p:spPr>
          <a:xfrm>
            <a:off x="7524328" y="5517232"/>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Tree>
    <p:extLst>
      <p:ext uri="{BB962C8B-B14F-4D97-AF65-F5344CB8AC3E}">
        <p14:creationId xmlns:p14="http://schemas.microsoft.com/office/powerpoint/2010/main" val="336982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12D57-9045-60EB-5048-360C522D4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4A45D-F61C-9B4F-6B1B-61EB2EA0BD25}"/>
              </a:ext>
            </a:extLst>
          </p:cNvPr>
          <p:cNvSpPr>
            <a:spLocks noGrp="1"/>
          </p:cNvSpPr>
          <p:nvPr>
            <p:ph type="title"/>
          </p:nvPr>
        </p:nvSpPr>
        <p:spPr/>
        <p:txBody>
          <a:bodyPr/>
          <a:lstStyle/>
          <a:p>
            <a:r>
              <a:rPr lang="en-US" dirty="0"/>
              <a:t>Question 4 </a:t>
            </a:r>
          </a:p>
        </p:txBody>
      </p:sp>
      <p:sp>
        <p:nvSpPr>
          <p:cNvPr id="3" name="Content Placeholder 2">
            <a:extLst>
              <a:ext uri="{FF2B5EF4-FFF2-40B4-BE49-F238E27FC236}">
                <a16:creationId xmlns:a16="http://schemas.microsoft.com/office/drawing/2014/main" id="{C0893F9E-08BB-F94C-C4FC-0ADD8114D871}"/>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 est l’impact de la suppression d’un </a:t>
            </a:r>
            <a:r>
              <a:rPr lang="fr-FR" sz="2400" b="1" dirty="0"/>
              <a:t>App Service Plan</a:t>
            </a:r>
            <a:r>
              <a:rPr lang="fr-FR" sz="2400" dirty="0"/>
              <a:t> ?</a:t>
            </a:r>
          </a:p>
          <a:p>
            <a:pPr marL="0" indent="0">
              <a:buNone/>
            </a:pPr>
            <a:endParaRPr lang="fr-FR" sz="2400" dirty="0"/>
          </a:p>
          <a:p>
            <a:pPr>
              <a:buFont typeface="+mj-lt"/>
              <a:buAutoNum type="arabicPeriod"/>
            </a:pPr>
            <a:r>
              <a:rPr lang="fr-FR" sz="2400" dirty="0"/>
              <a:t>Les applications restent disponibles</a:t>
            </a:r>
          </a:p>
          <a:p>
            <a:pPr>
              <a:buFont typeface="+mj-lt"/>
              <a:buAutoNum type="arabicPeriod"/>
            </a:pPr>
            <a:r>
              <a:rPr lang="fr-FR" sz="2400" dirty="0"/>
              <a:t>Les applications sont déplacées automatiquement vers un autre plan</a:t>
            </a:r>
          </a:p>
          <a:p>
            <a:pPr>
              <a:buFont typeface="+mj-lt"/>
              <a:buAutoNum type="arabicPeriod"/>
            </a:pPr>
            <a:r>
              <a:rPr lang="fr-FR" sz="2400" dirty="0"/>
              <a:t>Les applications hébergées dans ce plan sont supprimées</a:t>
            </a:r>
          </a:p>
          <a:p>
            <a:pPr>
              <a:buFont typeface="+mj-lt"/>
              <a:buAutoNum type="arabicPeriod"/>
            </a:pPr>
            <a:r>
              <a:rPr lang="fr-FR" sz="2400" dirty="0"/>
              <a:t>Les applications passent en mode lecture seule</a:t>
            </a:r>
          </a:p>
          <a:p>
            <a:pPr marL="0" indent="0">
              <a:buNone/>
            </a:pPr>
            <a:endParaRPr lang="fr-FR" sz="2400" dirty="0"/>
          </a:p>
        </p:txBody>
      </p:sp>
      <p:sp>
        <p:nvSpPr>
          <p:cNvPr id="4" name="ZoneTexte 3">
            <a:extLst>
              <a:ext uri="{FF2B5EF4-FFF2-40B4-BE49-F238E27FC236}">
                <a16:creationId xmlns:a16="http://schemas.microsoft.com/office/drawing/2014/main" id="{16030D65-545B-7A27-72B0-B9DC61D3C7E3}"/>
              </a:ext>
            </a:extLst>
          </p:cNvPr>
          <p:cNvSpPr txBox="1"/>
          <p:nvPr/>
        </p:nvSpPr>
        <p:spPr>
          <a:xfrm>
            <a:off x="7236296" y="5157192"/>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Tree>
    <p:extLst>
      <p:ext uri="{BB962C8B-B14F-4D97-AF65-F5344CB8AC3E}">
        <p14:creationId xmlns:p14="http://schemas.microsoft.com/office/powerpoint/2010/main" val="314872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8B068-7FB1-18B1-95E6-494AB15BC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F3B3F-8F83-EA21-C4FE-D4CE77EDFCB3}"/>
              </a:ext>
            </a:extLst>
          </p:cNvPr>
          <p:cNvSpPr>
            <a:spLocks noGrp="1"/>
          </p:cNvSpPr>
          <p:nvPr>
            <p:ph type="title"/>
          </p:nvPr>
        </p:nvSpPr>
        <p:spPr/>
        <p:txBody>
          <a:bodyPr/>
          <a:lstStyle/>
          <a:p>
            <a:r>
              <a:rPr lang="en-US" dirty="0"/>
              <a:t>Question 5</a:t>
            </a:r>
          </a:p>
        </p:txBody>
      </p:sp>
      <p:sp>
        <p:nvSpPr>
          <p:cNvPr id="3" name="Content Placeholder 2">
            <a:extLst>
              <a:ext uri="{FF2B5EF4-FFF2-40B4-BE49-F238E27FC236}">
                <a16:creationId xmlns:a16="http://schemas.microsoft.com/office/drawing/2014/main" id="{66F90BBD-DE6C-E9C2-9DC9-A37674868B68}"/>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Pourquoi placer </a:t>
            </a:r>
            <a:r>
              <a:rPr lang="fr-FR" sz="2400" b="1" dirty="0"/>
              <a:t>plusieurs Web Apps dans le même App Service Plan</a:t>
            </a:r>
            <a:r>
              <a:rPr lang="fr-FR" sz="2400" dirty="0"/>
              <a:t> ?</a:t>
            </a:r>
          </a:p>
          <a:p>
            <a:pPr marL="0" indent="0">
              <a:buNone/>
            </a:pPr>
            <a:endParaRPr lang="fr-FR" sz="2400" dirty="0"/>
          </a:p>
          <a:p>
            <a:pPr>
              <a:buFont typeface="+mj-lt"/>
              <a:buAutoNum type="arabicPeriod"/>
            </a:pPr>
            <a:r>
              <a:rPr lang="fr-FR" sz="2400" dirty="0"/>
              <a:t>Pour améliorer la sécurité</a:t>
            </a:r>
          </a:p>
          <a:p>
            <a:pPr>
              <a:buFont typeface="+mj-lt"/>
              <a:buAutoNum type="arabicPeriod"/>
            </a:pPr>
            <a:r>
              <a:rPr lang="fr-FR" sz="2400" dirty="0"/>
              <a:t>Pour réduire les coûts</a:t>
            </a:r>
          </a:p>
          <a:p>
            <a:pPr>
              <a:buFont typeface="+mj-lt"/>
              <a:buAutoNum type="arabicPeriod"/>
            </a:pPr>
            <a:r>
              <a:rPr lang="fr-FR" sz="2400" dirty="0"/>
              <a:t>Pour isoler les applications</a:t>
            </a:r>
          </a:p>
          <a:p>
            <a:pPr>
              <a:buFont typeface="+mj-lt"/>
              <a:buAutoNum type="arabicPeriod"/>
            </a:pPr>
            <a:r>
              <a:rPr lang="fr-FR" sz="2400" dirty="0"/>
              <a:t>Pour augmenter la mémoire automatiquement</a:t>
            </a:r>
          </a:p>
          <a:p>
            <a:pPr marL="0" indent="0">
              <a:buNone/>
            </a:pPr>
            <a:endParaRPr lang="fr-FR" sz="2400" dirty="0"/>
          </a:p>
        </p:txBody>
      </p:sp>
      <p:sp>
        <p:nvSpPr>
          <p:cNvPr id="4" name="ZoneTexte 3">
            <a:extLst>
              <a:ext uri="{FF2B5EF4-FFF2-40B4-BE49-F238E27FC236}">
                <a16:creationId xmlns:a16="http://schemas.microsoft.com/office/drawing/2014/main" id="{B270F3F0-392E-0E48-DC47-04A5E8AFCDF8}"/>
              </a:ext>
            </a:extLst>
          </p:cNvPr>
          <p:cNvSpPr txBox="1"/>
          <p:nvPr/>
        </p:nvSpPr>
        <p:spPr>
          <a:xfrm>
            <a:off x="7164288" y="4581128"/>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Tree>
    <p:extLst>
      <p:ext uri="{BB962C8B-B14F-4D97-AF65-F5344CB8AC3E}">
        <p14:creationId xmlns:p14="http://schemas.microsoft.com/office/powerpoint/2010/main" val="381970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726D-3339-A154-874F-BE2DDB937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20D94-75F9-C036-732C-240A97EE4F36}"/>
              </a:ext>
            </a:extLst>
          </p:cNvPr>
          <p:cNvSpPr>
            <a:spLocks noGrp="1"/>
          </p:cNvSpPr>
          <p:nvPr>
            <p:ph type="title"/>
          </p:nvPr>
        </p:nvSpPr>
        <p:spPr/>
        <p:txBody>
          <a:bodyPr/>
          <a:lstStyle/>
          <a:p>
            <a:r>
              <a:rPr lang="en-US" dirty="0"/>
              <a:t>Question 6</a:t>
            </a:r>
          </a:p>
        </p:txBody>
      </p:sp>
      <p:sp>
        <p:nvSpPr>
          <p:cNvPr id="3" name="Content Placeholder 2">
            <a:extLst>
              <a:ext uri="{FF2B5EF4-FFF2-40B4-BE49-F238E27FC236}">
                <a16:creationId xmlns:a16="http://schemas.microsoft.com/office/drawing/2014/main" id="{29C05797-E907-2C0D-B035-20EF7C35E1D8}"/>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Quelle affirmation décrit correctement la relation entre </a:t>
            </a:r>
            <a:r>
              <a:rPr lang="fr-FR" sz="2400" b="1" dirty="0"/>
              <a:t>App Service et App Service Plan</a:t>
            </a:r>
            <a:r>
              <a:rPr lang="fr-FR" sz="2400" dirty="0"/>
              <a:t> ?</a:t>
            </a:r>
          </a:p>
          <a:p>
            <a:pPr marL="0" indent="0">
              <a:buNone/>
            </a:pPr>
            <a:endParaRPr lang="fr-FR" sz="2400" dirty="0"/>
          </a:p>
          <a:p>
            <a:pPr>
              <a:buFont typeface="+mj-lt"/>
              <a:buAutoNum type="arabicPeriod"/>
            </a:pPr>
            <a:r>
              <a:rPr lang="fr-FR" sz="2400" dirty="0"/>
              <a:t>Un App Service Plan appartient à une Web App</a:t>
            </a:r>
          </a:p>
          <a:p>
            <a:pPr>
              <a:buFont typeface="+mj-lt"/>
              <a:buAutoNum type="arabicPeriod"/>
            </a:pPr>
            <a:r>
              <a:rPr lang="fr-FR" sz="2400" dirty="0"/>
              <a:t>Une Web App peut utiliser plusieurs App Service Plans simultanément</a:t>
            </a:r>
          </a:p>
          <a:p>
            <a:pPr>
              <a:buFont typeface="+mj-lt"/>
              <a:buAutoNum type="arabicPeriod"/>
            </a:pPr>
            <a:r>
              <a:rPr lang="fr-FR" sz="2400" dirty="0"/>
              <a:t>Une Web App doit obligatoirement être associée à un App Service Plan</a:t>
            </a:r>
          </a:p>
          <a:p>
            <a:pPr>
              <a:buFont typeface="+mj-lt"/>
              <a:buAutoNum type="arabicPeriod"/>
            </a:pPr>
            <a:r>
              <a:rPr lang="fr-FR" sz="2400" dirty="0"/>
              <a:t>Les App Services remplacent les App Service Plans</a:t>
            </a:r>
          </a:p>
          <a:p>
            <a:pPr marL="0" indent="0">
              <a:buNone/>
            </a:pPr>
            <a:endParaRPr lang="fr-FR" sz="2400" dirty="0"/>
          </a:p>
        </p:txBody>
      </p:sp>
      <p:sp>
        <p:nvSpPr>
          <p:cNvPr id="4" name="ZoneTexte 3">
            <a:extLst>
              <a:ext uri="{FF2B5EF4-FFF2-40B4-BE49-F238E27FC236}">
                <a16:creationId xmlns:a16="http://schemas.microsoft.com/office/drawing/2014/main" id="{27167138-4770-4740-58FD-D3AD3E74066A}"/>
              </a:ext>
            </a:extLst>
          </p:cNvPr>
          <p:cNvSpPr txBox="1"/>
          <p:nvPr/>
        </p:nvSpPr>
        <p:spPr>
          <a:xfrm>
            <a:off x="7380312" y="5329535"/>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Tree>
    <p:extLst>
      <p:ext uri="{BB962C8B-B14F-4D97-AF65-F5344CB8AC3E}">
        <p14:creationId xmlns:p14="http://schemas.microsoft.com/office/powerpoint/2010/main" val="298275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914AD-9466-A346-B082-3D286FE8A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18F922-F5EB-0288-4C01-7E5B3BC15DCA}"/>
              </a:ext>
            </a:extLst>
          </p:cNvPr>
          <p:cNvSpPr>
            <a:spLocks noGrp="1"/>
          </p:cNvSpPr>
          <p:nvPr>
            <p:ph type="title"/>
          </p:nvPr>
        </p:nvSpPr>
        <p:spPr/>
        <p:txBody>
          <a:bodyPr/>
          <a:lstStyle/>
          <a:p>
            <a:r>
              <a:rPr lang="fr-FR" sz="2800" dirty="0" err="1"/>
              <a:t>Scale</a:t>
            </a:r>
            <a:r>
              <a:rPr lang="fr-FR" sz="2800" dirty="0"/>
              <a:t> Up / </a:t>
            </a:r>
            <a:r>
              <a:rPr lang="fr-FR" sz="2800" dirty="0" err="1"/>
              <a:t>Scale</a:t>
            </a:r>
            <a:r>
              <a:rPr lang="fr-FR" sz="2800" dirty="0"/>
              <a:t> Out</a:t>
            </a:r>
            <a:endParaRPr lang="en-US" sz="2800" dirty="0"/>
          </a:p>
        </p:txBody>
      </p:sp>
      <p:graphicFrame>
        <p:nvGraphicFramePr>
          <p:cNvPr id="3" name="Tableau 2">
            <a:extLst>
              <a:ext uri="{FF2B5EF4-FFF2-40B4-BE49-F238E27FC236}">
                <a16:creationId xmlns:a16="http://schemas.microsoft.com/office/drawing/2014/main" id="{466FB287-B648-BC82-4A40-5E3D8EA9DC82}"/>
              </a:ext>
            </a:extLst>
          </p:cNvPr>
          <p:cNvGraphicFramePr>
            <a:graphicFrameLocks noGrp="1"/>
          </p:cNvGraphicFramePr>
          <p:nvPr>
            <p:extLst>
              <p:ext uri="{D42A27DB-BD31-4B8C-83A1-F6EECF244321}">
                <p14:modId xmlns:p14="http://schemas.microsoft.com/office/powerpoint/2010/main" val="2459999142"/>
              </p:ext>
            </p:extLst>
          </p:nvPr>
        </p:nvGraphicFramePr>
        <p:xfrm>
          <a:off x="457200" y="1797437"/>
          <a:ext cx="7886700" cy="1828800"/>
        </p:xfrm>
        <a:graphic>
          <a:graphicData uri="http://schemas.openxmlformats.org/drawingml/2006/table">
            <a:tbl>
              <a:tblPr/>
              <a:tblGrid>
                <a:gridCol w="1882552">
                  <a:extLst>
                    <a:ext uri="{9D8B030D-6E8A-4147-A177-3AD203B41FA5}">
                      <a16:colId xmlns:a16="http://schemas.microsoft.com/office/drawing/2014/main" val="590019645"/>
                    </a:ext>
                  </a:extLst>
                </a:gridCol>
                <a:gridCol w="2016224">
                  <a:extLst>
                    <a:ext uri="{9D8B030D-6E8A-4147-A177-3AD203B41FA5}">
                      <a16:colId xmlns:a16="http://schemas.microsoft.com/office/drawing/2014/main" val="2395372519"/>
                    </a:ext>
                  </a:extLst>
                </a:gridCol>
                <a:gridCol w="3987924">
                  <a:extLst>
                    <a:ext uri="{9D8B030D-6E8A-4147-A177-3AD203B41FA5}">
                      <a16:colId xmlns:a16="http://schemas.microsoft.com/office/drawing/2014/main" val="3657049586"/>
                    </a:ext>
                  </a:extLst>
                </a:gridCol>
              </a:tblGrid>
              <a:tr h="0">
                <a:tc>
                  <a:txBody>
                    <a:bodyPr/>
                    <a:lstStyle/>
                    <a:p>
                      <a:pPr>
                        <a:buNone/>
                      </a:pPr>
                      <a:r>
                        <a:rPr lang="fr-FR" b="1" u="sng" dirty="0"/>
                        <a:t>Terme</a:t>
                      </a:r>
                    </a:p>
                  </a:txBody>
                  <a:tcPr anchor="ctr">
                    <a:lnL>
                      <a:noFill/>
                    </a:lnL>
                    <a:lnR>
                      <a:noFill/>
                    </a:lnR>
                    <a:lnT>
                      <a:noFill/>
                    </a:lnT>
                    <a:lnB>
                      <a:noFill/>
                    </a:lnB>
                    <a:noFill/>
                  </a:tcPr>
                </a:tc>
                <a:tc>
                  <a:txBody>
                    <a:bodyPr/>
                    <a:lstStyle/>
                    <a:p>
                      <a:pPr>
                        <a:buNone/>
                      </a:pPr>
                      <a:r>
                        <a:rPr lang="fr-FR" b="1" u="sng"/>
                        <a:t>Type</a:t>
                      </a:r>
                    </a:p>
                  </a:txBody>
                  <a:tcPr anchor="ctr">
                    <a:lnL>
                      <a:noFill/>
                    </a:lnL>
                    <a:lnR>
                      <a:noFill/>
                    </a:lnR>
                    <a:lnT>
                      <a:noFill/>
                    </a:lnT>
                    <a:lnB>
                      <a:noFill/>
                    </a:lnB>
                    <a:noFill/>
                  </a:tcPr>
                </a:tc>
                <a:tc>
                  <a:txBody>
                    <a:bodyPr/>
                    <a:lstStyle/>
                    <a:p>
                      <a:pPr>
                        <a:buNone/>
                      </a:pPr>
                      <a:r>
                        <a:rPr lang="fr-FR" b="1" u="sng" dirty="0"/>
                        <a:t>Ce qui change</a:t>
                      </a:r>
                    </a:p>
                  </a:txBody>
                  <a:tcPr anchor="ctr">
                    <a:lnL>
                      <a:noFill/>
                    </a:lnL>
                    <a:lnR>
                      <a:noFill/>
                    </a:lnR>
                    <a:lnT>
                      <a:noFill/>
                    </a:lnT>
                    <a:lnB>
                      <a:noFill/>
                    </a:lnB>
                    <a:noFill/>
                  </a:tcPr>
                </a:tc>
                <a:extLst>
                  <a:ext uri="{0D108BD9-81ED-4DB2-BD59-A6C34878D82A}">
                    <a16:rowId xmlns:a16="http://schemas.microsoft.com/office/drawing/2014/main" val="161735775"/>
                  </a:ext>
                </a:extLst>
              </a:tr>
              <a:tr h="0">
                <a:tc>
                  <a:txBody>
                    <a:bodyPr/>
                    <a:lstStyle/>
                    <a:p>
                      <a:pPr>
                        <a:buNone/>
                      </a:pPr>
                      <a:r>
                        <a:rPr lang="fr-FR" b="1"/>
                        <a:t>Scale Up</a:t>
                      </a:r>
                      <a:endParaRPr lang="fr-FR"/>
                    </a:p>
                  </a:txBody>
                  <a:tcPr anchor="ctr">
                    <a:lnL>
                      <a:noFill/>
                    </a:lnL>
                    <a:lnR>
                      <a:noFill/>
                    </a:lnR>
                    <a:lnT>
                      <a:noFill/>
                    </a:lnT>
                    <a:lnB>
                      <a:noFill/>
                    </a:lnB>
                    <a:noFill/>
                  </a:tcPr>
                </a:tc>
                <a:tc>
                  <a:txBody>
                    <a:bodyPr/>
                    <a:lstStyle/>
                    <a:p>
                      <a:pPr>
                        <a:buNone/>
                      </a:pPr>
                      <a:r>
                        <a:rPr lang="fr-FR" dirty="0"/>
                        <a:t>Vertical</a:t>
                      </a:r>
                    </a:p>
                  </a:txBody>
                  <a:tcPr anchor="ctr">
                    <a:lnL>
                      <a:noFill/>
                    </a:lnL>
                    <a:lnR>
                      <a:noFill/>
                    </a:lnR>
                    <a:lnT>
                      <a:noFill/>
                    </a:lnT>
                    <a:lnB>
                      <a:noFill/>
                    </a:lnB>
                    <a:noFill/>
                  </a:tcPr>
                </a:tc>
                <a:tc>
                  <a:txBody>
                    <a:bodyPr/>
                    <a:lstStyle/>
                    <a:p>
                      <a:pPr>
                        <a:buNone/>
                      </a:pPr>
                      <a:r>
                        <a:rPr lang="fr-FR"/>
                        <a:t>puissance machine (CPU, RAM)</a:t>
                      </a:r>
                    </a:p>
                  </a:txBody>
                  <a:tcPr anchor="ctr">
                    <a:lnL>
                      <a:noFill/>
                    </a:lnL>
                    <a:lnR>
                      <a:noFill/>
                    </a:lnR>
                    <a:lnT>
                      <a:noFill/>
                    </a:lnT>
                    <a:lnB>
                      <a:noFill/>
                    </a:lnB>
                    <a:noFill/>
                  </a:tcPr>
                </a:tc>
                <a:extLst>
                  <a:ext uri="{0D108BD9-81ED-4DB2-BD59-A6C34878D82A}">
                    <a16:rowId xmlns:a16="http://schemas.microsoft.com/office/drawing/2014/main" val="1065443817"/>
                  </a:ext>
                </a:extLst>
              </a:tr>
              <a:tr h="0">
                <a:tc>
                  <a:txBody>
                    <a:bodyPr/>
                    <a:lstStyle/>
                    <a:p>
                      <a:pPr>
                        <a:buNone/>
                      </a:pPr>
                      <a:r>
                        <a:rPr lang="fr-FR" b="1" dirty="0" err="1"/>
                        <a:t>Scale</a:t>
                      </a:r>
                      <a:r>
                        <a:rPr lang="fr-FR" b="1" dirty="0"/>
                        <a:t> Down</a:t>
                      </a:r>
                      <a:endParaRPr lang="fr-FR" dirty="0"/>
                    </a:p>
                  </a:txBody>
                  <a:tcPr anchor="ctr">
                    <a:lnL>
                      <a:noFill/>
                    </a:lnL>
                    <a:lnR>
                      <a:noFill/>
                    </a:lnR>
                    <a:lnT>
                      <a:noFill/>
                    </a:lnT>
                    <a:lnB>
                      <a:noFill/>
                    </a:lnB>
                    <a:noFill/>
                  </a:tcPr>
                </a:tc>
                <a:tc>
                  <a:txBody>
                    <a:bodyPr/>
                    <a:lstStyle/>
                    <a:p>
                      <a:pPr>
                        <a:buNone/>
                      </a:pPr>
                      <a:r>
                        <a:rPr lang="fr-FR" dirty="0"/>
                        <a:t>Vertical</a:t>
                      </a:r>
                    </a:p>
                  </a:txBody>
                  <a:tcPr anchor="ctr">
                    <a:lnL>
                      <a:noFill/>
                    </a:lnL>
                    <a:lnR>
                      <a:noFill/>
                    </a:lnR>
                    <a:lnT>
                      <a:noFill/>
                    </a:lnT>
                    <a:lnB>
                      <a:noFill/>
                    </a:lnB>
                    <a:noFill/>
                  </a:tcPr>
                </a:tc>
                <a:tc>
                  <a:txBody>
                    <a:bodyPr/>
                    <a:lstStyle/>
                    <a:p>
                      <a:pPr>
                        <a:buNone/>
                      </a:pPr>
                      <a:r>
                        <a:rPr lang="fr-FR"/>
                        <a:t>machine moins puissante</a:t>
                      </a:r>
                    </a:p>
                  </a:txBody>
                  <a:tcPr anchor="ctr">
                    <a:lnL>
                      <a:noFill/>
                    </a:lnL>
                    <a:lnR>
                      <a:noFill/>
                    </a:lnR>
                    <a:lnT>
                      <a:noFill/>
                    </a:lnT>
                    <a:lnB>
                      <a:noFill/>
                    </a:lnB>
                    <a:noFill/>
                  </a:tcPr>
                </a:tc>
                <a:extLst>
                  <a:ext uri="{0D108BD9-81ED-4DB2-BD59-A6C34878D82A}">
                    <a16:rowId xmlns:a16="http://schemas.microsoft.com/office/drawing/2014/main" val="2791209045"/>
                  </a:ext>
                </a:extLst>
              </a:tr>
              <a:tr h="0">
                <a:tc>
                  <a:txBody>
                    <a:bodyPr/>
                    <a:lstStyle/>
                    <a:p>
                      <a:pPr>
                        <a:buNone/>
                      </a:pPr>
                      <a:r>
                        <a:rPr lang="fr-FR" b="1" dirty="0" err="1"/>
                        <a:t>Scale</a:t>
                      </a:r>
                      <a:r>
                        <a:rPr lang="fr-FR" b="1" dirty="0"/>
                        <a:t> Out</a:t>
                      </a:r>
                      <a:endParaRPr lang="fr-FR" dirty="0"/>
                    </a:p>
                  </a:txBody>
                  <a:tcPr anchor="ctr">
                    <a:lnL>
                      <a:noFill/>
                    </a:lnL>
                    <a:lnR>
                      <a:noFill/>
                    </a:lnR>
                    <a:lnT>
                      <a:noFill/>
                    </a:lnT>
                    <a:lnB>
                      <a:noFill/>
                    </a:lnB>
                    <a:noFill/>
                  </a:tcPr>
                </a:tc>
                <a:tc>
                  <a:txBody>
                    <a:bodyPr/>
                    <a:lstStyle/>
                    <a:p>
                      <a:pPr>
                        <a:buNone/>
                      </a:pPr>
                      <a:r>
                        <a:rPr lang="fr-FR"/>
                        <a:t>Horizontal</a:t>
                      </a:r>
                    </a:p>
                  </a:txBody>
                  <a:tcPr anchor="ctr">
                    <a:lnL>
                      <a:noFill/>
                    </a:lnL>
                    <a:lnR>
                      <a:noFill/>
                    </a:lnR>
                    <a:lnT>
                      <a:noFill/>
                    </a:lnT>
                    <a:lnB>
                      <a:noFill/>
                    </a:lnB>
                    <a:noFill/>
                  </a:tcPr>
                </a:tc>
                <a:tc>
                  <a:txBody>
                    <a:bodyPr/>
                    <a:lstStyle/>
                    <a:p>
                      <a:pPr>
                        <a:buNone/>
                      </a:pPr>
                      <a:r>
                        <a:rPr lang="fr-FR"/>
                        <a:t>plus d’instances</a:t>
                      </a:r>
                    </a:p>
                  </a:txBody>
                  <a:tcPr anchor="ctr">
                    <a:lnL>
                      <a:noFill/>
                    </a:lnL>
                    <a:lnR>
                      <a:noFill/>
                    </a:lnR>
                    <a:lnT>
                      <a:noFill/>
                    </a:lnT>
                    <a:lnB>
                      <a:noFill/>
                    </a:lnB>
                    <a:noFill/>
                  </a:tcPr>
                </a:tc>
                <a:extLst>
                  <a:ext uri="{0D108BD9-81ED-4DB2-BD59-A6C34878D82A}">
                    <a16:rowId xmlns:a16="http://schemas.microsoft.com/office/drawing/2014/main" val="446683248"/>
                  </a:ext>
                </a:extLst>
              </a:tr>
              <a:tr h="0">
                <a:tc>
                  <a:txBody>
                    <a:bodyPr/>
                    <a:lstStyle/>
                    <a:p>
                      <a:pPr>
                        <a:buNone/>
                      </a:pPr>
                      <a:r>
                        <a:rPr lang="fr-FR" b="1"/>
                        <a:t>Scale In</a:t>
                      </a:r>
                      <a:endParaRPr lang="fr-FR"/>
                    </a:p>
                  </a:txBody>
                  <a:tcPr anchor="ctr">
                    <a:lnL>
                      <a:noFill/>
                    </a:lnL>
                    <a:lnR>
                      <a:noFill/>
                    </a:lnR>
                    <a:lnT>
                      <a:noFill/>
                    </a:lnT>
                    <a:lnB>
                      <a:noFill/>
                    </a:lnB>
                    <a:noFill/>
                  </a:tcPr>
                </a:tc>
                <a:tc>
                  <a:txBody>
                    <a:bodyPr/>
                    <a:lstStyle/>
                    <a:p>
                      <a:pPr>
                        <a:buNone/>
                      </a:pPr>
                      <a:r>
                        <a:rPr lang="fr-FR"/>
                        <a:t>Horizontal</a:t>
                      </a:r>
                    </a:p>
                  </a:txBody>
                  <a:tcPr anchor="ctr">
                    <a:lnL>
                      <a:noFill/>
                    </a:lnL>
                    <a:lnR>
                      <a:noFill/>
                    </a:lnR>
                    <a:lnT>
                      <a:noFill/>
                    </a:lnT>
                    <a:lnB>
                      <a:noFill/>
                    </a:lnB>
                    <a:noFill/>
                  </a:tcPr>
                </a:tc>
                <a:tc>
                  <a:txBody>
                    <a:bodyPr/>
                    <a:lstStyle/>
                    <a:p>
                      <a:pPr>
                        <a:buNone/>
                      </a:pPr>
                      <a:r>
                        <a:rPr lang="fr-FR" dirty="0"/>
                        <a:t>moins d’instances</a:t>
                      </a:r>
                    </a:p>
                  </a:txBody>
                  <a:tcPr anchor="ctr">
                    <a:lnL>
                      <a:noFill/>
                    </a:lnL>
                    <a:lnR>
                      <a:noFill/>
                    </a:lnR>
                    <a:lnT>
                      <a:noFill/>
                    </a:lnT>
                    <a:lnB>
                      <a:noFill/>
                    </a:lnB>
                    <a:noFill/>
                  </a:tcPr>
                </a:tc>
                <a:extLst>
                  <a:ext uri="{0D108BD9-81ED-4DB2-BD59-A6C34878D82A}">
                    <a16:rowId xmlns:a16="http://schemas.microsoft.com/office/drawing/2014/main" val="3529613313"/>
                  </a:ext>
                </a:extLst>
              </a:tr>
            </a:tbl>
          </a:graphicData>
        </a:graphic>
      </p:graphicFrame>
      <p:sp>
        <p:nvSpPr>
          <p:cNvPr id="4" name="Rectangle 1">
            <a:extLst>
              <a:ext uri="{FF2B5EF4-FFF2-40B4-BE49-F238E27FC236}">
                <a16:creationId xmlns:a16="http://schemas.microsoft.com/office/drawing/2014/main" id="{ADAD9E63-5B33-F2D8-E5F5-16E229D8B722}"/>
              </a:ext>
            </a:extLst>
          </p:cNvPr>
          <p:cNvSpPr>
            <a:spLocks noChangeArrowheads="1"/>
          </p:cNvSpPr>
          <p:nvPr/>
        </p:nvSpPr>
        <p:spPr bwMode="auto">
          <a:xfrm>
            <a:off x="433583" y="1196752"/>
            <a:ext cx="488467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400" b="1" i="0" u="none" strike="noStrike" cap="none" normalizeH="0" baseline="0" dirty="0">
                <a:ln>
                  <a:noFill/>
                </a:ln>
                <a:solidFill>
                  <a:schemeClr val="tx1"/>
                </a:solidFill>
                <a:effectLst/>
                <a:latin typeface="Arial" panose="020B0604020202020204" pitchFamily="34" charset="0"/>
              </a:rPr>
              <a:t>Les 4 termes à bien distinguer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7200" b="0" i="0" u="none" strike="noStrike" cap="none" normalizeH="0" baseline="0" dirty="0">
              <a:ln>
                <a:noFill/>
              </a:ln>
              <a:solidFill>
                <a:schemeClr val="tx1"/>
              </a:solidFill>
              <a:effectLst/>
              <a:latin typeface="Arial" panose="020B0604020202020204" pitchFamily="34" charset="0"/>
            </a:endParaRPr>
          </a:p>
        </p:txBody>
      </p:sp>
      <p:pic>
        <p:nvPicPr>
          <p:cNvPr id="6" name="Image 5">
            <a:extLst>
              <a:ext uri="{FF2B5EF4-FFF2-40B4-BE49-F238E27FC236}">
                <a16:creationId xmlns:a16="http://schemas.microsoft.com/office/drawing/2014/main" id="{3312A6F1-BAB6-35B5-9147-6295DD7F21F4}"/>
              </a:ext>
            </a:extLst>
          </p:cNvPr>
          <p:cNvPicPr>
            <a:picLocks noChangeAspect="1"/>
          </p:cNvPicPr>
          <p:nvPr/>
        </p:nvPicPr>
        <p:blipFill>
          <a:blip r:embed="rId3"/>
          <a:stretch>
            <a:fillRect/>
          </a:stretch>
        </p:blipFill>
        <p:spPr>
          <a:xfrm>
            <a:off x="179512" y="3637059"/>
            <a:ext cx="4608512" cy="2976606"/>
          </a:xfrm>
          <a:prstGeom prst="rect">
            <a:avLst/>
          </a:prstGeom>
        </p:spPr>
      </p:pic>
    </p:spTree>
    <p:extLst>
      <p:ext uri="{BB962C8B-B14F-4D97-AF65-F5344CB8AC3E}">
        <p14:creationId xmlns:p14="http://schemas.microsoft.com/office/powerpoint/2010/main" val="4112336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AEAA-1201-0D31-A838-EB6217D7F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5D837-0637-5514-53D0-932D18B3F7BC}"/>
              </a:ext>
            </a:extLst>
          </p:cNvPr>
          <p:cNvSpPr>
            <a:spLocks noGrp="1"/>
          </p:cNvSpPr>
          <p:nvPr>
            <p:ph type="title"/>
          </p:nvPr>
        </p:nvSpPr>
        <p:spPr/>
        <p:txBody>
          <a:bodyPr/>
          <a:lstStyle/>
          <a:p>
            <a:r>
              <a:rPr lang="en-US" sz="2800" dirty="0"/>
              <a:t>Azure </a:t>
            </a:r>
            <a:r>
              <a:rPr lang="en-US" sz="2800" dirty="0" err="1"/>
              <a:t>Autoscale</a:t>
            </a:r>
            <a:r>
              <a:rPr lang="en-US" sz="2800" dirty="0"/>
              <a:t> vs </a:t>
            </a:r>
            <a:br>
              <a:rPr lang="en-US" sz="2800" dirty="0"/>
            </a:br>
            <a:r>
              <a:rPr lang="fr-FR" sz="2800" dirty="0"/>
              <a:t>Web App </a:t>
            </a:r>
            <a:r>
              <a:rPr lang="fr-FR" sz="2800" dirty="0" err="1"/>
              <a:t>Automatic</a:t>
            </a:r>
            <a:r>
              <a:rPr lang="fr-FR" sz="2800" dirty="0"/>
              <a:t> </a:t>
            </a:r>
            <a:r>
              <a:rPr lang="fr-FR" sz="2800" dirty="0" err="1"/>
              <a:t>Scaling</a:t>
            </a:r>
            <a:endParaRPr lang="en-US" sz="2800" dirty="0"/>
          </a:p>
        </p:txBody>
      </p:sp>
      <p:graphicFrame>
        <p:nvGraphicFramePr>
          <p:cNvPr id="7" name="Tableau 6">
            <a:extLst>
              <a:ext uri="{FF2B5EF4-FFF2-40B4-BE49-F238E27FC236}">
                <a16:creationId xmlns:a16="http://schemas.microsoft.com/office/drawing/2014/main" id="{90172605-0C2A-41D3-9080-DC59782A5E7B}"/>
              </a:ext>
            </a:extLst>
          </p:cNvPr>
          <p:cNvGraphicFramePr>
            <a:graphicFrameLocks noGrp="1"/>
          </p:cNvGraphicFramePr>
          <p:nvPr>
            <p:extLst>
              <p:ext uri="{D42A27DB-BD31-4B8C-83A1-F6EECF244321}">
                <p14:modId xmlns:p14="http://schemas.microsoft.com/office/powerpoint/2010/main" val="2023853858"/>
              </p:ext>
            </p:extLst>
          </p:nvPr>
        </p:nvGraphicFramePr>
        <p:xfrm>
          <a:off x="323528" y="980728"/>
          <a:ext cx="8568951" cy="5040559"/>
        </p:xfrm>
        <a:graphic>
          <a:graphicData uri="http://schemas.openxmlformats.org/drawingml/2006/table">
            <a:tbl>
              <a:tblPr/>
              <a:tblGrid>
                <a:gridCol w="2412218">
                  <a:extLst>
                    <a:ext uri="{9D8B030D-6E8A-4147-A177-3AD203B41FA5}">
                      <a16:colId xmlns:a16="http://schemas.microsoft.com/office/drawing/2014/main" val="746252600"/>
                    </a:ext>
                  </a:extLst>
                </a:gridCol>
                <a:gridCol w="2988382">
                  <a:extLst>
                    <a:ext uri="{9D8B030D-6E8A-4147-A177-3AD203B41FA5}">
                      <a16:colId xmlns:a16="http://schemas.microsoft.com/office/drawing/2014/main" val="3999209291"/>
                    </a:ext>
                  </a:extLst>
                </a:gridCol>
                <a:gridCol w="3168351">
                  <a:extLst>
                    <a:ext uri="{9D8B030D-6E8A-4147-A177-3AD203B41FA5}">
                      <a16:colId xmlns:a16="http://schemas.microsoft.com/office/drawing/2014/main" val="3572322828"/>
                    </a:ext>
                  </a:extLst>
                </a:gridCol>
              </a:tblGrid>
              <a:tr h="314396">
                <a:tc>
                  <a:txBody>
                    <a:bodyPr/>
                    <a:lstStyle/>
                    <a:p>
                      <a:pPr>
                        <a:buNone/>
                      </a:pPr>
                      <a:r>
                        <a:rPr lang="fr-FR" sz="1400" b="1" u="sng" dirty="0"/>
                        <a:t>Critère</a:t>
                      </a:r>
                    </a:p>
                  </a:txBody>
                  <a:tcPr marL="41441" marR="41441" marT="20721" marB="20721" anchor="ctr">
                    <a:lnL>
                      <a:noFill/>
                    </a:lnL>
                    <a:lnR>
                      <a:noFill/>
                    </a:lnR>
                    <a:lnT>
                      <a:noFill/>
                    </a:lnT>
                    <a:lnB>
                      <a:noFill/>
                    </a:lnB>
                    <a:noFill/>
                  </a:tcPr>
                </a:tc>
                <a:tc>
                  <a:txBody>
                    <a:bodyPr/>
                    <a:lstStyle/>
                    <a:p>
                      <a:pPr>
                        <a:buNone/>
                      </a:pPr>
                      <a:r>
                        <a:rPr lang="fr-FR" sz="1400" b="1" u="sng" dirty="0"/>
                        <a:t>Azure </a:t>
                      </a:r>
                      <a:r>
                        <a:rPr lang="fr-FR" sz="1400" b="1" u="sng" dirty="0" err="1"/>
                        <a:t>Autoscale</a:t>
                      </a:r>
                      <a:r>
                        <a:rPr lang="fr-FR" sz="1400" b="1" u="none" dirty="0"/>
                        <a:t> (Rules)</a:t>
                      </a:r>
                    </a:p>
                  </a:txBody>
                  <a:tcPr marL="41441" marR="41441" marT="20721" marB="20721" anchor="ctr">
                    <a:lnL>
                      <a:noFill/>
                    </a:lnL>
                    <a:lnR>
                      <a:noFill/>
                    </a:lnR>
                    <a:lnT>
                      <a:noFill/>
                    </a:lnT>
                    <a:lnB>
                      <a:noFill/>
                    </a:lnB>
                    <a:noFill/>
                  </a:tcPr>
                </a:tc>
                <a:tc>
                  <a:txBody>
                    <a:bodyPr/>
                    <a:lstStyle/>
                    <a:p>
                      <a:pPr>
                        <a:buNone/>
                      </a:pPr>
                      <a:r>
                        <a:rPr lang="fr-FR" sz="1400" b="1" u="sng" dirty="0"/>
                        <a:t>Web App </a:t>
                      </a:r>
                      <a:r>
                        <a:rPr lang="fr-FR" sz="1400" b="1" u="sng" dirty="0" err="1"/>
                        <a:t>Automatic</a:t>
                      </a:r>
                      <a:r>
                        <a:rPr lang="fr-FR" sz="1400" b="1" u="sng" dirty="0"/>
                        <a:t> </a:t>
                      </a:r>
                      <a:r>
                        <a:rPr lang="fr-FR" sz="1400" b="1" u="sng" dirty="0" err="1"/>
                        <a:t>Scaling</a:t>
                      </a:r>
                      <a:r>
                        <a:rPr lang="fr-FR" sz="1400" b="1" u="none" dirty="0"/>
                        <a:t> (</a:t>
                      </a:r>
                      <a:r>
                        <a:rPr lang="fr-FR" sz="1400" b="1" u="none" dirty="0" err="1"/>
                        <a:t>Elastic</a:t>
                      </a:r>
                      <a:r>
                        <a:rPr lang="fr-FR" sz="1400" b="1" u="none" dirty="0"/>
                        <a:t>)</a:t>
                      </a:r>
                    </a:p>
                  </a:txBody>
                  <a:tcPr marL="41441" marR="41441" marT="20721" marB="20721" anchor="ctr">
                    <a:lnL>
                      <a:noFill/>
                    </a:lnL>
                    <a:lnR>
                      <a:noFill/>
                    </a:lnR>
                    <a:lnT>
                      <a:noFill/>
                    </a:lnT>
                    <a:lnB>
                      <a:noFill/>
                    </a:lnB>
                    <a:noFill/>
                  </a:tcPr>
                </a:tc>
                <a:extLst>
                  <a:ext uri="{0D108BD9-81ED-4DB2-BD59-A6C34878D82A}">
                    <a16:rowId xmlns:a16="http://schemas.microsoft.com/office/drawing/2014/main" val="3520208890"/>
                  </a:ext>
                </a:extLst>
              </a:tr>
              <a:tr h="276153">
                <a:tc>
                  <a:txBody>
                    <a:bodyPr/>
                    <a:lstStyle/>
                    <a:p>
                      <a:pPr>
                        <a:buNone/>
                      </a:pPr>
                      <a:r>
                        <a:rPr lang="fr-FR" sz="1400" dirty="0"/>
                        <a:t>Configuration</a:t>
                      </a:r>
                    </a:p>
                  </a:txBody>
                  <a:tcPr marL="41441" marR="41441" marT="20721" marB="20721" anchor="ctr">
                    <a:lnL>
                      <a:noFill/>
                    </a:lnL>
                    <a:lnR>
                      <a:noFill/>
                    </a:lnR>
                    <a:lnT>
                      <a:noFill/>
                    </a:lnT>
                    <a:lnB>
                      <a:noFill/>
                    </a:lnB>
                    <a:noFill/>
                  </a:tcPr>
                </a:tc>
                <a:tc>
                  <a:txBody>
                    <a:bodyPr/>
                    <a:lstStyle/>
                    <a:p>
                      <a:pPr>
                        <a:buNone/>
                      </a:pPr>
                      <a:r>
                        <a:rPr lang="fr-FR" sz="1400" b="0" dirty="0"/>
                        <a:t>App Service Plan</a:t>
                      </a:r>
                    </a:p>
                  </a:txBody>
                  <a:tcPr marL="41441" marR="41441" marT="20721" marB="20721" anchor="ctr">
                    <a:lnL>
                      <a:noFill/>
                    </a:lnL>
                    <a:lnR>
                      <a:noFill/>
                    </a:lnR>
                    <a:lnT>
                      <a:noFill/>
                    </a:lnT>
                    <a:lnB>
                      <a:noFill/>
                    </a:lnB>
                    <a:noFill/>
                  </a:tcPr>
                </a:tc>
                <a:tc>
                  <a:txBody>
                    <a:bodyPr/>
                    <a:lstStyle/>
                    <a:p>
                      <a:pPr>
                        <a:buNone/>
                      </a:pPr>
                      <a:r>
                        <a:rPr lang="fr-FR" sz="1400" b="0" dirty="0"/>
                        <a:t>App Service Plan + Web App</a:t>
                      </a:r>
                    </a:p>
                  </a:txBody>
                  <a:tcPr marL="41441" marR="41441" marT="20721" marB="20721" anchor="ctr">
                    <a:lnL>
                      <a:noFill/>
                    </a:lnL>
                    <a:lnR>
                      <a:noFill/>
                    </a:lnR>
                    <a:lnT>
                      <a:noFill/>
                    </a:lnT>
                    <a:lnB>
                      <a:noFill/>
                    </a:lnB>
                    <a:noFill/>
                  </a:tcPr>
                </a:tc>
                <a:extLst>
                  <a:ext uri="{0D108BD9-81ED-4DB2-BD59-A6C34878D82A}">
                    <a16:rowId xmlns:a16="http://schemas.microsoft.com/office/drawing/2014/main" val="2639222401"/>
                  </a:ext>
                </a:extLst>
              </a:tr>
              <a:tr h="276153">
                <a:tc>
                  <a:txBody>
                    <a:bodyPr/>
                    <a:lstStyle/>
                    <a:p>
                      <a:pPr>
                        <a:buNone/>
                      </a:pPr>
                      <a:r>
                        <a:rPr lang="fr-FR" sz="1400" dirty="0"/>
                        <a:t>Niveau (agit sur) :</a:t>
                      </a:r>
                    </a:p>
                  </a:txBody>
                  <a:tcPr marL="41441" marR="41441" marT="20721" marB="20721" anchor="ctr">
                    <a:lnL>
                      <a:noFill/>
                    </a:lnL>
                    <a:lnR>
                      <a:noFill/>
                    </a:lnR>
                    <a:lnT>
                      <a:noFill/>
                    </a:lnT>
                    <a:lnB>
                      <a:noFill/>
                    </a:lnB>
                    <a:noFill/>
                  </a:tcPr>
                </a:tc>
                <a:tc>
                  <a:txBody>
                    <a:bodyPr/>
                    <a:lstStyle/>
                    <a:p>
                      <a:pPr>
                        <a:buNone/>
                      </a:pPr>
                      <a:r>
                        <a:rPr lang="fr-FR" sz="1400" b="1" dirty="0"/>
                        <a:t>App Service Plan</a:t>
                      </a:r>
                      <a:endParaRPr lang="fr-FR" sz="1400" dirty="0"/>
                    </a:p>
                  </a:txBody>
                  <a:tcPr marL="41441" marR="41441" marT="20721" marB="20721" anchor="ctr">
                    <a:lnL>
                      <a:noFill/>
                    </a:lnL>
                    <a:lnR>
                      <a:noFill/>
                    </a:lnR>
                    <a:lnT>
                      <a:noFill/>
                    </a:lnT>
                    <a:lnB>
                      <a:noFill/>
                    </a:lnB>
                    <a:noFill/>
                  </a:tcPr>
                </a:tc>
                <a:tc>
                  <a:txBody>
                    <a:bodyPr/>
                    <a:lstStyle/>
                    <a:p>
                      <a:pPr>
                        <a:buNone/>
                      </a:pPr>
                      <a:r>
                        <a:rPr lang="fr-FR" sz="1400" b="1" dirty="0"/>
                        <a:t>Web App</a:t>
                      </a:r>
                      <a:endParaRPr lang="fr-FR" sz="1400" dirty="0"/>
                    </a:p>
                  </a:txBody>
                  <a:tcPr marL="41441" marR="41441" marT="20721" marB="20721" anchor="ctr">
                    <a:lnL>
                      <a:noFill/>
                    </a:lnL>
                    <a:lnR>
                      <a:noFill/>
                    </a:lnR>
                    <a:lnT>
                      <a:noFill/>
                    </a:lnT>
                    <a:lnB>
                      <a:noFill/>
                    </a:lnB>
                    <a:noFill/>
                  </a:tcPr>
                </a:tc>
                <a:extLst>
                  <a:ext uri="{0D108BD9-81ED-4DB2-BD59-A6C34878D82A}">
                    <a16:rowId xmlns:a16="http://schemas.microsoft.com/office/drawing/2014/main" val="2902704778"/>
                  </a:ext>
                </a:extLst>
              </a:tr>
              <a:tr h="314396">
                <a:tc>
                  <a:txBody>
                    <a:bodyPr/>
                    <a:lstStyle/>
                    <a:p>
                      <a:pPr>
                        <a:buNone/>
                      </a:pPr>
                      <a:r>
                        <a:rPr lang="fr-FR" sz="1400" dirty="0"/>
                        <a:t>Tarification mini</a:t>
                      </a:r>
                    </a:p>
                  </a:txBody>
                  <a:tcPr marL="41441" marR="41441" marT="20721" marB="20721" anchor="ctr">
                    <a:lnL>
                      <a:noFill/>
                    </a:lnL>
                    <a:lnR>
                      <a:noFill/>
                    </a:lnR>
                    <a:lnT>
                      <a:noFill/>
                    </a:lnT>
                    <a:lnB>
                      <a:noFill/>
                    </a:lnB>
                    <a:noFill/>
                  </a:tcPr>
                </a:tc>
                <a:tc>
                  <a:txBody>
                    <a:bodyPr/>
                    <a:lstStyle/>
                    <a:p>
                      <a:pPr>
                        <a:buNone/>
                      </a:pPr>
                      <a:r>
                        <a:rPr lang="fr-FR" sz="1400" dirty="0"/>
                        <a:t>Premium v3 P0V3</a:t>
                      </a:r>
                    </a:p>
                  </a:txBody>
                  <a:tcPr marL="41441" marR="41441" marT="20721" marB="20721"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Premium v3 P1V3</a:t>
                      </a:r>
                    </a:p>
                  </a:txBody>
                  <a:tcPr marL="41441" marR="41441" marT="20721" marB="20721" anchor="ctr">
                    <a:lnL>
                      <a:noFill/>
                    </a:lnL>
                    <a:lnR>
                      <a:noFill/>
                    </a:lnR>
                    <a:lnT>
                      <a:noFill/>
                    </a:lnT>
                    <a:lnB>
                      <a:noFill/>
                    </a:lnB>
                    <a:noFill/>
                  </a:tcPr>
                </a:tc>
                <a:extLst>
                  <a:ext uri="{0D108BD9-81ED-4DB2-BD59-A6C34878D82A}">
                    <a16:rowId xmlns:a16="http://schemas.microsoft.com/office/drawing/2014/main" val="4076959367"/>
                  </a:ext>
                </a:extLst>
              </a:tr>
              <a:tr h="314396">
                <a:tc>
                  <a:txBody>
                    <a:bodyPr/>
                    <a:lstStyle/>
                    <a:p>
                      <a:pPr>
                        <a:buNone/>
                      </a:pPr>
                      <a:r>
                        <a:rPr lang="fr-FR" sz="1400" dirty="0"/>
                        <a:t>Basé sur</a:t>
                      </a:r>
                    </a:p>
                  </a:txBody>
                  <a:tcPr marL="41441" marR="41441" marT="20721" marB="20721" anchor="ctr">
                    <a:lnL>
                      <a:noFill/>
                    </a:lnL>
                    <a:lnR>
                      <a:noFill/>
                    </a:lnR>
                    <a:lnT>
                      <a:noFill/>
                    </a:lnT>
                    <a:lnB>
                      <a:noFill/>
                    </a:lnB>
                    <a:noFill/>
                  </a:tcPr>
                </a:tc>
                <a:tc>
                  <a:txBody>
                    <a:bodyPr/>
                    <a:lstStyle/>
                    <a:p>
                      <a:pPr>
                        <a:buNone/>
                      </a:pPr>
                      <a:r>
                        <a:rPr lang="fr-FR" sz="1400" dirty="0"/>
                        <a:t>Azure Monitor</a:t>
                      </a:r>
                    </a:p>
                  </a:txBody>
                  <a:tcPr marL="41441" marR="41441" marT="20721" marB="20721" anchor="ctr">
                    <a:lnL>
                      <a:noFill/>
                    </a:lnL>
                    <a:lnR>
                      <a:noFill/>
                    </a:lnR>
                    <a:lnT>
                      <a:noFill/>
                    </a:lnT>
                    <a:lnB>
                      <a:noFill/>
                    </a:lnB>
                    <a:noFill/>
                  </a:tcPr>
                </a:tc>
                <a:tc>
                  <a:txBody>
                    <a:bodyPr/>
                    <a:lstStyle/>
                    <a:p>
                      <a:pPr>
                        <a:buNone/>
                      </a:pPr>
                      <a:r>
                        <a:rPr lang="fr-FR" sz="1400" dirty="0"/>
                        <a:t>Algorithme interne Azure</a:t>
                      </a:r>
                    </a:p>
                  </a:txBody>
                  <a:tcPr marL="41441" marR="41441" marT="20721" marB="20721" anchor="ctr">
                    <a:lnL>
                      <a:noFill/>
                    </a:lnL>
                    <a:lnR>
                      <a:noFill/>
                    </a:lnR>
                    <a:lnT>
                      <a:noFill/>
                    </a:lnT>
                    <a:lnB>
                      <a:noFill/>
                    </a:lnB>
                    <a:noFill/>
                  </a:tcPr>
                </a:tc>
                <a:extLst>
                  <a:ext uri="{0D108BD9-81ED-4DB2-BD59-A6C34878D82A}">
                    <a16:rowId xmlns:a16="http://schemas.microsoft.com/office/drawing/2014/main" val="1200826532"/>
                  </a:ext>
                </a:extLst>
              </a:tr>
              <a:tr h="738628">
                <a:tc>
                  <a:txBody>
                    <a:bodyPr/>
                    <a:lstStyle/>
                    <a:p>
                      <a:pPr>
                        <a:buNone/>
                      </a:pPr>
                      <a:r>
                        <a:rPr lang="fr-FR" sz="1400"/>
                        <a:t>Principe</a:t>
                      </a:r>
                    </a:p>
                  </a:txBody>
                  <a:tcPr marL="41441" marR="41441" marT="20721" marB="20721" anchor="ctr">
                    <a:lnL>
                      <a:noFill/>
                    </a:lnL>
                    <a:lnR>
                      <a:noFill/>
                    </a:lnR>
                    <a:lnT>
                      <a:noFill/>
                    </a:lnT>
                    <a:lnB>
                      <a:noFill/>
                    </a:lnB>
                    <a:noFill/>
                  </a:tcPr>
                </a:tc>
                <a:tc>
                  <a:txBody>
                    <a:bodyPr/>
                    <a:lstStyle/>
                    <a:p>
                      <a:pPr>
                        <a:buNone/>
                      </a:pPr>
                      <a:r>
                        <a:rPr lang="fr-FR" sz="1400" dirty="0"/>
                        <a:t>Règles configurées par l’utilisateur basées sur des </a:t>
                      </a:r>
                      <a:r>
                        <a:rPr lang="fr-FR" sz="1400" b="1" dirty="0"/>
                        <a:t>métriques</a:t>
                      </a:r>
                      <a:endParaRPr lang="fr-FR" sz="1400" dirty="0"/>
                    </a:p>
                  </a:txBody>
                  <a:tcPr marL="41441" marR="41441" marT="20721" marB="20721" anchor="ctr">
                    <a:lnL>
                      <a:noFill/>
                    </a:lnL>
                    <a:lnR>
                      <a:noFill/>
                    </a:lnR>
                    <a:lnT>
                      <a:noFill/>
                    </a:lnT>
                    <a:lnB>
                      <a:noFill/>
                    </a:lnB>
                    <a:noFill/>
                  </a:tcPr>
                </a:tc>
                <a:tc>
                  <a:txBody>
                    <a:bodyPr/>
                    <a:lstStyle/>
                    <a:p>
                      <a:pPr>
                        <a:buNone/>
                      </a:pPr>
                      <a:r>
                        <a:rPr lang="fr-FR" sz="1400" dirty="0"/>
                        <a:t>Automatique</a:t>
                      </a:r>
                    </a:p>
                  </a:txBody>
                  <a:tcPr marL="41441" marR="41441" marT="20721" marB="20721" anchor="ctr">
                    <a:lnL>
                      <a:noFill/>
                    </a:lnL>
                    <a:lnR>
                      <a:noFill/>
                    </a:lnR>
                    <a:lnT>
                      <a:noFill/>
                    </a:lnT>
                    <a:lnB>
                      <a:noFill/>
                    </a:lnB>
                    <a:noFill/>
                  </a:tcPr>
                </a:tc>
                <a:extLst>
                  <a:ext uri="{0D108BD9-81ED-4DB2-BD59-A6C34878D82A}">
                    <a16:rowId xmlns:a16="http://schemas.microsoft.com/office/drawing/2014/main" val="1741292338"/>
                  </a:ext>
                </a:extLst>
              </a:tr>
              <a:tr h="507391">
                <a:tc>
                  <a:txBody>
                    <a:bodyPr/>
                    <a:lstStyle/>
                    <a:p>
                      <a:pPr>
                        <a:buNone/>
                      </a:pPr>
                      <a:r>
                        <a:rPr lang="fr-FR" sz="1400"/>
                        <a:t>Configuration</a:t>
                      </a:r>
                    </a:p>
                  </a:txBody>
                  <a:tcPr marL="41441" marR="41441" marT="20721" marB="20721" anchor="ctr">
                    <a:lnL>
                      <a:noFill/>
                    </a:lnL>
                    <a:lnR>
                      <a:noFill/>
                    </a:lnR>
                    <a:lnT>
                      <a:noFill/>
                    </a:lnT>
                    <a:lnB>
                      <a:noFill/>
                    </a:lnB>
                    <a:noFill/>
                  </a:tcPr>
                </a:tc>
                <a:tc>
                  <a:txBody>
                    <a:bodyPr/>
                    <a:lstStyle/>
                    <a:p>
                      <a:pPr>
                        <a:buNone/>
                      </a:pPr>
                      <a:r>
                        <a:rPr lang="fr-FR" sz="1400" b="1" dirty="0"/>
                        <a:t>Règles explicites</a:t>
                      </a:r>
                      <a:r>
                        <a:rPr lang="fr-FR" sz="1400" dirty="0"/>
                        <a:t> (CPU, mémoire, requêtes…)</a:t>
                      </a:r>
                    </a:p>
                  </a:txBody>
                  <a:tcPr marL="41441" marR="41441" marT="20721" marB="20721" anchor="ctr">
                    <a:lnL>
                      <a:noFill/>
                    </a:lnL>
                    <a:lnR>
                      <a:noFill/>
                    </a:lnR>
                    <a:lnT>
                      <a:noFill/>
                    </a:lnT>
                    <a:lnB>
                      <a:noFill/>
                    </a:lnB>
                    <a:noFill/>
                  </a:tcPr>
                </a:tc>
                <a:tc>
                  <a:txBody>
                    <a:bodyPr/>
                    <a:lstStyle/>
                    <a:p>
                      <a:pPr>
                        <a:buNone/>
                      </a:pPr>
                      <a:r>
                        <a:rPr lang="fr-FR" sz="1400"/>
                        <a:t>Définition uniquement de </a:t>
                      </a:r>
                      <a:r>
                        <a:rPr lang="fr-FR" sz="1400" b="1"/>
                        <a:t>Min instances</a:t>
                      </a:r>
                      <a:r>
                        <a:rPr lang="fr-FR" sz="1400"/>
                        <a:t> et </a:t>
                      </a:r>
                      <a:r>
                        <a:rPr lang="fr-FR" sz="1400" b="1"/>
                        <a:t>Max instances</a:t>
                      </a:r>
                      <a:endParaRPr lang="fr-FR" sz="1400"/>
                    </a:p>
                  </a:txBody>
                  <a:tcPr marL="41441" marR="41441" marT="20721" marB="20721" anchor="ctr">
                    <a:lnL>
                      <a:noFill/>
                    </a:lnL>
                    <a:lnR>
                      <a:noFill/>
                    </a:lnR>
                    <a:lnT>
                      <a:noFill/>
                    </a:lnT>
                    <a:lnB>
                      <a:noFill/>
                    </a:lnB>
                    <a:noFill/>
                  </a:tcPr>
                </a:tc>
                <a:extLst>
                  <a:ext uri="{0D108BD9-81ED-4DB2-BD59-A6C34878D82A}">
                    <a16:rowId xmlns:a16="http://schemas.microsoft.com/office/drawing/2014/main" val="2260894443"/>
                  </a:ext>
                </a:extLst>
              </a:tr>
              <a:tr h="507391">
                <a:tc>
                  <a:txBody>
                    <a:bodyPr/>
                    <a:lstStyle/>
                    <a:p>
                      <a:pPr>
                        <a:buNone/>
                      </a:pPr>
                      <a:r>
                        <a:rPr lang="fr-FR" sz="1400"/>
                        <a:t>Type de scaling</a:t>
                      </a:r>
                    </a:p>
                  </a:txBody>
                  <a:tcPr marL="41441" marR="41441" marT="20721" marB="20721" anchor="ctr">
                    <a:lnL>
                      <a:noFill/>
                    </a:lnL>
                    <a:lnR>
                      <a:noFill/>
                    </a:lnR>
                    <a:lnT>
                      <a:noFill/>
                    </a:lnT>
                    <a:lnB>
                      <a:noFill/>
                    </a:lnB>
                    <a:noFill/>
                  </a:tcPr>
                </a:tc>
                <a:tc>
                  <a:txBody>
                    <a:bodyPr/>
                    <a:lstStyle/>
                    <a:p>
                      <a:pPr>
                        <a:buNone/>
                      </a:pPr>
                      <a:r>
                        <a:rPr lang="fr-FR" sz="1400" b="1" dirty="0" err="1"/>
                        <a:t>Scale</a:t>
                      </a:r>
                      <a:r>
                        <a:rPr lang="fr-FR" sz="1400" b="1" dirty="0"/>
                        <a:t> Out / </a:t>
                      </a:r>
                      <a:r>
                        <a:rPr lang="fr-FR" sz="1400" b="1" dirty="0" err="1"/>
                        <a:t>Scale</a:t>
                      </a:r>
                      <a:r>
                        <a:rPr lang="fr-FR" sz="1400" b="1" dirty="0"/>
                        <a:t> In</a:t>
                      </a:r>
                      <a:r>
                        <a:rPr lang="fr-FR" sz="1400" dirty="0"/>
                        <a:t> (nombre d’instances)</a:t>
                      </a:r>
                    </a:p>
                  </a:txBody>
                  <a:tcPr marL="41441" marR="41441" marT="20721" marB="20721" anchor="ctr">
                    <a:lnL>
                      <a:noFill/>
                    </a:lnL>
                    <a:lnR>
                      <a:noFill/>
                    </a:lnR>
                    <a:lnT>
                      <a:noFill/>
                    </a:lnT>
                    <a:lnB>
                      <a:noFill/>
                    </a:lnB>
                    <a:noFill/>
                  </a:tcPr>
                </a:tc>
                <a:tc>
                  <a:txBody>
                    <a:bodyPr/>
                    <a:lstStyle/>
                    <a:p>
                      <a:pPr>
                        <a:buNone/>
                      </a:pPr>
                      <a:r>
                        <a:rPr lang="fr-FR" sz="1400" b="1"/>
                        <a:t>Scale Out / Scale In</a:t>
                      </a:r>
                      <a:r>
                        <a:rPr lang="fr-FR" sz="1400"/>
                        <a:t> automatique</a:t>
                      </a:r>
                    </a:p>
                  </a:txBody>
                  <a:tcPr marL="41441" marR="41441" marT="20721" marB="20721" anchor="ctr">
                    <a:lnL>
                      <a:noFill/>
                    </a:lnL>
                    <a:lnR>
                      <a:noFill/>
                    </a:lnR>
                    <a:lnT>
                      <a:noFill/>
                    </a:lnT>
                    <a:lnB>
                      <a:noFill/>
                    </a:lnB>
                    <a:noFill/>
                  </a:tcPr>
                </a:tc>
                <a:extLst>
                  <a:ext uri="{0D108BD9-81ED-4DB2-BD59-A6C34878D82A}">
                    <a16:rowId xmlns:a16="http://schemas.microsoft.com/office/drawing/2014/main" val="1683296162"/>
                  </a:ext>
                </a:extLst>
              </a:tr>
              <a:tr h="507391">
                <a:tc>
                  <a:txBody>
                    <a:bodyPr/>
                    <a:lstStyle/>
                    <a:p>
                      <a:pPr>
                        <a:buNone/>
                      </a:pPr>
                      <a:r>
                        <a:rPr lang="fr-FR" sz="1400"/>
                        <a:t>Impact</a:t>
                      </a:r>
                    </a:p>
                  </a:txBody>
                  <a:tcPr marL="41441" marR="41441" marT="20721" marB="20721" anchor="ctr">
                    <a:lnL>
                      <a:noFill/>
                    </a:lnL>
                    <a:lnR>
                      <a:noFill/>
                    </a:lnR>
                    <a:lnT>
                      <a:noFill/>
                    </a:lnT>
                    <a:lnB>
                      <a:noFill/>
                    </a:lnB>
                    <a:noFill/>
                  </a:tcPr>
                </a:tc>
                <a:tc>
                  <a:txBody>
                    <a:bodyPr/>
                    <a:lstStyle/>
                    <a:p>
                      <a:pPr>
                        <a:buNone/>
                      </a:pPr>
                      <a:r>
                        <a:rPr lang="fr-FR" sz="1400" dirty="0"/>
                        <a:t>Toutes les Web Apps du </a:t>
                      </a:r>
                      <a:r>
                        <a:rPr lang="fr-FR" sz="1400" b="1" dirty="0"/>
                        <a:t>App Service Plan</a:t>
                      </a:r>
                      <a:r>
                        <a:rPr lang="fr-FR" sz="1400" dirty="0"/>
                        <a:t> sont impactées</a:t>
                      </a:r>
                    </a:p>
                  </a:txBody>
                  <a:tcPr marL="41441" marR="41441" marT="20721" marB="20721" anchor="ctr">
                    <a:lnL>
                      <a:noFill/>
                    </a:lnL>
                    <a:lnR>
                      <a:noFill/>
                    </a:lnR>
                    <a:lnT>
                      <a:noFill/>
                    </a:lnT>
                    <a:lnB>
                      <a:noFill/>
                    </a:lnB>
                    <a:noFill/>
                  </a:tcPr>
                </a:tc>
                <a:tc>
                  <a:txBody>
                    <a:bodyPr/>
                    <a:lstStyle/>
                    <a:p>
                      <a:pPr>
                        <a:buNone/>
                      </a:pPr>
                      <a:r>
                        <a:rPr lang="fr-FR" sz="1400" dirty="0"/>
                        <a:t>Chaque </a:t>
                      </a:r>
                      <a:r>
                        <a:rPr lang="fr-FR" sz="1400" b="1" dirty="0"/>
                        <a:t>Web App peut </a:t>
                      </a:r>
                      <a:r>
                        <a:rPr lang="fr-FR" sz="1400" b="1" dirty="0" err="1"/>
                        <a:t>scaler</a:t>
                      </a:r>
                      <a:r>
                        <a:rPr lang="fr-FR" sz="1400" b="1" dirty="0"/>
                        <a:t> indépendamment</a:t>
                      </a:r>
                      <a:endParaRPr lang="fr-FR" sz="1400" dirty="0"/>
                    </a:p>
                  </a:txBody>
                  <a:tcPr marL="41441" marR="41441" marT="20721" marB="20721" anchor="ctr">
                    <a:lnL>
                      <a:noFill/>
                    </a:lnL>
                    <a:lnR>
                      <a:noFill/>
                    </a:lnR>
                    <a:lnT>
                      <a:noFill/>
                    </a:lnT>
                    <a:lnB>
                      <a:noFill/>
                    </a:lnB>
                    <a:noFill/>
                  </a:tcPr>
                </a:tc>
                <a:extLst>
                  <a:ext uri="{0D108BD9-81ED-4DB2-BD59-A6C34878D82A}">
                    <a16:rowId xmlns:a16="http://schemas.microsoft.com/office/drawing/2014/main" val="586229112"/>
                  </a:ext>
                </a:extLst>
              </a:tr>
              <a:tr h="314396">
                <a:tc>
                  <a:txBody>
                    <a:bodyPr/>
                    <a:lstStyle/>
                    <a:p>
                      <a:pPr>
                        <a:buNone/>
                      </a:pPr>
                      <a:r>
                        <a:rPr lang="fr-FR" sz="1400"/>
                        <a:t>Niveau de contrôle</a:t>
                      </a:r>
                    </a:p>
                  </a:txBody>
                  <a:tcPr marL="41441" marR="41441" marT="20721" marB="20721" anchor="ctr">
                    <a:lnL>
                      <a:noFill/>
                    </a:lnL>
                    <a:lnR>
                      <a:noFill/>
                    </a:lnR>
                    <a:lnT>
                      <a:noFill/>
                    </a:lnT>
                    <a:lnB>
                      <a:noFill/>
                    </a:lnB>
                    <a:noFill/>
                  </a:tcPr>
                </a:tc>
                <a:tc>
                  <a:txBody>
                    <a:bodyPr/>
                    <a:lstStyle/>
                    <a:p>
                      <a:pPr>
                        <a:buNone/>
                      </a:pPr>
                      <a:r>
                        <a:rPr lang="fr-FR" sz="1400" dirty="0"/>
                        <a:t>Précis (par règles)</a:t>
                      </a:r>
                    </a:p>
                  </a:txBody>
                  <a:tcPr marL="41441" marR="41441" marT="20721" marB="20721" anchor="ctr">
                    <a:lnL>
                      <a:noFill/>
                    </a:lnL>
                    <a:lnR>
                      <a:noFill/>
                    </a:lnR>
                    <a:lnT>
                      <a:noFill/>
                    </a:lnT>
                    <a:lnB>
                      <a:noFill/>
                    </a:lnB>
                    <a:noFill/>
                  </a:tcPr>
                </a:tc>
                <a:tc>
                  <a:txBody>
                    <a:bodyPr/>
                    <a:lstStyle/>
                    <a:p>
                      <a:pPr>
                        <a:buNone/>
                      </a:pPr>
                      <a:r>
                        <a:rPr lang="fr-FR" sz="1400" dirty="0"/>
                        <a:t>Simplifié</a:t>
                      </a:r>
                    </a:p>
                  </a:txBody>
                  <a:tcPr marL="41441" marR="41441" marT="20721" marB="20721" anchor="ctr">
                    <a:lnL>
                      <a:noFill/>
                    </a:lnL>
                    <a:lnR>
                      <a:noFill/>
                    </a:lnR>
                    <a:lnT>
                      <a:noFill/>
                    </a:lnT>
                    <a:lnB>
                      <a:noFill/>
                    </a:lnB>
                    <a:noFill/>
                  </a:tcPr>
                </a:tc>
                <a:extLst>
                  <a:ext uri="{0D108BD9-81ED-4DB2-BD59-A6C34878D82A}">
                    <a16:rowId xmlns:a16="http://schemas.microsoft.com/office/drawing/2014/main" val="3610544373"/>
                  </a:ext>
                </a:extLst>
              </a:tr>
              <a:tr h="969868">
                <a:tc>
                  <a:txBody>
                    <a:bodyPr/>
                    <a:lstStyle/>
                    <a:p>
                      <a:pPr>
                        <a:buNone/>
                      </a:pPr>
                      <a:r>
                        <a:rPr lang="fr-FR" sz="1400"/>
                        <a:t>Exemple de configuration</a:t>
                      </a:r>
                    </a:p>
                  </a:txBody>
                  <a:tcPr marL="41441" marR="41441" marT="20721" marB="20721" anchor="ctr">
                    <a:lnL>
                      <a:noFill/>
                    </a:lnL>
                    <a:lnR>
                      <a:noFill/>
                    </a:lnR>
                    <a:lnT>
                      <a:noFill/>
                    </a:lnT>
                    <a:lnB>
                      <a:noFill/>
                    </a:lnB>
                    <a:noFill/>
                  </a:tcPr>
                </a:tc>
                <a:tc>
                  <a:txBody>
                    <a:bodyPr/>
                    <a:lstStyle/>
                    <a:p>
                      <a:pPr>
                        <a:buNone/>
                      </a:pPr>
                      <a:r>
                        <a:rPr lang="fr-FR" sz="1400" dirty="0">
                          <a:latin typeface="Courier New" panose="02070309020205020404" pitchFamily="49" charset="0"/>
                        </a:rPr>
                        <a:t>CPU &gt; 70% pendant 10 min → +1 instance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latin typeface="Courier New" panose="02070309020205020404" pitchFamily="49" charset="0"/>
                        </a:rPr>
                        <a:t>CPU &lt; 20% pendant 10 min → -1 instance</a:t>
                      </a:r>
                      <a:endParaRPr lang="fr-FR" sz="1400" dirty="0"/>
                    </a:p>
                  </a:txBody>
                  <a:tcPr marL="41441" marR="41441" marT="20721" marB="20721" anchor="ctr">
                    <a:lnL>
                      <a:noFill/>
                    </a:lnL>
                    <a:lnR>
                      <a:noFill/>
                    </a:lnR>
                    <a:lnT>
                      <a:noFill/>
                    </a:lnT>
                    <a:lnB>
                      <a:noFill/>
                    </a:lnB>
                    <a:noFill/>
                  </a:tcPr>
                </a:tc>
                <a:tc>
                  <a:txBody>
                    <a:bodyPr/>
                    <a:lstStyle/>
                    <a:p>
                      <a:pPr>
                        <a:buNone/>
                      </a:pPr>
                      <a:r>
                        <a:rPr lang="fr-FR" sz="1400" dirty="0">
                          <a:latin typeface="Courier New" panose="02070309020205020404" pitchFamily="49" charset="0"/>
                        </a:rPr>
                        <a:t>Min instances = 1</a:t>
                      </a:r>
                    </a:p>
                    <a:p>
                      <a:pPr>
                        <a:buNone/>
                      </a:pPr>
                      <a:endParaRPr lang="fr-FR" sz="1400" dirty="0">
                        <a:latin typeface="Courier New" panose="02070309020205020404" pitchFamily="49" charset="0"/>
                      </a:endParaRPr>
                    </a:p>
                    <a:p>
                      <a:pPr>
                        <a:buNone/>
                      </a:pPr>
                      <a:r>
                        <a:rPr lang="fr-FR" sz="1400" dirty="0">
                          <a:latin typeface="Courier New" panose="02070309020205020404" pitchFamily="49" charset="0"/>
                        </a:rPr>
                        <a:t>Max instances = 5</a:t>
                      </a:r>
                      <a:endParaRPr lang="fr-FR" sz="1400" dirty="0"/>
                    </a:p>
                  </a:txBody>
                  <a:tcPr marL="41441" marR="41441" marT="20721" marB="20721" anchor="ctr">
                    <a:lnL>
                      <a:noFill/>
                    </a:lnL>
                    <a:lnR>
                      <a:noFill/>
                    </a:lnR>
                    <a:lnT>
                      <a:noFill/>
                    </a:lnT>
                    <a:lnB>
                      <a:noFill/>
                    </a:lnB>
                    <a:noFill/>
                  </a:tcPr>
                </a:tc>
                <a:extLst>
                  <a:ext uri="{0D108BD9-81ED-4DB2-BD59-A6C34878D82A}">
                    <a16:rowId xmlns:a16="http://schemas.microsoft.com/office/drawing/2014/main" val="1323298283"/>
                  </a:ext>
                </a:extLst>
              </a:tr>
            </a:tbl>
          </a:graphicData>
        </a:graphic>
      </p:graphicFrame>
      <p:sp>
        <p:nvSpPr>
          <p:cNvPr id="8" name="ZoneTexte 7">
            <a:extLst>
              <a:ext uri="{FF2B5EF4-FFF2-40B4-BE49-F238E27FC236}">
                <a16:creationId xmlns:a16="http://schemas.microsoft.com/office/drawing/2014/main" id="{AD712C7A-ED3F-5944-E8AA-F1AA8C2A0C8F}"/>
              </a:ext>
            </a:extLst>
          </p:cNvPr>
          <p:cNvSpPr txBox="1"/>
          <p:nvPr/>
        </p:nvSpPr>
        <p:spPr>
          <a:xfrm>
            <a:off x="1259632" y="6237312"/>
            <a:ext cx="6227795" cy="369332"/>
          </a:xfrm>
          <a:prstGeom prst="rect">
            <a:avLst/>
          </a:prstGeom>
          <a:noFill/>
        </p:spPr>
        <p:txBody>
          <a:bodyPr wrap="none" rtlCol="0">
            <a:spAutoFit/>
          </a:bodyPr>
          <a:lstStyle/>
          <a:p>
            <a:r>
              <a:rPr lang="fr-FR" dirty="0"/>
              <a:t>Jamais de </a:t>
            </a:r>
            <a:r>
              <a:rPr lang="fr-FR" dirty="0" err="1"/>
              <a:t>Scale</a:t>
            </a:r>
            <a:r>
              <a:rPr lang="fr-FR" dirty="0"/>
              <a:t> Up ou Down automatique : toujours manuel</a:t>
            </a:r>
          </a:p>
        </p:txBody>
      </p:sp>
    </p:spTree>
    <p:extLst>
      <p:ext uri="{BB962C8B-B14F-4D97-AF65-F5344CB8AC3E}">
        <p14:creationId xmlns:p14="http://schemas.microsoft.com/office/powerpoint/2010/main" val="341407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1A0D4-9F7C-1D6D-3821-680ABC6EBAEF}"/>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BE2307C-AE5C-EE68-8B12-E32A5625DFE3}"/>
              </a:ext>
            </a:extLst>
          </p:cNvPr>
          <p:cNvSpPr>
            <a:spLocks noGrp="1"/>
          </p:cNvSpPr>
          <p:nvPr>
            <p:ph type="body" sz="quarter" idx="11"/>
          </p:nvPr>
        </p:nvSpPr>
        <p:spPr/>
        <p:txBody>
          <a:bodyPr/>
          <a:lstStyle/>
          <a:p>
            <a:r>
              <a:rPr lang="fr-FR" dirty="0"/>
              <a:t>Quiz 4</a:t>
            </a:r>
          </a:p>
        </p:txBody>
      </p:sp>
      <p:sp>
        <p:nvSpPr>
          <p:cNvPr id="3" name="Espace réservé du texte 2">
            <a:extLst>
              <a:ext uri="{FF2B5EF4-FFF2-40B4-BE49-F238E27FC236}">
                <a16:creationId xmlns:a16="http://schemas.microsoft.com/office/drawing/2014/main" id="{F8D459E2-17C5-5235-27C8-E6CDFC6785F5}"/>
              </a:ext>
            </a:extLst>
          </p:cNvPr>
          <p:cNvSpPr>
            <a:spLocks noGrp="1"/>
          </p:cNvSpPr>
          <p:nvPr>
            <p:ph type="body" sz="quarter" idx="12"/>
          </p:nvPr>
        </p:nvSpPr>
        <p:spPr/>
        <p:txBody>
          <a:bodyPr/>
          <a:lstStyle/>
          <a:p>
            <a:r>
              <a:rPr lang="fr-FR" dirty="0"/>
              <a:t>App Service </a:t>
            </a:r>
            <a:r>
              <a:rPr lang="fr-FR" dirty="0" err="1"/>
              <a:t>Environment</a:t>
            </a:r>
            <a:r>
              <a:rPr lang="fr-FR" dirty="0"/>
              <a:t> variables</a:t>
            </a:r>
          </a:p>
        </p:txBody>
      </p:sp>
    </p:spTree>
    <p:extLst>
      <p:ext uri="{BB962C8B-B14F-4D97-AF65-F5344CB8AC3E}">
        <p14:creationId xmlns:p14="http://schemas.microsoft.com/office/powerpoint/2010/main" val="3385502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A0399-94E0-159D-EFF7-0E6FF2ED6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D3A3B-D90E-6734-20F3-49A7FBB6DC6F}"/>
              </a:ext>
            </a:extLst>
          </p:cNvPr>
          <p:cNvSpPr>
            <a:spLocks noGrp="1"/>
          </p:cNvSpPr>
          <p:nvPr>
            <p:ph type="title"/>
          </p:nvPr>
        </p:nvSpPr>
        <p:spPr/>
        <p:txBody>
          <a:bodyPr/>
          <a:lstStyle/>
          <a:p>
            <a:r>
              <a:rPr lang="en-US" dirty="0"/>
              <a:t>Question  1</a:t>
            </a:r>
          </a:p>
        </p:txBody>
      </p:sp>
      <p:sp>
        <p:nvSpPr>
          <p:cNvPr id="3" name="Content Placeholder 2">
            <a:extLst>
              <a:ext uri="{FF2B5EF4-FFF2-40B4-BE49-F238E27FC236}">
                <a16:creationId xmlns:a16="http://schemas.microsoft.com/office/drawing/2014/main" id="{9FA3CD56-6020-0500-1936-FA2CF517E821}"/>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Dans Azure App Service, où configure-t-on généralement les </a:t>
            </a:r>
            <a:r>
              <a:rPr lang="fr-FR" sz="2400" b="1" dirty="0"/>
              <a:t>variables d’environnement pour l’application</a:t>
            </a:r>
            <a:r>
              <a:rPr lang="fr-FR" sz="2400" dirty="0"/>
              <a:t> ?</a:t>
            </a:r>
          </a:p>
          <a:p>
            <a:pPr>
              <a:buFont typeface="+mj-lt"/>
              <a:buAutoNum type="arabicPeriod"/>
            </a:pPr>
            <a:r>
              <a:rPr lang="fr-FR" sz="2400" dirty="0"/>
              <a:t>App Service → Configuration → Application Settings</a:t>
            </a:r>
          </a:p>
          <a:p>
            <a:pPr>
              <a:buFont typeface="+mj-lt"/>
              <a:buAutoNum type="arabicPeriod"/>
            </a:pPr>
            <a:r>
              <a:rPr lang="fr-FR" sz="2400" dirty="0"/>
              <a:t>App Service Plan → </a:t>
            </a:r>
            <a:r>
              <a:rPr lang="fr-FR" sz="2400" dirty="0" err="1"/>
              <a:t>Scaling</a:t>
            </a:r>
            <a:endParaRPr lang="fr-FR" sz="2400" dirty="0"/>
          </a:p>
          <a:p>
            <a:pPr>
              <a:buFont typeface="+mj-lt"/>
              <a:buAutoNum type="arabicPeriod"/>
            </a:pPr>
            <a:r>
              <a:rPr lang="fr-FR" sz="2400" dirty="0"/>
              <a:t>Azure Monitor</a:t>
            </a:r>
          </a:p>
          <a:p>
            <a:pPr>
              <a:buFont typeface="+mj-lt"/>
              <a:buAutoNum type="arabicPeriod"/>
            </a:pPr>
            <a:r>
              <a:rPr lang="fr-FR" sz="2400" dirty="0"/>
              <a:t>Azure Portal → Networking</a:t>
            </a:r>
          </a:p>
          <a:p>
            <a:pPr marL="0" indent="0">
              <a:buNone/>
            </a:pPr>
            <a:endParaRPr lang="fr-FR" sz="2400" dirty="0"/>
          </a:p>
        </p:txBody>
      </p:sp>
      <p:sp>
        <p:nvSpPr>
          <p:cNvPr id="4" name="ZoneTexte 3">
            <a:extLst>
              <a:ext uri="{FF2B5EF4-FFF2-40B4-BE49-F238E27FC236}">
                <a16:creationId xmlns:a16="http://schemas.microsoft.com/office/drawing/2014/main" id="{B78D24E0-CE41-C1FB-8B60-E3014894E8CA}"/>
              </a:ext>
            </a:extLst>
          </p:cNvPr>
          <p:cNvSpPr txBox="1"/>
          <p:nvPr/>
        </p:nvSpPr>
        <p:spPr>
          <a:xfrm>
            <a:off x="7308304" y="4259997"/>
            <a:ext cx="1230465" cy="923330"/>
          </a:xfrm>
          <a:prstGeom prst="rect">
            <a:avLst/>
          </a:prstGeom>
          <a:noFill/>
        </p:spPr>
        <p:txBody>
          <a:bodyPr wrap="none" rtlCol="0">
            <a:spAutoFit/>
          </a:bodyPr>
          <a:lstStyle/>
          <a:p>
            <a:r>
              <a:rPr lang="fr-FR" b="1" u="sng" dirty="0"/>
              <a:t>Réponse :</a:t>
            </a:r>
          </a:p>
          <a:p>
            <a:r>
              <a:rPr lang="fr-FR" dirty="0"/>
              <a:t>1</a:t>
            </a:r>
          </a:p>
          <a:p>
            <a:endParaRPr lang="fr-FR" dirty="0"/>
          </a:p>
        </p:txBody>
      </p:sp>
      <p:sp>
        <p:nvSpPr>
          <p:cNvPr id="5" name="ZoneTexte 4">
            <a:extLst>
              <a:ext uri="{FF2B5EF4-FFF2-40B4-BE49-F238E27FC236}">
                <a16:creationId xmlns:a16="http://schemas.microsoft.com/office/drawing/2014/main" id="{5B342977-92C5-2148-1A74-5A64FE21F048}"/>
              </a:ext>
            </a:extLst>
          </p:cNvPr>
          <p:cNvSpPr txBox="1"/>
          <p:nvPr/>
        </p:nvSpPr>
        <p:spPr>
          <a:xfrm>
            <a:off x="35496" y="1988840"/>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933561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9A569-8704-C0E8-FA8A-C44EA57F0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12537-B2B9-4650-AE36-03F2AFECDF94}"/>
              </a:ext>
            </a:extLst>
          </p:cNvPr>
          <p:cNvSpPr>
            <a:spLocks noGrp="1"/>
          </p:cNvSpPr>
          <p:nvPr>
            <p:ph type="title"/>
          </p:nvPr>
        </p:nvSpPr>
        <p:spPr/>
        <p:txBody>
          <a:bodyPr/>
          <a:lstStyle/>
          <a:p>
            <a:r>
              <a:rPr lang="en-US" dirty="0"/>
              <a:t>Question 2 </a:t>
            </a:r>
          </a:p>
        </p:txBody>
      </p:sp>
      <p:sp>
        <p:nvSpPr>
          <p:cNvPr id="3" name="Content Placeholder 2">
            <a:extLst>
              <a:ext uri="{FF2B5EF4-FFF2-40B4-BE49-F238E27FC236}">
                <a16:creationId xmlns:a16="http://schemas.microsoft.com/office/drawing/2014/main" id="{F00922C3-24B2-AE74-D6CF-F024F828EB6C}"/>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Dans une </a:t>
            </a:r>
            <a:r>
              <a:rPr lang="fr-FR" sz="2400" b="1" dirty="0"/>
              <a:t>Azure Web App</a:t>
            </a:r>
            <a:r>
              <a:rPr lang="fr-FR" sz="2400" dirty="0"/>
              <a:t>, que fait la variable d’environnement</a:t>
            </a:r>
            <a:br>
              <a:rPr lang="fr-FR" sz="2400" dirty="0"/>
            </a:br>
            <a:r>
              <a:rPr lang="fr-FR" dirty="0"/>
              <a:t>WEBSITE_LOCAL_CACHE_OPTION</a:t>
            </a:r>
            <a:r>
              <a:rPr lang="fr-FR" sz="2400" dirty="0"/>
              <a:t> ?</a:t>
            </a:r>
          </a:p>
          <a:p>
            <a:pPr>
              <a:buFont typeface="+mj-lt"/>
              <a:buAutoNum type="arabicPeriod"/>
            </a:pPr>
            <a:r>
              <a:rPr lang="fr-FR" sz="2400" dirty="0"/>
              <a:t>Elle active un cache local du contenu de l’application</a:t>
            </a:r>
          </a:p>
          <a:p>
            <a:pPr>
              <a:buFont typeface="+mj-lt"/>
              <a:buAutoNum type="arabicPeriod"/>
            </a:pPr>
            <a:r>
              <a:rPr lang="fr-FR" sz="2400" dirty="0"/>
              <a:t>Elle active la compression HTTP</a:t>
            </a:r>
          </a:p>
          <a:p>
            <a:pPr>
              <a:buFont typeface="+mj-lt"/>
              <a:buAutoNum type="arabicPeriod"/>
            </a:pPr>
            <a:r>
              <a:rPr lang="fr-FR" sz="2400" dirty="0"/>
              <a:t>Elle active le CDN Azure automatiquement</a:t>
            </a:r>
          </a:p>
          <a:p>
            <a:pPr>
              <a:buFont typeface="+mj-lt"/>
              <a:buAutoNum type="arabicPeriod"/>
            </a:pPr>
            <a:r>
              <a:rPr lang="fr-FR" sz="2400" dirty="0"/>
              <a:t>Elle configure la taille maximale du disque temporaire</a:t>
            </a:r>
          </a:p>
          <a:p>
            <a:pPr marL="0" indent="0">
              <a:buNone/>
            </a:pPr>
            <a:endParaRPr lang="fr-FR" sz="2400" dirty="0"/>
          </a:p>
        </p:txBody>
      </p:sp>
      <p:sp>
        <p:nvSpPr>
          <p:cNvPr id="4" name="ZoneTexte 3">
            <a:extLst>
              <a:ext uri="{FF2B5EF4-FFF2-40B4-BE49-F238E27FC236}">
                <a16:creationId xmlns:a16="http://schemas.microsoft.com/office/drawing/2014/main" id="{07BE32D6-5F82-DC50-193A-7CC12FE8DF45}"/>
              </a:ext>
            </a:extLst>
          </p:cNvPr>
          <p:cNvSpPr txBox="1"/>
          <p:nvPr/>
        </p:nvSpPr>
        <p:spPr>
          <a:xfrm>
            <a:off x="7308304" y="4259997"/>
            <a:ext cx="1230465" cy="923330"/>
          </a:xfrm>
          <a:prstGeom prst="rect">
            <a:avLst/>
          </a:prstGeom>
          <a:noFill/>
        </p:spPr>
        <p:txBody>
          <a:bodyPr wrap="none" rtlCol="0">
            <a:spAutoFit/>
          </a:bodyPr>
          <a:lstStyle/>
          <a:p>
            <a:r>
              <a:rPr lang="fr-FR" b="1" u="sng" dirty="0"/>
              <a:t>Réponse :</a:t>
            </a:r>
          </a:p>
          <a:p>
            <a:r>
              <a:rPr lang="fr-FR" dirty="0"/>
              <a:t>1</a:t>
            </a:r>
          </a:p>
          <a:p>
            <a:endParaRPr lang="fr-FR" dirty="0"/>
          </a:p>
        </p:txBody>
      </p:sp>
      <p:sp>
        <p:nvSpPr>
          <p:cNvPr id="5" name="ZoneTexte 4">
            <a:extLst>
              <a:ext uri="{FF2B5EF4-FFF2-40B4-BE49-F238E27FC236}">
                <a16:creationId xmlns:a16="http://schemas.microsoft.com/office/drawing/2014/main" id="{7A8B469C-8290-D09B-49DF-9C425C13C991}"/>
              </a:ext>
            </a:extLst>
          </p:cNvPr>
          <p:cNvSpPr txBox="1"/>
          <p:nvPr/>
        </p:nvSpPr>
        <p:spPr>
          <a:xfrm>
            <a:off x="18535" y="2348880"/>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03166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C6D0B-2641-FD99-9EFF-3708DEE48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01E00-5384-A432-BE99-59BD505ED23B}"/>
              </a:ext>
            </a:extLst>
          </p:cNvPr>
          <p:cNvSpPr>
            <a:spLocks noGrp="1"/>
          </p:cNvSpPr>
          <p:nvPr>
            <p:ph type="title"/>
          </p:nvPr>
        </p:nvSpPr>
        <p:spPr/>
        <p:txBody>
          <a:bodyPr/>
          <a:lstStyle/>
          <a:p>
            <a:r>
              <a:rPr lang="en-US" dirty="0"/>
              <a:t>Question 3</a:t>
            </a:r>
          </a:p>
        </p:txBody>
      </p:sp>
      <p:sp>
        <p:nvSpPr>
          <p:cNvPr id="3" name="Content Placeholder 2">
            <a:extLst>
              <a:ext uri="{FF2B5EF4-FFF2-40B4-BE49-F238E27FC236}">
                <a16:creationId xmlns:a16="http://schemas.microsoft.com/office/drawing/2014/main" id="{D8EFEEA1-EABD-BFC8-F198-A34ECA150999}"/>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Quelle est la </a:t>
            </a:r>
            <a:r>
              <a:rPr lang="fr-FR" sz="2400" b="1" dirty="0"/>
              <a:t>valeur par défaut</a:t>
            </a:r>
            <a:r>
              <a:rPr lang="fr-FR" sz="2400" dirty="0"/>
              <a:t> de </a:t>
            </a:r>
            <a:r>
              <a:rPr lang="fr-FR" dirty="0"/>
              <a:t>WEBSITE_LOCAL_CACHE_OPTION</a:t>
            </a:r>
            <a:r>
              <a:rPr lang="fr-FR" sz="2400" dirty="0"/>
              <a:t> ?</a:t>
            </a:r>
          </a:p>
          <a:p>
            <a:pPr>
              <a:buFont typeface="+mj-lt"/>
              <a:buAutoNum type="arabicPeriod"/>
            </a:pPr>
            <a:r>
              <a:rPr lang="fr-FR" sz="2400" dirty="0"/>
              <a:t>Auto</a:t>
            </a:r>
          </a:p>
          <a:p>
            <a:pPr>
              <a:buFont typeface="+mj-lt"/>
              <a:buAutoNum type="arabicPeriod"/>
            </a:pPr>
            <a:r>
              <a:rPr lang="fr-FR" sz="2400" dirty="0"/>
              <a:t>Always</a:t>
            </a:r>
          </a:p>
          <a:p>
            <a:pPr>
              <a:buFont typeface="+mj-lt"/>
              <a:buAutoNum type="arabicPeriod"/>
            </a:pPr>
            <a:r>
              <a:rPr lang="fr-FR" sz="2400" dirty="0"/>
              <a:t>Off</a:t>
            </a:r>
          </a:p>
          <a:p>
            <a:pPr>
              <a:buFont typeface="+mj-lt"/>
              <a:buAutoNum type="arabicPeriod"/>
            </a:pPr>
            <a:r>
              <a:rPr lang="fr-FR" sz="2400" dirty="0" err="1"/>
              <a:t>Enabled</a:t>
            </a:r>
            <a:endParaRPr lang="fr-FR" sz="2400" dirty="0"/>
          </a:p>
          <a:p>
            <a:pPr marL="0" indent="0">
              <a:buNone/>
            </a:pPr>
            <a:endParaRPr lang="fr-FR" sz="2400" dirty="0"/>
          </a:p>
        </p:txBody>
      </p:sp>
      <p:sp>
        <p:nvSpPr>
          <p:cNvPr id="4" name="ZoneTexte 3">
            <a:extLst>
              <a:ext uri="{FF2B5EF4-FFF2-40B4-BE49-F238E27FC236}">
                <a16:creationId xmlns:a16="http://schemas.microsoft.com/office/drawing/2014/main" id="{E4E2C704-B23F-1071-F8E4-22D91560F9CC}"/>
              </a:ext>
            </a:extLst>
          </p:cNvPr>
          <p:cNvSpPr txBox="1"/>
          <p:nvPr/>
        </p:nvSpPr>
        <p:spPr>
          <a:xfrm>
            <a:off x="7308304" y="4259997"/>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50CB3D39-C47F-FD37-9FEE-83F3F6362EDF}"/>
              </a:ext>
            </a:extLst>
          </p:cNvPr>
          <p:cNvSpPr txBox="1"/>
          <p:nvPr/>
        </p:nvSpPr>
        <p:spPr>
          <a:xfrm>
            <a:off x="107504" y="2852936"/>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6447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CA0F2-1ED3-FF09-3D16-5F4BF3CCF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3650B-05DE-2CC6-5E78-1E2E06AD85B5}"/>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0CA80A2C-FF8A-7A83-D777-CF27E1582086}"/>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 est l’effet principal lorsque </a:t>
            </a:r>
            <a:r>
              <a:rPr lang="fr-FR" sz="2400" b="1" dirty="0"/>
              <a:t>Local Cache est activé</a:t>
            </a:r>
            <a:r>
              <a:rPr lang="fr-FR" sz="2400" dirty="0"/>
              <a:t> sur une Web App ?</a:t>
            </a:r>
          </a:p>
          <a:p>
            <a:pPr>
              <a:buFont typeface="+mj-lt"/>
              <a:buAutoNum type="arabicPeriod"/>
            </a:pPr>
            <a:r>
              <a:rPr lang="fr-FR" sz="2400" dirty="0"/>
              <a:t>L’application est automatiquement mise en scale-out</a:t>
            </a:r>
          </a:p>
          <a:p>
            <a:pPr>
              <a:buFont typeface="+mj-lt"/>
              <a:buAutoNum type="arabicPeriod"/>
            </a:pPr>
            <a:r>
              <a:rPr lang="fr-FR" sz="2400" dirty="0"/>
              <a:t>Les App Settings deviennent immuables</a:t>
            </a:r>
          </a:p>
          <a:p>
            <a:pPr>
              <a:buFont typeface="+mj-lt"/>
              <a:buAutoNum type="arabicPeriod"/>
            </a:pPr>
            <a:r>
              <a:rPr lang="fr-FR" sz="2400" dirty="0"/>
              <a:t>Les logs sont désactivés</a:t>
            </a:r>
          </a:p>
          <a:p>
            <a:pPr>
              <a:buFont typeface="+mj-lt"/>
              <a:buAutoNum type="arabicPeriod"/>
            </a:pPr>
            <a:r>
              <a:rPr lang="fr-FR" sz="2400" dirty="0"/>
              <a:t>Le dossier /site/</a:t>
            </a:r>
            <a:r>
              <a:rPr lang="fr-FR" sz="2400" dirty="0" err="1"/>
              <a:t>wwwroot</a:t>
            </a:r>
            <a:r>
              <a:rPr lang="fr-FR" sz="2400" dirty="0"/>
              <a:t> devient </a:t>
            </a:r>
            <a:r>
              <a:rPr lang="fr-FR" sz="2400" dirty="0" err="1"/>
              <a:t>read-only</a:t>
            </a:r>
            <a:r>
              <a:rPr lang="fr-FR" sz="2400" dirty="0"/>
              <a:t> pour l’application</a:t>
            </a:r>
          </a:p>
          <a:p>
            <a:pPr marL="0" indent="0">
              <a:buNone/>
            </a:pPr>
            <a:endParaRPr lang="fr-FR" sz="2400" dirty="0"/>
          </a:p>
        </p:txBody>
      </p:sp>
      <p:sp>
        <p:nvSpPr>
          <p:cNvPr id="4" name="ZoneTexte 3">
            <a:extLst>
              <a:ext uri="{FF2B5EF4-FFF2-40B4-BE49-F238E27FC236}">
                <a16:creationId xmlns:a16="http://schemas.microsoft.com/office/drawing/2014/main" id="{007AC3BC-22FC-8834-E841-9DF7961763AB}"/>
              </a:ext>
            </a:extLst>
          </p:cNvPr>
          <p:cNvSpPr txBox="1"/>
          <p:nvPr/>
        </p:nvSpPr>
        <p:spPr>
          <a:xfrm>
            <a:off x="7308304" y="4259997"/>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
        <p:nvSpPr>
          <p:cNvPr id="5" name="ZoneTexte 4">
            <a:extLst>
              <a:ext uri="{FF2B5EF4-FFF2-40B4-BE49-F238E27FC236}">
                <a16:creationId xmlns:a16="http://schemas.microsoft.com/office/drawing/2014/main" id="{5E462DC1-57A9-4E09-C135-56252401B5B1}"/>
              </a:ext>
            </a:extLst>
          </p:cNvPr>
          <p:cNvSpPr txBox="1"/>
          <p:nvPr/>
        </p:nvSpPr>
        <p:spPr>
          <a:xfrm>
            <a:off x="35496" y="3284984"/>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67568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78A1-4818-39EF-192E-C0569C58F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E8A79-EABC-3B89-C553-8B90709463A4}"/>
              </a:ext>
            </a:extLst>
          </p:cNvPr>
          <p:cNvSpPr>
            <a:spLocks noGrp="1"/>
          </p:cNvSpPr>
          <p:nvPr>
            <p:ph type="title"/>
          </p:nvPr>
        </p:nvSpPr>
        <p:spPr/>
        <p:txBody>
          <a:bodyPr/>
          <a:lstStyle/>
          <a:p>
            <a:r>
              <a:rPr lang="en-US" dirty="0"/>
              <a:t>Question 5</a:t>
            </a:r>
          </a:p>
        </p:txBody>
      </p:sp>
      <p:sp>
        <p:nvSpPr>
          <p:cNvPr id="3" name="Content Placeholder 2">
            <a:extLst>
              <a:ext uri="{FF2B5EF4-FFF2-40B4-BE49-F238E27FC236}">
                <a16:creationId xmlns:a16="http://schemas.microsoft.com/office/drawing/2014/main" id="{5C6DFB5A-26FB-A54F-87AE-018B74EF51E5}"/>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Une Web App Azure génère un </a:t>
            </a:r>
            <a:r>
              <a:rPr lang="fr-FR" sz="2400" b="1" dirty="0"/>
              <a:t>PDF à télécharger immédiatement par l’utilisateur</a:t>
            </a:r>
            <a:r>
              <a:rPr lang="fr-FR" sz="2400" dirty="0"/>
              <a:t>.</a:t>
            </a:r>
            <a:br>
              <a:rPr lang="fr-FR" sz="2400" dirty="0"/>
            </a:br>
            <a:r>
              <a:rPr lang="fr-FR" sz="2400" dirty="0"/>
              <a:t>Quelle est la </a:t>
            </a:r>
            <a:r>
              <a:rPr lang="fr-FR" sz="2400" b="1" dirty="0"/>
              <a:t>meilleure approche</a:t>
            </a:r>
            <a:r>
              <a:rPr lang="fr-FR" sz="2400" dirty="0"/>
              <a:t> si Local Cache est activé ?</a:t>
            </a:r>
          </a:p>
          <a:p>
            <a:pPr>
              <a:buFont typeface="+mj-lt"/>
              <a:buAutoNum type="arabicPeriod"/>
            </a:pPr>
            <a:r>
              <a:rPr lang="fr-FR" sz="2400" dirty="0"/>
              <a:t>Écrire le fichier dans </a:t>
            </a:r>
            <a:r>
              <a:rPr lang="fr-FR" dirty="0"/>
              <a:t>/site/</a:t>
            </a:r>
            <a:r>
              <a:rPr lang="fr-FR" dirty="0" err="1"/>
              <a:t>wwwroot</a:t>
            </a:r>
            <a:endParaRPr lang="fr-FR" sz="2400" dirty="0"/>
          </a:p>
          <a:p>
            <a:pPr>
              <a:buFont typeface="+mj-lt"/>
              <a:buAutoNum type="arabicPeriod"/>
            </a:pPr>
            <a:r>
              <a:rPr lang="fr-FR" sz="2400" dirty="0"/>
              <a:t>Écrire le fichier dans </a:t>
            </a:r>
            <a:r>
              <a:rPr lang="fr-FR" dirty="0"/>
              <a:t>/home/site/</a:t>
            </a:r>
            <a:r>
              <a:rPr lang="fr-FR" dirty="0" err="1"/>
              <a:t>wwwroot</a:t>
            </a:r>
            <a:endParaRPr lang="fr-FR" sz="2400" dirty="0"/>
          </a:p>
          <a:p>
            <a:pPr>
              <a:buFont typeface="+mj-lt"/>
              <a:buAutoNum type="arabicPeriod"/>
            </a:pPr>
            <a:r>
              <a:rPr lang="fr-FR" sz="2400" dirty="0"/>
              <a:t>Générer le PDF dans un </a:t>
            </a:r>
            <a:r>
              <a:rPr lang="fr-FR" dirty="0" err="1"/>
              <a:t>MemoryStream</a:t>
            </a:r>
            <a:r>
              <a:rPr lang="fr-FR" sz="2400" dirty="0"/>
              <a:t> et le renvoyer dans la réponse HTTP</a:t>
            </a:r>
          </a:p>
          <a:p>
            <a:pPr>
              <a:buFont typeface="+mj-lt"/>
              <a:buAutoNum type="arabicPeriod"/>
            </a:pPr>
            <a:r>
              <a:rPr lang="fr-FR" sz="2400" dirty="0"/>
              <a:t>Écrire le fichier dans </a:t>
            </a:r>
            <a:r>
              <a:rPr lang="fr-FR" dirty="0"/>
              <a:t>/site/logs</a:t>
            </a:r>
            <a:endParaRPr lang="fr-FR" sz="2400" dirty="0"/>
          </a:p>
          <a:p>
            <a:pPr marL="0" indent="0">
              <a:buNone/>
            </a:pPr>
            <a:endParaRPr lang="fr-FR" sz="2400" dirty="0"/>
          </a:p>
        </p:txBody>
      </p:sp>
      <p:sp>
        <p:nvSpPr>
          <p:cNvPr id="4" name="ZoneTexte 3">
            <a:extLst>
              <a:ext uri="{FF2B5EF4-FFF2-40B4-BE49-F238E27FC236}">
                <a16:creationId xmlns:a16="http://schemas.microsoft.com/office/drawing/2014/main" id="{9297B0A9-1A77-21CA-897F-D4ACF8D14284}"/>
              </a:ext>
            </a:extLst>
          </p:cNvPr>
          <p:cNvSpPr txBox="1"/>
          <p:nvPr/>
        </p:nvSpPr>
        <p:spPr>
          <a:xfrm>
            <a:off x="7380312" y="4581128"/>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FB38BAFD-94D6-EB87-5569-D8BC3F725AE4}"/>
              </a:ext>
            </a:extLst>
          </p:cNvPr>
          <p:cNvSpPr txBox="1"/>
          <p:nvPr/>
        </p:nvSpPr>
        <p:spPr>
          <a:xfrm>
            <a:off x="32925" y="3377971"/>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4BCACC44-6870-8CEC-429C-0195D3551C10}"/>
              </a:ext>
            </a:extLst>
          </p:cNvPr>
          <p:cNvSpPr txBox="1"/>
          <p:nvPr/>
        </p:nvSpPr>
        <p:spPr>
          <a:xfrm>
            <a:off x="179512" y="5229200"/>
            <a:ext cx="8064896" cy="1754326"/>
          </a:xfrm>
          <a:prstGeom prst="rect">
            <a:avLst/>
          </a:prstGeom>
          <a:noFill/>
        </p:spPr>
        <p:txBody>
          <a:bodyPr wrap="square" rtlCol="0">
            <a:spAutoFit/>
          </a:bodyPr>
          <a:lstStyle/>
          <a:p>
            <a:r>
              <a:rPr lang="fr-FR" dirty="0"/>
              <a:t>A noter : si besoin de générer un fichier temporaire sur disque, il est recommandé d’utiliser le dossier temporaire :</a:t>
            </a:r>
            <a:br>
              <a:rPr lang="fr-FR" dirty="0"/>
            </a:br>
            <a:r>
              <a:rPr lang="fr-FR" dirty="0"/>
              <a:t>Exemple : </a:t>
            </a:r>
          </a:p>
          <a:p>
            <a:r>
              <a:rPr lang="fr-FR" dirty="0"/>
              <a:t>var </a:t>
            </a:r>
            <a:r>
              <a:rPr lang="fr-FR" dirty="0" err="1"/>
              <a:t>tempFile</a:t>
            </a:r>
            <a:r>
              <a:rPr lang="fr-FR" dirty="0"/>
              <a:t> = </a:t>
            </a:r>
            <a:r>
              <a:rPr lang="fr-FR" dirty="0" err="1"/>
              <a:t>Path.Combine</a:t>
            </a:r>
            <a:r>
              <a:rPr lang="fr-FR" dirty="0"/>
              <a:t>(</a:t>
            </a:r>
            <a:r>
              <a:rPr lang="fr-FR" dirty="0" err="1"/>
              <a:t>Path.GetTempPath</a:t>
            </a:r>
            <a:r>
              <a:rPr lang="fr-FR" dirty="0"/>
              <a:t>(), </a:t>
            </a:r>
            <a:r>
              <a:rPr lang="fr-FR" dirty="0" err="1"/>
              <a:t>Guid.NewGuid</a:t>
            </a:r>
            <a:r>
              <a:rPr lang="fr-FR" dirty="0"/>
              <a:t>() + ".</a:t>
            </a:r>
            <a:r>
              <a:rPr lang="fr-FR" dirty="0" err="1"/>
              <a:t>pdf</a:t>
            </a:r>
            <a:r>
              <a:rPr lang="fr-FR" dirty="0"/>
              <a:t>");</a:t>
            </a:r>
          </a:p>
          <a:p>
            <a:endParaRPr lang="fr-FR" dirty="0"/>
          </a:p>
          <a:p>
            <a:r>
              <a:rPr lang="fr-FR" dirty="0"/>
              <a:t> </a:t>
            </a:r>
          </a:p>
        </p:txBody>
      </p:sp>
    </p:spTree>
    <p:extLst>
      <p:ext uri="{BB962C8B-B14F-4D97-AF65-F5344CB8AC3E}">
        <p14:creationId xmlns:p14="http://schemas.microsoft.com/office/powerpoint/2010/main" val="331219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69A0B-5742-4239-B0BB-94EAF9587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8B9FE-0FFB-C423-2712-5716D183F000}"/>
              </a:ext>
            </a:extLst>
          </p:cNvPr>
          <p:cNvSpPr>
            <a:spLocks noGrp="1"/>
          </p:cNvSpPr>
          <p:nvPr>
            <p:ph type="title"/>
          </p:nvPr>
        </p:nvSpPr>
        <p:spPr/>
        <p:txBody>
          <a:bodyPr/>
          <a:lstStyle/>
          <a:p>
            <a:r>
              <a:rPr lang="en-US" dirty="0"/>
              <a:t>Question 6</a:t>
            </a:r>
          </a:p>
        </p:txBody>
      </p:sp>
      <p:sp>
        <p:nvSpPr>
          <p:cNvPr id="3" name="Content Placeholder 2">
            <a:extLst>
              <a:ext uri="{FF2B5EF4-FFF2-40B4-BE49-F238E27FC236}">
                <a16:creationId xmlns:a16="http://schemas.microsoft.com/office/drawing/2014/main" id="{EAB8653F-4762-2337-4AD6-152677D2041B}"/>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000" dirty="0"/>
              <a:t>Une </a:t>
            </a:r>
            <a:r>
              <a:rPr lang="fr-FR" sz="2000" b="1" dirty="0"/>
              <a:t>Azure Web App</a:t>
            </a:r>
            <a:r>
              <a:rPr lang="fr-FR" sz="2000" dirty="0"/>
              <a:t> génère des fichiers temporaires dans :</a:t>
            </a:r>
          </a:p>
          <a:p>
            <a:pPr marL="0" indent="0">
              <a:buNone/>
            </a:pPr>
            <a:r>
              <a:rPr lang="fr-FR" sz="1800" dirty="0">
                <a:latin typeface="Courier New" panose="02070309020205020404" pitchFamily="49" charset="0"/>
                <a:cs typeface="Courier New" panose="02070309020205020404" pitchFamily="49" charset="0"/>
              </a:rPr>
              <a:t>D:\local\Temp</a:t>
            </a:r>
          </a:p>
          <a:p>
            <a:pPr marL="0" indent="0">
              <a:buNone/>
            </a:pPr>
            <a:r>
              <a:rPr lang="fr-FR" sz="2000" dirty="0"/>
              <a:t>L’application est ensuite </a:t>
            </a:r>
            <a:r>
              <a:rPr lang="fr-FR" sz="2000" b="1" dirty="0" err="1"/>
              <a:t>scalée</a:t>
            </a:r>
            <a:r>
              <a:rPr lang="fr-FR" sz="2000" b="1" dirty="0"/>
              <a:t> en plusieurs instances (scale-out)</a:t>
            </a:r>
            <a:r>
              <a:rPr lang="fr-FR" sz="2000" dirty="0"/>
              <a:t>.</a:t>
            </a:r>
          </a:p>
          <a:p>
            <a:pPr marL="0" indent="0">
              <a:buNone/>
            </a:pPr>
            <a:r>
              <a:rPr lang="fr-FR" sz="2000" dirty="0"/>
              <a:t>Que se passe-t-il pour ces fichiers ?</a:t>
            </a:r>
          </a:p>
          <a:p>
            <a:pPr marL="0" indent="0">
              <a:buNone/>
            </a:pPr>
            <a:endParaRPr lang="fr-FR" sz="2000" dirty="0"/>
          </a:p>
          <a:p>
            <a:pPr>
              <a:buFont typeface="+mj-lt"/>
              <a:buAutoNum type="arabicPeriod"/>
            </a:pPr>
            <a:r>
              <a:rPr lang="fr-FR" sz="2000" dirty="0"/>
              <a:t>Les fichiers sont automatiquement synchronisés entre toutes les instances</a:t>
            </a:r>
          </a:p>
          <a:p>
            <a:pPr>
              <a:buFont typeface="+mj-lt"/>
              <a:buAutoNum type="arabicPeriod"/>
            </a:pPr>
            <a:r>
              <a:rPr lang="fr-FR" sz="2000" dirty="0"/>
              <a:t>Les fichiers sont stockés dans Azure Storage et accessibles par toutes les instances</a:t>
            </a:r>
          </a:p>
          <a:p>
            <a:pPr>
              <a:buFont typeface="+mj-lt"/>
              <a:buAutoNum type="arabicPeriod"/>
            </a:pPr>
            <a:r>
              <a:rPr lang="fr-FR" sz="2000" dirty="0"/>
              <a:t>Chaque instance possède son propre disque local, les fichiers ne sont donc pas partagés</a:t>
            </a:r>
          </a:p>
          <a:p>
            <a:pPr>
              <a:buFont typeface="+mj-lt"/>
              <a:buAutoNum type="arabicPeriod"/>
            </a:pPr>
            <a:r>
              <a:rPr lang="fr-FR" sz="2000" dirty="0"/>
              <a:t>Azure déplace automatiquement les fichiers vers </a:t>
            </a:r>
            <a:r>
              <a:rPr lang="fr-FR" sz="2000" dirty="0">
                <a:latin typeface="Courier New" panose="02070309020205020404" pitchFamily="49" charset="0"/>
                <a:cs typeface="Courier New" panose="02070309020205020404" pitchFamily="49" charset="0"/>
              </a:rPr>
              <a:t>/site/</a:t>
            </a:r>
            <a:r>
              <a:rPr lang="fr-FR" sz="2000" dirty="0" err="1">
                <a:latin typeface="Courier New" panose="02070309020205020404" pitchFamily="49" charset="0"/>
                <a:cs typeface="Courier New" panose="02070309020205020404" pitchFamily="49" charset="0"/>
              </a:rPr>
              <a:t>wwwroot</a:t>
            </a:r>
            <a:endParaRPr lang="fr-FR" sz="1800" dirty="0">
              <a:latin typeface="Courier New" panose="02070309020205020404" pitchFamily="49" charset="0"/>
              <a:cs typeface="Courier New" panose="02070309020205020404" pitchFamily="49" charset="0"/>
            </a:endParaRPr>
          </a:p>
          <a:p>
            <a:pPr marL="0" indent="0">
              <a:buNone/>
            </a:pPr>
            <a:endParaRPr lang="fr-FR" sz="2400" dirty="0"/>
          </a:p>
        </p:txBody>
      </p:sp>
      <p:sp>
        <p:nvSpPr>
          <p:cNvPr id="4" name="ZoneTexte 3">
            <a:extLst>
              <a:ext uri="{FF2B5EF4-FFF2-40B4-BE49-F238E27FC236}">
                <a16:creationId xmlns:a16="http://schemas.microsoft.com/office/drawing/2014/main" id="{ABC02BC0-DB60-101B-C8C1-3D77788D2135}"/>
              </a:ext>
            </a:extLst>
          </p:cNvPr>
          <p:cNvSpPr txBox="1"/>
          <p:nvPr/>
        </p:nvSpPr>
        <p:spPr>
          <a:xfrm>
            <a:off x="7596336" y="5473304"/>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F6F18884-F05D-788A-3C67-49D0688082CB}"/>
              </a:ext>
            </a:extLst>
          </p:cNvPr>
          <p:cNvSpPr txBox="1"/>
          <p:nvPr/>
        </p:nvSpPr>
        <p:spPr>
          <a:xfrm>
            <a:off x="107504" y="4293096"/>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7B6CD879-8E9A-5C8C-476F-2F221B82E87A}"/>
              </a:ext>
            </a:extLst>
          </p:cNvPr>
          <p:cNvSpPr txBox="1"/>
          <p:nvPr/>
        </p:nvSpPr>
        <p:spPr>
          <a:xfrm>
            <a:off x="152400" y="5413866"/>
            <a:ext cx="6984776" cy="1477328"/>
          </a:xfrm>
          <a:prstGeom prst="rect">
            <a:avLst/>
          </a:prstGeom>
          <a:noFill/>
        </p:spPr>
        <p:txBody>
          <a:bodyPr wrap="square" rtlCol="0">
            <a:spAutoFit/>
          </a:bodyPr>
          <a:lstStyle/>
          <a:p>
            <a:pPr marL="285750" indent="-285750">
              <a:buFontTx/>
              <a:buChar char="-"/>
            </a:pPr>
            <a:r>
              <a:rPr lang="fr-FR" dirty="0"/>
              <a:t>D:\local correspond au disque local de l’instance</a:t>
            </a:r>
          </a:p>
          <a:p>
            <a:pPr marL="285750" indent="-285750">
              <a:buFontTx/>
              <a:buChar char="-"/>
            </a:pPr>
            <a:r>
              <a:rPr lang="fr-FR" dirty="0"/>
              <a:t>chaque instance possède son propre stockage local</a:t>
            </a:r>
          </a:p>
          <a:p>
            <a:pPr marL="285750" indent="-285750">
              <a:buFontTx/>
              <a:buChar char="-"/>
            </a:pPr>
            <a:r>
              <a:rPr lang="fr-FR" dirty="0"/>
              <a:t>les fichiers générés dans D:\local\Temp ne sont pas visibles par les autres instances.</a:t>
            </a:r>
          </a:p>
          <a:p>
            <a:r>
              <a:rPr lang="fr-FR" dirty="0"/>
              <a:t> </a:t>
            </a:r>
          </a:p>
        </p:txBody>
      </p:sp>
    </p:spTree>
    <p:extLst>
      <p:ext uri="{BB962C8B-B14F-4D97-AF65-F5344CB8AC3E}">
        <p14:creationId xmlns:p14="http://schemas.microsoft.com/office/powerpoint/2010/main" val="422997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4D351-5926-0FB8-A721-9C1E907F6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B5169-ACA4-69DD-8AB3-B5D6F7F3967C}"/>
              </a:ext>
            </a:extLst>
          </p:cNvPr>
          <p:cNvSpPr>
            <a:spLocks noGrp="1"/>
          </p:cNvSpPr>
          <p:nvPr>
            <p:ph type="title"/>
          </p:nvPr>
        </p:nvSpPr>
        <p:spPr/>
        <p:txBody>
          <a:bodyPr/>
          <a:lstStyle/>
          <a:p>
            <a:r>
              <a:rPr lang="en-US" dirty="0"/>
              <a:t>Question 7 </a:t>
            </a:r>
          </a:p>
        </p:txBody>
      </p:sp>
      <p:sp>
        <p:nvSpPr>
          <p:cNvPr id="3" name="Content Placeholder 2">
            <a:extLst>
              <a:ext uri="{FF2B5EF4-FFF2-40B4-BE49-F238E27FC236}">
                <a16:creationId xmlns:a16="http://schemas.microsoft.com/office/drawing/2014/main" id="{58579D49-83A9-9B23-CE33-C3146BA8E3B2}"/>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000" dirty="0"/>
              <a:t>Vous devez </a:t>
            </a:r>
            <a:r>
              <a:rPr lang="fr-FR" sz="2000" b="1" dirty="0"/>
              <a:t>diagnostiquer une erreur sur une Azure Web App en production</a:t>
            </a:r>
            <a:r>
              <a:rPr lang="fr-FR" sz="2000" dirty="0"/>
              <a:t>.</a:t>
            </a:r>
            <a:br>
              <a:rPr lang="fr-FR" sz="2000" dirty="0"/>
            </a:br>
            <a:r>
              <a:rPr lang="fr-FR" sz="2000" dirty="0"/>
              <a:t>Vous souhaitez </a:t>
            </a:r>
            <a:r>
              <a:rPr lang="fr-FR" sz="2000" b="1" dirty="0"/>
              <a:t>afficher temporairement les pages d’exception détaillées (.NET)</a:t>
            </a:r>
            <a:r>
              <a:rPr lang="fr-FR" sz="2000" dirty="0"/>
              <a:t> sans modifier le code ni redéployer l’application.</a:t>
            </a:r>
          </a:p>
          <a:p>
            <a:pPr marL="0" indent="0">
              <a:buNone/>
            </a:pPr>
            <a:r>
              <a:rPr lang="fr-FR" sz="2000" dirty="0"/>
              <a:t>Quelle est la solution la plus simple ?</a:t>
            </a:r>
          </a:p>
          <a:p>
            <a:pPr>
              <a:buFont typeface="+mj-lt"/>
              <a:buAutoNum type="arabicPeriod"/>
            </a:pPr>
            <a:r>
              <a:rPr lang="fr-FR" sz="2000" dirty="0"/>
              <a:t>Modifier </a:t>
            </a:r>
            <a:r>
              <a:rPr lang="fr-FR" sz="2400" dirty="0" err="1"/>
              <a:t>appsettings.json</a:t>
            </a:r>
            <a:r>
              <a:rPr lang="fr-FR" sz="2000" dirty="0"/>
              <a:t> et redéployer l’application</a:t>
            </a:r>
          </a:p>
          <a:p>
            <a:pPr>
              <a:buFont typeface="+mj-lt"/>
              <a:buAutoNum type="arabicPeriod"/>
            </a:pPr>
            <a:r>
              <a:rPr lang="fr-FR" sz="2000" dirty="0"/>
              <a:t>Modifier la variable d’environnement </a:t>
            </a:r>
            <a:r>
              <a:rPr lang="fr-FR" sz="2000" dirty="0">
                <a:latin typeface="Courier New" panose="02070309020205020404" pitchFamily="49" charset="0"/>
                <a:cs typeface="Courier New" panose="02070309020205020404" pitchFamily="49" charset="0"/>
              </a:rPr>
              <a:t>ASPNETCORE_ENVIRONMENT</a:t>
            </a:r>
            <a:r>
              <a:rPr lang="fr-FR" sz="1800" dirty="0">
                <a:latin typeface="Courier New" panose="02070309020205020404" pitchFamily="49" charset="0"/>
                <a:cs typeface="Courier New" panose="02070309020205020404" pitchFamily="49" charset="0"/>
              </a:rPr>
              <a:t> </a:t>
            </a:r>
            <a:r>
              <a:rPr lang="fr-FR" sz="2000" dirty="0"/>
              <a:t>dans les </a:t>
            </a:r>
            <a:r>
              <a:rPr lang="fr-FR" sz="2000" b="1" dirty="0"/>
              <a:t>App Settings</a:t>
            </a:r>
            <a:r>
              <a:rPr lang="fr-FR" sz="2000" dirty="0"/>
              <a:t> de la Web App</a:t>
            </a:r>
          </a:p>
          <a:p>
            <a:pPr>
              <a:buFont typeface="+mj-lt"/>
              <a:buAutoNum type="arabicPeriod"/>
            </a:pPr>
            <a:r>
              <a:rPr lang="fr-FR" sz="2000" dirty="0"/>
              <a:t>Activer Application Insights</a:t>
            </a:r>
          </a:p>
          <a:p>
            <a:pPr>
              <a:buFont typeface="+mj-lt"/>
              <a:buAutoNum type="arabicPeriod"/>
            </a:pPr>
            <a:r>
              <a:rPr lang="fr-FR" sz="2000" dirty="0"/>
              <a:t>Redémarrer l’App Service Plan</a:t>
            </a:r>
          </a:p>
          <a:p>
            <a:pPr marL="0" indent="0">
              <a:buNone/>
            </a:pPr>
            <a:endParaRPr lang="fr-FR" sz="2400" dirty="0"/>
          </a:p>
        </p:txBody>
      </p:sp>
      <p:sp>
        <p:nvSpPr>
          <p:cNvPr id="4" name="ZoneTexte 3">
            <a:extLst>
              <a:ext uri="{FF2B5EF4-FFF2-40B4-BE49-F238E27FC236}">
                <a16:creationId xmlns:a16="http://schemas.microsoft.com/office/drawing/2014/main" id="{21B7581E-8AF6-381D-B383-19909953CB71}"/>
              </a:ext>
            </a:extLst>
          </p:cNvPr>
          <p:cNvSpPr txBox="1"/>
          <p:nvPr/>
        </p:nvSpPr>
        <p:spPr>
          <a:xfrm>
            <a:off x="7668344" y="3801814"/>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5" name="ZoneTexte 4">
            <a:extLst>
              <a:ext uri="{FF2B5EF4-FFF2-40B4-BE49-F238E27FC236}">
                <a16:creationId xmlns:a16="http://schemas.microsoft.com/office/drawing/2014/main" id="{F260AEF1-7FC3-8ADA-7D09-7C7B7AA66B29}"/>
              </a:ext>
            </a:extLst>
          </p:cNvPr>
          <p:cNvSpPr txBox="1"/>
          <p:nvPr/>
        </p:nvSpPr>
        <p:spPr>
          <a:xfrm>
            <a:off x="38295" y="3140968"/>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8444BEC0-1956-9775-0447-D3AE904DF192}"/>
              </a:ext>
            </a:extLst>
          </p:cNvPr>
          <p:cNvSpPr txBox="1"/>
          <p:nvPr/>
        </p:nvSpPr>
        <p:spPr>
          <a:xfrm>
            <a:off x="245191" y="4725144"/>
            <a:ext cx="8719298" cy="2031325"/>
          </a:xfrm>
          <a:prstGeom prst="rect">
            <a:avLst/>
          </a:prstGeom>
          <a:noFill/>
        </p:spPr>
        <p:txBody>
          <a:bodyPr wrap="square">
            <a:spAutoFit/>
          </a:bodyPr>
          <a:lstStyle/>
          <a:p>
            <a:pPr>
              <a:buNone/>
            </a:pPr>
            <a:r>
              <a:rPr lang="fr-FR" dirty="0"/>
              <a:t>Dans une application </a:t>
            </a:r>
            <a:r>
              <a:rPr lang="fr-FR" b="1" dirty="0"/>
              <a:t>ASP.NET </a:t>
            </a:r>
            <a:r>
              <a:rPr lang="fr-FR" b="1" dirty="0" err="1"/>
              <a:t>Core</a:t>
            </a:r>
            <a:r>
              <a:rPr lang="fr-FR" dirty="0"/>
              <a:t>, les pages d’erreur détaillées sont généralement activées lorsque : </a:t>
            </a:r>
            <a:r>
              <a:rPr lang="fr-FR" dirty="0">
                <a:latin typeface="Courier New" panose="02070309020205020404" pitchFamily="49" charset="0"/>
              </a:rPr>
              <a:t>ASPNETCORE_ENVIRONMENT = </a:t>
            </a:r>
            <a:r>
              <a:rPr lang="fr-FR" dirty="0" err="1">
                <a:latin typeface="Courier New" panose="02070309020205020404" pitchFamily="49" charset="0"/>
              </a:rPr>
              <a:t>Development</a:t>
            </a:r>
            <a:endParaRPr lang="fr-FR" dirty="0">
              <a:latin typeface="Courier New" panose="02070309020205020404" pitchFamily="49" charset="0"/>
            </a:endParaRPr>
          </a:p>
          <a:p>
            <a:pPr>
              <a:buNone/>
            </a:pPr>
            <a:r>
              <a:rPr lang="fr-FR" dirty="0"/>
              <a:t>Après redémarrage de l’application :</a:t>
            </a:r>
          </a:p>
          <a:p>
            <a:pPr>
              <a:buFont typeface="Arial" panose="020B0604020202020204" pitchFamily="34" charset="0"/>
              <a:buChar char="•"/>
            </a:pPr>
            <a:r>
              <a:rPr lang="fr-FR" dirty="0"/>
              <a:t>les </a:t>
            </a:r>
            <a:r>
              <a:rPr lang="fr-FR" b="1" dirty="0" err="1"/>
              <a:t>Developer</a:t>
            </a:r>
            <a:r>
              <a:rPr lang="fr-FR" b="1" dirty="0"/>
              <a:t> Exception Pages</a:t>
            </a:r>
            <a:r>
              <a:rPr lang="fr-FR" dirty="0"/>
              <a:t> sont affichées</a:t>
            </a:r>
          </a:p>
          <a:p>
            <a:pPr>
              <a:buFont typeface="Arial" panose="020B0604020202020204" pitchFamily="34" charset="0"/>
              <a:buChar char="•"/>
            </a:pPr>
            <a:r>
              <a:rPr lang="fr-FR" dirty="0"/>
              <a:t>cela permet de </a:t>
            </a:r>
            <a:r>
              <a:rPr lang="fr-FR" b="1" dirty="0"/>
              <a:t>diagnostiquer rapidement un problème</a:t>
            </a:r>
            <a:endParaRPr lang="fr-FR" dirty="0"/>
          </a:p>
          <a:p>
            <a:pPr>
              <a:buNone/>
            </a:pPr>
            <a:r>
              <a:rPr lang="fr-FR" dirty="0"/>
              <a:t>⚠️ À remettre ensuite en : </a:t>
            </a:r>
            <a:r>
              <a:rPr lang="fr-FR" dirty="0">
                <a:latin typeface="Courier New" panose="02070309020205020404" pitchFamily="49" charset="0"/>
              </a:rPr>
              <a:t>Production</a:t>
            </a:r>
          </a:p>
          <a:p>
            <a:pPr>
              <a:buNone/>
            </a:pPr>
            <a:r>
              <a:rPr lang="fr-FR" dirty="0"/>
              <a:t>(ou supprimer la variable) pour éviter d’exposer des informations sensibles.</a:t>
            </a:r>
          </a:p>
        </p:txBody>
      </p:sp>
    </p:spTree>
    <p:extLst>
      <p:ext uri="{BB962C8B-B14F-4D97-AF65-F5344CB8AC3E}">
        <p14:creationId xmlns:p14="http://schemas.microsoft.com/office/powerpoint/2010/main" val="891568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0458-98BD-AB2D-8A7E-BCA2BBB47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2BBB7-D4B7-B2C4-CA26-0CE03FA17DE4}"/>
              </a:ext>
            </a:extLst>
          </p:cNvPr>
          <p:cNvSpPr>
            <a:spLocks noGrp="1"/>
          </p:cNvSpPr>
          <p:nvPr>
            <p:ph type="title"/>
          </p:nvPr>
        </p:nvSpPr>
        <p:spPr/>
        <p:txBody>
          <a:bodyPr/>
          <a:lstStyle/>
          <a:p>
            <a:r>
              <a:rPr lang="en-US" dirty="0"/>
              <a:t>Question 8 </a:t>
            </a:r>
          </a:p>
        </p:txBody>
      </p:sp>
      <p:sp>
        <p:nvSpPr>
          <p:cNvPr id="3" name="Content Placeholder 2">
            <a:extLst>
              <a:ext uri="{FF2B5EF4-FFF2-40B4-BE49-F238E27FC236}">
                <a16:creationId xmlns:a16="http://schemas.microsoft.com/office/drawing/2014/main" id="{26D0FA88-C96B-4807-6327-879702726A42}"/>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Une Web App lit une valeur via :</a:t>
            </a:r>
          </a:p>
          <a:p>
            <a:pPr marL="0" indent="0">
              <a:buNone/>
            </a:pPr>
            <a:r>
              <a:rPr lang="fr-FR" dirty="0">
                <a:highlight>
                  <a:srgbClr val="C0C0C0"/>
                </a:highlight>
                <a:latin typeface="Courier New" panose="02070309020205020404" pitchFamily="49" charset="0"/>
                <a:cs typeface="Courier New" panose="02070309020205020404" pitchFamily="49" charset="0"/>
              </a:rPr>
              <a:t>_configuration["</a:t>
            </a:r>
            <a:r>
              <a:rPr lang="fr-FR" dirty="0" err="1">
                <a:highlight>
                  <a:srgbClr val="C0C0C0"/>
                </a:highlight>
                <a:latin typeface="Courier New" panose="02070309020205020404" pitchFamily="49" charset="0"/>
                <a:cs typeface="Courier New" panose="02070309020205020404" pitchFamily="49" charset="0"/>
              </a:rPr>
              <a:t>MySetting</a:t>
            </a:r>
            <a:r>
              <a:rPr lang="fr-FR" dirty="0">
                <a:highlight>
                  <a:srgbClr val="C0C0C0"/>
                </a:highlight>
                <a:latin typeface="Courier New" panose="02070309020205020404" pitchFamily="49" charset="0"/>
                <a:cs typeface="Courier New" panose="02070309020205020404" pitchFamily="49" charset="0"/>
              </a:rPr>
              <a:t>"]</a:t>
            </a:r>
          </a:p>
          <a:p>
            <a:pPr marL="0" indent="0">
              <a:buNone/>
            </a:pPr>
            <a:r>
              <a:rPr lang="fr-FR" sz="2400" dirty="0"/>
              <a:t>Vous avez :</a:t>
            </a:r>
          </a:p>
          <a:p>
            <a:r>
              <a:rPr lang="fr-FR" sz="2400" dirty="0" err="1"/>
              <a:t>appsettings.json</a:t>
            </a:r>
            <a:r>
              <a:rPr lang="fr-FR" sz="2400" dirty="0"/>
              <a:t> → </a:t>
            </a:r>
            <a:r>
              <a:rPr lang="fr-FR" sz="2400" dirty="0" err="1"/>
              <a:t>MySetting</a:t>
            </a:r>
            <a:r>
              <a:rPr lang="fr-FR" sz="2400" dirty="0"/>
              <a:t> = "A"</a:t>
            </a:r>
          </a:p>
          <a:p>
            <a:r>
              <a:rPr lang="fr-FR" sz="2400" dirty="0"/>
              <a:t>Azure App Settings → </a:t>
            </a:r>
            <a:r>
              <a:rPr lang="fr-FR" sz="2400" dirty="0" err="1"/>
              <a:t>MySetting</a:t>
            </a:r>
            <a:r>
              <a:rPr lang="fr-FR" sz="2400" dirty="0"/>
              <a:t> = "B"</a:t>
            </a:r>
          </a:p>
          <a:p>
            <a:pPr marL="0" indent="0">
              <a:buNone/>
            </a:pPr>
            <a:r>
              <a:rPr lang="fr-FR" sz="2400" dirty="0"/>
              <a:t>Quelle valeur est utilisée ?</a:t>
            </a:r>
          </a:p>
          <a:p>
            <a:pPr>
              <a:buFont typeface="+mj-lt"/>
              <a:buAutoNum type="arabicPeriod"/>
            </a:pPr>
            <a:r>
              <a:rPr lang="fr-FR" sz="2400" dirty="0"/>
              <a:t>A</a:t>
            </a:r>
          </a:p>
          <a:p>
            <a:pPr>
              <a:buFont typeface="+mj-lt"/>
              <a:buAutoNum type="arabicPeriod"/>
            </a:pPr>
            <a:r>
              <a:rPr lang="fr-FR" sz="2400" dirty="0"/>
              <a:t>B</a:t>
            </a:r>
          </a:p>
          <a:p>
            <a:pPr>
              <a:buFont typeface="+mj-lt"/>
              <a:buAutoNum type="arabicPeriod"/>
            </a:pPr>
            <a:r>
              <a:rPr lang="fr-FR" sz="2400" dirty="0"/>
              <a:t>A en local, B en Azure</a:t>
            </a:r>
          </a:p>
          <a:p>
            <a:pPr>
              <a:buFont typeface="+mj-lt"/>
              <a:buAutoNum type="arabicPeriod"/>
            </a:pPr>
            <a:r>
              <a:rPr lang="fr-FR" sz="2400" dirty="0"/>
              <a:t>Erreur</a:t>
            </a:r>
          </a:p>
          <a:p>
            <a:pPr marL="0" indent="0">
              <a:buNone/>
            </a:pPr>
            <a:endParaRPr lang="fr-FR" sz="2400" dirty="0"/>
          </a:p>
        </p:txBody>
      </p:sp>
      <p:sp>
        <p:nvSpPr>
          <p:cNvPr id="4" name="ZoneTexte 3">
            <a:extLst>
              <a:ext uri="{FF2B5EF4-FFF2-40B4-BE49-F238E27FC236}">
                <a16:creationId xmlns:a16="http://schemas.microsoft.com/office/drawing/2014/main" id="{8B118224-F85A-E1B8-AF35-2B5782398577}"/>
              </a:ext>
            </a:extLst>
          </p:cNvPr>
          <p:cNvSpPr txBox="1"/>
          <p:nvPr/>
        </p:nvSpPr>
        <p:spPr>
          <a:xfrm>
            <a:off x="7668344" y="3801814"/>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EBD9D0D0-1E3A-7A0E-5D9D-DE64E6A8EC5C}"/>
              </a:ext>
            </a:extLst>
          </p:cNvPr>
          <p:cNvSpPr txBox="1"/>
          <p:nvPr/>
        </p:nvSpPr>
        <p:spPr>
          <a:xfrm>
            <a:off x="0" y="4653136"/>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673A126D-7F6F-AE6D-4476-B505CBBD9990}"/>
              </a:ext>
            </a:extLst>
          </p:cNvPr>
          <p:cNvSpPr txBox="1"/>
          <p:nvPr/>
        </p:nvSpPr>
        <p:spPr>
          <a:xfrm>
            <a:off x="1475656" y="5791200"/>
            <a:ext cx="6085705" cy="369332"/>
          </a:xfrm>
          <a:prstGeom prst="rect">
            <a:avLst/>
          </a:prstGeom>
          <a:noFill/>
        </p:spPr>
        <p:txBody>
          <a:bodyPr wrap="none" rtlCol="0">
            <a:spAutoFit/>
          </a:bodyPr>
          <a:lstStyle/>
          <a:p>
            <a:r>
              <a:rPr lang="fr-FR" dirty="0"/>
              <a:t>Azure App Settings surchargent toujours les fichiers JSON.</a:t>
            </a:r>
          </a:p>
        </p:txBody>
      </p:sp>
    </p:spTree>
    <p:extLst>
      <p:ext uri="{BB962C8B-B14F-4D97-AF65-F5344CB8AC3E}">
        <p14:creationId xmlns:p14="http://schemas.microsoft.com/office/powerpoint/2010/main" val="1414214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96B0-4CBB-E2FF-3F58-F30580B7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29C5A-28B7-BD61-D6FE-0A0EE1646C58}"/>
              </a:ext>
            </a:extLst>
          </p:cNvPr>
          <p:cNvSpPr>
            <a:spLocks noGrp="1"/>
          </p:cNvSpPr>
          <p:nvPr>
            <p:ph type="title"/>
          </p:nvPr>
        </p:nvSpPr>
        <p:spPr/>
        <p:txBody>
          <a:bodyPr/>
          <a:lstStyle/>
          <a:p>
            <a:r>
              <a:rPr lang="en-US" dirty="0"/>
              <a:t>Question 9 </a:t>
            </a:r>
          </a:p>
        </p:txBody>
      </p:sp>
      <p:sp>
        <p:nvSpPr>
          <p:cNvPr id="3" name="Content Placeholder 2">
            <a:extLst>
              <a:ext uri="{FF2B5EF4-FFF2-40B4-BE49-F238E27FC236}">
                <a16:creationId xmlns:a16="http://schemas.microsoft.com/office/drawing/2014/main" id="{2E406D78-5FA7-6978-EA3B-F2F61BC892CF}"/>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Il y a plus d’options de configuration sur des Windows Web App que sur des Linux Web App</a:t>
            </a:r>
          </a:p>
          <a:p>
            <a:pPr>
              <a:buFont typeface="+mj-lt"/>
              <a:buAutoNum type="arabicPeriod"/>
            </a:pPr>
            <a:r>
              <a:rPr lang="fr-FR" sz="2400" dirty="0"/>
              <a:t>Vrai</a:t>
            </a:r>
          </a:p>
          <a:p>
            <a:pPr>
              <a:buFont typeface="+mj-lt"/>
              <a:buAutoNum type="arabicPeriod"/>
            </a:pPr>
            <a:r>
              <a:rPr lang="fr-FR" sz="2400" dirty="0"/>
              <a:t>Faux</a:t>
            </a:r>
          </a:p>
          <a:p>
            <a:pPr>
              <a:buFont typeface="+mj-lt"/>
              <a:buAutoNum type="arabicPeriod"/>
            </a:pPr>
            <a:r>
              <a:rPr lang="fr-FR" sz="2400" dirty="0"/>
              <a:t>Il y en a autant. Les mêmes options sont disponibles.</a:t>
            </a:r>
          </a:p>
        </p:txBody>
      </p:sp>
      <p:sp>
        <p:nvSpPr>
          <p:cNvPr id="4" name="ZoneTexte 3">
            <a:extLst>
              <a:ext uri="{FF2B5EF4-FFF2-40B4-BE49-F238E27FC236}">
                <a16:creationId xmlns:a16="http://schemas.microsoft.com/office/drawing/2014/main" id="{AD55AD2A-C504-12AC-A542-25C650D4778B}"/>
              </a:ext>
            </a:extLst>
          </p:cNvPr>
          <p:cNvSpPr txBox="1"/>
          <p:nvPr/>
        </p:nvSpPr>
        <p:spPr>
          <a:xfrm>
            <a:off x="7668344" y="3801814"/>
            <a:ext cx="1230465" cy="923330"/>
          </a:xfrm>
          <a:prstGeom prst="rect">
            <a:avLst/>
          </a:prstGeom>
          <a:noFill/>
        </p:spPr>
        <p:txBody>
          <a:bodyPr wrap="none" rtlCol="0">
            <a:spAutoFit/>
          </a:bodyPr>
          <a:lstStyle/>
          <a:p>
            <a:r>
              <a:rPr lang="fr-FR" b="1" u="sng" dirty="0"/>
              <a:t>Réponse :</a:t>
            </a:r>
          </a:p>
          <a:p>
            <a:r>
              <a:rPr lang="fr-FR" dirty="0"/>
              <a:t>1</a:t>
            </a:r>
          </a:p>
          <a:p>
            <a:endParaRPr lang="fr-FR" dirty="0"/>
          </a:p>
        </p:txBody>
      </p:sp>
      <p:sp>
        <p:nvSpPr>
          <p:cNvPr id="5" name="ZoneTexte 4">
            <a:extLst>
              <a:ext uri="{FF2B5EF4-FFF2-40B4-BE49-F238E27FC236}">
                <a16:creationId xmlns:a16="http://schemas.microsoft.com/office/drawing/2014/main" id="{98E4E0BD-0BA7-7C15-6425-E4B107B88F6B}"/>
              </a:ext>
            </a:extLst>
          </p:cNvPr>
          <p:cNvSpPr txBox="1"/>
          <p:nvPr/>
        </p:nvSpPr>
        <p:spPr>
          <a:xfrm>
            <a:off x="107504" y="1988840"/>
            <a:ext cx="557808" cy="369332"/>
          </a:xfrm>
          <a:prstGeom prst="rect">
            <a:avLst/>
          </a:prstGeom>
          <a:noFill/>
        </p:spPr>
        <p:txBody>
          <a:bodyPr wrap="square">
            <a:spAutoFit/>
          </a:bodyPr>
          <a:lstStyle/>
          <a:p>
            <a:r>
              <a:rPr lang="fr-FR" b="1" dirty="0"/>
              <a:t>✅</a:t>
            </a:r>
            <a:endParaRPr lang="fr-FR" dirty="0"/>
          </a:p>
        </p:txBody>
      </p:sp>
      <p:pic>
        <p:nvPicPr>
          <p:cNvPr id="9" name="Image 8">
            <a:extLst>
              <a:ext uri="{FF2B5EF4-FFF2-40B4-BE49-F238E27FC236}">
                <a16:creationId xmlns:a16="http://schemas.microsoft.com/office/drawing/2014/main" id="{F6B36D37-3FB4-CFAF-B073-65546CD1A0A1}"/>
              </a:ext>
            </a:extLst>
          </p:cNvPr>
          <p:cNvPicPr>
            <a:picLocks noChangeAspect="1"/>
          </p:cNvPicPr>
          <p:nvPr/>
        </p:nvPicPr>
        <p:blipFill>
          <a:blip r:embed="rId3"/>
          <a:stretch>
            <a:fillRect/>
          </a:stretch>
        </p:blipFill>
        <p:spPr>
          <a:xfrm>
            <a:off x="142777" y="3645024"/>
            <a:ext cx="3347864" cy="1611120"/>
          </a:xfrm>
          <a:prstGeom prst="rect">
            <a:avLst/>
          </a:prstGeom>
        </p:spPr>
      </p:pic>
      <p:pic>
        <p:nvPicPr>
          <p:cNvPr id="11" name="Image 10">
            <a:extLst>
              <a:ext uri="{FF2B5EF4-FFF2-40B4-BE49-F238E27FC236}">
                <a16:creationId xmlns:a16="http://schemas.microsoft.com/office/drawing/2014/main" id="{A534CCD6-2301-8091-124A-334A2B61987B}"/>
              </a:ext>
            </a:extLst>
          </p:cNvPr>
          <p:cNvPicPr>
            <a:picLocks noChangeAspect="1"/>
          </p:cNvPicPr>
          <p:nvPr/>
        </p:nvPicPr>
        <p:blipFill>
          <a:blip r:embed="rId4"/>
          <a:stretch>
            <a:fillRect/>
          </a:stretch>
        </p:blipFill>
        <p:spPr>
          <a:xfrm>
            <a:off x="3706824" y="3429000"/>
            <a:ext cx="3508555" cy="3056186"/>
          </a:xfrm>
          <a:prstGeom prst="rect">
            <a:avLst/>
          </a:prstGeom>
        </p:spPr>
      </p:pic>
      <p:sp>
        <p:nvSpPr>
          <p:cNvPr id="12" name="ZoneTexte 11">
            <a:extLst>
              <a:ext uri="{FF2B5EF4-FFF2-40B4-BE49-F238E27FC236}">
                <a16:creationId xmlns:a16="http://schemas.microsoft.com/office/drawing/2014/main" id="{674AF09A-839D-A854-17FA-D22E276A2968}"/>
              </a:ext>
            </a:extLst>
          </p:cNvPr>
          <p:cNvSpPr txBox="1"/>
          <p:nvPr/>
        </p:nvSpPr>
        <p:spPr>
          <a:xfrm>
            <a:off x="323528" y="5315318"/>
            <a:ext cx="715260" cy="369332"/>
          </a:xfrm>
          <a:prstGeom prst="rect">
            <a:avLst/>
          </a:prstGeom>
          <a:noFill/>
        </p:spPr>
        <p:txBody>
          <a:bodyPr wrap="none" rtlCol="0">
            <a:spAutoFit/>
          </a:bodyPr>
          <a:lstStyle/>
          <a:p>
            <a:r>
              <a:rPr lang="fr-FR" dirty="0"/>
              <a:t>Linux</a:t>
            </a:r>
          </a:p>
        </p:txBody>
      </p:sp>
      <p:sp>
        <p:nvSpPr>
          <p:cNvPr id="13" name="ZoneTexte 12">
            <a:extLst>
              <a:ext uri="{FF2B5EF4-FFF2-40B4-BE49-F238E27FC236}">
                <a16:creationId xmlns:a16="http://schemas.microsoft.com/office/drawing/2014/main" id="{B4D28EDD-625A-4809-05B5-61A74DA9671E}"/>
              </a:ext>
            </a:extLst>
          </p:cNvPr>
          <p:cNvSpPr txBox="1"/>
          <p:nvPr/>
        </p:nvSpPr>
        <p:spPr>
          <a:xfrm>
            <a:off x="4499992" y="6381328"/>
            <a:ext cx="1122423" cy="369332"/>
          </a:xfrm>
          <a:prstGeom prst="rect">
            <a:avLst/>
          </a:prstGeom>
          <a:noFill/>
        </p:spPr>
        <p:txBody>
          <a:bodyPr wrap="none" rtlCol="0">
            <a:spAutoFit/>
          </a:bodyPr>
          <a:lstStyle/>
          <a:p>
            <a:r>
              <a:rPr lang="fr-FR" dirty="0"/>
              <a:t>Windows</a:t>
            </a:r>
          </a:p>
        </p:txBody>
      </p:sp>
    </p:spTree>
    <p:extLst>
      <p:ext uri="{BB962C8B-B14F-4D97-AF65-F5344CB8AC3E}">
        <p14:creationId xmlns:p14="http://schemas.microsoft.com/office/powerpoint/2010/main" val="379552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p:bldP spid="1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69B90-FD18-CDB0-5B01-851719EC3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7152E-FB84-1C1E-3B25-19748CCA98A6}"/>
              </a:ext>
            </a:extLst>
          </p:cNvPr>
          <p:cNvSpPr>
            <a:spLocks noGrp="1"/>
          </p:cNvSpPr>
          <p:nvPr>
            <p:ph type="title"/>
          </p:nvPr>
        </p:nvSpPr>
        <p:spPr/>
        <p:txBody>
          <a:bodyPr/>
          <a:lstStyle/>
          <a:p>
            <a:r>
              <a:rPr lang="en-US" dirty="0"/>
              <a:t>Question 10 </a:t>
            </a:r>
          </a:p>
        </p:txBody>
      </p:sp>
      <p:sp>
        <p:nvSpPr>
          <p:cNvPr id="3" name="Content Placeholder 2">
            <a:extLst>
              <a:ext uri="{FF2B5EF4-FFF2-40B4-BE49-F238E27FC236}">
                <a16:creationId xmlns:a16="http://schemas.microsoft.com/office/drawing/2014/main" id="{F60A005C-CFDE-95E1-15E2-C389AF1A7FBB}"/>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Vous souhaitez </a:t>
            </a:r>
            <a:r>
              <a:rPr lang="fr-FR" sz="2400" b="1" dirty="0"/>
              <a:t>stocker une configuration sensible (clé API)</a:t>
            </a:r>
            <a:r>
              <a:rPr lang="fr-FR" sz="2400" dirty="0"/>
              <a:t> et la récupérer dans votre Web App </a:t>
            </a:r>
            <a:r>
              <a:rPr lang="fr-FR" sz="2400" b="1" dirty="0"/>
              <a:t>sans l'exposer dans le code ou dans les variables d’environnement</a:t>
            </a:r>
            <a:r>
              <a:rPr lang="fr-FR" sz="2400" dirty="0"/>
              <a:t>.</a:t>
            </a:r>
          </a:p>
          <a:p>
            <a:pPr marL="0" indent="0">
              <a:buNone/>
            </a:pPr>
            <a:r>
              <a:rPr lang="fr-FR" sz="2400" dirty="0"/>
              <a:t>Quelle solution Azure recommandez-vous ?</a:t>
            </a:r>
          </a:p>
          <a:p>
            <a:pPr>
              <a:buFont typeface="+mj-lt"/>
              <a:buAutoNum type="arabicPeriod"/>
            </a:pPr>
            <a:r>
              <a:rPr lang="fr-FR" sz="2400" dirty="0"/>
              <a:t>Azure Storage</a:t>
            </a:r>
          </a:p>
          <a:p>
            <a:pPr>
              <a:buFont typeface="+mj-lt"/>
              <a:buAutoNum type="arabicPeriod"/>
            </a:pPr>
            <a:r>
              <a:rPr lang="fr-FR" sz="2400" dirty="0"/>
              <a:t>Azure App Configuration</a:t>
            </a:r>
          </a:p>
          <a:p>
            <a:pPr>
              <a:buFont typeface="+mj-lt"/>
              <a:buAutoNum type="arabicPeriod"/>
            </a:pPr>
            <a:r>
              <a:rPr lang="fr-FR" sz="2400" dirty="0"/>
              <a:t>Azure Key Vault</a:t>
            </a:r>
          </a:p>
          <a:p>
            <a:pPr>
              <a:buFont typeface="+mj-lt"/>
              <a:buAutoNum type="arabicPeriod"/>
            </a:pPr>
            <a:r>
              <a:rPr lang="fr-FR" sz="2400" dirty="0"/>
              <a:t>Azure Monitor</a:t>
            </a:r>
          </a:p>
          <a:p>
            <a:pPr marL="0" indent="0">
              <a:buNone/>
            </a:pPr>
            <a:endParaRPr lang="fr-FR" sz="2400" dirty="0"/>
          </a:p>
        </p:txBody>
      </p:sp>
      <p:sp>
        <p:nvSpPr>
          <p:cNvPr id="4" name="ZoneTexte 3">
            <a:extLst>
              <a:ext uri="{FF2B5EF4-FFF2-40B4-BE49-F238E27FC236}">
                <a16:creationId xmlns:a16="http://schemas.microsoft.com/office/drawing/2014/main" id="{01463FCA-4873-9838-344B-79F389AA7535}"/>
              </a:ext>
            </a:extLst>
          </p:cNvPr>
          <p:cNvSpPr txBox="1"/>
          <p:nvPr/>
        </p:nvSpPr>
        <p:spPr>
          <a:xfrm>
            <a:off x="7668344" y="3801814"/>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F849B0ED-8C78-E68F-34E7-7DE32B1B5039}"/>
              </a:ext>
            </a:extLst>
          </p:cNvPr>
          <p:cNvSpPr txBox="1"/>
          <p:nvPr/>
        </p:nvSpPr>
        <p:spPr>
          <a:xfrm>
            <a:off x="2411760" y="4870842"/>
            <a:ext cx="3675622" cy="1754326"/>
          </a:xfrm>
          <a:prstGeom prst="rect">
            <a:avLst/>
          </a:prstGeom>
          <a:noFill/>
        </p:spPr>
        <p:txBody>
          <a:bodyPr wrap="none" rtlCol="0">
            <a:spAutoFit/>
          </a:bodyPr>
          <a:lstStyle/>
          <a:p>
            <a:r>
              <a:rPr lang="fr-FR" dirty="0"/>
              <a:t>Azure Key Vault</a:t>
            </a:r>
          </a:p>
          <a:p>
            <a:r>
              <a:rPr lang="fr-FR" b="1" dirty="0"/>
              <a:t>Key Vault</a:t>
            </a:r>
            <a:r>
              <a:rPr lang="fr-FR" dirty="0"/>
              <a:t> est conçu pour stocker :</a:t>
            </a:r>
          </a:p>
          <a:p>
            <a:r>
              <a:rPr lang="fr-FR" dirty="0"/>
              <a:t>secrets</a:t>
            </a:r>
          </a:p>
          <a:p>
            <a:r>
              <a:rPr lang="fr-FR" dirty="0"/>
              <a:t>clés</a:t>
            </a:r>
          </a:p>
          <a:p>
            <a:r>
              <a:rPr lang="fr-FR" dirty="0"/>
              <a:t>certificats</a:t>
            </a:r>
          </a:p>
          <a:p>
            <a:endParaRPr lang="fr-FR" dirty="0"/>
          </a:p>
        </p:txBody>
      </p:sp>
    </p:spTree>
    <p:extLst>
      <p:ext uri="{BB962C8B-B14F-4D97-AF65-F5344CB8AC3E}">
        <p14:creationId xmlns:p14="http://schemas.microsoft.com/office/powerpoint/2010/main" val="126679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099D9-A02C-3BB5-CCB5-AB964F1548AD}"/>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86D52D1-A733-759F-2BE1-82798DF27602}"/>
              </a:ext>
            </a:extLst>
          </p:cNvPr>
          <p:cNvSpPr>
            <a:spLocks noGrp="1"/>
          </p:cNvSpPr>
          <p:nvPr>
            <p:ph type="body" sz="quarter" idx="11"/>
          </p:nvPr>
        </p:nvSpPr>
        <p:spPr/>
        <p:txBody>
          <a:bodyPr/>
          <a:lstStyle/>
          <a:p>
            <a:r>
              <a:rPr lang="fr-FR" dirty="0"/>
              <a:t>Quiz 5</a:t>
            </a:r>
          </a:p>
        </p:txBody>
      </p:sp>
      <p:sp>
        <p:nvSpPr>
          <p:cNvPr id="3" name="Espace réservé du texte 2">
            <a:extLst>
              <a:ext uri="{FF2B5EF4-FFF2-40B4-BE49-F238E27FC236}">
                <a16:creationId xmlns:a16="http://schemas.microsoft.com/office/drawing/2014/main" id="{81C99DD1-78E5-0522-7E2F-AAB342199402}"/>
              </a:ext>
            </a:extLst>
          </p:cNvPr>
          <p:cNvSpPr>
            <a:spLocks noGrp="1"/>
          </p:cNvSpPr>
          <p:nvPr>
            <p:ph type="body" sz="quarter" idx="12"/>
          </p:nvPr>
        </p:nvSpPr>
        <p:spPr/>
        <p:txBody>
          <a:bodyPr/>
          <a:lstStyle/>
          <a:p>
            <a:r>
              <a:rPr lang="fr-FR" dirty="0"/>
              <a:t>Azure SQL</a:t>
            </a:r>
          </a:p>
        </p:txBody>
      </p:sp>
    </p:spTree>
    <p:extLst>
      <p:ext uri="{BB962C8B-B14F-4D97-AF65-F5344CB8AC3E}">
        <p14:creationId xmlns:p14="http://schemas.microsoft.com/office/powerpoint/2010/main" val="16650706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A1ECA-B302-7323-09BA-6F98B32ED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73464-84C5-55E6-5431-F9290202C729}"/>
              </a:ext>
            </a:extLst>
          </p:cNvPr>
          <p:cNvSpPr>
            <a:spLocks noGrp="1"/>
          </p:cNvSpPr>
          <p:nvPr>
            <p:ph type="title"/>
          </p:nvPr>
        </p:nvSpPr>
        <p:spPr/>
        <p:txBody>
          <a:bodyPr/>
          <a:lstStyle/>
          <a:p>
            <a:r>
              <a:rPr lang="en-US" dirty="0"/>
              <a:t>Question 1 </a:t>
            </a:r>
          </a:p>
        </p:txBody>
      </p:sp>
      <p:sp>
        <p:nvSpPr>
          <p:cNvPr id="3" name="Content Placeholder 2">
            <a:extLst>
              <a:ext uri="{FF2B5EF4-FFF2-40B4-BE49-F238E27FC236}">
                <a16:creationId xmlns:a16="http://schemas.microsoft.com/office/drawing/2014/main" id="{528CA46D-7BF1-15CA-C698-CA93083474DC}"/>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Qu’est-ce qu’un Azure SQL </a:t>
            </a:r>
            <a:r>
              <a:rPr lang="fr-FR" sz="2400" dirty="0" err="1"/>
              <a:t>Logical</a:t>
            </a:r>
            <a:r>
              <a:rPr lang="fr-FR" sz="2400" dirty="0"/>
              <a:t> Server ?</a:t>
            </a:r>
          </a:p>
          <a:p>
            <a:pPr>
              <a:buFont typeface="+mj-lt"/>
              <a:buAutoNum type="arabicPeriod"/>
            </a:pPr>
            <a:r>
              <a:rPr lang="fr-FR" sz="2400" dirty="0"/>
              <a:t>Une base de données</a:t>
            </a:r>
          </a:p>
          <a:p>
            <a:pPr>
              <a:buFont typeface="+mj-lt"/>
              <a:buAutoNum type="arabicPeriod"/>
            </a:pPr>
            <a:r>
              <a:rPr lang="fr-FR" sz="2400" dirty="0"/>
              <a:t>Un serveur physique</a:t>
            </a:r>
          </a:p>
          <a:p>
            <a:pPr>
              <a:buFont typeface="+mj-lt"/>
              <a:buAutoNum type="arabicPeriod"/>
            </a:pPr>
            <a:r>
              <a:rPr lang="fr-FR" sz="2400" dirty="0"/>
              <a:t>Une instance logique qui héberge des bases</a:t>
            </a:r>
          </a:p>
          <a:p>
            <a:pPr>
              <a:buFont typeface="+mj-lt"/>
              <a:buAutoNum type="arabicPeriod"/>
            </a:pPr>
            <a:r>
              <a:rPr lang="fr-FR" sz="2400" dirty="0"/>
              <a:t>Un cluster </a:t>
            </a:r>
            <a:r>
              <a:rPr lang="fr-FR" sz="2400" dirty="0" err="1"/>
              <a:t>Kubernetes</a:t>
            </a:r>
            <a:endParaRPr lang="fr-FR" sz="2400" dirty="0"/>
          </a:p>
          <a:p>
            <a:pPr marL="0" indent="0">
              <a:buNone/>
            </a:pPr>
            <a:endParaRPr lang="fr-FR" sz="2400" dirty="0"/>
          </a:p>
        </p:txBody>
      </p:sp>
      <p:sp>
        <p:nvSpPr>
          <p:cNvPr id="4" name="ZoneTexte 3">
            <a:extLst>
              <a:ext uri="{FF2B5EF4-FFF2-40B4-BE49-F238E27FC236}">
                <a16:creationId xmlns:a16="http://schemas.microsoft.com/office/drawing/2014/main" id="{D526C025-123D-158D-BFD2-36C61C1F8E19}"/>
              </a:ext>
            </a:extLst>
          </p:cNvPr>
          <p:cNvSpPr txBox="1"/>
          <p:nvPr/>
        </p:nvSpPr>
        <p:spPr>
          <a:xfrm>
            <a:off x="7668344" y="3801814"/>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80644ACC-3373-302E-7E5C-F6B56DB1B5DB}"/>
              </a:ext>
            </a:extLst>
          </p:cNvPr>
          <p:cNvSpPr txBox="1"/>
          <p:nvPr/>
        </p:nvSpPr>
        <p:spPr>
          <a:xfrm>
            <a:off x="-33713" y="2420888"/>
            <a:ext cx="557808" cy="369332"/>
          </a:xfrm>
          <a:prstGeom prst="rect">
            <a:avLst/>
          </a:prstGeom>
          <a:noFill/>
        </p:spPr>
        <p:txBody>
          <a:bodyPr wrap="square">
            <a:spAutoFit/>
          </a:bodyPr>
          <a:lstStyle/>
          <a:p>
            <a:r>
              <a:rPr lang="fr-FR" b="1"/>
              <a:t>✅</a:t>
            </a:r>
            <a:endParaRPr lang="fr-FR" dirty="0"/>
          </a:p>
        </p:txBody>
      </p:sp>
      <p:sp>
        <p:nvSpPr>
          <p:cNvPr id="6" name="ZoneTexte 5">
            <a:extLst>
              <a:ext uri="{FF2B5EF4-FFF2-40B4-BE49-F238E27FC236}">
                <a16:creationId xmlns:a16="http://schemas.microsoft.com/office/drawing/2014/main" id="{8CE4989C-0213-6C42-82B6-64AA112BBAC3}"/>
              </a:ext>
            </a:extLst>
          </p:cNvPr>
          <p:cNvSpPr txBox="1"/>
          <p:nvPr/>
        </p:nvSpPr>
        <p:spPr>
          <a:xfrm>
            <a:off x="1403648" y="4941168"/>
            <a:ext cx="3315523" cy="369332"/>
          </a:xfrm>
          <a:prstGeom prst="rect">
            <a:avLst/>
          </a:prstGeom>
          <a:noFill/>
        </p:spPr>
        <p:txBody>
          <a:bodyPr wrap="none" rtlCol="0">
            <a:spAutoFit/>
          </a:bodyPr>
          <a:lstStyle/>
          <a:p>
            <a:r>
              <a:rPr lang="fr-FR" dirty="0"/>
              <a:t>Il contient plusieurs bases SQL.</a:t>
            </a:r>
          </a:p>
        </p:txBody>
      </p:sp>
    </p:spTree>
    <p:extLst>
      <p:ext uri="{BB962C8B-B14F-4D97-AF65-F5344CB8AC3E}">
        <p14:creationId xmlns:p14="http://schemas.microsoft.com/office/powerpoint/2010/main" val="311971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103C1-2188-2E93-BD3E-6E681D15D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649D2-E9A0-3F67-4E6B-41AD07AB0B98}"/>
              </a:ext>
            </a:extLst>
          </p:cNvPr>
          <p:cNvSpPr>
            <a:spLocks noGrp="1"/>
          </p:cNvSpPr>
          <p:nvPr>
            <p:ph type="title"/>
          </p:nvPr>
        </p:nvSpPr>
        <p:spPr/>
        <p:txBody>
          <a:bodyPr/>
          <a:lstStyle/>
          <a:p>
            <a:r>
              <a:rPr lang="en-US" dirty="0"/>
              <a:t>Question 2 </a:t>
            </a:r>
          </a:p>
        </p:txBody>
      </p:sp>
      <p:sp>
        <p:nvSpPr>
          <p:cNvPr id="3" name="Content Placeholder 2">
            <a:extLst>
              <a:ext uri="{FF2B5EF4-FFF2-40B4-BE49-F238E27FC236}">
                <a16:creationId xmlns:a16="http://schemas.microsoft.com/office/drawing/2014/main" id="{0A1ECFCF-FF49-B907-8BC9-4918E321CE7A}"/>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 contient une Azure SQL </a:t>
            </a:r>
            <a:r>
              <a:rPr lang="fr-FR" sz="2400" dirty="0" err="1"/>
              <a:t>Database</a:t>
            </a:r>
            <a:r>
              <a:rPr lang="fr-FR" sz="2400" dirty="0"/>
              <a:t> ?</a:t>
            </a:r>
          </a:p>
          <a:p>
            <a:pPr>
              <a:buFont typeface="+mj-lt"/>
              <a:buAutoNum type="arabicPeriod"/>
            </a:pPr>
            <a:r>
              <a:rPr lang="fr-FR" sz="2400" dirty="0"/>
              <a:t>Des serveurs</a:t>
            </a:r>
          </a:p>
          <a:p>
            <a:pPr>
              <a:buFont typeface="+mj-lt"/>
              <a:buAutoNum type="arabicPeriod"/>
            </a:pPr>
            <a:r>
              <a:rPr lang="fr-FR" sz="2400" dirty="0"/>
              <a:t>Des VM</a:t>
            </a:r>
          </a:p>
          <a:p>
            <a:pPr>
              <a:buFont typeface="+mj-lt"/>
              <a:buAutoNum type="arabicPeriod"/>
            </a:pPr>
            <a:r>
              <a:rPr lang="fr-FR" sz="2400" dirty="0"/>
              <a:t>Des conteneurs</a:t>
            </a:r>
          </a:p>
          <a:p>
            <a:pPr>
              <a:buFont typeface="+mj-lt"/>
              <a:buAutoNum type="arabicPeriod"/>
            </a:pPr>
            <a:r>
              <a:rPr lang="fr-FR" sz="2400" dirty="0"/>
              <a:t>Des tables et données</a:t>
            </a:r>
          </a:p>
          <a:p>
            <a:pPr marL="0" indent="0">
              <a:buNone/>
            </a:pPr>
            <a:endParaRPr lang="fr-FR" sz="2400" dirty="0"/>
          </a:p>
          <a:p>
            <a:pPr marL="0" indent="0">
              <a:buNone/>
            </a:pPr>
            <a:endParaRPr lang="fr-FR" sz="2400" dirty="0"/>
          </a:p>
        </p:txBody>
      </p:sp>
      <p:sp>
        <p:nvSpPr>
          <p:cNvPr id="4" name="ZoneTexte 3">
            <a:extLst>
              <a:ext uri="{FF2B5EF4-FFF2-40B4-BE49-F238E27FC236}">
                <a16:creationId xmlns:a16="http://schemas.microsoft.com/office/drawing/2014/main" id="{AD78096C-60BD-5A11-DC18-0B25BA010E3D}"/>
              </a:ext>
            </a:extLst>
          </p:cNvPr>
          <p:cNvSpPr txBox="1"/>
          <p:nvPr/>
        </p:nvSpPr>
        <p:spPr>
          <a:xfrm>
            <a:off x="7668344" y="3801814"/>
            <a:ext cx="1230465" cy="646331"/>
          </a:xfrm>
          <a:prstGeom prst="rect">
            <a:avLst/>
          </a:prstGeom>
          <a:noFill/>
        </p:spPr>
        <p:txBody>
          <a:bodyPr wrap="none" rtlCol="0">
            <a:spAutoFit/>
          </a:bodyPr>
          <a:lstStyle/>
          <a:p>
            <a:r>
              <a:rPr lang="fr-FR" b="1" u="sng" dirty="0"/>
              <a:t>Réponse :</a:t>
            </a:r>
          </a:p>
          <a:p>
            <a:r>
              <a:rPr lang="fr-FR" dirty="0"/>
              <a:t>4</a:t>
            </a:r>
          </a:p>
        </p:txBody>
      </p:sp>
      <p:sp>
        <p:nvSpPr>
          <p:cNvPr id="5" name="ZoneTexte 4">
            <a:extLst>
              <a:ext uri="{FF2B5EF4-FFF2-40B4-BE49-F238E27FC236}">
                <a16:creationId xmlns:a16="http://schemas.microsoft.com/office/drawing/2014/main" id="{3345D6DE-E143-CED6-C070-803980518278}"/>
              </a:ext>
            </a:extLst>
          </p:cNvPr>
          <p:cNvSpPr txBox="1"/>
          <p:nvPr/>
        </p:nvSpPr>
        <p:spPr>
          <a:xfrm>
            <a:off x="0" y="2852936"/>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317547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D534E-E096-21C6-D780-B7309CB1E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7AA7E-D1AE-19CC-D8B5-0C035FDA59F0}"/>
              </a:ext>
            </a:extLst>
          </p:cNvPr>
          <p:cNvSpPr>
            <a:spLocks noGrp="1"/>
          </p:cNvSpPr>
          <p:nvPr>
            <p:ph type="title"/>
          </p:nvPr>
        </p:nvSpPr>
        <p:spPr/>
        <p:txBody>
          <a:bodyPr/>
          <a:lstStyle/>
          <a:p>
            <a:r>
              <a:rPr lang="en-US" dirty="0"/>
              <a:t>Question 3 </a:t>
            </a:r>
          </a:p>
        </p:txBody>
      </p:sp>
      <p:sp>
        <p:nvSpPr>
          <p:cNvPr id="3" name="Content Placeholder 2">
            <a:extLst>
              <a:ext uri="{FF2B5EF4-FFF2-40B4-BE49-F238E27FC236}">
                <a16:creationId xmlns:a16="http://schemas.microsoft.com/office/drawing/2014/main" id="{E2A78886-0B96-C6BD-D1B2-B77CA0F57CC1}"/>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000" dirty="0"/>
              <a:t>Vous déployez une application Azure Web App qui doit se connecter à une Azure SQL </a:t>
            </a:r>
            <a:r>
              <a:rPr lang="fr-FR" sz="2000" dirty="0" err="1"/>
              <a:t>Database</a:t>
            </a:r>
            <a:r>
              <a:rPr lang="fr-FR" sz="2000" dirty="0"/>
              <a:t> nouvellement créée.</a:t>
            </a:r>
          </a:p>
          <a:p>
            <a:pPr marL="0" indent="0">
              <a:buNone/>
            </a:pPr>
            <a:r>
              <a:rPr lang="fr-FR" sz="2000" dirty="0"/>
              <a:t>Malgré une chaîne de connexion correcte, la connexion échoue.</a:t>
            </a:r>
          </a:p>
          <a:p>
            <a:pPr marL="0" indent="0">
              <a:buNone/>
            </a:pPr>
            <a:r>
              <a:rPr lang="fr-FR" sz="2000" dirty="0"/>
              <a:t>Quelle est l’explication la plus probable ET la bonne action à effectuer ?</a:t>
            </a:r>
          </a:p>
          <a:p>
            <a:pPr>
              <a:buFont typeface="+mj-lt"/>
              <a:buAutoNum type="arabicPeriod"/>
            </a:pPr>
            <a:r>
              <a:rPr lang="fr-FR" sz="2000" dirty="0"/>
              <a:t>Le mot de passe SQL est incorrect → Le réinitialiser dans Azure</a:t>
            </a:r>
          </a:p>
          <a:p>
            <a:pPr>
              <a:buFont typeface="+mj-lt"/>
              <a:buAutoNum type="arabicPeriod"/>
            </a:pPr>
            <a:r>
              <a:rPr lang="fr-FR" sz="2000" dirty="0"/>
              <a:t>Azure SQL n’accepte pas les connexions externes par défaut → Configurer le firewall pour autoriser l’IP ou activer “</a:t>
            </a:r>
            <a:r>
              <a:rPr lang="fr-FR" sz="2000" dirty="0" err="1"/>
              <a:t>Allow</a:t>
            </a:r>
            <a:r>
              <a:rPr lang="fr-FR" sz="2000" dirty="0"/>
              <a:t> Azure services”</a:t>
            </a:r>
          </a:p>
          <a:p>
            <a:pPr>
              <a:buFont typeface="+mj-lt"/>
              <a:buAutoNum type="arabicPeriod"/>
            </a:pPr>
            <a:r>
              <a:rPr lang="fr-FR" sz="2000" dirty="0"/>
              <a:t>La base de données n’est pas démarrée → Redémarrer le serveur SQL</a:t>
            </a:r>
          </a:p>
          <a:p>
            <a:pPr>
              <a:buFont typeface="+mj-lt"/>
              <a:buAutoNum type="arabicPeriod"/>
            </a:pPr>
            <a:r>
              <a:rPr lang="fr-FR" sz="2000" dirty="0"/>
              <a:t>La Web App ne peut pas accéder à Azure SQL sans </a:t>
            </a:r>
            <a:r>
              <a:rPr lang="fr-FR" sz="2000" dirty="0" err="1"/>
              <a:t>VNet</a:t>
            </a:r>
            <a:r>
              <a:rPr lang="fr-FR" sz="2000" dirty="0"/>
              <a:t> → Configurer une </a:t>
            </a:r>
            <a:r>
              <a:rPr lang="fr-FR" sz="2000" dirty="0" err="1"/>
              <a:t>VNet</a:t>
            </a:r>
            <a:r>
              <a:rPr lang="fr-FR" sz="2000" dirty="0"/>
              <a:t> </a:t>
            </a:r>
            <a:r>
              <a:rPr lang="fr-FR" sz="2000" dirty="0" err="1"/>
              <a:t>Integration</a:t>
            </a:r>
            <a:endParaRPr lang="fr-FR" sz="2000" dirty="0"/>
          </a:p>
          <a:p>
            <a:pPr marL="0" indent="0">
              <a:buNone/>
            </a:pPr>
            <a:endParaRPr lang="fr-FR" sz="2400" dirty="0"/>
          </a:p>
        </p:txBody>
      </p:sp>
      <p:sp>
        <p:nvSpPr>
          <p:cNvPr id="4" name="ZoneTexte 3">
            <a:extLst>
              <a:ext uri="{FF2B5EF4-FFF2-40B4-BE49-F238E27FC236}">
                <a16:creationId xmlns:a16="http://schemas.microsoft.com/office/drawing/2014/main" id="{57C0D56A-C757-D2E2-FA09-8B3A14D76AA0}"/>
              </a:ext>
            </a:extLst>
          </p:cNvPr>
          <p:cNvSpPr txBox="1"/>
          <p:nvPr/>
        </p:nvSpPr>
        <p:spPr>
          <a:xfrm>
            <a:off x="7812360" y="4869160"/>
            <a:ext cx="1230465" cy="646331"/>
          </a:xfrm>
          <a:prstGeom prst="rect">
            <a:avLst/>
          </a:prstGeom>
          <a:noFill/>
        </p:spPr>
        <p:txBody>
          <a:bodyPr wrap="none" rtlCol="0">
            <a:spAutoFit/>
          </a:bodyPr>
          <a:lstStyle/>
          <a:p>
            <a:r>
              <a:rPr lang="fr-FR" b="1" u="sng" dirty="0"/>
              <a:t>Réponse :</a:t>
            </a:r>
          </a:p>
          <a:p>
            <a:r>
              <a:rPr lang="fr-FR" dirty="0"/>
              <a:t>2</a:t>
            </a:r>
          </a:p>
        </p:txBody>
      </p:sp>
      <p:sp>
        <p:nvSpPr>
          <p:cNvPr id="5" name="ZoneTexte 4">
            <a:extLst>
              <a:ext uri="{FF2B5EF4-FFF2-40B4-BE49-F238E27FC236}">
                <a16:creationId xmlns:a16="http://schemas.microsoft.com/office/drawing/2014/main" id="{AA362067-425E-DE2E-82F0-ED2A0E63F46A}"/>
              </a:ext>
            </a:extLst>
          </p:cNvPr>
          <p:cNvSpPr txBox="1"/>
          <p:nvPr/>
        </p:nvSpPr>
        <p:spPr>
          <a:xfrm>
            <a:off x="0" y="2852936"/>
            <a:ext cx="557808" cy="369332"/>
          </a:xfrm>
          <a:prstGeom prst="rect">
            <a:avLst/>
          </a:prstGeom>
          <a:noFill/>
        </p:spPr>
        <p:txBody>
          <a:bodyPr wrap="square">
            <a:spAutoFit/>
          </a:bodyPr>
          <a:lstStyle/>
          <a:p>
            <a:r>
              <a:rPr lang="fr-FR" b="1" dirty="0"/>
              <a:t>✅</a:t>
            </a:r>
            <a:endParaRPr lang="fr-FR" dirty="0"/>
          </a:p>
        </p:txBody>
      </p:sp>
      <p:sp>
        <p:nvSpPr>
          <p:cNvPr id="8" name="ZoneTexte 7">
            <a:extLst>
              <a:ext uri="{FF2B5EF4-FFF2-40B4-BE49-F238E27FC236}">
                <a16:creationId xmlns:a16="http://schemas.microsoft.com/office/drawing/2014/main" id="{7D1E3881-02F9-2A5C-A5B1-ACAE93D45FCB}"/>
              </a:ext>
            </a:extLst>
          </p:cNvPr>
          <p:cNvSpPr txBox="1"/>
          <p:nvPr/>
        </p:nvSpPr>
        <p:spPr>
          <a:xfrm>
            <a:off x="278525" y="5380672"/>
            <a:ext cx="7404463" cy="1477328"/>
          </a:xfrm>
          <a:prstGeom prst="rect">
            <a:avLst/>
          </a:prstGeom>
          <a:noFill/>
        </p:spPr>
        <p:txBody>
          <a:bodyPr wrap="none" rtlCol="0">
            <a:spAutoFit/>
          </a:bodyPr>
          <a:lstStyle/>
          <a:p>
            <a:r>
              <a:rPr lang="fr-FR" dirty="0"/>
              <a:t>Par défaut, Azure SQL est protégé par un firewall</a:t>
            </a:r>
          </a:p>
          <a:p>
            <a:r>
              <a:rPr lang="fr-FR" dirty="0"/>
              <a:t>Toutes les connexions sont refusées sauf celles explicitement autorisées</a:t>
            </a:r>
          </a:p>
          <a:p>
            <a:r>
              <a:rPr lang="fr-FR" dirty="0"/>
              <a:t>Il faut :</a:t>
            </a:r>
          </a:p>
          <a:p>
            <a:pPr marL="285750" indent="-285750">
              <a:buFontTx/>
              <a:buChar char="-"/>
            </a:pPr>
            <a:r>
              <a:rPr lang="fr-FR" dirty="0"/>
              <a:t>autoriser l’IP cliente</a:t>
            </a:r>
          </a:p>
          <a:p>
            <a:pPr marL="285750" indent="-285750">
              <a:buFontTx/>
              <a:buChar char="-"/>
            </a:pPr>
            <a:r>
              <a:rPr lang="fr-FR" dirty="0"/>
              <a:t>ou activer “</a:t>
            </a:r>
            <a:r>
              <a:rPr lang="fr-FR" dirty="0" err="1"/>
              <a:t>Allow</a:t>
            </a:r>
            <a:r>
              <a:rPr lang="fr-FR" dirty="0"/>
              <a:t> Azure services and </a:t>
            </a:r>
            <a:r>
              <a:rPr lang="fr-FR" dirty="0" err="1"/>
              <a:t>resources</a:t>
            </a:r>
            <a:r>
              <a:rPr lang="fr-FR" dirty="0"/>
              <a:t>”</a:t>
            </a:r>
          </a:p>
        </p:txBody>
      </p:sp>
    </p:spTree>
    <p:extLst>
      <p:ext uri="{BB962C8B-B14F-4D97-AF65-F5344CB8AC3E}">
        <p14:creationId xmlns:p14="http://schemas.microsoft.com/office/powerpoint/2010/main" val="360031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4434-5BFA-1588-690B-61DDB7839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C02CD-94E6-E420-3702-A0732AC23F27}"/>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FB71BFCA-1991-FC40-7470-B95CAFC3A6D9}"/>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Une application hébergée dans </a:t>
            </a:r>
            <a:r>
              <a:rPr lang="fr-FR" sz="2400" b="1" dirty="0"/>
              <a:t>Azure App Service</a:t>
            </a:r>
            <a:r>
              <a:rPr lang="fr-FR" sz="2400" dirty="0"/>
              <a:t> doit accéder à une base </a:t>
            </a:r>
            <a:r>
              <a:rPr lang="fr-FR" sz="2400" b="1" dirty="0"/>
              <a:t>Azure SQL </a:t>
            </a:r>
            <a:r>
              <a:rPr lang="fr-FR" sz="2400" b="1" dirty="0" err="1"/>
              <a:t>Database</a:t>
            </a:r>
            <a:r>
              <a:rPr lang="fr-FR" sz="2400" dirty="0"/>
              <a:t>.</a:t>
            </a:r>
          </a:p>
          <a:p>
            <a:pPr marL="0" indent="0">
              <a:buNone/>
            </a:pPr>
            <a:r>
              <a:rPr lang="fr-FR" sz="2400" dirty="0"/>
              <a:t>Vous souhaitez que </a:t>
            </a:r>
            <a:r>
              <a:rPr lang="fr-FR" sz="2400" b="1" dirty="0"/>
              <a:t>la base de données ne soit plus accessible via son </a:t>
            </a:r>
            <a:r>
              <a:rPr lang="fr-FR" sz="2400" b="1" dirty="0" err="1"/>
              <a:t>endpoint</a:t>
            </a:r>
            <a:r>
              <a:rPr lang="fr-FR" sz="2400" b="1" dirty="0"/>
              <a:t> public</a:t>
            </a:r>
            <a:r>
              <a:rPr lang="fr-FR" sz="2400" dirty="0"/>
              <a:t> et que l’accès se fasse uniquement via une </a:t>
            </a:r>
            <a:r>
              <a:rPr lang="fr-FR" sz="2400" b="1" dirty="0"/>
              <a:t>adresse IP privée dans un </a:t>
            </a:r>
            <a:r>
              <a:rPr lang="fr-FR" sz="2400" b="1" dirty="0" err="1"/>
              <a:t>VNet</a:t>
            </a:r>
            <a:r>
              <a:rPr lang="fr-FR" sz="2400" dirty="0"/>
              <a:t>.</a:t>
            </a:r>
          </a:p>
          <a:p>
            <a:pPr marL="0" indent="0">
              <a:buNone/>
            </a:pPr>
            <a:r>
              <a:rPr lang="fr-FR" sz="2400" dirty="0"/>
              <a:t>Quelle fonctionnalité devez-vous utiliser ?</a:t>
            </a:r>
          </a:p>
          <a:p>
            <a:pPr>
              <a:buFont typeface="+mj-lt"/>
              <a:buAutoNum type="arabicPeriod"/>
            </a:pPr>
            <a:r>
              <a:rPr lang="fr-FR" sz="2400" dirty="0" err="1"/>
              <a:t>VNet</a:t>
            </a:r>
            <a:r>
              <a:rPr lang="fr-FR" sz="2400" dirty="0"/>
              <a:t> </a:t>
            </a:r>
            <a:r>
              <a:rPr lang="fr-FR" sz="2400" dirty="0" err="1"/>
              <a:t>Integration</a:t>
            </a:r>
            <a:endParaRPr lang="fr-FR" sz="2400" dirty="0"/>
          </a:p>
          <a:p>
            <a:pPr>
              <a:buFont typeface="+mj-lt"/>
              <a:buAutoNum type="arabicPeriod"/>
            </a:pPr>
            <a:r>
              <a:rPr lang="fr-FR" sz="2400" dirty="0" err="1"/>
              <a:t>Private</a:t>
            </a:r>
            <a:r>
              <a:rPr lang="fr-FR" sz="2400" dirty="0"/>
              <a:t> Endpoint</a:t>
            </a:r>
          </a:p>
          <a:p>
            <a:pPr>
              <a:buFont typeface="+mj-lt"/>
              <a:buAutoNum type="arabicPeriod"/>
            </a:pPr>
            <a:r>
              <a:rPr lang="fr-FR" sz="2400" dirty="0"/>
              <a:t>Azure Firewall</a:t>
            </a:r>
          </a:p>
          <a:p>
            <a:pPr>
              <a:buFont typeface="+mj-lt"/>
              <a:buAutoNum type="arabicPeriod"/>
            </a:pPr>
            <a:r>
              <a:rPr lang="fr-FR" sz="2400" dirty="0"/>
              <a:t>App Service </a:t>
            </a:r>
            <a:r>
              <a:rPr lang="fr-FR" sz="2400" dirty="0" err="1"/>
              <a:t>Environment</a:t>
            </a:r>
            <a:endParaRPr lang="fr-FR" sz="2400" dirty="0"/>
          </a:p>
          <a:p>
            <a:pPr marL="0" indent="0">
              <a:buNone/>
            </a:pPr>
            <a:endParaRPr lang="fr-FR" sz="2400" dirty="0"/>
          </a:p>
        </p:txBody>
      </p:sp>
      <p:pic>
        <p:nvPicPr>
          <p:cNvPr id="5" name="Image 4">
            <a:extLst>
              <a:ext uri="{FF2B5EF4-FFF2-40B4-BE49-F238E27FC236}">
                <a16:creationId xmlns:a16="http://schemas.microsoft.com/office/drawing/2014/main" id="{9BB573E9-2A20-1242-3B59-611F749268BE}"/>
              </a:ext>
            </a:extLst>
          </p:cNvPr>
          <p:cNvPicPr>
            <a:picLocks noChangeAspect="1"/>
          </p:cNvPicPr>
          <p:nvPr/>
        </p:nvPicPr>
        <p:blipFill>
          <a:blip r:embed="rId3"/>
          <a:stretch>
            <a:fillRect/>
          </a:stretch>
        </p:blipFill>
        <p:spPr>
          <a:xfrm>
            <a:off x="7345554" y="4148012"/>
            <a:ext cx="1437261" cy="1215728"/>
          </a:xfrm>
          <a:prstGeom prst="rect">
            <a:avLst/>
          </a:prstGeom>
        </p:spPr>
      </p:pic>
      <p:sp>
        <p:nvSpPr>
          <p:cNvPr id="6" name="ZoneTexte 5">
            <a:extLst>
              <a:ext uri="{FF2B5EF4-FFF2-40B4-BE49-F238E27FC236}">
                <a16:creationId xmlns:a16="http://schemas.microsoft.com/office/drawing/2014/main" id="{DAE43AA6-5090-BFFF-B3EF-458804C08FF4}"/>
              </a:ext>
            </a:extLst>
          </p:cNvPr>
          <p:cNvSpPr txBox="1"/>
          <p:nvPr/>
        </p:nvSpPr>
        <p:spPr>
          <a:xfrm>
            <a:off x="7236296" y="3422822"/>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7" name="ZoneTexte 6">
            <a:extLst>
              <a:ext uri="{FF2B5EF4-FFF2-40B4-BE49-F238E27FC236}">
                <a16:creationId xmlns:a16="http://schemas.microsoft.com/office/drawing/2014/main" id="{D2DDA4C9-A395-F721-4F8D-493FAFFAE6ED}"/>
              </a:ext>
            </a:extLst>
          </p:cNvPr>
          <p:cNvSpPr txBox="1"/>
          <p:nvPr/>
        </p:nvSpPr>
        <p:spPr>
          <a:xfrm>
            <a:off x="-27384" y="3976820"/>
            <a:ext cx="557808" cy="369332"/>
          </a:xfrm>
          <a:prstGeom prst="rect">
            <a:avLst/>
          </a:prstGeom>
          <a:noFill/>
        </p:spPr>
        <p:txBody>
          <a:bodyPr wrap="square">
            <a:spAutoFit/>
          </a:bodyPr>
          <a:lstStyle/>
          <a:p>
            <a:r>
              <a:rPr lang="fr-FR" b="1" dirty="0"/>
              <a:t>✅</a:t>
            </a:r>
            <a:endParaRPr lang="fr-FR" dirty="0"/>
          </a:p>
        </p:txBody>
      </p:sp>
      <p:sp>
        <p:nvSpPr>
          <p:cNvPr id="9" name="ZoneTexte 8">
            <a:extLst>
              <a:ext uri="{FF2B5EF4-FFF2-40B4-BE49-F238E27FC236}">
                <a16:creationId xmlns:a16="http://schemas.microsoft.com/office/drawing/2014/main" id="{87F83D85-5504-14E5-B2E6-14159DDA7D6E}"/>
              </a:ext>
            </a:extLst>
          </p:cNvPr>
          <p:cNvSpPr txBox="1"/>
          <p:nvPr/>
        </p:nvSpPr>
        <p:spPr>
          <a:xfrm>
            <a:off x="179512" y="5791200"/>
            <a:ext cx="8712968" cy="923330"/>
          </a:xfrm>
          <a:prstGeom prst="rect">
            <a:avLst/>
          </a:prstGeom>
          <a:noFill/>
        </p:spPr>
        <p:txBody>
          <a:bodyPr wrap="square">
            <a:spAutoFit/>
          </a:bodyPr>
          <a:lstStyle/>
          <a:p>
            <a:r>
              <a:rPr lang="fr-FR" dirty="0"/>
              <a:t>Le </a:t>
            </a:r>
            <a:r>
              <a:rPr lang="fr-FR" b="1" dirty="0" err="1"/>
              <a:t>Private</a:t>
            </a:r>
            <a:r>
              <a:rPr lang="fr-FR" b="1" dirty="0"/>
              <a:t> Endpoint</a:t>
            </a:r>
            <a:r>
              <a:rPr lang="fr-FR" dirty="0"/>
              <a:t> permet de créer une </a:t>
            </a:r>
            <a:r>
              <a:rPr lang="fr-FR" b="1" dirty="0"/>
              <a:t>IP privée dans un </a:t>
            </a:r>
            <a:r>
              <a:rPr lang="fr-FR" b="1" dirty="0" err="1"/>
              <a:t>Vnet</a:t>
            </a:r>
            <a:br>
              <a:rPr lang="fr-FR" b="1" dirty="0"/>
            </a:br>
            <a:r>
              <a:rPr lang="fr-FR" dirty="0" err="1"/>
              <a:t>Private</a:t>
            </a:r>
            <a:r>
              <a:rPr lang="fr-FR" dirty="0"/>
              <a:t> Endpoint protège la ressource.</a:t>
            </a:r>
            <a:br>
              <a:rPr lang="fr-FR" dirty="0"/>
            </a:br>
            <a:r>
              <a:rPr lang="fr-FR" dirty="0" err="1"/>
              <a:t>VNet</a:t>
            </a:r>
            <a:r>
              <a:rPr lang="fr-FR" dirty="0"/>
              <a:t> </a:t>
            </a:r>
            <a:r>
              <a:rPr lang="fr-FR" dirty="0" err="1"/>
              <a:t>Integration</a:t>
            </a:r>
            <a:r>
              <a:rPr lang="fr-FR" dirty="0"/>
              <a:t> permet à votre application d’y accéder.</a:t>
            </a:r>
          </a:p>
        </p:txBody>
      </p:sp>
    </p:spTree>
    <p:extLst>
      <p:ext uri="{BB962C8B-B14F-4D97-AF65-F5344CB8AC3E}">
        <p14:creationId xmlns:p14="http://schemas.microsoft.com/office/powerpoint/2010/main" val="356650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6B746-280E-8C29-B228-B60490398B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82455-7BE0-15CA-0907-51DB85E73496}"/>
              </a:ext>
            </a:extLst>
          </p:cNvPr>
          <p:cNvSpPr>
            <a:spLocks noGrp="1"/>
          </p:cNvSpPr>
          <p:nvPr>
            <p:ph type="title"/>
          </p:nvPr>
        </p:nvSpPr>
        <p:spPr/>
        <p:txBody>
          <a:bodyPr/>
          <a:lstStyle/>
          <a:p>
            <a:r>
              <a:rPr lang="en-US" dirty="0"/>
              <a:t>Question 5</a:t>
            </a:r>
          </a:p>
        </p:txBody>
      </p:sp>
      <p:sp>
        <p:nvSpPr>
          <p:cNvPr id="3" name="Content Placeholder 2">
            <a:extLst>
              <a:ext uri="{FF2B5EF4-FFF2-40B4-BE49-F238E27FC236}">
                <a16:creationId xmlns:a16="http://schemas.microsoft.com/office/drawing/2014/main" id="{43F0C233-F6C5-F988-C9C4-4CBD9659FF6D}"/>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Une base Azure SQL est dans un autre Resource Group.</a:t>
            </a:r>
          </a:p>
          <a:p>
            <a:pPr marL="0" indent="0">
              <a:buNone/>
            </a:pPr>
            <a:r>
              <a:rPr lang="fr-FR" sz="2400" dirty="0"/>
              <a:t>Votre Web App ne peut pas s’y connecter.</a:t>
            </a:r>
          </a:p>
          <a:p>
            <a:pPr marL="0" indent="0">
              <a:buNone/>
            </a:pPr>
            <a:r>
              <a:rPr lang="fr-FR" sz="2400" dirty="0"/>
              <a:t>Pourquoi ?</a:t>
            </a:r>
          </a:p>
          <a:p>
            <a:pPr>
              <a:buFont typeface="+mj-lt"/>
              <a:buAutoNum type="arabicPeriod"/>
            </a:pPr>
            <a:r>
              <a:rPr lang="fr-FR" sz="2400" dirty="0"/>
              <a:t>La Web App doit obligatoirement être dans le même Resource Group</a:t>
            </a:r>
          </a:p>
          <a:p>
            <a:pPr>
              <a:buFont typeface="+mj-lt"/>
              <a:buAutoNum type="arabicPeriod"/>
            </a:pPr>
            <a:r>
              <a:rPr lang="fr-FR" sz="2400" dirty="0"/>
              <a:t>Une </a:t>
            </a:r>
            <a:r>
              <a:rPr lang="fr-FR" sz="2400" dirty="0" err="1"/>
              <a:t>VNet</a:t>
            </a:r>
            <a:r>
              <a:rPr lang="fr-FR" sz="2400" dirty="0"/>
              <a:t> </a:t>
            </a:r>
            <a:r>
              <a:rPr lang="fr-FR" sz="2400" dirty="0" err="1"/>
              <a:t>Integration</a:t>
            </a:r>
            <a:r>
              <a:rPr lang="fr-FR" sz="2400" dirty="0"/>
              <a:t> est obligatoire pour accéder à Azure SQL</a:t>
            </a:r>
          </a:p>
          <a:p>
            <a:pPr>
              <a:buFont typeface="+mj-lt"/>
              <a:buAutoNum type="arabicPeriod"/>
            </a:pPr>
            <a:r>
              <a:rPr lang="fr-FR" sz="2400" dirty="0"/>
              <a:t>Azure SQL n’accepte que les connexions internes au Resource Group</a:t>
            </a:r>
          </a:p>
          <a:p>
            <a:pPr>
              <a:buFont typeface="+mj-lt"/>
              <a:buAutoNum type="arabicPeriod"/>
            </a:pPr>
            <a:r>
              <a:rPr lang="fr-FR" sz="2400" dirty="0"/>
              <a:t>Le firewall Azure SQL bloque l’accès depuis la Web App</a:t>
            </a:r>
          </a:p>
          <a:p>
            <a:pPr>
              <a:buFont typeface="+mj-lt"/>
              <a:buAutoNum type="arabicPeriod"/>
            </a:pPr>
            <a:endParaRPr lang="fr-FR" sz="2400" dirty="0"/>
          </a:p>
        </p:txBody>
      </p:sp>
      <p:sp>
        <p:nvSpPr>
          <p:cNvPr id="4" name="ZoneTexte 3">
            <a:extLst>
              <a:ext uri="{FF2B5EF4-FFF2-40B4-BE49-F238E27FC236}">
                <a16:creationId xmlns:a16="http://schemas.microsoft.com/office/drawing/2014/main" id="{4655D8A8-37EB-0EFD-BFCD-DD5A1CB0D0A2}"/>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
        <p:nvSpPr>
          <p:cNvPr id="5" name="ZoneTexte 4">
            <a:extLst>
              <a:ext uri="{FF2B5EF4-FFF2-40B4-BE49-F238E27FC236}">
                <a16:creationId xmlns:a16="http://schemas.microsoft.com/office/drawing/2014/main" id="{E20D9B97-E3D3-AC66-0D40-FFF7B659B7C9}"/>
              </a:ext>
            </a:extLst>
          </p:cNvPr>
          <p:cNvSpPr txBox="1"/>
          <p:nvPr/>
        </p:nvSpPr>
        <p:spPr>
          <a:xfrm>
            <a:off x="110303" y="4869160"/>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B8D76327-5639-E07C-6705-E86A81E64D4E}"/>
              </a:ext>
            </a:extLst>
          </p:cNvPr>
          <p:cNvSpPr txBox="1"/>
          <p:nvPr/>
        </p:nvSpPr>
        <p:spPr>
          <a:xfrm>
            <a:off x="1331640" y="5517232"/>
            <a:ext cx="4132221" cy="369332"/>
          </a:xfrm>
          <a:prstGeom prst="rect">
            <a:avLst/>
          </a:prstGeom>
          <a:noFill/>
        </p:spPr>
        <p:txBody>
          <a:bodyPr wrap="none" rtlCol="0">
            <a:spAutoFit/>
          </a:bodyPr>
          <a:lstStyle/>
          <a:p>
            <a:r>
              <a:rPr lang="fr-FR" dirty="0"/>
              <a:t>Par défaut le firewall bloque Azure SQL</a:t>
            </a:r>
          </a:p>
        </p:txBody>
      </p:sp>
    </p:spTree>
    <p:extLst>
      <p:ext uri="{BB962C8B-B14F-4D97-AF65-F5344CB8AC3E}">
        <p14:creationId xmlns:p14="http://schemas.microsoft.com/office/powerpoint/2010/main" val="406218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80FF8-0738-698F-7EF9-A2601AEED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7EDDE-4331-2B96-31EC-E68207B1148B}"/>
              </a:ext>
            </a:extLst>
          </p:cNvPr>
          <p:cNvSpPr>
            <a:spLocks noGrp="1"/>
          </p:cNvSpPr>
          <p:nvPr>
            <p:ph type="title"/>
          </p:nvPr>
        </p:nvSpPr>
        <p:spPr/>
        <p:txBody>
          <a:bodyPr/>
          <a:lstStyle/>
          <a:p>
            <a:r>
              <a:rPr lang="en-US" dirty="0"/>
              <a:t>Question 6 </a:t>
            </a:r>
          </a:p>
        </p:txBody>
      </p:sp>
      <p:sp>
        <p:nvSpPr>
          <p:cNvPr id="3" name="Content Placeholder 2">
            <a:extLst>
              <a:ext uri="{FF2B5EF4-FFF2-40B4-BE49-F238E27FC236}">
                <a16:creationId xmlns:a16="http://schemas.microsoft.com/office/drawing/2014/main" id="{355D9EA6-4E21-0D42-94C1-F7F189AC9157}"/>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Une application Web App doit </a:t>
            </a:r>
            <a:r>
              <a:rPr lang="fr-FR" sz="2400" b="1" dirty="0"/>
              <a:t>accéder à une base de données Azure SQL sans stocker de secrets dans le code</a:t>
            </a:r>
            <a:r>
              <a:rPr lang="fr-FR" sz="2400" dirty="0"/>
              <a:t>.</a:t>
            </a:r>
          </a:p>
          <a:p>
            <a:pPr marL="0" indent="0">
              <a:buNone/>
            </a:pPr>
            <a:r>
              <a:rPr lang="fr-FR" sz="2400" dirty="0"/>
              <a:t>Quelle solution est la plus appropriée ?</a:t>
            </a:r>
          </a:p>
          <a:p>
            <a:pPr>
              <a:buFont typeface="+mj-lt"/>
              <a:buAutoNum type="arabicPeriod"/>
            </a:pPr>
            <a:r>
              <a:rPr lang="fr-FR" sz="2400" dirty="0"/>
              <a:t>Connection string dans </a:t>
            </a:r>
            <a:r>
              <a:rPr lang="fr-FR" sz="2400" i="1" dirty="0" err="1"/>
              <a:t>appsettings.json</a:t>
            </a:r>
            <a:endParaRPr lang="fr-FR" sz="2400" i="1" dirty="0"/>
          </a:p>
          <a:p>
            <a:pPr>
              <a:buFont typeface="+mj-lt"/>
              <a:buAutoNum type="arabicPeriod"/>
            </a:pPr>
            <a:r>
              <a:rPr lang="fr-FR" sz="2400" dirty="0"/>
              <a:t>Variables d’environnement dans App Service</a:t>
            </a:r>
          </a:p>
          <a:p>
            <a:pPr>
              <a:buFont typeface="+mj-lt"/>
              <a:buAutoNum type="arabicPeriod"/>
            </a:pPr>
            <a:r>
              <a:rPr lang="fr-FR" sz="2400" dirty="0" err="1"/>
              <a:t>Managed</a:t>
            </a:r>
            <a:r>
              <a:rPr lang="fr-FR" sz="2400" dirty="0"/>
              <a:t> Identity + Azure AD </a:t>
            </a:r>
            <a:r>
              <a:rPr lang="fr-FR" sz="2400" dirty="0" err="1"/>
              <a:t>Authentication</a:t>
            </a:r>
            <a:endParaRPr lang="fr-FR" sz="2400" dirty="0"/>
          </a:p>
          <a:p>
            <a:pPr>
              <a:buFont typeface="+mj-lt"/>
              <a:buAutoNum type="arabicPeriod"/>
            </a:pPr>
            <a:r>
              <a:rPr lang="fr-FR" sz="2400" dirty="0"/>
              <a:t>Stocker le mot de passe dans Azure Blob Storage</a:t>
            </a:r>
          </a:p>
          <a:p>
            <a:pPr marL="0" indent="0">
              <a:buNone/>
            </a:pPr>
            <a:endParaRPr lang="fr-FR" sz="2400" dirty="0"/>
          </a:p>
        </p:txBody>
      </p:sp>
      <p:sp>
        <p:nvSpPr>
          <p:cNvPr id="4" name="ZoneTexte 3">
            <a:extLst>
              <a:ext uri="{FF2B5EF4-FFF2-40B4-BE49-F238E27FC236}">
                <a16:creationId xmlns:a16="http://schemas.microsoft.com/office/drawing/2014/main" id="{289AF7B5-D2C1-2B0C-3922-0FB993F98102}"/>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387D38D8-4873-AADD-185F-813E2F28325D}"/>
              </a:ext>
            </a:extLst>
          </p:cNvPr>
          <p:cNvSpPr txBox="1"/>
          <p:nvPr/>
        </p:nvSpPr>
        <p:spPr>
          <a:xfrm>
            <a:off x="0" y="3244334"/>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CC4ECAF1-CD11-CAB1-59A3-3201F26D11BC}"/>
              </a:ext>
            </a:extLst>
          </p:cNvPr>
          <p:cNvSpPr txBox="1"/>
          <p:nvPr/>
        </p:nvSpPr>
        <p:spPr>
          <a:xfrm>
            <a:off x="1338455" y="5013176"/>
            <a:ext cx="5291385" cy="1200329"/>
          </a:xfrm>
          <a:prstGeom prst="rect">
            <a:avLst/>
          </a:prstGeom>
          <a:noFill/>
        </p:spPr>
        <p:txBody>
          <a:bodyPr wrap="none" rtlCol="0">
            <a:spAutoFit/>
          </a:bodyPr>
          <a:lstStyle/>
          <a:p>
            <a:r>
              <a:rPr lang="fr-FR" dirty="0"/>
              <a:t>Une </a:t>
            </a:r>
            <a:r>
              <a:rPr lang="fr-FR" b="1" dirty="0" err="1"/>
              <a:t>Managed</a:t>
            </a:r>
            <a:r>
              <a:rPr lang="fr-FR" b="1" dirty="0"/>
              <a:t> Identity</a:t>
            </a:r>
            <a:r>
              <a:rPr lang="fr-FR" dirty="0"/>
              <a:t> permet à l'application de :</a:t>
            </a:r>
          </a:p>
          <a:p>
            <a:r>
              <a:rPr lang="fr-FR" dirty="0"/>
              <a:t>s'authentifier automatiquement auprès d’Azure</a:t>
            </a:r>
          </a:p>
          <a:p>
            <a:r>
              <a:rPr lang="fr-FR" dirty="0"/>
              <a:t>sans mot de passe</a:t>
            </a:r>
          </a:p>
          <a:p>
            <a:r>
              <a:rPr lang="fr-FR" dirty="0"/>
              <a:t>sans secret dans le code</a:t>
            </a:r>
          </a:p>
        </p:txBody>
      </p:sp>
    </p:spTree>
    <p:extLst>
      <p:ext uri="{BB962C8B-B14F-4D97-AF65-F5344CB8AC3E}">
        <p14:creationId xmlns:p14="http://schemas.microsoft.com/office/powerpoint/2010/main" val="301374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7F538-6575-D672-1EB1-26CC919DA75E}"/>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2F7220A-381B-1AFC-70D9-93623E8D62C4}"/>
              </a:ext>
            </a:extLst>
          </p:cNvPr>
          <p:cNvSpPr>
            <a:spLocks noGrp="1"/>
          </p:cNvSpPr>
          <p:nvPr>
            <p:ph type="body" sz="quarter" idx="11"/>
          </p:nvPr>
        </p:nvSpPr>
        <p:spPr/>
        <p:txBody>
          <a:bodyPr/>
          <a:lstStyle/>
          <a:p>
            <a:r>
              <a:rPr lang="fr-FR" dirty="0"/>
              <a:t>Quizz 6</a:t>
            </a:r>
          </a:p>
        </p:txBody>
      </p:sp>
      <p:sp>
        <p:nvSpPr>
          <p:cNvPr id="3" name="Espace réservé du texte 2">
            <a:extLst>
              <a:ext uri="{FF2B5EF4-FFF2-40B4-BE49-F238E27FC236}">
                <a16:creationId xmlns:a16="http://schemas.microsoft.com/office/drawing/2014/main" id="{A4E6C8AA-437B-BA0B-2634-C82FFD3F3FF2}"/>
              </a:ext>
            </a:extLst>
          </p:cNvPr>
          <p:cNvSpPr>
            <a:spLocks noGrp="1"/>
          </p:cNvSpPr>
          <p:nvPr>
            <p:ph type="body" sz="quarter" idx="12"/>
          </p:nvPr>
        </p:nvSpPr>
        <p:spPr>
          <a:xfrm>
            <a:off x="2604868" y="3501008"/>
            <a:ext cx="5624732" cy="1432560"/>
          </a:xfrm>
        </p:spPr>
        <p:txBody>
          <a:bodyPr/>
          <a:lstStyle/>
          <a:p>
            <a:r>
              <a:rPr lang="fr-FR" dirty="0"/>
              <a:t>Kudu &amp; </a:t>
            </a:r>
            <a:r>
              <a:rPr lang="fr-FR" dirty="0" err="1"/>
              <a:t>Debug</a:t>
            </a:r>
            <a:endParaRPr lang="fr-FR" dirty="0"/>
          </a:p>
        </p:txBody>
      </p:sp>
    </p:spTree>
    <p:extLst>
      <p:ext uri="{BB962C8B-B14F-4D97-AF65-F5344CB8AC3E}">
        <p14:creationId xmlns:p14="http://schemas.microsoft.com/office/powerpoint/2010/main" val="27233184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1622-DB54-AC4C-D948-F8186DEB4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32C03-C620-179E-8154-B0533B504573}"/>
              </a:ext>
            </a:extLst>
          </p:cNvPr>
          <p:cNvSpPr>
            <a:spLocks noGrp="1"/>
          </p:cNvSpPr>
          <p:nvPr>
            <p:ph type="title"/>
          </p:nvPr>
        </p:nvSpPr>
        <p:spPr/>
        <p:txBody>
          <a:bodyPr/>
          <a:lstStyle/>
          <a:p>
            <a:r>
              <a:rPr lang="en-US" dirty="0"/>
              <a:t>Question  1</a:t>
            </a:r>
          </a:p>
        </p:txBody>
      </p:sp>
      <p:sp>
        <p:nvSpPr>
          <p:cNvPr id="3" name="Content Placeholder 2">
            <a:extLst>
              <a:ext uri="{FF2B5EF4-FFF2-40B4-BE49-F238E27FC236}">
                <a16:creationId xmlns:a16="http://schemas.microsoft.com/office/drawing/2014/main" id="{91254CF3-7FBC-8926-F9C8-0F0A12B061D1}"/>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Kudu permet :</a:t>
            </a:r>
          </a:p>
          <a:p>
            <a:pPr>
              <a:buFont typeface="+mj-lt"/>
              <a:buAutoNum type="arabicPeriod"/>
            </a:pPr>
            <a:r>
              <a:rPr lang="fr-FR" sz="2400" dirty="0"/>
              <a:t>Déployer</a:t>
            </a:r>
          </a:p>
          <a:p>
            <a:pPr>
              <a:buFont typeface="+mj-lt"/>
              <a:buAutoNum type="arabicPeriod"/>
            </a:pPr>
            <a:r>
              <a:rPr lang="fr-FR" sz="2400" dirty="0"/>
              <a:t>Explorer l’environnement</a:t>
            </a:r>
          </a:p>
          <a:p>
            <a:pPr>
              <a:buFont typeface="+mj-lt"/>
              <a:buAutoNum type="arabicPeriod"/>
            </a:pPr>
            <a:r>
              <a:rPr lang="fr-FR" sz="2400" dirty="0"/>
              <a:t>Modifier le code source</a:t>
            </a:r>
          </a:p>
          <a:p>
            <a:pPr>
              <a:buFont typeface="+mj-lt"/>
              <a:buAutoNum type="arabicPeriod"/>
            </a:pPr>
            <a:r>
              <a:rPr lang="fr-FR" sz="2400" dirty="0"/>
              <a:t>Compiler</a:t>
            </a:r>
          </a:p>
          <a:p>
            <a:pPr marL="0" indent="0">
              <a:buNone/>
            </a:pPr>
            <a:endParaRPr lang="fr-FR" sz="2400" dirty="0"/>
          </a:p>
        </p:txBody>
      </p:sp>
      <p:sp>
        <p:nvSpPr>
          <p:cNvPr id="4" name="ZoneTexte 3">
            <a:extLst>
              <a:ext uri="{FF2B5EF4-FFF2-40B4-BE49-F238E27FC236}">
                <a16:creationId xmlns:a16="http://schemas.microsoft.com/office/drawing/2014/main" id="{626AE16F-03A1-6BF9-A414-8C4D1016908F}"/>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5" name="ZoneTexte 4">
            <a:extLst>
              <a:ext uri="{FF2B5EF4-FFF2-40B4-BE49-F238E27FC236}">
                <a16:creationId xmlns:a16="http://schemas.microsoft.com/office/drawing/2014/main" id="{03704060-9A67-F216-9423-8AC7B4947751}"/>
              </a:ext>
            </a:extLst>
          </p:cNvPr>
          <p:cNvSpPr txBox="1"/>
          <p:nvPr/>
        </p:nvSpPr>
        <p:spPr>
          <a:xfrm>
            <a:off x="0" y="1988840"/>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834190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67839-58BE-3F2E-AC56-72151FE82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A2D31-9BDC-D4FA-BE31-8B8AB08F8BBE}"/>
              </a:ext>
            </a:extLst>
          </p:cNvPr>
          <p:cNvSpPr>
            <a:spLocks noGrp="1"/>
          </p:cNvSpPr>
          <p:nvPr>
            <p:ph type="title"/>
          </p:nvPr>
        </p:nvSpPr>
        <p:spPr/>
        <p:txBody>
          <a:bodyPr/>
          <a:lstStyle/>
          <a:p>
            <a:r>
              <a:rPr lang="en-US" dirty="0"/>
              <a:t>Question 2 </a:t>
            </a:r>
          </a:p>
        </p:txBody>
      </p:sp>
      <p:sp>
        <p:nvSpPr>
          <p:cNvPr id="3" name="Content Placeholder 2">
            <a:extLst>
              <a:ext uri="{FF2B5EF4-FFF2-40B4-BE49-F238E27FC236}">
                <a16:creationId xmlns:a16="http://schemas.microsoft.com/office/drawing/2014/main" id="{13C52D8D-0C9D-93C8-1F73-5FD0724FC9FF}"/>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Où sont stockés les logs ?</a:t>
            </a:r>
          </a:p>
          <a:p>
            <a:pPr>
              <a:buFont typeface="+mj-lt"/>
              <a:buAutoNum type="arabicPeriod"/>
            </a:pPr>
            <a:r>
              <a:rPr lang="fr-FR" sz="2400" dirty="0"/>
              <a:t>/home/log</a:t>
            </a:r>
          </a:p>
          <a:p>
            <a:pPr>
              <a:buFont typeface="+mj-lt"/>
              <a:buAutoNum type="arabicPeriod"/>
            </a:pPr>
            <a:r>
              <a:rPr lang="fr-FR" sz="2400" dirty="0"/>
              <a:t>/home/</a:t>
            </a:r>
            <a:r>
              <a:rPr lang="fr-FR" sz="2400" dirty="0" err="1"/>
              <a:t>LogFiles</a:t>
            </a:r>
            <a:endParaRPr lang="fr-FR" sz="2400" dirty="0"/>
          </a:p>
          <a:p>
            <a:pPr>
              <a:buFont typeface="+mj-lt"/>
              <a:buAutoNum type="arabicPeriod"/>
            </a:pPr>
            <a:r>
              <a:rPr lang="fr-FR" sz="2400" dirty="0"/>
              <a:t>/logs</a:t>
            </a:r>
          </a:p>
          <a:p>
            <a:pPr>
              <a:buFont typeface="+mj-lt"/>
              <a:buAutoNum type="arabicPeriod"/>
            </a:pPr>
            <a:r>
              <a:rPr lang="fr-FR" sz="2400" dirty="0"/>
              <a:t>/</a:t>
            </a:r>
            <a:r>
              <a:rPr lang="fr-FR" sz="2400" dirty="0" err="1"/>
              <a:t>tmp</a:t>
            </a:r>
            <a:endParaRPr lang="fr-FR" sz="2400" dirty="0"/>
          </a:p>
          <a:p>
            <a:pPr marL="0" indent="0">
              <a:buNone/>
            </a:pPr>
            <a:endParaRPr lang="fr-FR" sz="2400" dirty="0"/>
          </a:p>
        </p:txBody>
      </p:sp>
      <p:sp>
        <p:nvSpPr>
          <p:cNvPr id="4" name="ZoneTexte 3">
            <a:extLst>
              <a:ext uri="{FF2B5EF4-FFF2-40B4-BE49-F238E27FC236}">
                <a16:creationId xmlns:a16="http://schemas.microsoft.com/office/drawing/2014/main" id="{EB9B22C7-7DF9-75DC-E4E3-BFD8415B7CAD}"/>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5" name="ZoneTexte 4">
            <a:extLst>
              <a:ext uri="{FF2B5EF4-FFF2-40B4-BE49-F238E27FC236}">
                <a16:creationId xmlns:a16="http://schemas.microsoft.com/office/drawing/2014/main" id="{0689F8C7-60E7-39E9-1FC4-5E0F9EF6EB79}"/>
              </a:ext>
            </a:extLst>
          </p:cNvPr>
          <p:cNvSpPr txBox="1"/>
          <p:nvPr/>
        </p:nvSpPr>
        <p:spPr>
          <a:xfrm>
            <a:off x="0" y="1988840"/>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4083890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8B990-11DB-3CB1-593B-1C6F15B89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7C621-8BE6-8C76-EB2B-72E79B054B8C}"/>
              </a:ext>
            </a:extLst>
          </p:cNvPr>
          <p:cNvSpPr>
            <a:spLocks noGrp="1"/>
          </p:cNvSpPr>
          <p:nvPr>
            <p:ph type="title"/>
          </p:nvPr>
        </p:nvSpPr>
        <p:spPr/>
        <p:txBody>
          <a:bodyPr/>
          <a:lstStyle/>
          <a:p>
            <a:r>
              <a:rPr lang="en-US" dirty="0"/>
              <a:t>Question 3 </a:t>
            </a:r>
          </a:p>
        </p:txBody>
      </p:sp>
      <p:sp>
        <p:nvSpPr>
          <p:cNvPr id="3" name="Content Placeholder 2">
            <a:extLst>
              <a:ext uri="{FF2B5EF4-FFF2-40B4-BE49-F238E27FC236}">
                <a16:creationId xmlns:a16="http://schemas.microsoft.com/office/drawing/2014/main" id="{42570707-E2D5-9F82-3E58-2172070739C0}"/>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Où voir les logs en temps réel ?</a:t>
            </a:r>
          </a:p>
          <a:p>
            <a:pPr>
              <a:buFont typeface="+mj-lt"/>
              <a:buAutoNum type="arabicPeriod"/>
            </a:pPr>
            <a:r>
              <a:rPr lang="fr-FR" sz="2400" dirty="0" err="1"/>
              <a:t>Metrics</a:t>
            </a:r>
            <a:endParaRPr lang="fr-FR" sz="2400" dirty="0"/>
          </a:p>
          <a:p>
            <a:pPr>
              <a:buFont typeface="+mj-lt"/>
              <a:buAutoNum type="arabicPeriod"/>
            </a:pPr>
            <a:r>
              <a:rPr lang="fr-FR" sz="2400" dirty="0"/>
              <a:t>Log </a:t>
            </a:r>
            <a:r>
              <a:rPr lang="fr-FR" sz="2400" dirty="0" err="1"/>
              <a:t>stream</a:t>
            </a:r>
            <a:endParaRPr lang="fr-FR" sz="2400" dirty="0"/>
          </a:p>
          <a:p>
            <a:pPr>
              <a:buFont typeface="+mj-lt"/>
              <a:buAutoNum type="arabicPeriod"/>
            </a:pPr>
            <a:r>
              <a:rPr lang="fr-FR" sz="2400" dirty="0"/>
              <a:t>Kudu home</a:t>
            </a:r>
          </a:p>
          <a:p>
            <a:pPr>
              <a:buFont typeface="+mj-lt"/>
              <a:buAutoNum type="arabicPeriod"/>
            </a:pPr>
            <a:r>
              <a:rPr lang="fr-FR" sz="2400" dirty="0"/>
              <a:t>SQL</a:t>
            </a:r>
          </a:p>
          <a:p>
            <a:pPr marL="0" indent="0">
              <a:buNone/>
            </a:pPr>
            <a:endParaRPr lang="fr-FR" sz="2400" dirty="0"/>
          </a:p>
        </p:txBody>
      </p:sp>
      <p:sp>
        <p:nvSpPr>
          <p:cNvPr id="4" name="ZoneTexte 3">
            <a:extLst>
              <a:ext uri="{FF2B5EF4-FFF2-40B4-BE49-F238E27FC236}">
                <a16:creationId xmlns:a16="http://schemas.microsoft.com/office/drawing/2014/main" id="{4EC1F813-9578-B2C4-E3D2-6795C0CAB54E}"/>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5" name="ZoneTexte 4">
            <a:extLst>
              <a:ext uri="{FF2B5EF4-FFF2-40B4-BE49-F238E27FC236}">
                <a16:creationId xmlns:a16="http://schemas.microsoft.com/office/drawing/2014/main" id="{1D1A7C78-2CED-9CB6-858E-ADF910354118}"/>
              </a:ext>
            </a:extLst>
          </p:cNvPr>
          <p:cNvSpPr txBox="1"/>
          <p:nvPr/>
        </p:nvSpPr>
        <p:spPr>
          <a:xfrm>
            <a:off x="0" y="1988840"/>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301058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A271E-2251-4637-E83A-8412B1446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0B80C-A2A8-F289-9754-054C355D1B8F}"/>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1044C172-3FD7-3611-F13A-564734FBAA25}"/>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Une Web App écrit dans </a:t>
            </a:r>
            <a:r>
              <a:rPr lang="fr-FR" dirty="0"/>
              <a:t>/home/temp</a:t>
            </a:r>
            <a:r>
              <a:rPr lang="fr-FR" sz="2400" dirty="0"/>
              <a:t>. Que se passe-t-il en scale-out ?</a:t>
            </a:r>
          </a:p>
          <a:p>
            <a:pPr>
              <a:buFont typeface="+mj-lt"/>
              <a:buAutoNum type="arabicPeriod"/>
            </a:pPr>
            <a:r>
              <a:rPr lang="fr-FR" sz="2400" dirty="0"/>
              <a:t>Fichier partagé</a:t>
            </a:r>
          </a:p>
          <a:p>
            <a:pPr>
              <a:buFont typeface="+mj-lt"/>
              <a:buAutoNum type="arabicPeriod"/>
            </a:pPr>
            <a:r>
              <a:rPr lang="fr-FR" sz="2400" dirty="0"/>
              <a:t>Chaque instance a son propre stockage</a:t>
            </a:r>
          </a:p>
          <a:p>
            <a:pPr>
              <a:buFont typeface="+mj-lt"/>
              <a:buAutoNum type="arabicPeriod"/>
            </a:pPr>
            <a:r>
              <a:rPr lang="fr-FR" sz="2400" dirty="0"/>
              <a:t>Azure synchronise</a:t>
            </a:r>
          </a:p>
          <a:p>
            <a:pPr>
              <a:buFont typeface="+mj-lt"/>
              <a:buAutoNum type="arabicPeriod"/>
            </a:pPr>
            <a:r>
              <a:rPr lang="fr-FR" sz="2400" dirty="0"/>
              <a:t>Erreur</a:t>
            </a:r>
          </a:p>
          <a:p>
            <a:pPr marL="0" indent="0">
              <a:buNone/>
            </a:pPr>
            <a:endParaRPr lang="fr-FR" sz="2400" dirty="0"/>
          </a:p>
        </p:txBody>
      </p:sp>
      <p:sp>
        <p:nvSpPr>
          <p:cNvPr id="4" name="ZoneTexte 3">
            <a:extLst>
              <a:ext uri="{FF2B5EF4-FFF2-40B4-BE49-F238E27FC236}">
                <a16:creationId xmlns:a16="http://schemas.microsoft.com/office/drawing/2014/main" id="{C8569D96-6780-B3E3-0931-DDBDE077888C}"/>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5" name="ZoneTexte 4">
            <a:extLst>
              <a:ext uri="{FF2B5EF4-FFF2-40B4-BE49-F238E27FC236}">
                <a16:creationId xmlns:a16="http://schemas.microsoft.com/office/drawing/2014/main" id="{B9347F84-6737-9281-86B5-12187D783D11}"/>
              </a:ext>
            </a:extLst>
          </p:cNvPr>
          <p:cNvSpPr txBox="1"/>
          <p:nvPr/>
        </p:nvSpPr>
        <p:spPr>
          <a:xfrm>
            <a:off x="0" y="2420888"/>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4485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A23D1-767F-7B13-9267-C8160976E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0EF49-F63D-D8EE-7F7D-F29F5875BC74}"/>
              </a:ext>
            </a:extLst>
          </p:cNvPr>
          <p:cNvSpPr>
            <a:spLocks noGrp="1"/>
          </p:cNvSpPr>
          <p:nvPr>
            <p:ph type="title"/>
          </p:nvPr>
        </p:nvSpPr>
        <p:spPr/>
        <p:txBody>
          <a:bodyPr/>
          <a:lstStyle/>
          <a:p>
            <a:r>
              <a:rPr lang="en-US" dirty="0"/>
              <a:t>Question 5</a:t>
            </a:r>
          </a:p>
        </p:txBody>
      </p:sp>
      <p:sp>
        <p:nvSpPr>
          <p:cNvPr id="3" name="Content Placeholder 2">
            <a:extLst>
              <a:ext uri="{FF2B5EF4-FFF2-40B4-BE49-F238E27FC236}">
                <a16:creationId xmlns:a16="http://schemas.microsoft.com/office/drawing/2014/main" id="{832AF994-21DA-3668-4A6F-983A77FA18E6}"/>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Vous avez ajouté :</a:t>
            </a:r>
          </a:p>
          <a:p>
            <a:pPr marL="0" indent="0">
              <a:buNone/>
            </a:pPr>
            <a:r>
              <a:rPr lang="fr-FR" sz="2400" dirty="0" err="1">
                <a:highlight>
                  <a:srgbClr val="C0C0C0"/>
                </a:highlight>
                <a:latin typeface="Courier New" panose="02070309020205020404" pitchFamily="49" charset="0"/>
                <a:cs typeface="Courier New" panose="02070309020205020404" pitchFamily="49" charset="0"/>
              </a:rPr>
              <a:t>AddAzureWebAppDiagnostics</a:t>
            </a:r>
            <a:r>
              <a:rPr lang="fr-FR" sz="2400" dirty="0">
                <a:highlight>
                  <a:srgbClr val="C0C0C0"/>
                </a:highlight>
                <a:latin typeface="Courier New" panose="02070309020205020404" pitchFamily="49" charset="0"/>
                <a:cs typeface="Courier New" panose="02070309020205020404" pitchFamily="49" charset="0"/>
              </a:rPr>
              <a:t>()</a:t>
            </a:r>
          </a:p>
          <a:p>
            <a:pPr marL="0" indent="0">
              <a:buNone/>
            </a:pPr>
            <a:r>
              <a:rPr lang="fr-FR" sz="2400" dirty="0"/>
              <a:t>Mais aucun log n’apparaît.</a:t>
            </a:r>
          </a:p>
          <a:p>
            <a:pPr marL="0" indent="0">
              <a:buNone/>
            </a:pPr>
            <a:r>
              <a:rPr lang="fr-FR" sz="2400" dirty="0"/>
              <a:t>Pourquoi ?</a:t>
            </a:r>
          </a:p>
          <a:p>
            <a:pPr>
              <a:buFont typeface="+mj-lt"/>
              <a:buAutoNum type="arabicPeriod"/>
            </a:pPr>
            <a:r>
              <a:rPr lang="fr-FR" sz="2400" dirty="0"/>
              <a:t>Mauvais </a:t>
            </a:r>
            <a:r>
              <a:rPr lang="fr-FR" sz="2400" dirty="0" err="1"/>
              <a:t>ILogger</a:t>
            </a:r>
            <a:endParaRPr lang="fr-FR" sz="2400" dirty="0"/>
          </a:p>
          <a:p>
            <a:pPr>
              <a:buFont typeface="+mj-lt"/>
              <a:buAutoNum type="arabicPeriod"/>
            </a:pPr>
            <a:r>
              <a:rPr lang="fr-FR" sz="2400" dirty="0"/>
              <a:t>Mauvais niveau log</a:t>
            </a:r>
          </a:p>
          <a:p>
            <a:pPr>
              <a:buFont typeface="+mj-lt"/>
              <a:buAutoNum type="arabicPeriod"/>
            </a:pPr>
            <a:r>
              <a:rPr lang="fr-FR" sz="2400" dirty="0"/>
              <a:t>Mauvais port</a:t>
            </a:r>
          </a:p>
          <a:p>
            <a:pPr>
              <a:buFont typeface="+mj-lt"/>
              <a:buAutoNum type="arabicPeriod"/>
            </a:pPr>
            <a:r>
              <a:rPr lang="fr-FR" sz="2400" dirty="0"/>
              <a:t>Logs non activés côté Azure</a:t>
            </a:r>
          </a:p>
        </p:txBody>
      </p:sp>
      <p:sp>
        <p:nvSpPr>
          <p:cNvPr id="4" name="ZoneTexte 3">
            <a:extLst>
              <a:ext uri="{FF2B5EF4-FFF2-40B4-BE49-F238E27FC236}">
                <a16:creationId xmlns:a16="http://schemas.microsoft.com/office/drawing/2014/main" id="{6F15D9A7-7208-D947-AB4B-9656F5ED2051}"/>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
        <p:nvSpPr>
          <p:cNvPr id="5" name="ZoneTexte 4">
            <a:extLst>
              <a:ext uri="{FF2B5EF4-FFF2-40B4-BE49-F238E27FC236}">
                <a16:creationId xmlns:a16="http://schemas.microsoft.com/office/drawing/2014/main" id="{CDF86FA4-9231-C7C0-6D09-E7E46A956F5C}"/>
              </a:ext>
            </a:extLst>
          </p:cNvPr>
          <p:cNvSpPr txBox="1"/>
          <p:nvPr/>
        </p:nvSpPr>
        <p:spPr>
          <a:xfrm>
            <a:off x="0" y="4221088"/>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1A527965-B87A-9096-E013-E1A870747ED1}"/>
              </a:ext>
            </a:extLst>
          </p:cNvPr>
          <p:cNvSpPr txBox="1"/>
          <p:nvPr/>
        </p:nvSpPr>
        <p:spPr>
          <a:xfrm>
            <a:off x="1331640" y="5517232"/>
            <a:ext cx="4883709" cy="646331"/>
          </a:xfrm>
          <a:prstGeom prst="rect">
            <a:avLst/>
          </a:prstGeom>
          <a:noFill/>
        </p:spPr>
        <p:txBody>
          <a:bodyPr wrap="none" rtlCol="0">
            <a:spAutoFit/>
          </a:bodyPr>
          <a:lstStyle/>
          <a:p>
            <a:r>
              <a:rPr lang="fr-FR" dirty="0"/>
              <a:t>Par défaut les logs azure ne sont pas activés</a:t>
            </a:r>
            <a:br>
              <a:rPr lang="fr-FR" dirty="0"/>
            </a:br>
            <a:r>
              <a:rPr lang="it-IT" dirty="0"/>
              <a:t>App Service → Monitoring → App Service logs</a:t>
            </a:r>
            <a:endParaRPr lang="fr-FR" dirty="0"/>
          </a:p>
        </p:txBody>
      </p:sp>
    </p:spTree>
    <p:extLst>
      <p:ext uri="{BB962C8B-B14F-4D97-AF65-F5344CB8AC3E}">
        <p14:creationId xmlns:p14="http://schemas.microsoft.com/office/powerpoint/2010/main" val="31792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2833D-55D4-7348-DDCB-C611753E37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9F017-8097-1101-4005-A0653C7DA77E}"/>
              </a:ext>
            </a:extLst>
          </p:cNvPr>
          <p:cNvSpPr>
            <a:spLocks noGrp="1"/>
          </p:cNvSpPr>
          <p:nvPr>
            <p:ph type="title"/>
          </p:nvPr>
        </p:nvSpPr>
        <p:spPr/>
        <p:txBody>
          <a:bodyPr/>
          <a:lstStyle/>
          <a:p>
            <a:r>
              <a:rPr lang="en-US" dirty="0"/>
              <a:t>Question 6 </a:t>
            </a:r>
          </a:p>
        </p:txBody>
      </p:sp>
      <p:sp>
        <p:nvSpPr>
          <p:cNvPr id="3" name="Content Placeholder 2">
            <a:extLst>
              <a:ext uri="{FF2B5EF4-FFF2-40B4-BE49-F238E27FC236}">
                <a16:creationId xmlns:a16="http://schemas.microsoft.com/office/drawing/2014/main" id="{ED1042D3-DDDB-E856-2F48-99EE2BA0C39A}"/>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Dans Azure App Service, vous ouvrez une session SSH depuis le portail.</a:t>
            </a:r>
          </a:p>
          <a:p>
            <a:pPr marL="0" indent="0">
              <a:buNone/>
            </a:pPr>
            <a:r>
              <a:rPr lang="fr-FR" sz="2400" dirty="0"/>
              <a:t>Quelle est la différence entre </a:t>
            </a:r>
            <a:r>
              <a:rPr lang="fr-FR" sz="2400" b="1" dirty="0"/>
              <a:t>“SSH to Application”</a:t>
            </a:r>
            <a:r>
              <a:rPr lang="fr-FR" sz="2400" dirty="0"/>
              <a:t> et </a:t>
            </a:r>
            <a:r>
              <a:rPr lang="fr-FR" sz="2400" b="1" dirty="0"/>
              <a:t>“SSH to Kudu”</a:t>
            </a:r>
            <a:r>
              <a:rPr lang="fr-FR" sz="2400" dirty="0"/>
              <a:t> ?</a:t>
            </a:r>
          </a:p>
          <a:p>
            <a:pPr>
              <a:buFont typeface="+mj-lt"/>
              <a:buAutoNum type="arabicPeriod"/>
            </a:pPr>
            <a:r>
              <a:rPr lang="fr-FR" sz="2000" dirty="0"/>
              <a:t>Il n’y a aucune différence, ce sont deux interfaces identiques</a:t>
            </a:r>
          </a:p>
          <a:p>
            <a:pPr>
              <a:buFont typeface="+mj-lt"/>
              <a:buAutoNum type="arabicPeriod"/>
            </a:pPr>
            <a:r>
              <a:rPr lang="fr-FR" sz="2000" dirty="0"/>
              <a:t>“SSH to Application” permet d’exécuter des commandes Azure CLI, tandis que “SSH to Kudu” est limité aux logs</a:t>
            </a:r>
          </a:p>
          <a:p>
            <a:pPr>
              <a:buFont typeface="+mj-lt"/>
              <a:buAutoNum type="arabicPeriod"/>
            </a:pPr>
            <a:r>
              <a:rPr lang="fr-FR" sz="2000" dirty="0"/>
              <a:t>“SSH to Kudu” accède au conteneur de production, tandis que “SSH to Application” accède à un environnement isolé</a:t>
            </a:r>
          </a:p>
          <a:p>
            <a:pPr>
              <a:buFont typeface="+mj-lt"/>
              <a:buAutoNum type="arabicPeriod"/>
            </a:pPr>
            <a:r>
              <a:rPr lang="fr-FR" sz="2000" dirty="0"/>
              <a:t>“SSH to Application” accède au conteneur de l’application, tandis que “SSH to Kudu” accède à l’environnement de gestion (Kudu)</a:t>
            </a:r>
          </a:p>
          <a:p>
            <a:pPr>
              <a:buFont typeface="+mj-lt"/>
              <a:buAutoNum type="arabicPeriod"/>
            </a:pPr>
            <a:endParaRPr lang="fr-FR" sz="2000" dirty="0"/>
          </a:p>
          <a:p>
            <a:pPr marL="0" indent="0">
              <a:buNone/>
            </a:pPr>
            <a:endParaRPr lang="fr-FR" sz="2400" dirty="0"/>
          </a:p>
        </p:txBody>
      </p:sp>
      <p:sp>
        <p:nvSpPr>
          <p:cNvPr id="4" name="ZoneTexte 3">
            <a:extLst>
              <a:ext uri="{FF2B5EF4-FFF2-40B4-BE49-F238E27FC236}">
                <a16:creationId xmlns:a16="http://schemas.microsoft.com/office/drawing/2014/main" id="{B4A74DB8-B69F-22F8-FFD1-1E07AC6C729F}"/>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
        <p:nvSpPr>
          <p:cNvPr id="5" name="ZoneTexte 4">
            <a:extLst>
              <a:ext uri="{FF2B5EF4-FFF2-40B4-BE49-F238E27FC236}">
                <a16:creationId xmlns:a16="http://schemas.microsoft.com/office/drawing/2014/main" id="{36D5E3F6-EF41-56FD-0D39-7295D1EEE832}"/>
              </a:ext>
            </a:extLst>
          </p:cNvPr>
          <p:cNvSpPr txBox="1"/>
          <p:nvPr/>
        </p:nvSpPr>
        <p:spPr>
          <a:xfrm>
            <a:off x="0" y="4509120"/>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88636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8CCFD-B449-4957-FFCC-FB05B2F1C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B3984-C3A0-DF26-20D6-3B48D9196FB3}"/>
              </a:ext>
            </a:extLst>
          </p:cNvPr>
          <p:cNvSpPr>
            <a:spLocks noGrp="1"/>
          </p:cNvSpPr>
          <p:nvPr>
            <p:ph type="title"/>
          </p:nvPr>
        </p:nvSpPr>
        <p:spPr/>
        <p:txBody>
          <a:bodyPr/>
          <a:lstStyle/>
          <a:p>
            <a:r>
              <a:rPr lang="en-US" dirty="0"/>
              <a:t>Question 7 </a:t>
            </a:r>
          </a:p>
        </p:txBody>
      </p:sp>
      <p:sp>
        <p:nvSpPr>
          <p:cNvPr id="3" name="Content Placeholder 2">
            <a:extLst>
              <a:ext uri="{FF2B5EF4-FFF2-40B4-BE49-F238E27FC236}">
                <a16:creationId xmlns:a16="http://schemas.microsoft.com/office/drawing/2014/main" id="{B8733AD7-BB8D-5C79-0F5A-50D5B88A22DC}"/>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Vous modifiez un fichier via “SSH to Kudu”, mais votre application ne voit pas le changement.</a:t>
            </a:r>
          </a:p>
          <a:p>
            <a:pPr marL="0" indent="0">
              <a:buNone/>
            </a:pPr>
            <a:r>
              <a:rPr lang="fr-FR" sz="2400" dirty="0"/>
              <a:t>Pourquoi ?</a:t>
            </a:r>
          </a:p>
          <a:p>
            <a:pPr marL="0" indent="0">
              <a:buNone/>
            </a:pPr>
            <a:endParaRPr lang="fr-FR" sz="2400" dirty="0"/>
          </a:p>
          <a:p>
            <a:pPr>
              <a:buFont typeface="+mj-lt"/>
              <a:buAutoNum type="arabicPeriod"/>
            </a:pPr>
            <a:r>
              <a:rPr lang="fr-FR" sz="2400" dirty="0"/>
              <a:t>Kudu utilise un environnement différent de l’application</a:t>
            </a:r>
          </a:p>
          <a:p>
            <a:pPr>
              <a:buFont typeface="+mj-lt"/>
              <a:buAutoNum type="arabicPeriod"/>
            </a:pPr>
            <a:r>
              <a:rPr lang="fr-FR" sz="2400" dirty="0"/>
              <a:t>Les fichiers modifiés via Kudu ne sont jamais persistés</a:t>
            </a:r>
          </a:p>
          <a:p>
            <a:pPr>
              <a:buFont typeface="+mj-lt"/>
              <a:buAutoNum type="arabicPeriod"/>
            </a:pPr>
            <a:r>
              <a:rPr lang="fr-FR" sz="2400" dirty="0"/>
              <a:t>L’application est en lecture seule</a:t>
            </a:r>
          </a:p>
          <a:p>
            <a:pPr>
              <a:buFont typeface="+mj-lt"/>
              <a:buAutoNum type="arabicPeriod"/>
            </a:pPr>
            <a:r>
              <a:rPr lang="fr-FR" sz="2400" dirty="0"/>
              <a:t>Le cache Azure empêche la lecture</a:t>
            </a:r>
          </a:p>
        </p:txBody>
      </p:sp>
      <p:sp>
        <p:nvSpPr>
          <p:cNvPr id="7" name="ZoneTexte 6">
            <a:extLst>
              <a:ext uri="{FF2B5EF4-FFF2-40B4-BE49-F238E27FC236}">
                <a16:creationId xmlns:a16="http://schemas.microsoft.com/office/drawing/2014/main" id="{2F361DC5-2304-8071-67B4-BD9BC8085F57}"/>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1</a:t>
            </a:r>
          </a:p>
          <a:p>
            <a:endParaRPr lang="fr-FR" dirty="0"/>
          </a:p>
        </p:txBody>
      </p:sp>
      <p:sp>
        <p:nvSpPr>
          <p:cNvPr id="8" name="ZoneTexte 7">
            <a:extLst>
              <a:ext uri="{FF2B5EF4-FFF2-40B4-BE49-F238E27FC236}">
                <a16:creationId xmlns:a16="http://schemas.microsoft.com/office/drawing/2014/main" id="{0E79E7AA-0FBC-E1EC-D235-77C3A456DEF7}"/>
              </a:ext>
            </a:extLst>
          </p:cNvPr>
          <p:cNvSpPr txBox="1"/>
          <p:nvPr/>
        </p:nvSpPr>
        <p:spPr>
          <a:xfrm>
            <a:off x="35496" y="2852936"/>
            <a:ext cx="557808" cy="369332"/>
          </a:xfrm>
          <a:prstGeom prst="rect">
            <a:avLst/>
          </a:prstGeom>
          <a:noFill/>
        </p:spPr>
        <p:txBody>
          <a:bodyPr wrap="square">
            <a:spAutoFit/>
          </a:bodyPr>
          <a:lstStyle/>
          <a:p>
            <a:r>
              <a:rPr lang="fr-FR" b="1" dirty="0"/>
              <a:t>✅</a:t>
            </a:r>
            <a:endParaRPr lang="fr-FR" dirty="0"/>
          </a:p>
        </p:txBody>
      </p:sp>
      <p:sp>
        <p:nvSpPr>
          <p:cNvPr id="9" name="ZoneTexte 8">
            <a:extLst>
              <a:ext uri="{FF2B5EF4-FFF2-40B4-BE49-F238E27FC236}">
                <a16:creationId xmlns:a16="http://schemas.microsoft.com/office/drawing/2014/main" id="{71B75B17-F156-BE7D-8F01-CFF934566328}"/>
              </a:ext>
            </a:extLst>
          </p:cNvPr>
          <p:cNvSpPr txBox="1"/>
          <p:nvPr/>
        </p:nvSpPr>
        <p:spPr>
          <a:xfrm>
            <a:off x="1331640" y="5517232"/>
            <a:ext cx="5523884" cy="369332"/>
          </a:xfrm>
          <a:prstGeom prst="rect">
            <a:avLst/>
          </a:prstGeom>
          <a:noFill/>
        </p:spPr>
        <p:txBody>
          <a:bodyPr wrap="none" rtlCol="0">
            <a:spAutoFit/>
          </a:bodyPr>
          <a:lstStyle/>
          <a:p>
            <a:r>
              <a:rPr lang="fr-FR" dirty="0"/>
              <a:t>Il faut utiliser SSH to Application et non SSH to Kudu</a:t>
            </a:r>
          </a:p>
        </p:txBody>
      </p:sp>
    </p:spTree>
    <p:extLst>
      <p:ext uri="{BB962C8B-B14F-4D97-AF65-F5344CB8AC3E}">
        <p14:creationId xmlns:p14="http://schemas.microsoft.com/office/powerpoint/2010/main" val="96096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FB1E7-1ED5-A2D0-2929-AE1C51073369}"/>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65D7ECF3-A59D-BBBF-9190-1B28B13D9245}"/>
              </a:ext>
            </a:extLst>
          </p:cNvPr>
          <p:cNvSpPr>
            <a:spLocks noGrp="1"/>
          </p:cNvSpPr>
          <p:nvPr>
            <p:ph type="body" sz="quarter" idx="11"/>
          </p:nvPr>
        </p:nvSpPr>
        <p:spPr/>
        <p:txBody>
          <a:bodyPr/>
          <a:lstStyle/>
          <a:p>
            <a:r>
              <a:rPr lang="fr-FR" dirty="0"/>
              <a:t>Quizz 7</a:t>
            </a:r>
          </a:p>
        </p:txBody>
      </p:sp>
      <p:sp>
        <p:nvSpPr>
          <p:cNvPr id="3" name="Espace réservé du texte 2">
            <a:extLst>
              <a:ext uri="{FF2B5EF4-FFF2-40B4-BE49-F238E27FC236}">
                <a16:creationId xmlns:a16="http://schemas.microsoft.com/office/drawing/2014/main" id="{42406FBA-2E0B-E39C-843C-8F8F676F7371}"/>
              </a:ext>
            </a:extLst>
          </p:cNvPr>
          <p:cNvSpPr>
            <a:spLocks noGrp="1"/>
          </p:cNvSpPr>
          <p:nvPr>
            <p:ph type="body" sz="quarter" idx="12"/>
          </p:nvPr>
        </p:nvSpPr>
        <p:spPr>
          <a:xfrm>
            <a:off x="2604868" y="3501008"/>
            <a:ext cx="5624732" cy="1432560"/>
          </a:xfrm>
        </p:spPr>
        <p:txBody>
          <a:bodyPr/>
          <a:lstStyle/>
          <a:p>
            <a:r>
              <a:rPr lang="fr-FR" dirty="0"/>
              <a:t>Custom </a:t>
            </a:r>
            <a:r>
              <a:rPr lang="fr-FR" dirty="0" err="1"/>
              <a:t>domain</a:t>
            </a:r>
            <a:r>
              <a:rPr lang="fr-FR" dirty="0"/>
              <a:t> and Certificates</a:t>
            </a:r>
          </a:p>
        </p:txBody>
      </p:sp>
    </p:spTree>
    <p:extLst>
      <p:ext uri="{BB962C8B-B14F-4D97-AF65-F5344CB8AC3E}">
        <p14:creationId xmlns:p14="http://schemas.microsoft.com/office/powerpoint/2010/main" val="29079420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0E5E4-E644-CD85-B6CC-10B074F9C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0280B-4EAB-3744-2A07-007DBB7B69E8}"/>
              </a:ext>
            </a:extLst>
          </p:cNvPr>
          <p:cNvSpPr>
            <a:spLocks noGrp="1"/>
          </p:cNvSpPr>
          <p:nvPr>
            <p:ph type="title"/>
          </p:nvPr>
        </p:nvSpPr>
        <p:spPr/>
        <p:txBody>
          <a:bodyPr/>
          <a:lstStyle/>
          <a:p>
            <a:r>
              <a:rPr lang="en-US" dirty="0"/>
              <a:t>Question 1</a:t>
            </a:r>
          </a:p>
        </p:txBody>
      </p:sp>
      <p:sp>
        <p:nvSpPr>
          <p:cNvPr id="3" name="Content Placeholder 2">
            <a:extLst>
              <a:ext uri="{FF2B5EF4-FFF2-40B4-BE49-F238E27FC236}">
                <a16:creationId xmlns:a16="http://schemas.microsoft.com/office/drawing/2014/main" id="{3A19960E-CED1-3C12-22AD-40DBB8CBA798}"/>
              </a:ext>
            </a:extLst>
          </p:cNvPr>
          <p:cNvSpPr>
            <a:spLocks noGrp="1"/>
          </p:cNvSpPr>
          <p:nvPr>
            <p:ph type="body" sz="quarter" idx="13"/>
          </p:nvPr>
        </p:nvSpPr>
        <p:spPr>
          <a:xfrm>
            <a:off x="457200" y="1066800"/>
            <a:ext cx="8363272" cy="5314528"/>
          </a:xfrm>
          <a:prstGeom prst="rect">
            <a:avLst/>
          </a:prstGeom>
        </p:spPr>
        <p:txBody>
          <a:bodyPr/>
          <a:lstStyle/>
          <a:p>
            <a:pPr marL="0" indent="0">
              <a:buNone/>
            </a:pPr>
            <a:r>
              <a:rPr lang="fr-FR" sz="2400" dirty="0"/>
              <a:t>Pourquoi le bouton </a:t>
            </a:r>
            <a:r>
              <a:rPr lang="fr-FR" sz="2400" b="1" dirty="0" err="1"/>
              <a:t>Add</a:t>
            </a:r>
            <a:r>
              <a:rPr lang="fr-FR" sz="2400" b="1" dirty="0"/>
              <a:t> custom </a:t>
            </a:r>
            <a:r>
              <a:rPr lang="fr-FR" sz="2400" b="1" dirty="0" err="1"/>
              <a:t>domain</a:t>
            </a:r>
            <a:r>
              <a:rPr lang="fr-FR" sz="2400" dirty="0"/>
              <a:t> peut-il être grisé ?</a:t>
            </a:r>
          </a:p>
          <a:p>
            <a:pPr>
              <a:buFont typeface="+mj-lt"/>
              <a:buAutoNum type="arabicPeriod"/>
            </a:pPr>
            <a:r>
              <a:rPr lang="fr-FR" sz="2000" dirty="0"/>
              <a:t>Le domaine n’est pas valide </a:t>
            </a:r>
          </a:p>
          <a:p>
            <a:pPr>
              <a:buFont typeface="+mj-lt"/>
              <a:buAutoNum type="arabicPeriod"/>
            </a:pPr>
            <a:r>
              <a:rPr lang="fr-FR" sz="2000" dirty="0"/>
              <a:t>Le certificat SSL n’est pas configuré </a:t>
            </a:r>
          </a:p>
          <a:p>
            <a:pPr>
              <a:buFont typeface="+mj-lt"/>
              <a:buAutoNum type="arabicPeriod"/>
            </a:pPr>
            <a:r>
              <a:rPr lang="fr-FR" sz="2000" dirty="0"/>
              <a:t>Le plan App Service est en Free ou </a:t>
            </a:r>
            <a:r>
              <a:rPr lang="fr-FR" sz="2000" dirty="0" err="1"/>
              <a:t>Shared</a:t>
            </a:r>
            <a:r>
              <a:rPr lang="fr-FR" sz="2000" dirty="0"/>
              <a:t> </a:t>
            </a:r>
          </a:p>
          <a:p>
            <a:pPr>
              <a:buFont typeface="+mj-lt"/>
              <a:buAutoNum type="arabicPeriod"/>
            </a:pPr>
            <a:r>
              <a:rPr lang="fr-FR" sz="2000" dirty="0"/>
              <a:t>Le DNS n’est pas configuré</a:t>
            </a:r>
          </a:p>
          <a:p>
            <a:pPr marL="0" indent="0">
              <a:buNone/>
            </a:pPr>
            <a:endParaRPr lang="fr-FR" sz="2400" dirty="0"/>
          </a:p>
        </p:txBody>
      </p:sp>
      <p:pic>
        <p:nvPicPr>
          <p:cNvPr id="5" name="Image 4">
            <a:extLst>
              <a:ext uri="{FF2B5EF4-FFF2-40B4-BE49-F238E27FC236}">
                <a16:creationId xmlns:a16="http://schemas.microsoft.com/office/drawing/2014/main" id="{BE551A1A-7737-3745-1DC0-C1418FE765EF}"/>
              </a:ext>
            </a:extLst>
          </p:cNvPr>
          <p:cNvPicPr>
            <a:picLocks noChangeAspect="1"/>
          </p:cNvPicPr>
          <p:nvPr/>
        </p:nvPicPr>
        <p:blipFill>
          <a:blip r:embed="rId3"/>
          <a:stretch>
            <a:fillRect/>
          </a:stretch>
        </p:blipFill>
        <p:spPr>
          <a:xfrm>
            <a:off x="463602" y="3068960"/>
            <a:ext cx="5652120" cy="2802762"/>
          </a:xfrm>
          <a:prstGeom prst="rect">
            <a:avLst/>
          </a:prstGeom>
        </p:spPr>
      </p:pic>
      <p:sp>
        <p:nvSpPr>
          <p:cNvPr id="6" name="ZoneTexte 5">
            <a:extLst>
              <a:ext uri="{FF2B5EF4-FFF2-40B4-BE49-F238E27FC236}">
                <a16:creationId xmlns:a16="http://schemas.microsoft.com/office/drawing/2014/main" id="{B0612EEA-020A-54BD-7764-FD47020F5495}"/>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7" name="ZoneTexte 6">
            <a:extLst>
              <a:ext uri="{FF2B5EF4-FFF2-40B4-BE49-F238E27FC236}">
                <a16:creationId xmlns:a16="http://schemas.microsoft.com/office/drawing/2014/main" id="{BE8A022E-C2CE-6F39-924D-6371BAA19576}"/>
              </a:ext>
            </a:extLst>
          </p:cNvPr>
          <p:cNvSpPr txBox="1"/>
          <p:nvPr/>
        </p:nvSpPr>
        <p:spPr>
          <a:xfrm>
            <a:off x="44624" y="2276872"/>
            <a:ext cx="557808" cy="369332"/>
          </a:xfrm>
          <a:prstGeom prst="rect">
            <a:avLst/>
          </a:prstGeom>
          <a:noFill/>
        </p:spPr>
        <p:txBody>
          <a:bodyPr wrap="square">
            <a:spAutoFit/>
          </a:bodyPr>
          <a:lstStyle/>
          <a:p>
            <a:r>
              <a:rPr lang="fr-FR" b="1" dirty="0"/>
              <a:t>✅</a:t>
            </a:r>
            <a:endParaRPr lang="fr-FR" dirty="0"/>
          </a:p>
        </p:txBody>
      </p:sp>
      <p:sp>
        <p:nvSpPr>
          <p:cNvPr id="8" name="ZoneTexte 7">
            <a:extLst>
              <a:ext uri="{FF2B5EF4-FFF2-40B4-BE49-F238E27FC236}">
                <a16:creationId xmlns:a16="http://schemas.microsoft.com/office/drawing/2014/main" id="{52FE0DEF-90E4-F336-07D9-63A44CEAD816}"/>
              </a:ext>
            </a:extLst>
          </p:cNvPr>
          <p:cNvSpPr txBox="1"/>
          <p:nvPr/>
        </p:nvSpPr>
        <p:spPr>
          <a:xfrm>
            <a:off x="683568" y="6109812"/>
            <a:ext cx="6670865" cy="369332"/>
          </a:xfrm>
          <a:prstGeom prst="rect">
            <a:avLst/>
          </a:prstGeom>
          <a:noFill/>
        </p:spPr>
        <p:txBody>
          <a:bodyPr wrap="none" rtlCol="0">
            <a:spAutoFit/>
          </a:bodyPr>
          <a:lstStyle/>
          <a:p>
            <a:r>
              <a:rPr lang="fr-FR" dirty="0"/>
              <a:t>Les plans Free et </a:t>
            </a:r>
            <a:r>
              <a:rPr lang="fr-FR" dirty="0" err="1"/>
              <a:t>Shared</a:t>
            </a:r>
            <a:r>
              <a:rPr lang="fr-FR" dirty="0"/>
              <a:t> ne supportent pas les custom </a:t>
            </a:r>
            <a:r>
              <a:rPr lang="fr-FR" dirty="0" err="1"/>
              <a:t>domains</a:t>
            </a:r>
            <a:r>
              <a:rPr lang="fr-FR" dirty="0"/>
              <a:t>.</a:t>
            </a:r>
          </a:p>
        </p:txBody>
      </p:sp>
    </p:spTree>
    <p:extLst>
      <p:ext uri="{BB962C8B-B14F-4D97-AF65-F5344CB8AC3E}">
        <p14:creationId xmlns:p14="http://schemas.microsoft.com/office/powerpoint/2010/main" val="385395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8BA7B-BA64-D231-11CB-8369C045A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24F3F-926B-C2B0-5175-1DF76C07C093}"/>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CD0F76FB-0E68-ADEB-8362-C36666A26887}"/>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 est le rôle principal de l’enregistrement </a:t>
            </a:r>
            <a:r>
              <a:rPr lang="fr-FR" sz="2400" b="1" dirty="0"/>
              <a:t>TXT (</a:t>
            </a:r>
            <a:r>
              <a:rPr lang="fr-FR" sz="2400" b="1" dirty="0" err="1"/>
              <a:t>asuid</a:t>
            </a:r>
            <a:r>
              <a:rPr lang="fr-FR" sz="2400" b="1" dirty="0"/>
              <a:t>)</a:t>
            </a:r>
            <a:r>
              <a:rPr lang="fr-FR" sz="2400" dirty="0"/>
              <a:t> ?</a:t>
            </a:r>
          </a:p>
          <a:p>
            <a:pPr>
              <a:buFont typeface="+mj-lt"/>
              <a:buAutoNum type="arabicPeriod"/>
            </a:pPr>
            <a:r>
              <a:rPr lang="fr-FR" sz="2000" dirty="0"/>
              <a:t>Valider la propriété du domaine </a:t>
            </a:r>
          </a:p>
          <a:p>
            <a:pPr>
              <a:buFont typeface="+mj-lt"/>
              <a:buAutoNum type="arabicPeriod"/>
            </a:pPr>
            <a:r>
              <a:rPr lang="fr-FR" sz="2000" dirty="0"/>
              <a:t>Rediriger le trafic vers Azure </a:t>
            </a:r>
          </a:p>
          <a:p>
            <a:pPr>
              <a:buFont typeface="+mj-lt"/>
              <a:buAutoNum type="arabicPeriod"/>
            </a:pPr>
            <a:r>
              <a:rPr lang="fr-FR" sz="2000" dirty="0"/>
              <a:t>Activer HTTPS </a:t>
            </a:r>
          </a:p>
          <a:p>
            <a:pPr>
              <a:buFont typeface="+mj-lt"/>
              <a:buAutoNum type="arabicPeriod"/>
            </a:pPr>
            <a:r>
              <a:rPr lang="fr-FR" sz="2000" dirty="0"/>
              <a:t>Configurer le firewall</a:t>
            </a:r>
          </a:p>
          <a:p>
            <a:pPr marL="0" indent="0">
              <a:buNone/>
            </a:pPr>
            <a:endParaRPr lang="fr-FR" sz="2400" dirty="0"/>
          </a:p>
        </p:txBody>
      </p:sp>
      <p:sp>
        <p:nvSpPr>
          <p:cNvPr id="4" name="ZoneTexte 3">
            <a:extLst>
              <a:ext uri="{FF2B5EF4-FFF2-40B4-BE49-F238E27FC236}">
                <a16:creationId xmlns:a16="http://schemas.microsoft.com/office/drawing/2014/main" id="{3767F819-2818-4962-E52E-6383A92DF55F}"/>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1</a:t>
            </a:r>
          </a:p>
          <a:p>
            <a:endParaRPr lang="fr-FR" dirty="0"/>
          </a:p>
        </p:txBody>
      </p:sp>
      <p:sp>
        <p:nvSpPr>
          <p:cNvPr id="5" name="ZoneTexte 4">
            <a:extLst>
              <a:ext uri="{FF2B5EF4-FFF2-40B4-BE49-F238E27FC236}">
                <a16:creationId xmlns:a16="http://schemas.microsoft.com/office/drawing/2014/main" id="{15B5347C-C3C7-83A0-B6EC-54CFDCEAA15B}"/>
              </a:ext>
            </a:extLst>
          </p:cNvPr>
          <p:cNvSpPr txBox="1"/>
          <p:nvPr/>
        </p:nvSpPr>
        <p:spPr>
          <a:xfrm>
            <a:off x="35496" y="1517883"/>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097D67B4-6F0D-060A-B222-F5F0417CD8FE}"/>
              </a:ext>
            </a:extLst>
          </p:cNvPr>
          <p:cNvSpPr txBox="1"/>
          <p:nvPr/>
        </p:nvSpPr>
        <p:spPr>
          <a:xfrm>
            <a:off x="107504" y="4509120"/>
            <a:ext cx="7670048" cy="646331"/>
          </a:xfrm>
          <a:prstGeom prst="rect">
            <a:avLst/>
          </a:prstGeom>
          <a:noFill/>
        </p:spPr>
        <p:txBody>
          <a:bodyPr wrap="none" rtlCol="0">
            <a:spAutoFit/>
          </a:bodyPr>
          <a:lstStyle/>
          <a:p>
            <a:r>
              <a:rPr lang="fr-FR" dirty="0"/>
              <a:t>Le TXT sert uniquement à prouver que vous êtes propriétaire du domaine.</a:t>
            </a:r>
          </a:p>
          <a:p>
            <a:r>
              <a:rPr lang="fr-FR" dirty="0"/>
              <a:t>Le CNAME permet de rediriger vers azurewebsites.net.</a:t>
            </a:r>
          </a:p>
        </p:txBody>
      </p:sp>
    </p:spTree>
    <p:extLst>
      <p:ext uri="{BB962C8B-B14F-4D97-AF65-F5344CB8AC3E}">
        <p14:creationId xmlns:p14="http://schemas.microsoft.com/office/powerpoint/2010/main" val="3704579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D2A9-670C-5048-A37F-5C495AF79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766E2-DE11-6F40-4747-CD6D6D9FF8A1}"/>
              </a:ext>
            </a:extLst>
          </p:cNvPr>
          <p:cNvSpPr>
            <a:spLocks noGrp="1"/>
          </p:cNvSpPr>
          <p:nvPr>
            <p:ph type="title"/>
          </p:nvPr>
        </p:nvSpPr>
        <p:spPr/>
        <p:txBody>
          <a:bodyPr/>
          <a:lstStyle/>
          <a:p>
            <a:r>
              <a:rPr lang="en-US" dirty="0"/>
              <a:t>Question  3</a:t>
            </a:r>
          </a:p>
        </p:txBody>
      </p:sp>
      <p:sp>
        <p:nvSpPr>
          <p:cNvPr id="3" name="Content Placeholder 2">
            <a:extLst>
              <a:ext uri="{FF2B5EF4-FFF2-40B4-BE49-F238E27FC236}">
                <a16:creationId xmlns:a16="http://schemas.microsoft.com/office/drawing/2014/main" id="{9D3DA1CB-9EF6-DD83-E525-2CB8805297B1}"/>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 type de certificat est utilisé dans la démo ?</a:t>
            </a:r>
          </a:p>
          <a:p>
            <a:pPr>
              <a:buFont typeface="+mj-lt"/>
              <a:buAutoNum type="arabicPeriod"/>
            </a:pPr>
            <a:r>
              <a:rPr lang="fr-FR" sz="2400" dirty="0" err="1"/>
              <a:t>Wildcard</a:t>
            </a:r>
            <a:r>
              <a:rPr lang="fr-FR" sz="2400" dirty="0"/>
              <a:t> </a:t>
            </a:r>
            <a:r>
              <a:rPr lang="fr-FR" sz="2400" dirty="0" err="1"/>
              <a:t>certificate</a:t>
            </a:r>
            <a:r>
              <a:rPr lang="fr-FR" sz="2400" dirty="0"/>
              <a:t> </a:t>
            </a:r>
          </a:p>
          <a:p>
            <a:pPr>
              <a:buFont typeface="+mj-lt"/>
              <a:buAutoNum type="arabicPeriod"/>
            </a:pPr>
            <a:r>
              <a:rPr lang="fr-FR" sz="2400" dirty="0"/>
              <a:t>Self-</a:t>
            </a:r>
            <a:r>
              <a:rPr lang="fr-FR" sz="2400" dirty="0" err="1"/>
              <a:t>signed</a:t>
            </a:r>
            <a:r>
              <a:rPr lang="fr-FR" sz="2400" dirty="0"/>
              <a:t> </a:t>
            </a:r>
            <a:r>
              <a:rPr lang="fr-FR" sz="2400" dirty="0" err="1"/>
              <a:t>certificate</a:t>
            </a:r>
            <a:r>
              <a:rPr lang="fr-FR" sz="2400" dirty="0"/>
              <a:t> </a:t>
            </a:r>
          </a:p>
          <a:p>
            <a:pPr>
              <a:buFont typeface="+mj-lt"/>
              <a:buAutoNum type="arabicPeriod"/>
            </a:pPr>
            <a:r>
              <a:rPr lang="fr-FR" sz="2400" dirty="0"/>
              <a:t>Azure Key Vault </a:t>
            </a:r>
            <a:r>
              <a:rPr lang="fr-FR" sz="2400" dirty="0" err="1"/>
              <a:t>certificate</a:t>
            </a:r>
            <a:endParaRPr lang="fr-FR" sz="2400" dirty="0"/>
          </a:p>
          <a:p>
            <a:pPr>
              <a:buFont typeface="+mj-lt"/>
              <a:buAutoNum type="arabicPeriod"/>
            </a:pPr>
            <a:r>
              <a:rPr lang="fr-FR" sz="2400" dirty="0"/>
              <a:t>App Service </a:t>
            </a:r>
            <a:r>
              <a:rPr lang="fr-FR" sz="2400" dirty="0" err="1"/>
              <a:t>Managed</a:t>
            </a:r>
            <a:r>
              <a:rPr lang="fr-FR" sz="2400" dirty="0"/>
              <a:t> </a:t>
            </a:r>
            <a:r>
              <a:rPr lang="fr-FR" sz="2400" dirty="0" err="1"/>
              <a:t>Certificate</a:t>
            </a:r>
            <a:r>
              <a:rPr lang="fr-FR" sz="2400" dirty="0"/>
              <a:t> </a:t>
            </a:r>
          </a:p>
          <a:p>
            <a:pPr marL="0" indent="0">
              <a:buNone/>
            </a:pPr>
            <a:endParaRPr lang="fr-FR" sz="2400" dirty="0"/>
          </a:p>
        </p:txBody>
      </p:sp>
      <p:sp>
        <p:nvSpPr>
          <p:cNvPr id="4" name="ZoneTexte 3">
            <a:extLst>
              <a:ext uri="{FF2B5EF4-FFF2-40B4-BE49-F238E27FC236}">
                <a16:creationId xmlns:a16="http://schemas.microsoft.com/office/drawing/2014/main" id="{5D290A78-4E14-8D62-BB59-CD9DF1EC7FD5}"/>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
        <p:nvSpPr>
          <p:cNvPr id="5" name="ZoneTexte 4">
            <a:extLst>
              <a:ext uri="{FF2B5EF4-FFF2-40B4-BE49-F238E27FC236}">
                <a16:creationId xmlns:a16="http://schemas.microsoft.com/office/drawing/2014/main" id="{A0B007DF-8DEE-8987-7E7A-FD4B3BE6F3F2}"/>
              </a:ext>
            </a:extLst>
          </p:cNvPr>
          <p:cNvSpPr txBox="1"/>
          <p:nvPr/>
        </p:nvSpPr>
        <p:spPr>
          <a:xfrm>
            <a:off x="-36512" y="2924944"/>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431CC5BC-7AB1-C64E-9B4F-51214D7EEAA4}"/>
              </a:ext>
            </a:extLst>
          </p:cNvPr>
          <p:cNvSpPr txBox="1"/>
          <p:nvPr/>
        </p:nvSpPr>
        <p:spPr>
          <a:xfrm>
            <a:off x="107504" y="4509120"/>
            <a:ext cx="3589637" cy="369332"/>
          </a:xfrm>
          <a:prstGeom prst="rect">
            <a:avLst/>
          </a:prstGeom>
          <a:noFill/>
        </p:spPr>
        <p:txBody>
          <a:bodyPr wrap="none" rtlCol="0">
            <a:spAutoFit/>
          </a:bodyPr>
          <a:lstStyle/>
          <a:p>
            <a:r>
              <a:rPr lang="fr-FR" dirty="0"/>
              <a:t>Certificat gratuit fourni par Azure.</a:t>
            </a:r>
          </a:p>
        </p:txBody>
      </p:sp>
    </p:spTree>
    <p:extLst>
      <p:ext uri="{BB962C8B-B14F-4D97-AF65-F5344CB8AC3E}">
        <p14:creationId xmlns:p14="http://schemas.microsoft.com/office/powerpoint/2010/main" val="2218610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415EE-0A04-4005-9D6A-EADEBF081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C1264-EC7A-3E73-4056-CAF29102A2C6}"/>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15E63585-BEF1-DED3-2A4A-EF16CAFFCCE7}"/>
              </a:ext>
            </a:extLst>
          </p:cNvPr>
          <p:cNvSpPr>
            <a:spLocks noGrp="1"/>
          </p:cNvSpPr>
          <p:nvPr>
            <p:ph type="body" sz="quarter" idx="13"/>
          </p:nvPr>
        </p:nvSpPr>
        <p:spPr>
          <a:xfrm>
            <a:off x="457200" y="1066800"/>
            <a:ext cx="8363272" cy="5314528"/>
          </a:xfrm>
          <a:prstGeom prst="rect">
            <a:avLst/>
          </a:prstGeom>
        </p:spPr>
        <p:txBody>
          <a:bodyPr/>
          <a:lstStyle/>
          <a:p>
            <a:pPr marL="0" indent="0">
              <a:buNone/>
            </a:pPr>
            <a:r>
              <a:rPr lang="fr-FR" sz="2400" dirty="0"/>
              <a:t>Quel type SSL est utilisé avec un certificat gratuit Azure ?</a:t>
            </a:r>
          </a:p>
          <a:p>
            <a:pPr>
              <a:buFont typeface="+mj-lt"/>
              <a:buAutoNum type="arabicPeriod"/>
            </a:pPr>
            <a:r>
              <a:rPr lang="fr-FR" sz="2000" dirty="0"/>
              <a:t>IP-</a:t>
            </a:r>
            <a:r>
              <a:rPr lang="fr-FR" sz="2000" dirty="0" err="1"/>
              <a:t>based</a:t>
            </a:r>
            <a:r>
              <a:rPr lang="fr-FR" sz="2000" dirty="0"/>
              <a:t> SSL </a:t>
            </a:r>
          </a:p>
          <a:p>
            <a:pPr>
              <a:buFont typeface="+mj-lt"/>
              <a:buAutoNum type="arabicPeriod"/>
            </a:pPr>
            <a:r>
              <a:rPr lang="fr-FR" sz="2000" dirty="0"/>
              <a:t>SNI SSL </a:t>
            </a:r>
          </a:p>
          <a:p>
            <a:pPr>
              <a:buFont typeface="+mj-lt"/>
              <a:buAutoNum type="arabicPeriod"/>
            </a:pPr>
            <a:r>
              <a:rPr lang="fr-FR" sz="2000" dirty="0"/>
              <a:t>TLS 1.0 </a:t>
            </a:r>
          </a:p>
          <a:p>
            <a:pPr>
              <a:buFont typeface="+mj-lt"/>
              <a:buAutoNum type="arabicPeriod"/>
            </a:pPr>
            <a:r>
              <a:rPr lang="fr-FR" sz="2000" dirty="0" err="1"/>
              <a:t>Mutual</a:t>
            </a:r>
            <a:r>
              <a:rPr lang="fr-FR" sz="2000" dirty="0"/>
              <a:t> TLS</a:t>
            </a:r>
          </a:p>
          <a:p>
            <a:pPr marL="0" indent="0">
              <a:buNone/>
            </a:pPr>
            <a:endParaRPr lang="fr-FR" sz="2000" dirty="0"/>
          </a:p>
          <a:p>
            <a:pPr marL="0" indent="0">
              <a:buNone/>
            </a:pPr>
            <a:endParaRPr lang="fr-FR" sz="2400" dirty="0"/>
          </a:p>
        </p:txBody>
      </p:sp>
      <p:sp>
        <p:nvSpPr>
          <p:cNvPr id="4" name="ZoneTexte 3">
            <a:extLst>
              <a:ext uri="{FF2B5EF4-FFF2-40B4-BE49-F238E27FC236}">
                <a16:creationId xmlns:a16="http://schemas.microsoft.com/office/drawing/2014/main" id="{0EF75DD8-A1F4-5D9F-FE6A-724A4858563A}"/>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5" name="ZoneTexte 4">
            <a:extLst>
              <a:ext uri="{FF2B5EF4-FFF2-40B4-BE49-F238E27FC236}">
                <a16:creationId xmlns:a16="http://schemas.microsoft.com/office/drawing/2014/main" id="{B0C12690-E282-9C5A-752C-83FE0E0EEE82}"/>
              </a:ext>
            </a:extLst>
          </p:cNvPr>
          <p:cNvSpPr txBox="1"/>
          <p:nvPr/>
        </p:nvSpPr>
        <p:spPr>
          <a:xfrm>
            <a:off x="65220" y="1916832"/>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2E0D387D-70E6-B30A-E3EC-B0712A99EEC2}"/>
              </a:ext>
            </a:extLst>
          </p:cNvPr>
          <p:cNvSpPr txBox="1"/>
          <p:nvPr/>
        </p:nvSpPr>
        <p:spPr>
          <a:xfrm>
            <a:off x="107504" y="4509120"/>
            <a:ext cx="6340390" cy="923330"/>
          </a:xfrm>
          <a:prstGeom prst="rect">
            <a:avLst/>
          </a:prstGeom>
          <a:noFill/>
        </p:spPr>
        <p:txBody>
          <a:bodyPr wrap="none" rtlCol="0">
            <a:spAutoFit/>
          </a:bodyPr>
          <a:lstStyle/>
          <a:p>
            <a:r>
              <a:rPr lang="fr-FR" dirty="0"/>
              <a:t>SNI SSL est le mode standard (multi-domaines sur même IP).</a:t>
            </a:r>
          </a:p>
          <a:p>
            <a:r>
              <a:rPr lang="fr-FR" dirty="0"/>
              <a:t>SNI SSL est gratuit</a:t>
            </a:r>
          </a:p>
          <a:p>
            <a:r>
              <a:rPr lang="fr-FR" dirty="0"/>
              <a:t>IP-</a:t>
            </a:r>
            <a:r>
              <a:rPr lang="fr-FR" dirty="0" err="1"/>
              <a:t>based</a:t>
            </a:r>
            <a:r>
              <a:rPr lang="fr-FR" dirty="0"/>
              <a:t> SSL est payant, mais plus sécurisé</a:t>
            </a:r>
          </a:p>
        </p:txBody>
      </p:sp>
    </p:spTree>
    <p:extLst>
      <p:ext uri="{BB962C8B-B14F-4D97-AF65-F5344CB8AC3E}">
        <p14:creationId xmlns:p14="http://schemas.microsoft.com/office/powerpoint/2010/main" val="848362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221B2-F87B-ABE3-5941-1CE2F807F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2CECE-870B-90C7-5AE3-BB2D2894C260}"/>
              </a:ext>
            </a:extLst>
          </p:cNvPr>
          <p:cNvSpPr>
            <a:spLocks noGrp="1"/>
          </p:cNvSpPr>
          <p:nvPr>
            <p:ph type="title"/>
          </p:nvPr>
        </p:nvSpPr>
        <p:spPr/>
        <p:txBody>
          <a:bodyPr/>
          <a:lstStyle/>
          <a:p>
            <a:r>
              <a:rPr lang="en-US" dirty="0"/>
              <a:t>Question  5</a:t>
            </a:r>
          </a:p>
        </p:txBody>
      </p:sp>
      <p:sp>
        <p:nvSpPr>
          <p:cNvPr id="3" name="Content Placeholder 2">
            <a:extLst>
              <a:ext uri="{FF2B5EF4-FFF2-40B4-BE49-F238E27FC236}">
                <a16:creationId xmlns:a16="http://schemas.microsoft.com/office/drawing/2014/main" id="{A3495792-9A22-2520-45D5-102BE291E3A7}"/>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Pourquoi le type </a:t>
            </a:r>
            <a:r>
              <a:rPr lang="fr-FR" sz="2400" b="1" dirty="0"/>
              <a:t>IP-</a:t>
            </a:r>
            <a:r>
              <a:rPr lang="fr-FR" sz="2400" b="1" dirty="0" err="1"/>
              <a:t>based</a:t>
            </a:r>
            <a:r>
              <a:rPr lang="fr-FR" sz="2400" b="1" dirty="0"/>
              <a:t> SSL</a:t>
            </a:r>
            <a:r>
              <a:rPr lang="fr-FR" sz="2400" dirty="0"/>
              <a:t> est rarement utilisé ?</a:t>
            </a:r>
          </a:p>
          <a:p>
            <a:pPr>
              <a:buFont typeface="+mj-lt"/>
              <a:buAutoNum type="arabicPeriod"/>
            </a:pPr>
            <a:r>
              <a:rPr lang="fr-FR" sz="2400" dirty="0"/>
              <a:t>Il ne fonctionne pas avec Azure </a:t>
            </a:r>
          </a:p>
          <a:p>
            <a:pPr>
              <a:buFont typeface="+mj-lt"/>
              <a:buAutoNum type="arabicPeriod"/>
            </a:pPr>
            <a:r>
              <a:rPr lang="fr-FR" sz="2400" dirty="0"/>
              <a:t>Il est moins sécurisé </a:t>
            </a:r>
          </a:p>
          <a:p>
            <a:pPr>
              <a:buFont typeface="+mj-lt"/>
              <a:buAutoNum type="arabicPeriod"/>
            </a:pPr>
            <a:r>
              <a:rPr lang="fr-FR" sz="2400" dirty="0"/>
              <a:t>Il consomme une IP dédiée (coût supplémentaire) </a:t>
            </a:r>
          </a:p>
          <a:p>
            <a:pPr>
              <a:buFont typeface="+mj-lt"/>
              <a:buAutoNum type="arabicPeriod"/>
            </a:pPr>
            <a:r>
              <a:rPr lang="fr-FR" sz="2400" dirty="0"/>
              <a:t>Il ne supporte pas HTTPS</a:t>
            </a:r>
          </a:p>
        </p:txBody>
      </p:sp>
      <p:sp>
        <p:nvSpPr>
          <p:cNvPr id="4" name="ZoneTexte 3">
            <a:extLst>
              <a:ext uri="{FF2B5EF4-FFF2-40B4-BE49-F238E27FC236}">
                <a16:creationId xmlns:a16="http://schemas.microsoft.com/office/drawing/2014/main" id="{8AE78491-3644-7E96-7E47-E45FC50DCDCC}"/>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0A018BB6-9066-4040-C259-12BFF4E87CC5}"/>
              </a:ext>
            </a:extLst>
          </p:cNvPr>
          <p:cNvSpPr txBox="1"/>
          <p:nvPr/>
        </p:nvSpPr>
        <p:spPr>
          <a:xfrm>
            <a:off x="51757" y="2418628"/>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AF05964F-B67E-CE70-D3DE-71FA291002C5}"/>
              </a:ext>
            </a:extLst>
          </p:cNvPr>
          <p:cNvSpPr txBox="1"/>
          <p:nvPr/>
        </p:nvSpPr>
        <p:spPr>
          <a:xfrm>
            <a:off x="107504" y="4509120"/>
            <a:ext cx="247184" cy="369332"/>
          </a:xfrm>
          <a:prstGeom prst="rect">
            <a:avLst/>
          </a:prstGeom>
          <a:noFill/>
        </p:spPr>
        <p:txBody>
          <a:bodyPr wrap="none" rtlCol="0">
            <a:spAutoFit/>
          </a:bodyPr>
          <a:lstStyle/>
          <a:p>
            <a:r>
              <a:rPr lang="fr-FR" dirty="0"/>
              <a:t> </a:t>
            </a:r>
          </a:p>
        </p:txBody>
      </p:sp>
    </p:spTree>
    <p:extLst>
      <p:ext uri="{BB962C8B-B14F-4D97-AF65-F5344CB8AC3E}">
        <p14:creationId xmlns:p14="http://schemas.microsoft.com/office/powerpoint/2010/main" val="339184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E6CD6-0837-2413-A6D0-BF83D3CF4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5C05C-FFBA-E5F4-51CB-EF667E3A1A8E}"/>
              </a:ext>
            </a:extLst>
          </p:cNvPr>
          <p:cNvSpPr>
            <a:spLocks noGrp="1"/>
          </p:cNvSpPr>
          <p:nvPr>
            <p:ph type="title"/>
          </p:nvPr>
        </p:nvSpPr>
        <p:spPr/>
        <p:txBody>
          <a:bodyPr/>
          <a:lstStyle/>
          <a:p>
            <a:r>
              <a:rPr lang="en-US" dirty="0"/>
              <a:t>Question  6</a:t>
            </a:r>
          </a:p>
        </p:txBody>
      </p:sp>
      <p:sp>
        <p:nvSpPr>
          <p:cNvPr id="3" name="Content Placeholder 2">
            <a:extLst>
              <a:ext uri="{FF2B5EF4-FFF2-40B4-BE49-F238E27FC236}">
                <a16:creationId xmlns:a16="http://schemas.microsoft.com/office/drawing/2014/main" id="{4803ABD0-A1D6-D860-8943-2BFB3FAC7687}"/>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 fait l’action </a:t>
            </a:r>
            <a:r>
              <a:rPr lang="fr-FR" sz="2400" b="1" dirty="0" err="1"/>
              <a:t>Validate</a:t>
            </a:r>
            <a:r>
              <a:rPr lang="fr-FR" sz="2400" dirty="0"/>
              <a:t> dans Azure ?</a:t>
            </a:r>
          </a:p>
          <a:p>
            <a:pPr>
              <a:buFont typeface="+mj-lt"/>
              <a:buAutoNum type="arabicPeriod"/>
            </a:pPr>
            <a:r>
              <a:rPr lang="fr-FR" sz="2000" dirty="0"/>
              <a:t>Configure automatiquement le DNS </a:t>
            </a:r>
          </a:p>
          <a:p>
            <a:pPr>
              <a:buFont typeface="+mj-lt"/>
              <a:buAutoNum type="arabicPeriod"/>
            </a:pPr>
            <a:r>
              <a:rPr lang="fr-FR" sz="2000" dirty="0"/>
              <a:t>Vérifie la présence des enregistrements DNS </a:t>
            </a:r>
          </a:p>
          <a:p>
            <a:pPr>
              <a:buFont typeface="+mj-lt"/>
              <a:buAutoNum type="arabicPeriod"/>
            </a:pPr>
            <a:r>
              <a:rPr lang="fr-FR" sz="2000" dirty="0"/>
              <a:t>Déploie l’application </a:t>
            </a:r>
          </a:p>
          <a:p>
            <a:pPr>
              <a:buFont typeface="+mj-lt"/>
              <a:buAutoNum type="arabicPeriod"/>
            </a:pPr>
            <a:r>
              <a:rPr lang="fr-FR" sz="2000" dirty="0"/>
              <a:t>Active le SSL </a:t>
            </a:r>
          </a:p>
          <a:p>
            <a:pPr marL="0" indent="0">
              <a:buNone/>
            </a:pPr>
            <a:endParaRPr lang="fr-FR" sz="2000" dirty="0"/>
          </a:p>
          <a:p>
            <a:pPr marL="0" indent="0">
              <a:buNone/>
            </a:pPr>
            <a:endParaRPr lang="fr-FR" sz="2400" dirty="0"/>
          </a:p>
        </p:txBody>
      </p:sp>
      <p:sp>
        <p:nvSpPr>
          <p:cNvPr id="4" name="ZoneTexte 3">
            <a:extLst>
              <a:ext uri="{FF2B5EF4-FFF2-40B4-BE49-F238E27FC236}">
                <a16:creationId xmlns:a16="http://schemas.microsoft.com/office/drawing/2014/main" id="{AA6B8E1D-248D-0E24-05D6-541473F0E50E}"/>
              </a:ext>
            </a:extLst>
          </p:cNvPr>
          <p:cNvSpPr txBox="1"/>
          <p:nvPr/>
        </p:nvSpPr>
        <p:spPr>
          <a:xfrm>
            <a:off x="1547664" y="3356992"/>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5" name="ZoneTexte 4">
            <a:extLst>
              <a:ext uri="{FF2B5EF4-FFF2-40B4-BE49-F238E27FC236}">
                <a16:creationId xmlns:a16="http://schemas.microsoft.com/office/drawing/2014/main" id="{CAB2DEE5-CF47-D30F-202F-A545E05C5796}"/>
              </a:ext>
            </a:extLst>
          </p:cNvPr>
          <p:cNvSpPr txBox="1"/>
          <p:nvPr/>
        </p:nvSpPr>
        <p:spPr>
          <a:xfrm>
            <a:off x="40775" y="1844824"/>
            <a:ext cx="557808" cy="369332"/>
          </a:xfrm>
          <a:prstGeom prst="rect">
            <a:avLst/>
          </a:prstGeom>
          <a:noFill/>
        </p:spPr>
        <p:txBody>
          <a:bodyPr wrap="square">
            <a:spAutoFit/>
          </a:bodyPr>
          <a:lstStyle/>
          <a:p>
            <a:r>
              <a:rPr lang="fr-FR" b="1" dirty="0"/>
              <a:t>✅</a:t>
            </a:r>
            <a:endParaRPr lang="fr-FR" dirty="0"/>
          </a:p>
        </p:txBody>
      </p:sp>
      <p:pic>
        <p:nvPicPr>
          <p:cNvPr id="10" name="Image 9">
            <a:extLst>
              <a:ext uri="{FF2B5EF4-FFF2-40B4-BE49-F238E27FC236}">
                <a16:creationId xmlns:a16="http://schemas.microsoft.com/office/drawing/2014/main" id="{B0579161-495C-3C27-1DE9-3A21D17F90AB}"/>
              </a:ext>
            </a:extLst>
          </p:cNvPr>
          <p:cNvPicPr>
            <a:picLocks noChangeAspect="1"/>
          </p:cNvPicPr>
          <p:nvPr/>
        </p:nvPicPr>
        <p:blipFill>
          <a:blip r:embed="rId3"/>
          <a:stretch>
            <a:fillRect/>
          </a:stretch>
        </p:blipFill>
        <p:spPr>
          <a:xfrm>
            <a:off x="3491879" y="2276872"/>
            <a:ext cx="5602957" cy="4348296"/>
          </a:xfrm>
          <a:prstGeom prst="rect">
            <a:avLst/>
          </a:prstGeom>
        </p:spPr>
      </p:pic>
    </p:spTree>
    <p:extLst>
      <p:ext uri="{BB962C8B-B14F-4D97-AF65-F5344CB8AC3E}">
        <p14:creationId xmlns:p14="http://schemas.microsoft.com/office/powerpoint/2010/main" val="3695621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5A00B-C8BF-FBC6-982A-20D48A410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56E2E-1E57-CE02-58BA-615B720AF8D4}"/>
              </a:ext>
            </a:extLst>
          </p:cNvPr>
          <p:cNvSpPr>
            <a:spLocks noGrp="1"/>
          </p:cNvSpPr>
          <p:nvPr>
            <p:ph type="title"/>
          </p:nvPr>
        </p:nvSpPr>
        <p:spPr/>
        <p:txBody>
          <a:bodyPr/>
          <a:lstStyle/>
          <a:p>
            <a:r>
              <a:rPr lang="en-US" dirty="0"/>
              <a:t>Question  7</a:t>
            </a:r>
          </a:p>
        </p:txBody>
      </p:sp>
      <p:sp>
        <p:nvSpPr>
          <p:cNvPr id="3" name="Content Placeholder 2">
            <a:extLst>
              <a:ext uri="{FF2B5EF4-FFF2-40B4-BE49-F238E27FC236}">
                <a16:creationId xmlns:a16="http://schemas.microsoft.com/office/drawing/2014/main" id="{25604B42-8EE8-5319-A8F5-F3D068908081}"/>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Une Web App fonctionne en HTTP mais pas en HTTPS après ajout du domaine. Pourquoi ?</a:t>
            </a:r>
          </a:p>
          <a:p>
            <a:pPr>
              <a:buFont typeface="+mj-lt"/>
              <a:buAutoNum type="arabicPeriod"/>
            </a:pPr>
            <a:r>
              <a:rPr lang="fr-FR" sz="2000" dirty="0"/>
              <a:t>Le TXT est manquant </a:t>
            </a:r>
          </a:p>
          <a:p>
            <a:pPr>
              <a:buFont typeface="+mj-lt"/>
              <a:buAutoNum type="arabicPeriod"/>
            </a:pPr>
            <a:r>
              <a:rPr lang="fr-FR" sz="2000" dirty="0"/>
              <a:t>Le CNAME est incorrect </a:t>
            </a:r>
          </a:p>
          <a:p>
            <a:pPr>
              <a:buFont typeface="+mj-lt"/>
              <a:buAutoNum type="arabicPeriod"/>
            </a:pPr>
            <a:r>
              <a:rPr lang="fr-FR" sz="2000" dirty="0"/>
              <a:t>Le certificat SSL n’est pas configuré </a:t>
            </a:r>
          </a:p>
          <a:p>
            <a:pPr>
              <a:buFont typeface="+mj-lt"/>
              <a:buAutoNum type="arabicPeriod"/>
            </a:pPr>
            <a:r>
              <a:rPr lang="fr-FR" sz="2000" dirty="0"/>
              <a:t>Le plan App Service est incorrect</a:t>
            </a:r>
          </a:p>
          <a:p>
            <a:pPr marL="0" indent="0">
              <a:buNone/>
            </a:pPr>
            <a:endParaRPr lang="fr-FR" sz="2000" dirty="0"/>
          </a:p>
          <a:p>
            <a:pPr marL="0" indent="0">
              <a:buNone/>
            </a:pPr>
            <a:endParaRPr lang="fr-FR" sz="2400" dirty="0"/>
          </a:p>
        </p:txBody>
      </p:sp>
      <p:sp>
        <p:nvSpPr>
          <p:cNvPr id="4" name="ZoneTexte 3">
            <a:extLst>
              <a:ext uri="{FF2B5EF4-FFF2-40B4-BE49-F238E27FC236}">
                <a16:creationId xmlns:a16="http://schemas.microsoft.com/office/drawing/2014/main" id="{F2C0912E-81AB-E58D-022C-FB945A8C704A}"/>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5" name="ZoneTexte 4">
            <a:extLst>
              <a:ext uri="{FF2B5EF4-FFF2-40B4-BE49-F238E27FC236}">
                <a16:creationId xmlns:a16="http://schemas.microsoft.com/office/drawing/2014/main" id="{7F23752D-7B85-4AD2-9146-E3DAB6801B0A}"/>
              </a:ext>
            </a:extLst>
          </p:cNvPr>
          <p:cNvSpPr txBox="1"/>
          <p:nvPr/>
        </p:nvSpPr>
        <p:spPr>
          <a:xfrm>
            <a:off x="51757" y="2627620"/>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D1D5AEAA-1B3E-10B7-64F9-C56BF082C432}"/>
              </a:ext>
            </a:extLst>
          </p:cNvPr>
          <p:cNvSpPr txBox="1"/>
          <p:nvPr/>
        </p:nvSpPr>
        <p:spPr>
          <a:xfrm>
            <a:off x="1763688" y="4653136"/>
            <a:ext cx="3468642" cy="369332"/>
          </a:xfrm>
          <a:prstGeom prst="rect">
            <a:avLst/>
          </a:prstGeom>
          <a:noFill/>
        </p:spPr>
        <p:txBody>
          <a:bodyPr wrap="none" rtlCol="0">
            <a:spAutoFit/>
          </a:bodyPr>
          <a:lstStyle/>
          <a:p>
            <a:r>
              <a:rPr lang="fr-FR" dirty="0"/>
              <a:t>HTTPS nécessite un binding SSL.</a:t>
            </a:r>
          </a:p>
        </p:txBody>
      </p:sp>
    </p:spTree>
    <p:extLst>
      <p:ext uri="{BB962C8B-B14F-4D97-AF65-F5344CB8AC3E}">
        <p14:creationId xmlns:p14="http://schemas.microsoft.com/office/powerpoint/2010/main" val="401320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F900-559C-CDA2-E3AA-2218D71AB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EB3F1-B0A8-E400-1720-680AA80CB1C7}"/>
              </a:ext>
            </a:extLst>
          </p:cNvPr>
          <p:cNvSpPr>
            <a:spLocks noGrp="1"/>
          </p:cNvSpPr>
          <p:nvPr>
            <p:ph type="title"/>
          </p:nvPr>
        </p:nvSpPr>
        <p:spPr/>
        <p:txBody>
          <a:bodyPr/>
          <a:lstStyle/>
          <a:p>
            <a:r>
              <a:rPr lang="en-US" dirty="0"/>
              <a:t>Question 8</a:t>
            </a:r>
          </a:p>
        </p:txBody>
      </p:sp>
      <p:sp>
        <p:nvSpPr>
          <p:cNvPr id="3" name="Content Placeholder 2">
            <a:extLst>
              <a:ext uri="{FF2B5EF4-FFF2-40B4-BE49-F238E27FC236}">
                <a16:creationId xmlns:a16="http://schemas.microsoft.com/office/drawing/2014/main" id="{5BEFA842-F4BE-FD74-6284-90BA9124D314}"/>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dirty="0"/>
              <a:t>Pourquoi Azure recommande le certificat </a:t>
            </a:r>
            <a:r>
              <a:rPr lang="fr-FR" dirty="0" err="1"/>
              <a:t>Managed</a:t>
            </a:r>
            <a:r>
              <a:rPr lang="fr-FR" dirty="0"/>
              <a:t> </a:t>
            </a:r>
            <a:r>
              <a:rPr lang="fr-FR" dirty="0" err="1"/>
              <a:t>Certificate</a:t>
            </a:r>
            <a:r>
              <a:rPr lang="fr-FR" dirty="0"/>
              <a:t> ?</a:t>
            </a:r>
          </a:p>
          <a:p>
            <a:pPr marL="514350" indent="-514350">
              <a:buFont typeface="+mj-lt"/>
              <a:buAutoNum type="arabicPeriod"/>
            </a:pPr>
            <a:r>
              <a:rPr lang="fr-FR" sz="2400" dirty="0"/>
              <a:t>Plus rapide que DNS </a:t>
            </a:r>
          </a:p>
          <a:p>
            <a:pPr marL="514350" indent="-514350">
              <a:buFont typeface="+mj-lt"/>
              <a:buAutoNum type="arabicPeriod"/>
            </a:pPr>
            <a:r>
              <a:rPr lang="fr-FR" sz="2400" dirty="0"/>
              <a:t>Gratuit et auto-renouvelé </a:t>
            </a:r>
          </a:p>
          <a:p>
            <a:pPr marL="514350" indent="-514350">
              <a:buFont typeface="+mj-lt"/>
              <a:buAutoNum type="arabicPeriod"/>
            </a:pPr>
            <a:r>
              <a:rPr lang="fr-FR" sz="2400" dirty="0"/>
              <a:t>Plus sécurisé que tous les autres </a:t>
            </a:r>
          </a:p>
          <a:p>
            <a:pPr marL="514350" indent="-514350">
              <a:buFont typeface="+mj-lt"/>
              <a:buAutoNum type="arabicPeriod"/>
            </a:pPr>
            <a:r>
              <a:rPr lang="fr-FR" sz="2400" dirty="0"/>
              <a:t>Obligatoire</a:t>
            </a:r>
          </a:p>
          <a:p>
            <a:pPr marL="0" indent="0">
              <a:buNone/>
            </a:pPr>
            <a:endParaRPr lang="fr-FR" sz="2400" dirty="0"/>
          </a:p>
        </p:txBody>
      </p:sp>
      <p:sp>
        <p:nvSpPr>
          <p:cNvPr id="4" name="Content Placeholder 2">
            <a:extLst>
              <a:ext uri="{FF2B5EF4-FFF2-40B4-BE49-F238E27FC236}">
                <a16:creationId xmlns:a16="http://schemas.microsoft.com/office/drawing/2014/main" id="{097EB274-DEF1-C628-65C4-FF5EEA65D294}"/>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E94B94BB-4044-82E8-C796-5669F6867A17}"/>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6" name="ZoneTexte 5">
            <a:extLst>
              <a:ext uri="{FF2B5EF4-FFF2-40B4-BE49-F238E27FC236}">
                <a16:creationId xmlns:a16="http://schemas.microsoft.com/office/drawing/2014/main" id="{7F981DFD-B1CF-75A1-28C0-90BE53B84657}"/>
              </a:ext>
            </a:extLst>
          </p:cNvPr>
          <p:cNvSpPr txBox="1"/>
          <p:nvPr/>
        </p:nvSpPr>
        <p:spPr>
          <a:xfrm>
            <a:off x="52565" y="2492896"/>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7C4AE393-BAD3-68D9-3932-3CCFD43D9DAA}"/>
              </a:ext>
            </a:extLst>
          </p:cNvPr>
          <p:cNvSpPr txBox="1"/>
          <p:nvPr/>
        </p:nvSpPr>
        <p:spPr>
          <a:xfrm>
            <a:off x="1043608" y="3775675"/>
            <a:ext cx="4771756" cy="3077766"/>
          </a:xfrm>
          <a:prstGeom prst="rect">
            <a:avLst/>
          </a:prstGeom>
          <a:noFill/>
        </p:spPr>
        <p:txBody>
          <a:bodyPr wrap="none" rtlCol="0">
            <a:spAutoFit/>
          </a:bodyPr>
          <a:lstStyle/>
          <a:p>
            <a:pPr marL="285750" indent="-285750">
              <a:buFontTx/>
              <a:buChar char="-"/>
            </a:pPr>
            <a:r>
              <a:rPr lang="fr-FR" sz="1600" dirty="0"/>
              <a:t>Azure crée le certificat SSL pour votre domaine</a:t>
            </a:r>
          </a:p>
          <a:p>
            <a:pPr marL="285750" indent="-285750">
              <a:buFontTx/>
              <a:buChar char="-"/>
            </a:pPr>
            <a:r>
              <a:rPr lang="fr-FR" sz="1600" dirty="0"/>
              <a:t>Pas besoin d’acheter ou d’importer un certificat</a:t>
            </a:r>
          </a:p>
          <a:p>
            <a:pPr marL="285750" indent="-285750">
              <a:buFontTx/>
              <a:buChar char="-"/>
            </a:pPr>
            <a:r>
              <a:rPr lang="fr-FR" sz="1600" dirty="0"/>
              <a:t>Le certificat est automatiquement : </a:t>
            </a:r>
          </a:p>
          <a:p>
            <a:pPr lvl="1"/>
            <a:r>
              <a:rPr lang="fr-FR" sz="1600" dirty="0"/>
              <a:t>lié à votre Web App </a:t>
            </a:r>
          </a:p>
          <a:p>
            <a:pPr lvl="1"/>
            <a:r>
              <a:rPr lang="fr-FR" sz="1600" dirty="0"/>
              <a:t>configuré avec le bon binding </a:t>
            </a:r>
          </a:p>
          <a:p>
            <a:r>
              <a:rPr lang="fr-FR" sz="1600" b="1" dirty="0">
                <a:solidFill>
                  <a:srgbClr val="00B050"/>
                </a:solidFill>
              </a:rPr>
              <a:t>✔</a:t>
            </a:r>
            <a:r>
              <a:rPr lang="fr-FR" sz="1600" b="1" dirty="0"/>
              <a:t> Renouvellement automatique</a:t>
            </a:r>
          </a:p>
          <a:p>
            <a:pPr marL="285750" indent="-285750">
              <a:buFontTx/>
              <a:buChar char="-"/>
            </a:pPr>
            <a:r>
              <a:rPr lang="fr-FR" sz="1600" dirty="0"/>
              <a:t>Azure renouvelle le certificat avant expiration </a:t>
            </a:r>
          </a:p>
          <a:p>
            <a:pPr marL="285750" indent="-285750">
              <a:buFontTx/>
              <a:buChar char="-"/>
            </a:pPr>
            <a:r>
              <a:rPr lang="fr-FR" sz="1600" dirty="0"/>
              <a:t>Zéro maintenance côté développeur</a:t>
            </a:r>
          </a:p>
          <a:p>
            <a:r>
              <a:rPr lang="fr-FR" sz="1600" b="1" dirty="0"/>
              <a:t>❌</a:t>
            </a:r>
            <a:r>
              <a:rPr lang="fr-FR" sz="1600" dirty="0"/>
              <a:t> Il y a des limitations :</a:t>
            </a:r>
          </a:p>
          <a:p>
            <a:pPr marL="285750" indent="-285750">
              <a:buFontTx/>
              <a:buChar char="-"/>
            </a:pPr>
            <a:r>
              <a:rPr lang="fr-FR" sz="1600" dirty="0"/>
              <a:t>Pas de </a:t>
            </a:r>
            <a:r>
              <a:rPr lang="fr-FR" sz="1600" dirty="0" err="1"/>
              <a:t>wildcard</a:t>
            </a:r>
            <a:r>
              <a:rPr lang="fr-FR" sz="1600" dirty="0"/>
              <a:t> (*.mondomaine.fr)</a:t>
            </a:r>
          </a:p>
          <a:p>
            <a:pPr marL="285750" indent="-285750">
              <a:buFontTx/>
              <a:buChar char="-"/>
            </a:pPr>
            <a:r>
              <a:rPr lang="fr-FR" sz="1600" dirty="0"/>
              <a:t>Pas exportable</a:t>
            </a:r>
          </a:p>
          <a:p>
            <a:pPr marL="285750" indent="-285750">
              <a:buFontTx/>
              <a:buChar char="-"/>
            </a:pPr>
            <a:r>
              <a:rPr lang="fr-FR" sz="1600" dirty="0"/>
              <a:t>Pas utilisable ailleurs qu’Azure App Service</a:t>
            </a:r>
          </a:p>
        </p:txBody>
      </p:sp>
    </p:spTree>
    <p:extLst>
      <p:ext uri="{BB962C8B-B14F-4D97-AF65-F5344CB8AC3E}">
        <p14:creationId xmlns:p14="http://schemas.microsoft.com/office/powerpoint/2010/main" val="149899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2C516-0518-CD17-DE63-407FCF07C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82C4D-2389-6591-5A0F-6CE8754E45B6}"/>
              </a:ext>
            </a:extLst>
          </p:cNvPr>
          <p:cNvSpPr>
            <a:spLocks noGrp="1"/>
          </p:cNvSpPr>
          <p:nvPr>
            <p:ph type="title"/>
          </p:nvPr>
        </p:nvSpPr>
        <p:spPr/>
        <p:txBody>
          <a:bodyPr/>
          <a:lstStyle/>
          <a:p>
            <a:r>
              <a:rPr lang="en-US" dirty="0"/>
              <a:t>Question 9</a:t>
            </a:r>
          </a:p>
        </p:txBody>
      </p:sp>
      <p:sp>
        <p:nvSpPr>
          <p:cNvPr id="3" name="Content Placeholder 2">
            <a:extLst>
              <a:ext uri="{FF2B5EF4-FFF2-40B4-BE49-F238E27FC236}">
                <a16:creationId xmlns:a16="http://schemas.microsoft.com/office/drawing/2014/main" id="{4645947B-5AA8-CBCC-4508-875B3C897B78}"/>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000" dirty="0"/>
              <a:t>Vous devez configurer un domaine personnalisé pour une Azure Web App :</a:t>
            </a:r>
          </a:p>
          <a:p>
            <a:r>
              <a:rPr lang="fr-FR" sz="2000" dirty="0">
                <a:latin typeface="Courier New" panose="02070309020205020404" pitchFamily="49" charset="0"/>
                <a:cs typeface="Courier New" panose="02070309020205020404" pitchFamily="49" charset="0"/>
              </a:rPr>
              <a:t>api.mondomaine.fr </a:t>
            </a:r>
            <a:r>
              <a:rPr lang="fr-FR" sz="2000" dirty="0"/>
              <a:t>(sous-domaine) </a:t>
            </a:r>
          </a:p>
          <a:p>
            <a:r>
              <a:rPr lang="fr-FR" sz="2000" dirty="0">
                <a:latin typeface="Courier New" panose="02070309020205020404" pitchFamily="49" charset="0"/>
                <a:cs typeface="Courier New" panose="02070309020205020404" pitchFamily="49" charset="0"/>
              </a:rPr>
              <a:t>mondomaine.fr </a:t>
            </a:r>
            <a:r>
              <a:rPr lang="fr-FR" sz="2000" dirty="0"/>
              <a:t>(domaine racine) </a:t>
            </a:r>
          </a:p>
          <a:p>
            <a:pPr marL="0" indent="0">
              <a:buNone/>
            </a:pPr>
            <a:r>
              <a:rPr lang="fr-FR" sz="2000" dirty="0"/>
              <a:t>Quelle configuration DNS est correcte ?</a:t>
            </a:r>
          </a:p>
          <a:p>
            <a:pPr marL="514350" indent="-514350">
              <a:buFont typeface="+mj-lt"/>
              <a:buAutoNum type="arabicPeriod"/>
            </a:pPr>
            <a:r>
              <a:rPr lang="fr-FR" sz="2000" dirty="0"/>
              <a:t>Utiliser un </a:t>
            </a:r>
            <a:r>
              <a:rPr lang="fr-FR" sz="2000" b="1" dirty="0"/>
              <a:t>CNAME</a:t>
            </a:r>
            <a:r>
              <a:rPr lang="fr-FR" sz="2000" dirty="0"/>
              <a:t> pour les deux </a:t>
            </a:r>
          </a:p>
          <a:p>
            <a:pPr marL="514350" indent="-514350">
              <a:buFont typeface="+mj-lt"/>
              <a:buAutoNum type="arabicPeriod"/>
            </a:pPr>
            <a:r>
              <a:rPr lang="fr-FR" sz="2000" dirty="0"/>
              <a:t>Utiliser un </a:t>
            </a:r>
            <a:r>
              <a:rPr lang="fr-FR" sz="2000" b="1" dirty="0"/>
              <a:t>A record</a:t>
            </a:r>
            <a:r>
              <a:rPr lang="fr-FR" sz="2000" dirty="0"/>
              <a:t> pour les deux </a:t>
            </a:r>
          </a:p>
          <a:p>
            <a:pPr marL="514350" indent="-514350">
              <a:buFont typeface="+mj-lt"/>
              <a:buAutoNum type="arabicPeriod"/>
            </a:pPr>
            <a:r>
              <a:rPr lang="fr-FR" sz="2000" dirty="0"/>
              <a:t>Utiliser un </a:t>
            </a:r>
            <a:r>
              <a:rPr lang="fr-FR" sz="2000" b="1" dirty="0"/>
              <a:t>CNAME pour api.mondomaine.fr</a:t>
            </a:r>
            <a:r>
              <a:rPr lang="fr-FR" sz="2000" dirty="0"/>
              <a:t> et un </a:t>
            </a:r>
            <a:r>
              <a:rPr lang="fr-FR" sz="2000" b="1" dirty="0"/>
              <a:t>A record pour mondomaine.fr</a:t>
            </a:r>
            <a:r>
              <a:rPr lang="fr-FR" sz="2000" dirty="0"/>
              <a:t> </a:t>
            </a:r>
          </a:p>
          <a:p>
            <a:pPr marL="514350" indent="-514350">
              <a:buFont typeface="+mj-lt"/>
              <a:buAutoNum type="arabicPeriod"/>
            </a:pPr>
            <a:r>
              <a:rPr lang="fr-FR" sz="2000" dirty="0"/>
              <a:t>Utiliser un </a:t>
            </a:r>
            <a:r>
              <a:rPr lang="fr-FR" sz="2000" b="1" dirty="0"/>
              <a:t>TXT pour api.mondomaine.fr</a:t>
            </a:r>
            <a:r>
              <a:rPr lang="fr-FR" sz="2000" dirty="0"/>
              <a:t> et un </a:t>
            </a:r>
            <a:r>
              <a:rPr lang="fr-FR" sz="2000" b="1" dirty="0"/>
              <a:t>CNAME pour mondomaine.fr</a:t>
            </a:r>
            <a:endParaRPr lang="fr-FR" sz="2000" dirty="0"/>
          </a:p>
          <a:p>
            <a:pPr marL="0" indent="0">
              <a:buNone/>
            </a:pPr>
            <a:endParaRPr lang="fr-FR" sz="2400" dirty="0"/>
          </a:p>
        </p:txBody>
      </p:sp>
      <p:sp>
        <p:nvSpPr>
          <p:cNvPr id="4" name="Content Placeholder 2">
            <a:extLst>
              <a:ext uri="{FF2B5EF4-FFF2-40B4-BE49-F238E27FC236}">
                <a16:creationId xmlns:a16="http://schemas.microsoft.com/office/drawing/2014/main" id="{413B18BB-8292-CA91-383B-BF5D85491599}"/>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B5CB4739-4E19-13FC-84BD-67913D4D78F8}"/>
              </a:ext>
            </a:extLst>
          </p:cNvPr>
          <p:cNvSpPr txBox="1"/>
          <p:nvPr/>
        </p:nvSpPr>
        <p:spPr>
          <a:xfrm>
            <a:off x="7380312" y="2093425"/>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6" name="ZoneTexte 5">
            <a:extLst>
              <a:ext uri="{FF2B5EF4-FFF2-40B4-BE49-F238E27FC236}">
                <a16:creationId xmlns:a16="http://schemas.microsoft.com/office/drawing/2014/main" id="{E2753437-DB90-184F-4ED3-60F4A67D1163}"/>
              </a:ext>
            </a:extLst>
          </p:cNvPr>
          <p:cNvSpPr txBox="1"/>
          <p:nvPr/>
        </p:nvSpPr>
        <p:spPr>
          <a:xfrm>
            <a:off x="39452" y="3573016"/>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66F07437-7A8D-9FAB-C3F8-EBA1AA68BF3E}"/>
              </a:ext>
            </a:extLst>
          </p:cNvPr>
          <p:cNvSpPr txBox="1"/>
          <p:nvPr/>
        </p:nvSpPr>
        <p:spPr>
          <a:xfrm>
            <a:off x="179512" y="5214275"/>
            <a:ext cx="3615092" cy="1077218"/>
          </a:xfrm>
          <a:prstGeom prst="rect">
            <a:avLst/>
          </a:prstGeom>
          <a:noFill/>
        </p:spPr>
        <p:txBody>
          <a:bodyPr wrap="none" rtlCol="0">
            <a:spAutoFit/>
          </a:bodyPr>
          <a:lstStyle/>
          <a:p>
            <a:r>
              <a:rPr lang="fr-FR" sz="1600" b="1" dirty="0"/>
              <a:t>Sous-domaine (api.mondomaine.fr)</a:t>
            </a:r>
            <a:br>
              <a:rPr lang="fr-FR" sz="1600" dirty="0"/>
            </a:br>
            <a:r>
              <a:rPr lang="fr-FR" sz="1600" dirty="0">
                <a:solidFill>
                  <a:srgbClr val="00B050"/>
                </a:solidFill>
              </a:rPr>
              <a:t>✔</a:t>
            </a:r>
            <a:r>
              <a:rPr lang="fr-FR" sz="1600" dirty="0"/>
              <a:t> Utiliser un </a:t>
            </a:r>
            <a:r>
              <a:rPr lang="fr-FR" sz="1600" b="1" dirty="0"/>
              <a:t>CNAME</a:t>
            </a:r>
            <a:br>
              <a:rPr lang="fr-FR" sz="1600" dirty="0"/>
            </a:br>
            <a:r>
              <a:rPr lang="fr-FR" sz="1600" dirty="0"/>
              <a:t>→ flexible et recommandé par Azure</a:t>
            </a:r>
            <a:br>
              <a:rPr lang="fr-FR" sz="1600" dirty="0"/>
            </a:br>
            <a:r>
              <a:rPr lang="fr-FR" sz="1600" dirty="0"/>
              <a:t>→ pointe vers *.azurewebsites.net</a:t>
            </a:r>
          </a:p>
        </p:txBody>
      </p:sp>
      <p:sp>
        <p:nvSpPr>
          <p:cNvPr id="8" name="ZoneTexte 7">
            <a:extLst>
              <a:ext uri="{FF2B5EF4-FFF2-40B4-BE49-F238E27FC236}">
                <a16:creationId xmlns:a16="http://schemas.microsoft.com/office/drawing/2014/main" id="{2733C9A7-CE0F-F9AA-F74C-D0D2C74B59D7}"/>
              </a:ext>
            </a:extLst>
          </p:cNvPr>
          <p:cNvSpPr txBox="1"/>
          <p:nvPr/>
        </p:nvSpPr>
        <p:spPr>
          <a:xfrm>
            <a:off x="5004048" y="5214275"/>
            <a:ext cx="3600400" cy="1077218"/>
          </a:xfrm>
          <a:prstGeom prst="rect">
            <a:avLst/>
          </a:prstGeom>
          <a:noFill/>
        </p:spPr>
        <p:txBody>
          <a:bodyPr wrap="square" rtlCol="0">
            <a:spAutoFit/>
          </a:bodyPr>
          <a:lstStyle/>
          <a:p>
            <a:r>
              <a:rPr lang="fr-FR" sz="1600" b="1" dirty="0"/>
              <a:t>Domaine racine (mondomaine.fr)</a:t>
            </a:r>
            <a:br>
              <a:rPr lang="fr-FR" sz="1600" dirty="0"/>
            </a:br>
            <a:r>
              <a:rPr lang="fr-FR" sz="1600" dirty="0"/>
              <a:t>❌ Impossible d’utiliser un CNAME (limitation DNS standard)</a:t>
            </a:r>
            <a:br>
              <a:rPr lang="fr-FR" sz="1600" dirty="0"/>
            </a:br>
            <a:r>
              <a:rPr lang="fr-FR" sz="1600" dirty="0">
                <a:solidFill>
                  <a:srgbClr val="00B050"/>
                </a:solidFill>
              </a:rPr>
              <a:t>✔</a:t>
            </a:r>
            <a:r>
              <a:rPr lang="fr-FR" sz="1600" dirty="0"/>
              <a:t> Utiliser un </a:t>
            </a:r>
            <a:r>
              <a:rPr lang="fr-FR" sz="1600" b="1" dirty="0"/>
              <a:t>A record</a:t>
            </a:r>
            <a:endParaRPr lang="fr-FR" sz="1600" dirty="0"/>
          </a:p>
        </p:txBody>
      </p:sp>
    </p:spTree>
    <p:extLst>
      <p:ext uri="{BB962C8B-B14F-4D97-AF65-F5344CB8AC3E}">
        <p14:creationId xmlns:p14="http://schemas.microsoft.com/office/powerpoint/2010/main" val="353763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C438F-270F-F962-15BF-131D144BB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0273E-90A7-8944-A76F-852BD9C01E1F}"/>
              </a:ext>
            </a:extLst>
          </p:cNvPr>
          <p:cNvSpPr>
            <a:spLocks noGrp="1"/>
          </p:cNvSpPr>
          <p:nvPr>
            <p:ph type="title"/>
          </p:nvPr>
        </p:nvSpPr>
        <p:spPr/>
        <p:txBody>
          <a:bodyPr/>
          <a:lstStyle/>
          <a:p>
            <a:r>
              <a:rPr lang="en-US" dirty="0"/>
              <a:t>Question 10</a:t>
            </a:r>
          </a:p>
        </p:txBody>
      </p:sp>
      <p:sp>
        <p:nvSpPr>
          <p:cNvPr id="3" name="Content Placeholder 2">
            <a:extLst>
              <a:ext uri="{FF2B5EF4-FFF2-40B4-BE49-F238E27FC236}">
                <a16:creationId xmlns:a16="http://schemas.microsoft.com/office/drawing/2014/main" id="{89DFA923-7CFB-D6E3-E112-AE1C70006EBD}"/>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dirty="0"/>
              <a:t>Vous configurez :</a:t>
            </a:r>
          </a:p>
          <a:p>
            <a:pPr marL="0" indent="0">
              <a:buNone/>
            </a:pPr>
            <a:r>
              <a:rPr lang="fr-FR" dirty="0">
                <a:latin typeface="Courier New" panose="02070309020205020404" pitchFamily="49" charset="0"/>
                <a:cs typeface="Courier New" panose="02070309020205020404" pitchFamily="49" charset="0"/>
              </a:rPr>
              <a:t>	</a:t>
            </a:r>
            <a:r>
              <a:rPr lang="fr-FR" dirty="0" err="1">
                <a:latin typeface="Courier New" panose="02070309020205020404" pitchFamily="49" charset="0"/>
                <a:cs typeface="Courier New" panose="02070309020205020404" pitchFamily="49" charset="0"/>
              </a:rPr>
              <a:t>azurequizlab</a:t>
            </a:r>
            <a:r>
              <a:rPr lang="fr-FR" dirty="0">
                <a:latin typeface="Courier New" panose="02070309020205020404" pitchFamily="49" charset="0"/>
                <a:cs typeface="Courier New" panose="02070309020205020404" pitchFamily="49" charset="0"/>
              </a:rPr>
              <a:t> → A → IP Azure</a:t>
            </a:r>
          </a:p>
          <a:p>
            <a:pPr marL="0" indent="0">
              <a:buNone/>
            </a:pPr>
            <a:r>
              <a:rPr lang="fr-FR" dirty="0"/>
              <a:t>Quel est le problème ?</a:t>
            </a:r>
          </a:p>
          <a:p>
            <a:r>
              <a:rPr lang="fr-FR" dirty="0"/>
              <a:t>Aucun </a:t>
            </a:r>
          </a:p>
          <a:p>
            <a:r>
              <a:rPr lang="fr-FR" dirty="0"/>
              <a:t>L’IP peut changer </a:t>
            </a:r>
          </a:p>
          <a:p>
            <a:r>
              <a:rPr lang="fr-FR" dirty="0"/>
              <a:t>Le SSL ne fonctionne pas </a:t>
            </a:r>
          </a:p>
          <a:p>
            <a:r>
              <a:rPr lang="fr-FR" dirty="0"/>
              <a:t>Le TXT devient inutile</a:t>
            </a:r>
          </a:p>
          <a:p>
            <a:pPr marL="0" indent="0">
              <a:buNone/>
            </a:pPr>
            <a:endParaRPr lang="fr-FR" sz="2400" dirty="0"/>
          </a:p>
        </p:txBody>
      </p:sp>
      <p:sp>
        <p:nvSpPr>
          <p:cNvPr id="4" name="Content Placeholder 2">
            <a:extLst>
              <a:ext uri="{FF2B5EF4-FFF2-40B4-BE49-F238E27FC236}">
                <a16:creationId xmlns:a16="http://schemas.microsoft.com/office/drawing/2014/main" id="{D4555DEC-A7AB-23AE-1B1F-780E18B1EC85}"/>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D11BBFBF-F2DE-001A-3E1E-B44A8D217F71}"/>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6" name="ZoneTexte 5">
            <a:extLst>
              <a:ext uri="{FF2B5EF4-FFF2-40B4-BE49-F238E27FC236}">
                <a16:creationId xmlns:a16="http://schemas.microsoft.com/office/drawing/2014/main" id="{DC5E2846-167F-364E-4583-72BA5556D0D1}"/>
              </a:ext>
            </a:extLst>
          </p:cNvPr>
          <p:cNvSpPr txBox="1"/>
          <p:nvPr/>
        </p:nvSpPr>
        <p:spPr>
          <a:xfrm>
            <a:off x="35496" y="3140968"/>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9361FD18-F886-5C32-EA78-D05C1E6D7FCD}"/>
              </a:ext>
            </a:extLst>
          </p:cNvPr>
          <p:cNvSpPr txBox="1"/>
          <p:nvPr/>
        </p:nvSpPr>
        <p:spPr>
          <a:xfrm>
            <a:off x="1763688" y="5487415"/>
            <a:ext cx="4386329" cy="646331"/>
          </a:xfrm>
          <a:prstGeom prst="rect">
            <a:avLst/>
          </a:prstGeom>
          <a:noFill/>
        </p:spPr>
        <p:txBody>
          <a:bodyPr wrap="none" rtlCol="0">
            <a:spAutoFit/>
          </a:bodyPr>
          <a:lstStyle/>
          <a:p>
            <a:r>
              <a:rPr lang="fr-FR" dirty="0"/>
              <a:t>Dans Azure App Service</a:t>
            </a:r>
          </a:p>
          <a:p>
            <a:r>
              <a:rPr lang="fr-FR" dirty="0"/>
              <a:t>Azure peut changer l’IP → casse la config.</a:t>
            </a:r>
          </a:p>
        </p:txBody>
      </p:sp>
    </p:spTree>
    <p:extLst>
      <p:ext uri="{BB962C8B-B14F-4D97-AF65-F5344CB8AC3E}">
        <p14:creationId xmlns:p14="http://schemas.microsoft.com/office/powerpoint/2010/main" val="1701144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B6F3F-C11F-D91F-4956-D7982E49A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446DF-0EEC-3D99-315D-7681CBF94A45}"/>
              </a:ext>
            </a:extLst>
          </p:cNvPr>
          <p:cNvSpPr>
            <a:spLocks noGrp="1"/>
          </p:cNvSpPr>
          <p:nvPr>
            <p:ph type="title"/>
          </p:nvPr>
        </p:nvSpPr>
        <p:spPr/>
        <p:txBody>
          <a:bodyPr/>
          <a:lstStyle/>
          <a:p>
            <a:r>
              <a:rPr lang="en-US" dirty="0"/>
              <a:t>Question 11</a:t>
            </a:r>
          </a:p>
        </p:txBody>
      </p:sp>
      <p:sp>
        <p:nvSpPr>
          <p:cNvPr id="3" name="Content Placeholder 2">
            <a:extLst>
              <a:ext uri="{FF2B5EF4-FFF2-40B4-BE49-F238E27FC236}">
                <a16:creationId xmlns:a16="http://schemas.microsoft.com/office/drawing/2014/main" id="{8B5CDBCA-4A54-4DAD-ABA8-B3C836887FA9}"/>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1800" dirty="0"/>
              <a:t>Dans Azure App Service, vous voyez les options suivantes pour les certificats :</a:t>
            </a:r>
          </a:p>
          <a:p>
            <a:r>
              <a:rPr lang="fr-FR" sz="1800" b="1" dirty="0" err="1"/>
              <a:t>Managed</a:t>
            </a:r>
            <a:r>
              <a:rPr lang="fr-FR" sz="1800" b="1" dirty="0"/>
              <a:t> </a:t>
            </a:r>
            <a:r>
              <a:rPr lang="fr-FR" sz="1800" b="1" dirty="0" err="1"/>
              <a:t>certificates</a:t>
            </a:r>
            <a:r>
              <a:rPr lang="fr-FR" sz="1800" dirty="0"/>
              <a:t> </a:t>
            </a:r>
          </a:p>
          <a:p>
            <a:r>
              <a:rPr lang="fr-FR" sz="1800" b="1" dirty="0" err="1"/>
              <a:t>Bring</a:t>
            </a:r>
            <a:r>
              <a:rPr lang="fr-FR" sz="1800" b="1" dirty="0"/>
              <a:t> </a:t>
            </a:r>
            <a:r>
              <a:rPr lang="fr-FR" sz="1800" b="1" dirty="0" err="1"/>
              <a:t>your</a:t>
            </a:r>
            <a:r>
              <a:rPr lang="fr-FR" sz="1800" b="1" dirty="0"/>
              <a:t> </a:t>
            </a:r>
            <a:r>
              <a:rPr lang="fr-FR" sz="1800" b="1" dirty="0" err="1"/>
              <a:t>own</a:t>
            </a:r>
            <a:r>
              <a:rPr lang="fr-FR" sz="1800" b="1" dirty="0"/>
              <a:t> </a:t>
            </a:r>
            <a:r>
              <a:rPr lang="fr-FR" sz="1800" b="1" dirty="0" err="1"/>
              <a:t>certificates</a:t>
            </a:r>
            <a:r>
              <a:rPr lang="fr-FR" sz="1800" b="1" dirty="0"/>
              <a:t> (.</a:t>
            </a:r>
            <a:r>
              <a:rPr lang="fr-FR" sz="1800" b="1" dirty="0" err="1"/>
              <a:t>pfx</a:t>
            </a:r>
            <a:r>
              <a:rPr lang="fr-FR" sz="1800" b="1" dirty="0"/>
              <a:t>)</a:t>
            </a:r>
            <a:r>
              <a:rPr lang="fr-FR" sz="1800" dirty="0"/>
              <a:t> </a:t>
            </a:r>
          </a:p>
          <a:p>
            <a:r>
              <a:rPr lang="fr-FR" sz="1800" b="1" dirty="0"/>
              <a:t>Public key </a:t>
            </a:r>
            <a:r>
              <a:rPr lang="fr-FR" sz="1800" b="1" dirty="0" err="1"/>
              <a:t>certificates</a:t>
            </a:r>
            <a:r>
              <a:rPr lang="fr-FR" sz="1800" b="1" dirty="0"/>
              <a:t> (.</a:t>
            </a:r>
            <a:r>
              <a:rPr lang="fr-FR" sz="1800" b="1" dirty="0" err="1"/>
              <a:t>cer</a:t>
            </a:r>
            <a:r>
              <a:rPr lang="fr-FR" sz="1800" b="1" dirty="0"/>
              <a:t>)</a:t>
            </a:r>
            <a:r>
              <a:rPr lang="fr-FR" sz="1800" dirty="0"/>
              <a:t> </a:t>
            </a:r>
          </a:p>
          <a:p>
            <a:pPr marL="0" indent="0">
              <a:buNone/>
            </a:pPr>
            <a:r>
              <a:rPr lang="fr-FR" sz="1800" dirty="0"/>
              <a:t>Quelle est la différence principale entre ces types de certificats ?</a:t>
            </a:r>
          </a:p>
          <a:p>
            <a:pPr>
              <a:buFont typeface="+mj-lt"/>
              <a:buAutoNum type="arabicPeriod"/>
            </a:pPr>
            <a:r>
              <a:rPr lang="fr-FR" sz="1800" dirty="0"/>
              <a:t>Les certificats </a:t>
            </a:r>
            <a:r>
              <a:rPr lang="fr-FR" sz="1800" dirty="0" err="1"/>
              <a:t>Managed</a:t>
            </a:r>
            <a:r>
              <a:rPr lang="fr-FR" sz="1800" dirty="0"/>
              <a:t> sont payants, les autres gratuits </a:t>
            </a:r>
          </a:p>
          <a:p>
            <a:pPr>
              <a:buFont typeface="+mj-lt"/>
              <a:buAutoNum type="arabicPeriod"/>
            </a:pPr>
            <a:r>
              <a:rPr lang="fr-FR" sz="1800" dirty="0"/>
              <a:t>Les certificats .</a:t>
            </a:r>
            <a:r>
              <a:rPr lang="fr-FR" sz="1800" dirty="0" err="1"/>
              <a:t>cer</a:t>
            </a:r>
            <a:r>
              <a:rPr lang="fr-FR" sz="1800" dirty="0"/>
              <a:t> permettent le HTTPS, contrairement aux .</a:t>
            </a:r>
            <a:r>
              <a:rPr lang="fr-FR" sz="1800" dirty="0" err="1"/>
              <a:t>pfx</a:t>
            </a:r>
            <a:r>
              <a:rPr lang="fr-FR" sz="1800" dirty="0"/>
              <a:t> </a:t>
            </a:r>
          </a:p>
          <a:p>
            <a:pPr>
              <a:buFont typeface="+mj-lt"/>
              <a:buAutoNum type="arabicPeriod"/>
            </a:pPr>
            <a:r>
              <a:rPr lang="fr-FR" sz="1800" dirty="0"/>
              <a:t>Les certificats </a:t>
            </a:r>
            <a:r>
              <a:rPr lang="fr-FR" sz="1800" dirty="0" err="1"/>
              <a:t>Managed</a:t>
            </a:r>
            <a:r>
              <a:rPr lang="fr-FR" sz="1800" dirty="0"/>
              <a:t> et .</a:t>
            </a:r>
            <a:r>
              <a:rPr lang="fr-FR" sz="1800" dirty="0" err="1"/>
              <a:t>pfx</a:t>
            </a:r>
            <a:r>
              <a:rPr lang="fr-FR" sz="1800" dirty="0"/>
              <a:t> peuvent être utilisés pour HTTPS, mais les .</a:t>
            </a:r>
            <a:r>
              <a:rPr lang="fr-FR" sz="1800" dirty="0" err="1"/>
              <a:t>cer</a:t>
            </a:r>
            <a:r>
              <a:rPr lang="fr-FR" sz="1800" dirty="0"/>
              <a:t> servent uniquement à des usages internes (ex : authentification) </a:t>
            </a:r>
          </a:p>
          <a:p>
            <a:pPr>
              <a:buFont typeface="+mj-lt"/>
              <a:buAutoNum type="arabicPeriod"/>
            </a:pPr>
            <a:r>
              <a:rPr lang="fr-FR" sz="1800" dirty="0"/>
              <a:t>Les certificats .</a:t>
            </a:r>
            <a:r>
              <a:rPr lang="fr-FR" sz="1800" dirty="0" err="1"/>
              <a:t>pfx</a:t>
            </a:r>
            <a:r>
              <a:rPr lang="fr-FR" sz="1800" dirty="0"/>
              <a:t> ne peuvent pas être utilisés avec Azure App Service</a:t>
            </a:r>
          </a:p>
          <a:p>
            <a:pPr marL="0" indent="0">
              <a:buNone/>
            </a:pPr>
            <a:endParaRPr lang="fr-FR" sz="1600" dirty="0"/>
          </a:p>
        </p:txBody>
      </p:sp>
      <p:sp>
        <p:nvSpPr>
          <p:cNvPr id="4" name="Content Placeholder 2">
            <a:extLst>
              <a:ext uri="{FF2B5EF4-FFF2-40B4-BE49-F238E27FC236}">
                <a16:creationId xmlns:a16="http://schemas.microsoft.com/office/drawing/2014/main" id="{1BF3E131-9AE7-45DB-CBFE-8D766E153576}"/>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F220F559-DB01-E8D6-A017-B0D0CFE77529}"/>
              </a:ext>
            </a:extLst>
          </p:cNvPr>
          <p:cNvSpPr txBox="1"/>
          <p:nvPr/>
        </p:nvSpPr>
        <p:spPr>
          <a:xfrm>
            <a:off x="7524328" y="4459358"/>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6" name="ZoneTexte 5">
            <a:extLst>
              <a:ext uri="{FF2B5EF4-FFF2-40B4-BE49-F238E27FC236}">
                <a16:creationId xmlns:a16="http://schemas.microsoft.com/office/drawing/2014/main" id="{296E700D-66D7-6FAC-509C-C6A288CBAD98}"/>
              </a:ext>
            </a:extLst>
          </p:cNvPr>
          <p:cNvSpPr txBox="1"/>
          <p:nvPr/>
        </p:nvSpPr>
        <p:spPr>
          <a:xfrm>
            <a:off x="52365" y="3354732"/>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626AA6A3-4714-CA0C-A115-A4AAC4DFFDAE}"/>
              </a:ext>
            </a:extLst>
          </p:cNvPr>
          <p:cNvSpPr txBox="1"/>
          <p:nvPr/>
        </p:nvSpPr>
        <p:spPr>
          <a:xfrm>
            <a:off x="7019419" y="5512676"/>
            <a:ext cx="1890774" cy="369332"/>
          </a:xfrm>
          <a:prstGeom prst="rect">
            <a:avLst/>
          </a:prstGeom>
          <a:noFill/>
        </p:spPr>
        <p:txBody>
          <a:bodyPr wrap="none" rtlCol="0">
            <a:spAutoFit/>
          </a:bodyPr>
          <a:lstStyle/>
          <a:p>
            <a:r>
              <a:rPr lang="fr-FR" dirty="0"/>
              <a:t>Voir slide suivant</a:t>
            </a:r>
          </a:p>
        </p:txBody>
      </p:sp>
      <p:pic>
        <p:nvPicPr>
          <p:cNvPr id="9" name="Image 8">
            <a:extLst>
              <a:ext uri="{FF2B5EF4-FFF2-40B4-BE49-F238E27FC236}">
                <a16:creationId xmlns:a16="http://schemas.microsoft.com/office/drawing/2014/main" id="{58315A9F-3608-7A35-5B3C-6058A55E8ECD}"/>
              </a:ext>
            </a:extLst>
          </p:cNvPr>
          <p:cNvPicPr>
            <a:picLocks noChangeAspect="1"/>
          </p:cNvPicPr>
          <p:nvPr/>
        </p:nvPicPr>
        <p:blipFill>
          <a:blip r:embed="rId3"/>
          <a:stretch>
            <a:fillRect/>
          </a:stretch>
        </p:blipFill>
        <p:spPr>
          <a:xfrm>
            <a:off x="251520" y="4437112"/>
            <a:ext cx="6342547" cy="2302334"/>
          </a:xfrm>
          <a:prstGeom prst="rect">
            <a:avLst/>
          </a:prstGeom>
        </p:spPr>
      </p:pic>
    </p:spTree>
    <p:extLst>
      <p:ext uri="{BB962C8B-B14F-4D97-AF65-F5344CB8AC3E}">
        <p14:creationId xmlns:p14="http://schemas.microsoft.com/office/powerpoint/2010/main" val="11374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64A94-B957-54EE-12F8-943CF59D0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E3B87-9150-A1C2-1C80-A72FE32062F3}"/>
              </a:ext>
            </a:extLst>
          </p:cNvPr>
          <p:cNvSpPr>
            <a:spLocks noGrp="1"/>
          </p:cNvSpPr>
          <p:nvPr>
            <p:ph type="title"/>
          </p:nvPr>
        </p:nvSpPr>
        <p:spPr/>
        <p:txBody>
          <a:bodyPr/>
          <a:lstStyle/>
          <a:p>
            <a:r>
              <a:rPr lang="en-US" dirty="0" err="1"/>
              <a:t>Certificats</a:t>
            </a:r>
            <a:r>
              <a:rPr lang="en-US" dirty="0"/>
              <a:t>, explications</a:t>
            </a:r>
          </a:p>
        </p:txBody>
      </p:sp>
      <p:sp>
        <p:nvSpPr>
          <p:cNvPr id="3" name="Content Placeholder 2">
            <a:extLst>
              <a:ext uri="{FF2B5EF4-FFF2-40B4-BE49-F238E27FC236}">
                <a16:creationId xmlns:a16="http://schemas.microsoft.com/office/drawing/2014/main" id="{D3C06BBB-822F-1C82-13CD-3314F6FDB88A}"/>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1600" b="1" dirty="0" err="1"/>
              <a:t>Managed</a:t>
            </a:r>
            <a:r>
              <a:rPr lang="fr-FR" sz="1600" b="1" dirty="0"/>
              <a:t> </a:t>
            </a:r>
            <a:r>
              <a:rPr lang="fr-FR" sz="1600" b="1" dirty="0" err="1"/>
              <a:t>certificates</a:t>
            </a:r>
            <a:endParaRPr lang="fr-FR" sz="1600" b="1" dirty="0"/>
          </a:p>
          <a:p>
            <a:r>
              <a:rPr lang="fr-FR" sz="1600" dirty="0"/>
              <a:t>Fournis par Azure </a:t>
            </a:r>
          </a:p>
          <a:p>
            <a:r>
              <a:rPr lang="fr-FR" sz="1600" dirty="0"/>
              <a:t>Gratuits </a:t>
            </a:r>
          </a:p>
          <a:p>
            <a:r>
              <a:rPr lang="fr-FR" sz="1600" dirty="0"/>
              <a:t>Renouvellement automatique </a:t>
            </a:r>
          </a:p>
          <a:p>
            <a:r>
              <a:rPr lang="fr-FR" sz="1600" dirty="0"/>
              <a:t>Utilisés pour </a:t>
            </a:r>
            <a:r>
              <a:rPr lang="fr-FR" sz="1600" b="1" dirty="0"/>
              <a:t>HTTPS (TLS/SSL)</a:t>
            </a:r>
            <a:r>
              <a:rPr lang="fr-FR" sz="1600" dirty="0"/>
              <a:t> </a:t>
            </a:r>
          </a:p>
          <a:p>
            <a:r>
              <a:rPr lang="fr-FR" sz="1600" dirty="0"/>
              <a:t>Limitations (pas </a:t>
            </a:r>
            <a:r>
              <a:rPr lang="fr-FR" sz="1600" dirty="0" err="1"/>
              <a:t>wildcard</a:t>
            </a:r>
            <a:r>
              <a:rPr lang="fr-FR" sz="1600" dirty="0"/>
              <a:t>, pas apex </a:t>
            </a:r>
            <a:r>
              <a:rPr lang="fr-FR" sz="1600" dirty="0" err="1"/>
              <a:t>domain</a:t>
            </a:r>
            <a:r>
              <a:rPr lang="fr-FR" sz="1600" dirty="0"/>
              <a:t> parfois) </a:t>
            </a:r>
          </a:p>
          <a:p>
            <a:pPr marL="0" indent="0">
              <a:buNone/>
            </a:pPr>
            <a:r>
              <a:rPr lang="fr-FR" sz="1600" b="1" dirty="0" err="1"/>
              <a:t>Bring</a:t>
            </a:r>
            <a:r>
              <a:rPr lang="fr-FR" sz="1600" b="1" dirty="0"/>
              <a:t> </a:t>
            </a:r>
            <a:r>
              <a:rPr lang="fr-FR" sz="1600" b="1" dirty="0" err="1"/>
              <a:t>your</a:t>
            </a:r>
            <a:r>
              <a:rPr lang="fr-FR" sz="1600" b="1" dirty="0"/>
              <a:t> </a:t>
            </a:r>
            <a:r>
              <a:rPr lang="fr-FR" sz="1600" b="1" dirty="0" err="1"/>
              <a:t>own</a:t>
            </a:r>
            <a:r>
              <a:rPr lang="fr-FR" sz="1600" b="1" dirty="0"/>
              <a:t> (.</a:t>
            </a:r>
            <a:r>
              <a:rPr lang="fr-FR" sz="1600" b="1" dirty="0" err="1"/>
              <a:t>pfx</a:t>
            </a:r>
            <a:r>
              <a:rPr lang="fr-FR" sz="1600" b="1" dirty="0"/>
              <a:t>)</a:t>
            </a:r>
          </a:p>
          <a:p>
            <a:r>
              <a:rPr lang="fr-FR" sz="1600" dirty="0"/>
              <a:t>Certificat complet (clé privée incluse) </a:t>
            </a:r>
          </a:p>
          <a:p>
            <a:r>
              <a:rPr lang="fr-FR" sz="1600" dirty="0"/>
              <a:t>Importé par vous </a:t>
            </a:r>
          </a:p>
          <a:p>
            <a:r>
              <a:rPr lang="fr-FR" sz="1600" dirty="0"/>
              <a:t>Utilisé pour </a:t>
            </a:r>
            <a:r>
              <a:rPr lang="fr-FR" sz="1600" b="1" dirty="0"/>
              <a:t>HTTPS (TLS/SSL)</a:t>
            </a:r>
            <a:r>
              <a:rPr lang="fr-FR" sz="1600" dirty="0"/>
              <a:t> </a:t>
            </a:r>
          </a:p>
          <a:p>
            <a:r>
              <a:rPr lang="fr-FR" sz="1600" dirty="0"/>
              <a:t>Plus flexible (</a:t>
            </a:r>
            <a:r>
              <a:rPr lang="fr-FR" sz="1600" dirty="0" err="1"/>
              <a:t>wildcard</a:t>
            </a:r>
            <a:r>
              <a:rPr lang="fr-FR" sz="1600" dirty="0"/>
              <a:t>, EV, etc.) </a:t>
            </a:r>
          </a:p>
          <a:p>
            <a:pPr marL="0" indent="0">
              <a:buNone/>
            </a:pPr>
            <a:r>
              <a:rPr lang="fr-FR" sz="1600" b="1" dirty="0"/>
              <a:t>Public key (.</a:t>
            </a:r>
            <a:r>
              <a:rPr lang="fr-FR" sz="1600" b="1" dirty="0" err="1"/>
              <a:t>cer</a:t>
            </a:r>
            <a:r>
              <a:rPr lang="fr-FR" sz="1600" b="1" dirty="0"/>
              <a:t>)</a:t>
            </a:r>
          </a:p>
          <a:p>
            <a:r>
              <a:rPr lang="fr-FR" sz="1600" b="1" dirty="0"/>
              <a:t>Sans clé privée</a:t>
            </a:r>
            <a:r>
              <a:rPr lang="fr-FR" sz="1600" dirty="0"/>
              <a:t> </a:t>
            </a:r>
          </a:p>
          <a:p>
            <a:r>
              <a:rPr lang="fr-FR" sz="1600" dirty="0"/>
              <a:t>❌ Ne permet PAS HTTPS </a:t>
            </a:r>
          </a:p>
          <a:p>
            <a:r>
              <a:rPr lang="fr-FR" sz="1600" dirty="0"/>
              <a:t>Sert pour : </a:t>
            </a:r>
          </a:p>
          <a:p>
            <a:pPr lvl="1"/>
            <a:r>
              <a:rPr lang="fr-FR" sz="1400" dirty="0"/>
              <a:t>authentification </a:t>
            </a:r>
          </a:p>
          <a:p>
            <a:pPr lvl="1"/>
            <a:r>
              <a:rPr lang="fr-FR" sz="1400" dirty="0"/>
              <a:t>validation d’API </a:t>
            </a:r>
          </a:p>
          <a:p>
            <a:pPr lvl="1"/>
            <a:r>
              <a:rPr lang="fr-FR" sz="1400" dirty="0"/>
              <a:t>communication sécurisée interne</a:t>
            </a:r>
          </a:p>
          <a:p>
            <a:pPr marL="0" indent="0">
              <a:buNone/>
            </a:pPr>
            <a:endParaRPr lang="fr-FR" sz="1400" dirty="0"/>
          </a:p>
        </p:txBody>
      </p:sp>
      <p:sp>
        <p:nvSpPr>
          <p:cNvPr id="4" name="Content Placeholder 2">
            <a:extLst>
              <a:ext uri="{FF2B5EF4-FFF2-40B4-BE49-F238E27FC236}">
                <a16:creationId xmlns:a16="http://schemas.microsoft.com/office/drawing/2014/main" id="{A35F0D55-C162-7B04-8E20-437B52CFBBAA}"/>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8" name="ZoneTexte 7">
            <a:extLst>
              <a:ext uri="{FF2B5EF4-FFF2-40B4-BE49-F238E27FC236}">
                <a16:creationId xmlns:a16="http://schemas.microsoft.com/office/drawing/2014/main" id="{CCE9FC0E-8731-CF1C-584C-FACA3332C58D}"/>
              </a:ext>
            </a:extLst>
          </p:cNvPr>
          <p:cNvSpPr txBox="1"/>
          <p:nvPr/>
        </p:nvSpPr>
        <p:spPr>
          <a:xfrm>
            <a:off x="4283968" y="4365104"/>
            <a:ext cx="4362989" cy="830997"/>
          </a:xfrm>
          <a:prstGeom prst="rect">
            <a:avLst/>
          </a:prstGeom>
          <a:noFill/>
        </p:spPr>
        <p:txBody>
          <a:bodyPr wrap="none" rtlCol="0">
            <a:spAutoFit/>
          </a:bodyPr>
          <a:lstStyle/>
          <a:p>
            <a:r>
              <a:rPr lang="fr-FR" sz="1600" dirty="0"/>
              <a:t>👉 HTTPS nécessite toujours une clé privée </a:t>
            </a:r>
            <a:r>
              <a:rPr lang="fr-FR" sz="1600" dirty="0">
                <a:sym typeface="Wingdings" panose="05000000000000000000" pitchFamily="2" charset="2"/>
              </a:rPr>
              <a:t></a:t>
            </a:r>
          </a:p>
          <a:p>
            <a:pPr marL="285750" indent="-285750">
              <a:buFontTx/>
              <a:buChar char="-"/>
            </a:pPr>
            <a:r>
              <a:rPr lang="fr-FR" sz="1600" dirty="0">
                <a:sym typeface="Wingdings" panose="05000000000000000000" pitchFamily="2" charset="2"/>
              </a:rPr>
              <a:t>.</a:t>
            </a:r>
            <a:r>
              <a:rPr lang="fr-FR" sz="1600" dirty="0" err="1">
                <a:sym typeface="Wingdings" panose="05000000000000000000" pitchFamily="2" charset="2"/>
              </a:rPr>
              <a:t>pfx</a:t>
            </a:r>
            <a:r>
              <a:rPr lang="fr-FR" sz="1600" dirty="0">
                <a:sym typeface="Wingdings" panose="05000000000000000000" pitchFamily="2" charset="2"/>
              </a:rPr>
              <a:t> ou</a:t>
            </a:r>
          </a:p>
          <a:p>
            <a:pPr marL="285750" indent="-285750">
              <a:buFontTx/>
              <a:buChar char="-"/>
            </a:pPr>
            <a:r>
              <a:rPr lang="fr-FR" sz="1600" dirty="0" err="1">
                <a:sym typeface="Wingdings" panose="05000000000000000000" pitchFamily="2" charset="2"/>
              </a:rPr>
              <a:t>managed</a:t>
            </a:r>
            <a:r>
              <a:rPr lang="fr-FR" sz="1600" dirty="0">
                <a:sym typeface="Wingdings" panose="05000000000000000000" pitchFamily="2" charset="2"/>
              </a:rPr>
              <a:t> </a:t>
            </a:r>
            <a:r>
              <a:rPr lang="fr-FR" sz="1600" dirty="0" err="1">
                <a:sym typeface="Wingdings" panose="05000000000000000000" pitchFamily="2" charset="2"/>
              </a:rPr>
              <a:t>certificates</a:t>
            </a:r>
            <a:endParaRPr lang="fr-FR" sz="1600" dirty="0"/>
          </a:p>
        </p:txBody>
      </p:sp>
    </p:spTree>
    <p:extLst>
      <p:ext uri="{BB962C8B-B14F-4D97-AF65-F5344CB8AC3E}">
        <p14:creationId xmlns:p14="http://schemas.microsoft.com/office/powerpoint/2010/main" val="6251706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3FBC2-F320-D2EC-4C09-A5C8CD3EEF6D}"/>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5D59AF6-2F99-7CF9-4BD9-9D2762CCA1F6}"/>
              </a:ext>
            </a:extLst>
          </p:cNvPr>
          <p:cNvSpPr>
            <a:spLocks noGrp="1"/>
          </p:cNvSpPr>
          <p:nvPr>
            <p:ph type="body" sz="quarter" idx="11"/>
          </p:nvPr>
        </p:nvSpPr>
        <p:spPr/>
        <p:txBody>
          <a:bodyPr/>
          <a:lstStyle/>
          <a:p>
            <a:r>
              <a:rPr lang="fr-FR" dirty="0"/>
              <a:t>Quizz 8</a:t>
            </a:r>
          </a:p>
        </p:txBody>
      </p:sp>
      <p:sp>
        <p:nvSpPr>
          <p:cNvPr id="3" name="Espace réservé du texte 2">
            <a:extLst>
              <a:ext uri="{FF2B5EF4-FFF2-40B4-BE49-F238E27FC236}">
                <a16:creationId xmlns:a16="http://schemas.microsoft.com/office/drawing/2014/main" id="{307617D3-89B5-42FE-7BE5-2413EE0C676E}"/>
              </a:ext>
            </a:extLst>
          </p:cNvPr>
          <p:cNvSpPr>
            <a:spLocks noGrp="1"/>
          </p:cNvSpPr>
          <p:nvPr>
            <p:ph type="body" sz="quarter" idx="12"/>
          </p:nvPr>
        </p:nvSpPr>
        <p:spPr>
          <a:xfrm>
            <a:off x="2604868" y="3501008"/>
            <a:ext cx="5624732" cy="1432560"/>
          </a:xfrm>
        </p:spPr>
        <p:txBody>
          <a:bodyPr/>
          <a:lstStyle/>
          <a:p>
            <a:r>
              <a:rPr lang="fr-FR" dirty="0" err="1"/>
              <a:t>Deployment</a:t>
            </a:r>
            <a:r>
              <a:rPr lang="fr-FR" dirty="0"/>
              <a:t> slots</a:t>
            </a:r>
          </a:p>
        </p:txBody>
      </p:sp>
    </p:spTree>
    <p:extLst>
      <p:ext uri="{BB962C8B-B14F-4D97-AF65-F5344CB8AC3E}">
        <p14:creationId xmlns:p14="http://schemas.microsoft.com/office/powerpoint/2010/main" val="3339414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7BD7E-0F1A-9CDA-CF04-3C0104699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81DE5-5A84-D5A8-4EFF-BC3B9499F79C}"/>
              </a:ext>
            </a:extLst>
          </p:cNvPr>
          <p:cNvSpPr>
            <a:spLocks noGrp="1"/>
          </p:cNvSpPr>
          <p:nvPr>
            <p:ph type="title"/>
          </p:nvPr>
        </p:nvSpPr>
        <p:spPr/>
        <p:txBody>
          <a:bodyPr/>
          <a:lstStyle/>
          <a:p>
            <a:r>
              <a:rPr lang="en-US" dirty="0"/>
              <a:t>Question 1</a:t>
            </a:r>
          </a:p>
        </p:txBody>
      </p:sp>
      <p:sp>
        <p:nvSpPr>
          <p:cNvPr id="3" name="Content Placeholder 2">
            <a:extLst>
              <a:ext uri="{FF2B5EF4-FFF2-40B4-BE49-F238E27FC236}">
                <a16:creationId xmlns:a16="http://schemas.microsoft.com/office/drawing/2014/main" id="{7F0F40B8-856C-EAFC-673C-A50F8FC9D4A5}"/>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dirty="0"/>
              <a:t>Pourquoi est-il déconseillé de déployer directement sur le slot production ?</a:t>
            </a:r>
          </a:p>
          <a:p>
            <a:pPr marL="514350" indent="-514350">
              <a:buFont typeface="+mj-lt"/>
              <a:buAutoNum type="arabicPeriod"/>
            </a:pPr>
            <a:r>
              <a:rPr lang="fr-FR" sz="2400" dirty="0"/>
              <a:t>Cela empêche l'utilisation de GitHub </a:t>
            </a:r>
          </a:p>
          <a:p>
            <a:pPr marL="514350" indent="-514350">
              <a:buFont typeface="+mj-lt"/>
              <a:buAutoNum type="arabicPeriod"/>
            </a:pPr>
            <a:r>
              <a:rPr lang="fr-FR" sz="2400" dirty="0"/>
              <a:t>Cela provoque un coût plus élevé </a:t>
            </a:r>
          </a:p>
          <a:p>
            <a:pPr marL="514350" indent="-514350">
              <a:buFont typeface="+mj-lt"/>
              <a:buAutoNum type="arabicPeriod"/>
            </a:pPr>
            <a:r>
              <a:rPr lang="fr-FR" sz="2400" dirty="0"/>
              <a:t>Cela peut provoquer du </a:t>
            </a:r>
            <a:r>
              <a:rPr lang="fr-FR" sz="2400" dirty="0" err="1"/>
              <a:t>downtime</a:t>
            </a:r>
            <a:r>
              <a:rPr lang="fr-FR" sz="2400" dirty="0"/>
              <a:t> et des fichiers verrouillés </a:t>
            </a:r>
          </a:p>
          <a:p>
            <a:pPr marL="514350" indent="-514350">
              <a:buFont typeface="+mj-lt"/>
              <a:buAutoNum type="arabicPeriod"/>
            </a:pPr>
            <a:r>
              <a:rPr lang="fr-FR" sz="2400" dirty="0"/>
              <a:t>Cela empêche l'utilisation des variables d’environnement</a:t>
            </a:r>
          </a:p>
          <a:p>
            <a:pPr marL="0" indent="0">
              <a:buNone/>
            </a:pPr>
            <a:endParaRPr lang="fr-FR" sz="2400" dirty="0"/>
          </a:p>
        </p:txBody>
      </p:sp>
      <p:sp>
        <p:nvSpPr>
          <p:cNvPr id="4" name="Content Placeholder 2">
            <a:extLst>
              <a:ext uri="{FF2B5EF4-FFF2-40B4-BE49-F238E27FC236}">
                <a16:creationId xmlns:a16="http://schemas.microsoft.com/office/drawing/2014/main" id="{6B7FF7DD-7B55-03FC-5AC8-AB5AB8398982}"/>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338A8573-7F38-3F42-D3C6-D9AB09392877}"/>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6" name="ZoneTexte 5">
            <a:extLst>
              <a:ext uri="{FF2B5EF4-FFF2-40B4-BE49-F238E27FC236}">
                <a16:creationId xmlns:a16="http://schemas.microsoft.com/office/drawing/2014/main" id="{2C63D06C-05CC-3809-AF17-5124A930BA50}"/>
              </a:ext>
            </a:extLst>
          </p:cNvPr>
          <p:cNvSpPr txBox="1"/>
          <p:nvPr/>
        </p:nvSpPr>
        <p:spPr>
          <a:xfrm>
            <a:off x="0" y="2924944"/>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578AD2AE-B667-3E86-55D1-D1F431405C83}"/>
              </a:ext>
            </a:extLst>
          </p:cNvPr>
          <p:cNvSpPr txBox="1"/>
          <p:nvPr/>
        </p:nvSpPr>
        <p:spPr>
          <a:xfrm>
            <a:off x="639725" y="4806774"/>
            <a:ext cx="8047075" cy="369332"/>
          </a:xfrm>
          <a:prstGeom prst="rect">
            <a:avLst/>
          </a:prstGeom>
          <a:noFill/>
        </p:spPr>
        <p:txBody>
          <a:bodyPr wrap="none" rtlCol="0">
            <a:spAutoFit/>
          </a:bodyPr>
          <a:lstStyle/>
          <a:p>
            <a:r>
              <a:rPr lang="fr-FR" dirty="0"/>
              <a:t>Déploiement direct = restart + risque de fichiers verrouillés → état incohérent</a:t>
            </a:r>
          </a:p>
        </p:txBody>
      </p:sp>
    </p:spTree>
    <p:extLst>
      <p:ext uri="{BB962C8B-B14F-4D97-AF65-F5344CB8AC3E}">
        <p14:creationId xmlns:p14="http://schemas.microsoft.com/office/powerpoint/2010/main" val="149771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012E3-FA17-D9A7-85D8-39D3739FA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E03F0-33BA-4BD6-7D08-1533E8656A51}"/>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02C03356-9F31-0F6C-9AE2-87D01E9760AF}"/>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dirty="0"/>
              <a:t>Quel est le principal avantage des </a:t>
            </a:r>
            <a:r>
              <a:rPr lang="fr-FR" dirty="0" err="1"/>
              <a:t>deployment</a:t>
            </a:r>
            <a:r>
              <a:rPr lang="fr-FR" dirty="0"/>
              <a:t> slots ?</a:t>
            </a:r>
          </a:p>
          <a:p>
            <a:pPr marL="514350" indent="-514350">
              <a:buFont typeface="+mj-lt"/>
              <a:buAutoNum type="arabicPeriod"/>
            </a:pPr>
            <a:r>
              <a:rPr lang="fr-FR" dirty="0"/>
              <a:t>Réduire le coût de l’application </a:t>
            </a:r>
          </a:p>
          <a:p>
            <a:pPr marL="514350" indent="-514350">
              <a:buFont typeface="+mj-lt"/>
              <a:buAutoNum type="arabicPeriod"/>
            </a:pPr>
            <a:r>
              <a:rPr lang="fr-FR" dirty="0"/>
              <a:t>Permettre le </a:t>
            </a:r>
            <a:r>
              <a:rPr lang="fr-FR" dirty="0" err="1"/>
              <a:t>multi-threading</a:t>
            </a:r>
            <a:r>
              <a:rPr lang="fr-FR" dirty="0"/>
              <a:t> </a:t>
            </a:r>
          </a:p>
          <a:p>
            <a:pPr marL="514350" indent="-514350">
              <a:buFont typeface="+mj-lt"/>
              <a:buAutoNum type="arabicPeriod"/>
            </a:pPr>
            <a:r>
              <a:rPr lang="fr-FR" dirty="0"/>
              <a:t>Permettre le </a:t>
            </a:r>
            <a:r>
              <a:rPr lang="fr-FR" dirty="0" err="1"/>
              <a:t>scaling</a:t>
            </a:r>
            <a:r>
              <a:rPr lang="fr-FR" dirty="0"/>
              <a:t> automatique </a:t>
            </a:r>
          </a:p>
          <a:p>
            <a:pPr marL="514350" indent="-514350">
              <a:buFont typeface="+mj-lt"/>
              <a:buAutoNum type="arabicPeriod"/>
            </a:pPr>
            <a:r>
              <a:rPr lang="fr-FR" dirty="0"/>
              <a:t>Permettre des déploiements sans interruption</a:t>
            </a:r>
          </a:p>
          <a:p>
            <a:pPr marL="0" indent="0">
              <a:buNone/>
            </a:pPr>
            <a:endParaRPr lang="fr-FR" sz="2400" dirty="0"/>
          </a:p>
        </p:txBody>
      </p:sp>
      <p:sp>
        <p:nvSpPr>
          <p:cNvPr id="4" name="Content Placeholder 2">
            <a:extLst>
              <a:ext uri="{FF2B5EF4-FFF2-40B4-BE49-F238E27FC236}">
                <a16:creationId xmlns:a16="http://schemas.microsoft.com/office/drawing/2014/main" id="{C8FA1FB6-A220-2B7E-C42F-5CAF7405B9F6}"/>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8C9EC485-C94B-B095-4C9D-3480E8C629E0}"/>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
        <p:nvSpPr>
          <p:cNvPr id="6" name="ZoneTexte 5">
            <a:extLst>
              <a:ext uri="{FF2B5EF4-FFF2-40B4-BE49-F238E27FC236}">
                <a16:creationId xmlns:a16="http://schemas.microsoft.com/office/drawing/2014/main" id="{3CCF6B69-D58C-9355-56E1-EB04F0FD4578}"/>
              </a:ext>
            </a:extLst>
          </p:cNvPr>
          <p:cNvSpPr txBox="1"/>
          <p:nvPr/>
        </p:nvSpPr>
        <p:spPr>
          <a:xfrm>
            <a:off x="35496" y="3645024"/>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5A28CAF1-0CF9-20DD-8156-A8BF80B28E2C}"/>
              </a:ext>
            </a:extLst>
          </p:cNvPr>
          <p:cNvSpPr txBox="1"/>
          <p:nvPr/>
        </p:nvSpPr>
        <p:spPr>
          <a:xfrm>
            <a:off x="1763688" y="4653136"/>
            <a:ext cx="5556586" cy="369332"/>
          </a:xfrm>
          <a:prstGeom prst="rect">
            <a:avLst/>
          </a:prstGeom>
          <a:noFill/>
        </p:spPr>
        <p:txBody>
          <a:bodyPr wrap="none" rtlCol="0">
            <a:spAutoFit/>
          </a:bodyPr>
          <a:lstStyle/>
          <a:p>
            <a:r>
              <a:rPr lang="fr-FR" dirty="0"/>
              <a:t>💡 Le swap permet un </a:t>
            </a:r>
            <a:r>
              <a:rPr lang="fr-FR" b="1" dirty="0" err="1"/>
              <a:t>zero</a:t>
            </a:r>
            <a:r>
              <a:rPr lang="fr-FR" b="1" dirty="0"/>
              <a:t> </a:t>
            </a:r>
            <a:r>
              <a:rPr lang="fr-FR" b="1" dirty="0" err="1"/>
              <a:t>downtime</a:t>
            </a:r>
            <a:r>
              <a:rPr lang="fr-FR" b="1" dirty="0"/>
              <a:t> </a:t>
            </a:r>
            <a:r>
              <a:rPr lang="fr-FR" b="1" dirty="0" err="1"/>
              <a:t>deployment</a:t>
            </a:r>
            <a:endParaRPr lang="fr-FR" dirty="0"/>
          </a:p>
        </p:txBody>
      </p:sp>
    </p:spTree>
    <p:extLst>
      <p:ext uri="{BB962C8B-B14F-4D97-AF65-F5344CB8AC3E}">
        <p14:creationId xmlns:p14="http://schemas.microsoft.com/office/powerpoint/2010/main" val="1170086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BBBDD-0598-2389-6250-A64EF326F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123A9-6EA4-EF59-6DBC-8C6A52FF75CE}"/>
              </a:ext>
            </a:extLst>
          </p:cNvPr>
          <p:cNvSpPr>
            <a:spLocks noGrp="1"/>
          </p:cNvSpPr>
          <p:nvPr>
            <p:ph type="title"/>
          </p:nvPr>
        </p:nvSpPr>
        <p:spPr/>
        <p:txBody>
          <a:bodyPr/>
          <a:lstStyle/>
          <a:p>
            <a:r>
              <a:rPr lang="en-US" dirty="0"/>
              <a:t>Question 3</a:t>
            </a:r>
          </a:p>
        </p:txBody>
      </p:sp>
      <p:sp>
        <p:nvSpPr>
          <p:cNvPr id="3" name="Content Placeholder 2">
            <a:extLst>
              <a:ext uri="{FF2B5EF4-FFF2-40B4-BE49-F238E27FC236}">
                <a16:creationId xmlns:a16="http://schemas.microsoft.com/office/drawing/2014/main" id="{E851FF92-6935-6366-F2C9-CBCB401FF4E1}"/>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Lors d’un déploiement direct sur un App Service en production, une erreur apparaît :</a:t>
            </a:r>
          </a:p>
          <a:p>
            <a:pPr marL="0" indent="0">
              <a:buNone/>
            </a:pPr>
            <a:r>
              <a:rPr lang="fr-FR" sz="2400" i="1" dirty="0"/>
              <a:t>“</a:t>
            </a:r>
            <a:r>
              <a:rPr lang="fr-FR" sz="2000" i="1" dirty="0">
                <a:latin typeface="Courier New" panose="02070309020205020404" pitchFamily="49" charset="0"/>
                <a:cs typeface="Courier New" panose="02070309020205020404" pitchFamily="49" charset="0"/>
              </a:rPr>
              <a:t>The process </a:t>
            </a:r>
            <a:r>
              <a:rPr lang="fr-FR" sz="2000" i="1" dirty="0" err="1">
                <a:latin typeface="Courier New" panose="02070309020205020404" pitchFamily="49" charset="0"/>
                <a:cs typeface="Courier New" panose="02070309020205020404" pitchFamily="49" charset="0"/>
              </a:rPr>
              <a:t>cannot</a:t>
            </a:r>
            <a:r>
              <a:rPr lang="fr-FR" sz="2000" i="1" dirty="0">
                <a:latin typeface="Courier New" panose="02070309020205020404" pitchFamily="49" charset="0"/>
                <a:cs typeface="Courier New" panose="02070309020205020404" pitchFamily="49" charset="0"/>
              </a:rPr>
              <a:t> </a:t>
            </a:r>
            <a:r>
              <a:rPr lang="fr-FR" sz="2000" i="1" dirty="0" err="1">
                <a:latin typeface="Courier New" panose="02070309020205020404" pitchFamily="49" charset="0"/>
                <a:cs typeface="Courier New" panose="02070309020205020404" pitchFamily="49" charset="0"/>
              </a:rPr>
              <a:t>access</a:t>
            </a:r>
            <a:r>
              <a:rPr lang="fr-FR" sz="2000" i="1" dirty="0">
                <a:latin typeface="Courier New" panose="02070309020205020404" pitchFamily="49" charset="0"/>
                <a:cs typeface="Courier New" panose="02070309020205020404" pitchFamily="49" charset="0"/>
              </a:rPr>
              <a:t> the file 'MyApp.dll' </a:t>
            </a:r>
            <a:r>
              <a:rPr lang="fr-FR" sz="2000" i="1" dirty="0" err="1">
                <a:latin typeface="Courier New" panose="02070309020205020404" pitchFamily="49" charset="0"/>
                <a:cs typeface="Courier New" panose="02070309020205020404" pitchFamily="49" charset="0"/>
              </a:rPr>
              <a:t>because</a:t>
            </a:r>
            <a:r>
              <a:rPr lang="fr-FR" sz="2000" i="1" dirty="0">
                <a:latin typeface="Courier New" panose="02070309020205020404" pitchFamily="49" charset="0"/>
                <a:cs typeface="Courier New" panose="02070309020205020404" pitchFamily="49" charset="0"/>
              </a:rPr>
              <a:t> </a:t>
            </a:r>
            <a:r>
              <a:rPr lang="fr-FR" sz="2000" i="1" dirty="0" err="1">
                <a:latin typeface="Courier New" panose="02070309020205020404" pitchFamily="49" charset="0"/>
                <a:cs typeface="Courier New" panose="02070309020205020404" pitchFamily="49" charset="0"/>
              </a:rPr>
              <a:t>it</a:t>
            </a:r>
            <a:r>
              <a:rPr lang="fr-FR" sz="2000" i="1" dirty="0">
                <a:latin typeface="Courier New" panose="02070309020205020404" pitchFamily="49" charset="0"/>
                <a:cs typeface="Courier New" panose="02070309020205020404" pitchFamily="49" charset="0"/>
              </a:rPr>
              <a:t> </a:t>
            </a:r>
            <a:r>
              <a:rPr lang="fr-FR" sz="2000" i="1" dirty="0" err="1">
                <a:latin typeface="Courier New" panose="02070309020205020404" pitchFamily="49" charset="0"/>
                <a:cs typeface="Courier New" panose="02070309020205020404" pitchFamily="49" charset="0"/>
              </a:rPr>
              <a:t>is</a:t>
            </a:r>
            <a:r>
              <a:rPr lang="fr-FR" sz="2000" i="1" dirty="0">
                <a:latin typeface="Courier New" panose="02070309020205020404" pitchFamily="49" charset="0"/>
                <a:cs typeface="Courier New" panose="02070309020205020404" pitchFamily="49" charset="0"/>
              </a:rPr>
              <a:t> </a:t>
            </a:r>
            <a:r>
              <a:rPr lang="fr-FR" sz="2000" i="1" dirty="0" err="1">
                <a:latin typeface="Courier New" panose="02070309020205020404" pitchFamily="49" charset="0"/>
                <a:cs typeface="Courier New" panose="02070309020205020404" pitchFamily="49" charset="0"/>
              </a:rPr>
              <a:t>being</a:t>
            </a:r>
            <a:r>
              <a:rPr lang="fr-FR" sz="2000" i="1" dirty="0">
                <a:latin typeface="Courier New" panose="02070309020205020404" pitchFamily="49" charset="0"/>
                <a:cs typeface="Courier New" panose="02070309020205020404" pitchFamily="49" charset="0"/>
              </a:rPr>
              <a:t> </a:t>
            </a:r>
            <a:r>
              <a:rPr lang="fr-FR" sz="2000" i="1" dirty="0" err="1">
                <a:latin typeface="Courier New" panose="02070309020205020404" pitchFamily="49" charset="0"/>
                <a:cs typeface="Courier New" panose="02070309020205020404" pitchFamily="49" charset="0"/>
              </a:rPr>
              <a:t>used</a:t>
            </a:r>
            <a:r>
              <a:rPr lang="fr-FR" sz="2000" i="1" dirty="0">
                <a:latin typeface="Courier New" panose="02070309020205020404" pitchFamily="49" charset="0"/>
                <a:cs typeface="Courier New" panose="02070309020205020404" pitchFamily="49" charset="0"/>
              </a:rPr>
              <a:t> by </a:t>
            </a:r>
            <a:r>
              <a:rPr lang="fr-FR" sz="2000" i="1" dirty="0" err="1">
                <a:latin typeface="Courier New" panose="02070309020205020404" pitchFamily="49" charset="0"/>
                <a:cs typeface="Courier New" panose="02070309020205020404" pitchFamily="49" charset="0"/>
              </a:rPr>
              <a:t>another</a:t>
            </a:r>
            <a:r>
              <a:rPr lang="fr-FR" sz="2000" i="1" dirty="0">
                <a:latin typeface="Courier New" panose="02070309020205020404" pitchFamily="49" charset="0"/>
                <a:cs typeface="Courier New" panose="02070309020205020404" pitchFamily="49" charset="0"/>
              </a:rPr>
              <a:t> process</a:t>
            </a:r>
            <a:r>
              <a:rPr lang="fr-FR" sz="2400" i="1" dirty="0"/>
              <a:t>”</a:t>
            </a:r>
            <a:endParaRPr lang="fr-FR" sz="2400" dirty="0"/>
          </a:p>
          <a:p>
            <a:pPr marL="0" indent="0">
              <a:buNone/>
            </a:pPr>
            <a:r>
              <a:rPr lang="fr-FR" sz="2400" dirty="0"/>
              <a:t>Quelle situation explique le mieux cette erreur ?</a:t>
            </a:r>
          </a:p>
          <a:p>
            <a:pPr>
              <a:buFont typeface="+mj-lt"/>
              <a:buAutoNum type="arabicPeriod"/>
            </a:pPr>
            <a:r>
              <a:rPr lang="fr-FR" sz="2000" dirty="0"/>
              <a:t>La base de données est en cours de migration </a:t>
            </a:r>
          </a:p>
          <a:p>
            <a:pPr>
              <a:buFont typeface="+mj-lt"/>
              <a:buAutoNum type="arabicPeriod"/>
            </a:pPr>
            <a:r>
              <a:rPr lang="fr-FR" sz="2000" dirty="0"/>
              <a:t>L’application en cours d’exécution utilise la DLL, empêchant son remplacement </a:t>
            </a:r>
          </a:p>
          <a:p>
            <a:pPr>
              <a:buFont typeface="+mj-lt"/>
              <a:buAutoNum type="arabicPeriod"/>
            </a:pPr>
            <a:r>
              <a:rPr lang="fr-FR" sz="2000" dirty="0"/>
              <a:t>Le slot de </a:t>
            </a:r>
            <a:r>
              <a:rPr lang="fr-FR" sz="2000" dirty="0" err="1"/>
              <a:t>staging</a:t>
            </a:r>
            <a:r>
              <a:rPr lang="fr-FR" sz="2000" dirty="0"/>
              <a:t> n’est pas configuré </a:t>
            </a:r>
          </a:p>
          <a:p>
            <a:pPr>
              <a:buFont typeface="+mj-lt"/>
              <a:buAutoNum type="arabicPeriod"/>
            </a:pPr>
            <a:r>
              <a:rPr lang="fr-FR" sz="2000" dirty="0"/>
              <a:t>Le plan App Service ne supporte pas le déploiement continu</a:t>
            </a:r>
          </a:p>
        </p:txBody>
      </p:sp>
      <p:sp>
        <p:nvSpPr>
          <p:cNvPr id="4" name="Content Placeholder 2">
            <a:extLst>
              <a:ext uri="{FF2B5EF4-FFF2-40B4-BE49-F238E27FC236}">
                <a16:creationId xmlns:a16="http://schemas.microsoft.com/office/drawing/2014/main" id="{1B417F22-4688-9BFE-4C63-653211714D2A}"/>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E77C2871-7AFF-355F-7930-6EC163FCB31A}"/>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6" name="ZoneTexte 5">
            <a:extLst>
              <a:ext uri="{FF2B5EF4-FFF2-40B4-BE49-F238E27FC236}">
                <a16:creationId xmlns:a16="http://schemas.microsoft.com/office/drawing/2014/main" id="{1C461C47-6D5E-C287-228A-10B0A3504DB5}"/>
              </a:ext>
            </a:extLst>
          </p:cNvPr>
          <p:cNvSpPr txBox="1"/>
          <p:nvPr/>
        </p:nvSpPr>
        <p:spPr>
          <a:xfrm>
            <a:off x="0" y="3645024"/>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1923AB07-05CB-D27C-96AC-FC1C3683DD3E}"/>
              </a:ext>
            </a:extLst>
          </p:cNvPr>
          <p:cNvSpPr txBox="1"/>
          <p:nvPr/>
        </p:nvSpPr>
        <p:spPr>
          <a:xfrm>
            <a:off x="1683946" y="5411450"/>
            <a:ext cx="4594848" cy="1446550"/>
          </a:xfrm>
          <a:prstGeom prst="rect">
            <a:avLst/>
          </a:prstGeom>
          <a:noFill/>
        </p:spPr>
        <p:txBody>
          <a:bodyPr wrap="none" rtlCol="0">
            <a:spAutoFit/>
          </a:bodyPr>
          <a:lstStyle/>
          <a:p>
            <a:r>
              <a:rPr lang="fr-FR" sz="1200" dirty="0"/>
              <a:t>👉 Dans un App Service en production :</a:t>
            </a:r>
          </a:p>
          <a:p>
            <a:pPr marL="285750" indent="-285750">
              <a:buFontTx/>
              <a:buChar char="-"/>
            </a:pPr>
            <a:r>
              <a:rPr lang="fr-FR" sz="1200" dirty="0"/>
              <a:t>l’application est </a:t>
            </a:r>
            <a:r>
              <a:rPr lang="fr-FR" sz="1200" b="1" dirty="0"/>
              <a:t>déjà en train de tourner</a:t>
            </a:r>
            <a:r>
              <a:rPr lang="fr-FR" sz="1200" dirty="0"/>
              <a:t> </a:t>
            </a:r>
          </a:p>
          <a:p>
            <a:pPr marL="285750" indent="-285750">
              <a:buFontTx/>
              <a:buChar char="-"/>
            </a:pPr>
            <a:r>
              <a:rPr lang="fr-FR" sz="1200" dirty="0"/>
              <a:t>les fichiers .dll sont </a:t>
            </a:r>
            <a:r>
              <a:rPr lang="fr-FR" sz="1200" b="1" dirty="0"/>
              <a:t>chargés par le runtime (.NET / </a:t>
            </a:r>
            <a:r>
              <a:rPr lang="fr-FR" sz="1200" b="1" dirty="0" err="1"/>
              <a:t>Kestrel</a:t>
            </a:r>
            <a:r>
              <a:rPr lang="fr-FR" sz="1200" b="1" dirty="0"/>
              <a:t>)</a:t>
            </a:r>
            <a:r>
              <a:rPr lang="fr-FR" sz="1200" dirty="0"/>
              <a:t> </a:t>
            </a:r>
          </a:p>
          <a:p>
            <a:r>
              <a:rPr lang="fr-FR" sz="1200" dirty="0"/>
              <a:t>👉 Lors du déploiement :</a:t>
            </a:r>
          </a:p>
          <a:p>
            <a:pPr marL="285750" indent="-285750">
              <a:buFontTx/>
              <a:buChar char="-"/>
            </a:pPr>
            <a:r>
              <a:rPr lang="fr-FR" sz="1200" dirty="0"/>
              <a:t>Azure tente de </a:t>
            </a:r>
            <a:r>
              <a:rPr lang="fr-FR" sz="1200" b="1" dirty="0"/>
              <a:t>écraser les fichiers existants</a:t>
            </a:r>
            <a:r>
              <a:rPr lang="fr-FR" sz="1200" dirty="0"/>
              <a:t> </a:t>
            </a:r>
          </a:p>
          <a:p>
            <a:pPr marL="285750" indent="-285750">
              <a:buFontTx/>
              <a:buChar char="-"/>
            </a:pPr>
            <a:r>
              <a:rPr lang="fr-FR" sz="1200" dirty="0"/>
              <a:t>mais la DLL est </a:t>
            </a:r>
            <a:r>
              <a:rPr lang="fr-FR" sz="1200" b="1" dirty="0"/>
              <a:t>verrouillée par le processus actif</a:t>
            </a:r>
            <a:endParaRPr lang="fr-FR" sz="1200" dirty="0"/>
          </a:p>
          <a:p>
            <a:endParaRPr lang="fr-FR" sz="1600" dirty="0"/>
          </a:p>
        </p:txBody>
      </p:sp>
    </p:spTree>
    <p:extLst>
      <p:ext uri="{BB962C8B-B14F-4D97-AF65-F5344CB8AC3E}">
        <p14:creationId xmlns:p14="http://schemas.microsoft.com/office/powerpoint/2010/main" val="237518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46070-B722-1430-7DB0-C45F5A18C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48FDA-DE78-1196-6A9A-56B52E657BDA}"/>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8F3DEA3D-9E1A-C33E-E438-E262AB7431BA}"/>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dirty="0"/>
              <a:t>Que se passe-t-il si une </a:t>
            </a:r>
            <a:r>
              <a:rPr lang="fr-FR" dirty="0" err="1"/>
              <a:t>connection</a:t>
            </a:r>
            <a:r>
              <a:rPr lang="fr-FR" dirty="0"/>
              <a:t> string est marquée "</a:t>
            </a:r>
            <a:r>
              <a:rPr lang="fr-FR" dirty="0" err="1"/>
              <a:t>Deployment</a:t>
            </a:r>
            <a:r>
              <a:rPr lang="fr-FR" dirty="0"/>
              <a:t> slot setting" ?</a:t>
            </a:r>
          </a:p>
          <a:p>
            <a:pPr marL="514350" indent="-514350">
              <a:buFont typeface="+mj-lt"/>
              <a:buAutoNum type="arabicPeriod"/>
            </a:pPr>
            <a:r>
              <a:rPr lang="fr-FR" dirty="0"/>
              <a:t>Elle est supprimée lors du swap </a:t>
            </a:r>
          </a:p>
          <a:p>
            <a:pPr marL="514350" indent="-514350">
              <a:buFont typeface="+mj-lt"/>
              <a:buAutoNum type="arabicPeriod"/>
            </a:pPr>
            <a:r>
              <a:rPr lang="fr-FR" dirty="0"/>
              <a:t>Elle est copiée dans tous les slots </a:t>
            </a:r>
          </a:p>
          <a:p>
            <a:pPr marL="514350" indent="-514350">
              <a:buFont typeface="+mj-lt"/>
              <a:buAutoNum type="arabicPeriod"/>
            </a:pPr>
            <a:r>
              <a:rPr lang="fr-FR" dirty="0"/>
              <a:t>Elle reste attachée à son slot </a:t>
            </a:r>
          </a:p>
          <a:p>
            <a:pPr marL="514350" indent="-514350">
              <a:buFont typeface="+mj-lt"/>
              <a:buAutoNum type="arabicPeriod"/>
            </a:pPr>
            <a:r>
              <a:rPr lang="fr-FR" dirty="0"/>
              <a:t>Elle est chiffrée automatiquement</a:t>
            </a:r>
          </a:p>
          <a:p>
            <a:pPr marL="0" indent="0">
              <a:buNone/>
            </a:pPr>
            <a:endParaRPr lang="fr-FR" sz="2400" dirty="0"/>
          </a:p>
        </p:txBody>
      </p:sp>
      <p:sp>
        <p:nvSpPr>
          <p:cNvPr id="4" name="Content Placeholder 2">
            <a:extLst>
              <a:ext uri="{FF2B5EF4-FFF2-40B4-BE49-F238E27FC236}">
                <a16:creationId xmlns:a16="http://schemas.microsoft.com/office/drawing/2014/main" id="{B6225190-EBA0-7A83-03FD-47996B77E6A9}"/>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B0BBDB62-6252-FADD-7250-2D6D37F66EBE}"/>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6" name="ZoneTexte 5">
            <a:extLst>
              <a:ext uri="{FF2B5EF4-FFF2-40B4-BE49-F238E27FC236}">
                <a16:creationId xmlns:a16="http://schemas.microsoft.com/office/drawing/2014/main" id="{8DEFE363-E306-670C-72DC-D4E5F290788A}"/>
              </a:ext>
            </a:extLst>
          </p:cNvPr>
          <p:cNvSpPr txBox="1"/>
          <p:nvPr/>
        </p:nvSpPr>
        <p:spPr>
          <a:xfrm>
            <a:off x="26164" y="3140968"/>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3FCD8D2A-F632-467F-02EA-6C346F75A439}"/>
              </a:ext>
            </a:extLst>
          </p:cNvPr>
          <p:cNvSpPr txBox="1"/>
          <p:nvPr/>
        </p:nvSpPr>
        <p:spPr>
          <a:xfrm>
            <a:off x="305068" y="5013176"/>
            <a:ext cx="5975995" cy="369332"/>
          </a:xfrm>
          <a:prstGeom prst="rect">
            <a:avLst/>
          </a:prstGeom>
          <a:noFill/>
        </p:spPr>
        <p:txBody>
          <a:bodyPr wrap="none" rtlCol="0">
            <a:spAutoFit/>
          </a:bodyPr>
          <a:lstStyle/>
          <a:p>
            <a:r>
              <a:rPr lang="fr-FR" dirty="0"/>
              <a:t>💡 Elle ne suit pas l’application → elle reste dans son slot</a:t>
            </a:r>
          </a:p>
        </p:txBody>
      </p:sp>
    </p:spTree>
    <p:extLst>
      <p:ext uri="{BB962C8B-B14F-4D97-AF65-F5344CB8AC3E}">
        <p14:creationId xmlns:p14="http://schemas.microsoft.com/office/powerpoint/2010/main" val="367390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25E5-C6AF-B754-C152-901147635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59938-744F-C7A4-09E2-580BF535D05D}"/>
              </a:ext>
            </a:extLst>
          </p:cNvPr>
          <p:cNvSpPr>
            <a:spLocks noGrp="1"/>
          </p:cNvSpPr>
          <p:nvPr>
            <p:ph type="title"/>
          </p:nvPr>
        </p:nvSpPr>
        <p:spPr/>
        <p:txBody>
          <a:bodyPr/>
          <a:lstStyle/>
          <a:p>
            <a:r>
              <a:rPr lang="en-US" dirty="0"/>
              <a:t>Question 5</a:t>
            </a:r>
          </a:p>
        </p:txBody>
      </p:sp>
      <p:sp>
        <p:nvSpPr>
          <p:cNvPr id="3" name="Content Placeholder 2">
            <a:extLst>
              <a:ext uri="{FF2B5EF4-FFF2-40B4-BE49-F238E27FC236}">
                <a16:creationId xmlns:a16="http://schemas.microsoft.com/office/drawing/2014/main" id="{F7D0BA3E-0A10-9714-86E1-DB197B0208AC}"/>
              </a:ext>
            </a:extLst>
          </p:cNvPr>
          <p:cNvSpPr>
            <a:spLocks noGrp="1"/>
          </p:cNvSpPr>
          <p:nvPr>
            <p:ph type="body" sz="quarter" idx="13"/>
          </p:nvPr>
        </p:nvSpPr>
        <p:spPr>
          <a:xfrm>
            <a:off x="457199" y="1066800"/>
            <a:ext cx="8635043" cy="5314528"/>
          </a:xfrm>
          <a:prstGeom prst="rect">
            <a:avLst/>
          </a:prstGeom>
        </p:spPr>
        <p:txBody>
          <a:bodyPr/>
          <a:lstStyle/>
          <a:p>
            <a:pPr marL="0" indent="0">
              <a:buNone/>
            </a:pPr>
            <a:r>
              <a:rPr lang="fr-FR" sz="1600" dirty="0"/>
              <a:t>Lors d’un </a:t>
            </a:r>
            <a:r>
              <a:rPr lang="fr-FR" sz="1600" b="1" dirty="0"/>
              <a:t>swap entre un slot </a:t>
            </a:r>
            <a:r>
              <a:rPr lang="fr-FR" sz="1600" b="1" dirty="0" err="1"/>
              <a:t>staging</a:t>
            </a:r>
            <a:r>
              <a:rPr lang="fr-FR" sz="1600" b="1" dirty="0"/>
              <a:t> (source)</a:t>
            </a:r>
            <a:r>
              <a:rPr lang="fr-FR" sz="1600" dirty="0"/>
              <a:t> et un </a:t>
            </a:r>
            <a:r>
              <a:rPr lang="fr-FR" sz="1600" b="1" dirty="0"/>
              <a:t>slot production (</a:t>
            </a:r>
            <a:r>
              <a:rPr lang="fr-FR" sz="1600" b="1" dirty="0" err="1"/>
              <a:t>target</a:t>
            </a:r>
            <a:r>
              <a:rPr lang="fr-FR" sz="1600" b="1" dirty="0"/>
              <a:t>)</a:t>
            </a:r>
            <a:r>
              <a:rPr lang="fr-FR" sz="1600" dirty="0"/>
              <a:t> dans Azure App Service, certains éléments sont échangés, d’autres non, et certains sont temporairement appliqués. </a:t>
            </a:r>
            <a:r>
              <a:rPr lang="fr-FR" sz="1600" dirty="0">
                <a:hlinkClick r:id="rId3"/>
              </a:rPr>
              <a:t>https://learn.microsoft.com/fr-fr/azure/app-service/deploy-staging-slots</a:t>
            </a:r>
            <a:r>
              <a:rPr lang="fr-FR" sz="1600" dirty="0"/>
              <a:t> </a:t>
            </a:r>
          </a:p>
          <a:p>
            <a:pPr marL="0" indent="0">
              <a:buNone/>
            </a:pPr>
            <a:r>
              <a:rPr lang="fr-FR" sz="1600" dirty="0"/>
              <a:t>👉 Complétez le tableau suivant en indiquant pour chaque élément :</a:t>
            </a:r>
          </a:p>
          <a:p>
            <a:r>
              <a:rPr lang="fr-FR" sz="1600" b="1" dirty="0"/>
              <a:t>Échangé (Swap)</a:t>
            </a:r>
            <a:r>
              <a:rPr lang="fr-FR" sz="1600" dirty="0"/>
              <a:t> </a:t>
            </a:r>
          </a:p>
          <a:p>
            <a:r>
              <a:rPr lang="fr-FR" sz="1600" b="1" dirty="0"/>
              <a:t>Non échangé</a:t>
            </a:r>
            <a:r>
              <a:rPr lang="fr-FR" sz="1600" dirty="0"/>
              <a:t> </a:t>
            </a:r>
          </a:p>
          <a:p>
            <a:pPr marL="0" indent="0">
              <a:buNone/>
            </a:pPr>
            <a:endParaRPr lang="fr-FR" sz="1400" dirty="0"/>
          </a:p>
        </p:txBody>
      </p:sp>
      <p:sp>
        <p:nvSpPr>
          <p:cNvPr id="4" name="Content Placeholder 2">
            <a:extLst>
              <a:ext uri="{FF2B5EF4-FFF2-40B4-BE49-F238E27FC236}">
                <a16:creationId xmlns:a16="http://schemas.microsoft.com/office/drawing/2014/main" id="{AB1D27D6-A864-0EEE-BC10-DB1C9E25F905}"/>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graphicFrame>
        <p:nvGraphicFramePr>
          <p:cNvPr id="11" name="Tableau 10">
            <a:extLst>
              <a:ext uri="{FF2B5EF4-FFF2-40B4-BE49-F238E27FC236}">
                <a16:creationId xmlns:a16="http://schemas.microsoft.com/office/drawing/2014/main" id="{02C02A71-C09A-64C0-34B5-7BF0B1E85EA7}"/>
              </a:ext>
            </a:extLst>
          </p:cNvPr>
          <p:cNvGraphicFramePr>
            <a:graphicFrameLocks noGrp="1"/>
          </p:cNvGraphicFramePr>
          <p:nvPr>
            <p:extLst>
              <p:ext uri="{D42A27DB-BD31-4B8C-83A1-F6EECF244321}">
                <p14:modId xmlns:p14="http://schemas.microsoft.com/office/powerpoint/2010/main" val="2909897220"/>
              </p:ext>
            </p:extLst>
          </p:nvPr>
        </p:nvGraphicFramePr>
        <p:xfrm>
          <a:off x="971600" y="2780928"/>
          <a:ext cx="5918200" cy="3130550"/>
        </p:xfrm>
        <a:graphic>
          <a:graphicData uri="http://schemas.openxmlformats.org/drawingml/2006/table">
            <a:tbl>
              <a:tblPr/>
              <a:tblGrid>
                <a:gridCol w="3276600">
                  <a:extLst>
                    <a:ext uri="{9D8B030D-6E8A-4147-A177-3AD203B41FA5}">
                      <a16:colId xmlns:a16="http://schemas.microsoft.com/office/drawing/2014/main" val="2939840499"/>
                    </a:ext>
                  </a:extLst>
                </a:gridCol>
                <a:gridCol w="2641600">
                  <a:extLst>
                    <a:ext uri="{9D8B030D-6E8A-4147-A177-3AD203B41FA5}">
                      <a16:colId xmlns:a16="http://schemas.microsoft.com/office/drawing/2014/main" val="1641491000"/>
                    </a:ext>
                  </a:extLst>
                </a:gridCol>
              </a:tblGrid>
              <a:tr h="184150">
                <a:tc>
                  <a:txBody>
                    <a:bodyPr/>
                    <a:lstStyle/>
                    <a:p>
                      <a:pPr algn="l" fontAlgn="b">
                        <a:buNone/>
                      </a:pPr>
                      <a:r>
                        <a:rPr lang="fr-FR" sz="1100" b="1" i="0" u="none" strike="noStrike" dirty="0">
                          <a:solidFill>
                            <a:srgbClr val="FFFFFF"/>
                          </a:solidFill>
                          <a:effectLst/>
                          <a:latin typeface="Calibri" panose="020F0502020204030204" pitchFamily="34" charset="0"/>
                        </a:rPr>
                        <a:t>Élément</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buNone/>
                      </a:pPr>
                      <a:r>
                        <a:rPr lang="fr-FR" sz="1100" b="1" i="0" u="none" strike="noStrike">
                          <a:solidFill>
                            <a:srgbClr val="FFFFFF"/>
                          </a:solidFill>
                          <a:effectLst/>
                          <a:latin typeface="Calibri" panose="020F0502020204030204" pitchFamily="34" charset="0"/>
                        </a:rPr>
                        <a:t>Comportement lors du swap</a:t>
                      </a:r>
                    </a:p>
                  </a:txBody>
                  <a:tcPr marL="6350" marR="6350" marT="635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364308579"/>
                  </a:ext>
                </a:extLst>
              </a:tr>
              <a:tr h="184150">
                <a:tc>
                  <a:txBody>
                    <a:bodyPr/>
                    <a:lstStyle/>
                    <a:p>
                      <a:pPr algn="l" fontAlgn="b">
                        <a:buNone/>
                      </a:pPr>
                      <a:r>
                        <a:rPr lang="fr-FR" sz="1100" b="0" i="0" u="none" strike="noStrike" dirty="0">
                          <a:solidFill>
                            <a:srgbClr val="000000"/>
                          </a:solidFill>
                          <a:effectLst/>
                          <a:latin typeface="Calibri" panose="020F0502020204030204" pitchFamily="34" charset="0"/>
                        </a:rPr>
                        <a:t>Code de l’application</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ctr">
                        <a:buNone/>
                      </a:pPr>
                      <a:r>
                        <a:rPr lang="fr-FR" sz="1100" b="0" i="0" u="none" strike="noStrike" dirty="0">
                          <a:solidFill>
                            <a:srgbClr val="000000"/>
                          </a:solidFill>
                          <a:effectLst/>
                          <a:latin typeface="Calibri" panose="020F0502020204030204" pitchFamily="34" charset="0"/>
                        </a:rPr>
                        <a:t>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432523211"/>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Version du runtime (.NET, Node…)</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ctr">
                        <a:buNone/>
                      </a:pPr>
                      <a:r>
                        <a:rPr lang="fr-FR" sz="1100" b="0" i="0" u="none" strike="noStrike" dirty="0">
                          <a:solidFill>
                            <a:srgbClr val="000000"/>
                          </a:solidFill>
                          <a:effectLst/>
                          <a:latin typeface="Calibri" panose="020F0502020204030204" pitchFamily="34" charset="0"/>
                        </a:rPr>
                        <a:t>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255877013"/>
                  </a:ext>
                </a:extLst>
              </a:tr>
              <a:tr h="184150">
                <a:tc>
                  <a:txBody>
                    <a:bodyPr/>
                    <a:lstStyle/>
                    <a:p>
                      <a:pPr algn="l" fontAlgn="b">
                        <a:buNone/>
                      </a:pPr>
                      <a:r>
                        <a:rPr lang="nb-NO" sz="1100" b="0" i="0" u="none" strike="noStrike">
                          <a:solidFill>
                            <a:srgbClr val="000000"/>
                          </a:solidFill>
                          <a:effectLst/>
                          <a:latin typeface="Calibri" panose="020F0502020204030204" pitchFamily="34" charset="0"/>
                        </a:rPr>
                        <a:t>App settings (marquées deployment slot setting)</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ctr">
                        <a:buNone/>
                      </a:pPr>
                      <a:r>
                        <a:rPr lang="fr-FR" sz="1100" b="0" i="0" u="none" strike="noStrike" dirty="0">
                          <a:solidFill>
                            <a:srgbClr val="000000"/>
                          </a:solidFill>
                          <a:effectLst/>
                          <a:latin typeface="Calibri" panose="020F0502020204030204" pitchFamily="34" charset="0"/>
                        </a:rPr>
                        <a:t>Non 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509699009"/>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App settings (non marquées)</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ctr">
                        <a:buNone/>
                      </a:pPr>
                      <a:r>
                        <a:rPr lang="fr-FR" sz="1100" b="0" i="0" u="none" strike="noStrike">
                          <a:solidFill>
                            <a:srgbClr val="000000"/>
                          </a:solidFill>
                          <a:effectLst/>
                          <a:latin typeface="Calibri" panose="020F0502020204030204" pitchFamily="34" charset="0"/>
                        </a:rPr>
                        <a:t>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629127400"/>
                  </a:ext>
                </a:extLst>
              </a:tr>
              <a:tr h="184150">
                <a:tc>
                  <a:txBody>
                    <a:bodyPr/>
                    <a:lstStyle/>
                    <a:p>
                      <a:pPr algn="l" fontAlgn="b">
                        <a:buNone/>
                      </a:pPr>
                      <a:r>
                        <a:rPr lang="en-US" sz="1100" b="0" i="0" u="none" strike="noStrike">
                          <a:solidFill>
                            <a:srgbClr val="000000"/>
                          </a:solidFill>
                          <a:effectLst/>
                          <a:latin typeface="Calibri" panose="020F0502020204030204" pitchFamily="34" charset="0"/>
                        </a:rPr>
                        <a:t>Connection strings (marquées deployment slot setting)</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ctr">
                        <a:buNone/>
                      </a:pPr>
                      <a:r>
                        <a:rPr lang="fr-FR" sz="1100" b="0" i="0" u="none" strike="noStrike" dirty="0">
                          <a:solidFill>
                            <a:srgbClr val="000000"/>
                          </a:solidFill>
                          <a:effectLst/>
                          <a:latin typeface="Calibri" panose="020F0502020204030204" pitchFamily="34" charset="0"/>
                        </a:rPr>
                        <a:t>Non 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043562392"/>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Connection strings (non marquées)</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ctr">
                        <a:buNone/>
                      </a:pPr>
                      <a:r>
                        <a:rPr lang="fr-FR" sz="1100" b="0" i="0" u="none" strike="noStrike" dirty="0">
                          <a:solidFill>
                            <a:srgbClr val="000000"/>
                          </a:solidFill>
                          <a:effectLst/>
                          <a:latin typeface="Calibri" panose="020F0502020204030204" pitchFamily="34" charset="0"/>
                        </a:rPr>
                        <a:t>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571191008"/>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Continuous deployment (Deployment Center)</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rgbClr val="000000"/>
                          </a:solidFill>
                          <a:effectLst/>
                          <a:latin typeface="Calibri" panose="020F0502020204030204" pitchFamily="34" charset="0"/>
                        </a:rPr>
                        <a:t>Non échangé (*)</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924474664"/>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Configuration d’authentification (Easy Auth)</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rgbClr val="000000"/>
                          </a:solidFill>
                          <a:effectLst/>
                          <a:latin typeface="Calibri" panose="020F0502020204030204" pitchFamily="34" charset="0"/>
                        </a:rPr>
                        <a:t>Non échangé (*)</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263809621"/>
                  </a:ext>
                </a:extLst>
              </a:tr>
              <a:tr h="184150">
                <a:tc>
                  <a:txBody>
                    <a:bodyPr/>
                    <a:lstStyle/>
                    <a:p>
                      <a:pPr algn="l" fontAlgn="b">
                        <a:buNone/>
                      </a:pPr>
                      <a:r>
                        <a:rPr lang="fr-FR" sz="1100" b="0" i="0" u="none" strike="noStrike" dirty="0">
                          <a:solidFill>
                            <a:srgbClr val="000000"/>
                          </a:solidFill>
                          <a:effectLst/>
                          <a:latin typeface="Calibri" panose="020F0502020204030204" pitchFamily="34" charset="0"/>
                        </a:rPr>
                        <a:t>Custom </a:t>
                      </a:r>
                      <a:r>
                        <a:rPr lang="fr-FR" sz="1100" b="0" i="0" u="none" strike="noStrike" dirty="0" err="1">
                          <a:solidFill>
                            <a:srgbClr val="000000"/>
                          </a:solidFill>
                          <a:effectLst/>
                          <a:latin typeface="Calibri" panose="020F0502020204030204" pitchFamily="34" charset="0"/>
                        </a:rPr>
                        <a:t>Domains</a:t>
                      </a:r>
                      <a:endParaRPr lang="fr-FR" sz="11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ctr">
                        <a:buNone/>
                      </a:pPr>
                      <a:r>
                        <a:rPr lang="fr-FR" sz="1100" b="0" i="0" u="none" strike="noStrike" dirty="0">
                          <a:solidFill>
                            <a:srgbClr val="000000"/>
                          </a:solidFill>
                          <a:effectLst/>
                          <a:latin typeface="Calibri" panose="020F0502020204030204" pitchFamily="34" charset="0"/>
                        </a:rPr>
                        <a:t>Non 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760892485"/>
                  </a:ext>
                </a:extLst>
              </a:tr>
              <a:tr h="184150">
                <a:tc>
                  <a:txBody>
                    <a:bodyPr/>
                    <a:lstStyle/>
                    <a:p>
                      <a:pPr algn="l" fontAlgn="b">
                        <a:buNone/>
                      </a:pPr>
                      <a:r>
                        <a:rPr lang="fr-FR" sz="1100" b="0" i="0" u="none" strike="noStrike" dirty="0">
                          <a:solidFill>
                            <a:srgbClr val="000000"/>
                          </a:solidFill>
                          <a:effectLst/>
                          <a:latin typeface="Calibri" panose="020F0502020204030204" pitchFamily="34" charset="0"/>
                        </a:rPr>
                        <a:t>Certificats TLS / SSL</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ctr">
                        <a:buNone/>
                      </a:pPr>
                      <a:r>
                        <a:rPr lang="fr-FR" sz="1100" b="0" i="0" u="none" strike="noStrike" dirty="0">
                          <a:solidFill>
                            <a:srgbClr val="000000"/>
                          </a:solidFill>
                          <a:effectLst/>
                          <a:latin typeface="Calibri" panose="020F0502020204030204" pitchFamily="34" charset="0"/>
                        </a:rPr>
                        <a:t>Non 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52386648"/>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Managed Identity</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ctr">
                        <a:buNone/>
                      </a:pPr>
                      <a:r>
                        <a:rPr lang="fr-FR" sz="1100" b="0" i="0" u="none" strike="noStrike">
                          <a:solidFill>
                            <a:srgbClr val="000000"/>
                          </a:solidFill>
                          <a:effectLst/>
                          <a:latin typeface="Calibri" panose="020F0502020204030204" pitchFamily="34" charset="0"/>
                        </a:rPr>
                        <a:t>Non 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208163314"/>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Restrictions IP</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ctr">
                        <a:buNone/>
                      </a:pPr>
                      <a:r>
                        <a:rPr lang="fr-FR" sz="1100" b="0" i="0" u="none" strike="noStrike" dirty="0">
                          <a:solidFill>
                            <a:srgbClr val="000000"/>
                          </a:solidFill>
                          <a:effectLst/>
                          <a:latin typeface="Calibri" panose="020F0502020204030204" pitchFamily="34" charset="0"/>
                        </a:rPr>
                        <a:t>Non 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660592589"/>
                  </a:ext>
                </a:extLst>
              </a:tr>
              <a:tr h="184150">
                <a:tc>
                  <a:txBody>
                    <a:bodyPr/>
                    <a:lstStyle/>
                    <a:p>
                      <a:pPr algn="l" fontAlgn="b">
                        <a:buNone/>
                      </a:pPr>
                      <a:r>
                        <a:rPr lang="fr-FR" sz="1100" b="0" i="0" u="none" strike="sngStrike" baseline="0" dirty="0" err="1">
                          <a:solidFill>
                            <a:srgbClr val="000000"/>
                          </a:solidFill>
                          <a:effectLst/>
                          <a:latin typeface="Calibri" panose="020F0502020204030204" pitchFamily="34" charset="0"/>
                        </a:rPr>
                        <a:t>Scale</a:t>
                      </a:r>
                      <a:r>
                        <a:rPr lang="fr-FR" sz="1100" b="0" i="0" u="none" strike="sngStrike" baseline="0" dirty="0">
                          <a:solidFill>
                            <a:srgbClr val="000000"/>
                          </a:solidFill>
                          <a:effectLst/>
                          <a:latin typeface="Calibri" panose="020F0502020204030204" pitchFamily="34" charset="0"/>
                        </a:rPr>
                        <a:t> settings (nombre d’instances)</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ctr">
                        <a:buNone/>
                      </a:pPr>
                      <a:r>
                        <a:rPr lang="fr-FR" sz="1100" b="0" i="0" u="none" strike="noStrike" dirty="0">
                          <a:solidFill>
                            <a:srgbClr val="000000"/>
                          </a:solidFill>
                          <a:effectLst/>
                          <a:latin typeface="Calibri" panose="020F0502020204030204" pitchFamily="34" charset="0"/>
                        </a:rPr>
                        <a:t>Non 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134759679"/>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WebJobs</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ctr">
                        <a:buNone/>
                      </a:pPr>
                      <a:r>
                        <a:rPr lang="fr-FR" sz="1100" b="0" i="0" u="none" strike="noStrike" dirty="0">
                          <a:solidFill>
                            <a:srgbClr val="000000"/>
                          </a:solidFill>
                          <a:effectLst/>
                          <a:latin typeface="Calibri" panose="020F0502020204030204" pitchFamily="34" charset="0"/>
                        </a:rPr>
                        <a:t>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854185929"/>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Handler mappings</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ctr">
                        <a:buNone/>
                      </a:pPr>
                      <a:r>
                        <a:rPr lang="fr-FR" sz="1100" b="0" i="0" u="none" strike="noStrike" dirty="0">
                          <a:solidFill>
                            <a:srgbClr val="000000"/>
                          </a:solidFill>
                          <a:effectLst/>
                          <a:latin typeface="Calibri" panose="020F0502020204030204" pitchFamily="34" charset="0"/>
                        </a:rPr>
                        <a:t>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078122867"/>
                  </a:ext>
                </a:extLst>
              </a:tr>
              <a:tr h="184150">
                <a:tc>
                  <a:txBody>
                    <a:bodyPr/>
                    <a:lstStyle/>
                    <a:p>
                      <a:pPr algn="l" fontAlgn="b">
                        <a:buNone/>
                      </a:pPr>
                      <a:r>
                        <a:rPr lang="fr-FR" sz="1100" b="0" i="0" u="none" strike="noStrike">
                          <a:solidFill>
                            <a:srgbClr val="000000"/>
                          </a:solidFill>
                          <a:effectLst/>
                          <a:latin typeface="Calibri" panose="020F0502020204030204" pitchFamily="34" charset="0"/>
                        </a:rPr>
                        <a:t>Certificats publics (uploadés)</a:t>
                      </a:r>
                    </a:p>
                  </a:txBody>
                  <a:tcPr marL="6350" marR="6350" marT="635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ctr">
                        <a:buNone/>
                      </a:pPr>
                      <a:r>
                        <a:rPr lang="fr-FR" sz="1100" b="0" i="0" u="none" strike="noStrike" dirty="0">
                          <a:solidFill>
                            <a:srgbClr val="000000"/>
                          </a:solidFill>
                          <a:effectLst/>
                          <a:latin typeface="Calibri" panose="020F0502020204030204" pitchFamily="34" charset="0"/>
                        </a:rPr>
                        <a:t>Échangé</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203961457"/>
                  </a:ext>
                </a:extLst>
              </a:tr>
            </a:tbl>
          </a:graphicData>
        </a:graphic>
      </p:graphicFrame>
      <p:sp>
        <p:nvSpPr>
          <p:cNvPr id="12" name="Rectangle 11">
            <a:extLst>
              <a:ext uri="{FF2B5EF4-FFF2-40B4-BE49-F238E27FC236}">
                <a16:creationId xmlns:a16="http://schemas.microsoft.com/office/drawing/2014/main" id="{7C7D5932-31E8-60EE-D8D6-C425422317E3}"/>
              </a:ext>
            </a:extLst>
          </p:cNvPr>
          <p:cNvSpPr/>
          <p:nvPr/>
        </p:nvSpPr>
        <p:spPr>
          <a:xfrm>
            <a:off x="4225505" y="2959150"/>
            <a:ext cx="2664296" cy="2952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t>
            </a:r>
          </a:p>
        </p:txBody>
      </p:sp>
      <p:sp>
        <p:nvSpPr>
          <p:cNvPr id="13" name="ZoneTexte 12">
            <a:extLst>
              <a:ext uri="{FF2B5EF4-FFF2-40B4-BE49-F238E27FC236}">
                <a16:creationId xmlns:a16="http://schemas.microsoft.com/office/drawing/2014/main" id="{B6CF8993-835C-8A99-B451-316AA229BBC5}"/>
              </a:ext>
            </a:extLst>
          </p:cNvPr>
          <p:cNvSpPr txBox="1"/>
          <p:nvPr/>
        </p:nvSpPr>
        <p:spPr>
          <a:xfrm>
            <a:off x="611560" y="5911478"/>
            <a:ext cx="7614200" cy="1015663"/>
          </a:xfrm>
          <a:prstGeom prst="rect">
            <a:avLst/>
          </a:prstGeom>
          <a:noFill/>
        </p:spPr>
        <p:txBody>
          <a:bodyPr wrap="none" rtlCol="0">
            <a:spAutoFit/>
          </a:bodyPr>
          <a:lstStyle/>
          <a:p>
            <a:r>
              <a:rPr lang="fr-FR" sz="1400" dirty="0"/>
              <a:t>(*) = Appliqué temporairement depuis le slot cible vers la source (phase de </a:t>
            </a:r>
            <a:r>
              <a:rPr lang="fr-FR" sz="1400" dirty="0" err="1"/>
              <a:t>preview</a:t>
            </a:r>
            <a:r>
              <a:rPr lang="fr-FR" sz="1400" dirty="0"/>
              <a:t>)</a:t>
            </a:r>
          </a:p>
          <a:p>
            <a:r>
              <a:rPr lang="fr-FR" sz="1400" dirty="0"/>
              <a:t>Tout ce qui touche au </a:t>
            </a:r>
            <a:r>
              <a:rPr lang="fr-FR" sz="1400" b="1" dirty="0"/>
              <a:t>contenu</a:t>
            </a:r>
            <a:r>
              <a:rPr lang="fr-FR" sz="1400" dirty="0"/>
              <a:t> et à la </a:t>
            </a:r>
            <a:r>
              <a:rPr lang="fr-FR" sz="1400" b="1" dirty="0"/>
              <a:t>logique de l'application </a:t>
            </a:r>
            <a:r>
              <a:rPr lang="fr-FR" sz="1400" dirty="0"/>
              <a:t>est </a:t>
            </a:r>
            <a:r>
              <a:rPr lang="fr-FR" sz="1400" b="1" dirty="0"/>
              <a:t>échangé</a:t>
            </a:r>
            <a:r>
              <a:rPr lang="fr-FR" sz="1400" dirty="0"/>
              <a:t>. </a:t>
            </a:r>
          </a:p>
          <a:p>
            <a:r>
              <a:rPr lang="fr-FR" sz="1400" dirty="0"/>
              <a:t>Tout ce qui touche au </a:t>
            </a:r>
            <a:r>
              <a:rPr lang="fr-FR" sz="1400" b="1" dirty="0"/>
              <a:t>réseau</a:t>
            </a:r>
            <a:r>
              <a:rPr lang="fr-FR" sz="1400" dirty="0"/>
              <a:t>, à la </a:t>
            </a:r>
            <a:r>
              <a:rPr lang="fr-FR" sz="1400" b="1" dirty="0"/>
              <a:t>sécurité </a:t>
            </a:r>
            <a:r>
              <a:rPr lang="fr-FR" sz="1400" dirty="0"/>
              <a:t>d'accès et à la </a:t>
            </a:r>
            <a:r>
              <a:rPr lang="fr-FR" sz="1400" b="1" dirty="0"/>
              <a:t>capacité machine reste sur le slot.</a:t>
            </a:r>
          </a:p>
          <a:p>
            <a:endParaRPr lang="fr-FR" dirty="0"/>
          </a:p>
        </p:txBody>
      </p:sp>
    </p:spTree>
    <p:extLst>
      <p:ext uri="{BB962C8B-B14F-4D97-AF65-F5344CB8AC3E}">
        <p14:creationId xmlns:p14="http://schemas.microsoft.com/office/powerpoint/2010/main" val="401735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A0BFC-30C1-08FF-9316-23BAA39C1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0925-C196-EA96-A923-838700C65EB9}"/>
              </a:ext>
            </a:extLst>
          </p:cNvPr>
          <p:cNvSpPr>
            <a:spLocks noGrp="1"/>
          </p:cNvSpPr>
          <p:nvPr>
            <p:ph type="title"/>
          </p:nvPr>
        </p:nvSpPr>
        <p:spPr/>
        <p:txBody>
          <a:bodyPr/>
          <a:lstStyle/>
          <a:p>
            <a:r>
              <a:rPr lang="en-US" dirty="0"/>
              <a:t>Question 6</a:t>
            </a:r>
          </a:p>
        </p:txBody>
      </p:sp>
      <p:sp>
        <p:nvSpPr>
          <p:cNvPr id="3" name="Content Placeholder 2">
            <a:extLst>
              <a:ext uri="{FF2B5EF4-FFF2-40B4-BE49-F238E27FC236}">
                <a16:creationId xmlns:a16="http://schemas.microsoft.com/office/drawing/2014/main" id="{20ADEF75-651E-C158-1CB6-7A0A0400F9B7}"/>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dirty="0"/>
              <a:t>Lors d’un swap, quel élément est échangé ?</a:t>
            </a:r>
          </a:p>
          <a:p>
            <a:pPr marL="514350" indent="-514350">
              <a:buFont typeface="+mj-lt"/>
              <a:buAutoNum type="arabicPeriod"/>
            </a:pPr>
            <a:r>
              <a:rPr lang="fr-FR" dirty="0" err="1"/>
              <a:t>Managed</a:t>
            </a:r>
            <a:r>
              <a:rPr lang="fr-FR" dirty="0"/>
              <a:t> Identity </a:t>
            </a:r>
          </a:p>
          <a:p>
            <a:pPr marL="514350" indent="-514350">
              <a:buFont typeface="+mj-lt"/>
              <a:buAutoNum type="arabicPeriod"/>
            </a:pPr>
            <a:r>
              <a:rPr lang="fr-FR" dirty="0"/>
              <a:t>Restrictions IP </a:t>
            </a:r>
          </a:p>
          <a:p>
            <a:pPr marL="514350" indent="-514350">
              <a:buFont typeface="+mj-lt"/>
              <a:buAutoNum type="arabicPeriod"/>
            </a:pPr>
            <a:r>
              <a:rPr lang="fr-FR" dirty="0"/>
              <a:t>Domaines personnalisés </a:t>
            </a:r>
          </a:p>
          <a:p>
            <a:pPr marL="514350" indent="-514350">
              <a:buFont typeface="+mj-lt"/>
              <a:buAutoNum type="arabicPeriod"/>
            </a:pPr>
            <a:r>
              <a:rPr lang="fr-FR" dirty="0"/>
              <a:t>Code de l’application</a:t>
            </a:r>
          </a:p>
          <a:p>
            <a:pPr marL="0" indent="0">
              <a:buNone/>
            </a:pPr>
            <a:endParaRPr lang="fr-FR" sz="2400" dirty="0"/>
          </a:p>
        </p:txBody>
      </p:sp>
      <p:sp>
        <p:nvSpPr>
          <p:cNvPr id="4" name="Content Placeholder 2">
            <a:extLst>
              <a:ext uri="{FF2B5EF4-FFF2-40B4-BE49-F238E27FC236}">
                <a16:creationId xmlns:a16="http://schemas.microsoft.com/office/drawing/2014/main" id="{C2C10781-D025-CFDE-7A86-CEBE71272429}"/>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9BBD1623-64D0-8363-566E-702C24371373}"/>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
        <p:nvSpPr>
          <p:cNvPr id="6" name="ZoneTexte 5">
            <a:extLst>
              <a:ext uri="{FF2B5EF4-FFF2-40B4-BE49-F238E27FC236}">
                <a16:creationId xmlns:a16="http://schemas.microsoft.com/office/drawing/2014/main" id="{9865D218-718E-A140-D8E1-F25B9EB12F97}"/>
              </a:ext>
            </a:extLst>
          </p:cNvPr>
          <p:cNvSpPr txBox="1"/>
          <p:nvPr/>
        </p:nvSpPr>
        <p:spPr>
          <a:xfrm>
            <a:off x="584" y="3212976"/>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33268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D8D83-36DC-408A-FDCB-509545537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8254F-F295-7BA2-EFC8-5BB0FF8F6484}"/>
              </a:ext>
            </a:extLst>
          </p:cNvPr>
          <p:cNvSpPr>
            <a:spLocks noGrp="1"/>
          </p:cNvSpPr>
          <p:nvPr>
            <p:ph type="title"/>
          </p:nvPr>
        </p:nvSpPr>
        <p:spPr/>
        <p:txBody>
          <a:bodyPr/>
          <a:lstStyle/>
          <a:p>
            <a:r>
              <a:rPr lang="en-US" dirty="0"/>
              <a:t>Question 7</a:t>
            </a:r>
          </a:p>
        </p:txBody>
      </p:sp>
      <p:sp>
        <p:nvSpPr>
          <p:cNvPr id="3" name="Content Placeholder 2">
            <a:extLst>
              <a:ext uri="{FF2B5EF4-FFF2-40B4-BE49-F238E27FC236}">
                <a16:creationId xmlns:a16="http://schemas.microsoft.com/office/drawing/2014/main" id="{86F98681-A497-E92A-2B0D-8460331C4201}"/>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 élément n’est PAS échangé lors d’un swap ?</a:t>
            </a:r>
          </a:p>
          <a:p>
            <a:pPr marL="514350" indent="-514350">
              <a:buFont typeface="+mj-lt"/>
              <a:buAutoNum type="arabicPeriod"/>
            </a:pPr>
            <a:r>
              <a:rPr lang="fr-FR" sz="2400" dirty="0" err="1"/>
              <a:t>WebJobs</a:t>
            </a:r>
            <a:r>
              <a:rPr lang="fr-FR" sz="2400" dirty="0"/>
              <a:t> </a:t>
            </a:r>
          </a:p>
          <a:p>
            <a:pPr marL="514350" indent="-514350">
              <a:buFont typeface="+mj-lt"/>
              <a:buAutoNum type="arabicPeriod"/>
            </a:pPr>
            <a:r>
              <a:rPr lang="fr-FR" sz="2400" dirty="0"/>
              <a:t>Handler </a:t>
            </a:r>
            <a:r>
              <a:rPr lang="fr-FR" sz="2400" dirty="0" err="1"/>
              <a:t>mappings</a:t>
            </a:r>
            <a:r>
              <a:rPr lang="fr-FR" sz="2400" dirty="0"/>
              <a:t> </a:t>
            </a:r>
          </a:p>
          <a:p>
            <a:pPr marL="514350" indent="-514350">
              <a:buFont typeface="+mj-lt"/>
              <a:buAutoNum type="arabicPeriod"/>
            </a:pPr>
            <a:r>
              <a:rPr lang="fr-FR" sz="2400" dirty="0"/>
              <a:t>Certificats publics </a:t>
            </a:r>
          </a:p>
          <a:p>
            <a:pPr marL="514350" indent="-514350">
              <a:buFont typeface="+mj-lt"/>
              <a:buAutoNum type="arabicPeriod"/>
            </a:pPr>
            <a:r>
              <a:rPr lang="fr-FR" sz="2400" dirty="0" err="1"/>
              <a:t>Scale</a:t>
            </a:r>
            <a:r>
              <a:rPr lang="fr-FR" sz="2400" dirty="0"/>
              <a:t> settings</a:t>
            </a:r>
          </a:p>
          <a:p>
            <a:pPr marL="0" indent="0">
              <a:buNone/>
            </a:pPr>
            <a:endParaRPr lang="fr-FR" sz="2400" dirty="0"/>
          </a:p>
        </p:txBody>
      </p:sp>
      <p:sp>
        <p:nvSpPr>
          <p:cNvPr id="4" name="Content Placeholder 2">
            <a:extLst>
              <a:ext uri="{FF2B5EF4-FFF2-40B4-BE49-F238E27FC236}">
                <a16:creationId xmlns:a16="http://schemas.microsoft.com/office/drawing/2014/main" id="{EACF203B-BBB7-FF4B-FE7A-8B07E78434EF}"/>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0E1CEFC5-CE9D-E173-FF49-7B109002AF25}"/>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4</a:t>
            </a:r>
          </a:p>
          <a:p>
            <a:endParaRPr lang="fr-FR" dirty="0"/>
          </a:p>
        </p:txBody>
      </p:sp>
      <p:sp>
        <p:nvSpPr>
          <p:cNvPr id="6" name="ZoneTexte 5">
            <a:extLst>
              <a:ext uri="{FF2B5EF4-FFF2-40B4-BE49-F238E27FC236}">
                <a16:creationId xmlns:a16="http://schemas.microsoft.com/office/drawing/2014/main" id="{E66E9277-BFEA-F009-569D-62D2E19CB63F}"/>
              </a:ext>
            </a:extLst>
          </p:cNvPr>
          <p:cNvSpPr txBox="1"/>
          <p:nvPr/>
        </p:nvSpPr>
        <p:spPr>
          <a:xfrm>
            <a:off x="0" y="2924944"/>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2245EE9E-D237-0D8F-E91C-C40200B7954B}"/>
              </a:ext>
            </a:extLst>
          </p:cNvPr>
          <p:cNvSpPr txBox="1"/>
          <p:nvPr/>
        </p:nvSpPr>
        <p:spPr>
          <a:xfrm>
            <a:off x="755576" y="5118083"/>
            <a:ext cx="4221220" cy="369332"/>
          </a:xfrm>
          <a:prstGeom prst="rect">
            <a:avLst/>
          </a:prstGeom>
          <a:noFill/>
        </p:spPr>
        <p:txBody>
          <a:bodyPr wrap="none" rtlCol="0">
            <a:spAutoFit/>
          </a:bodyPr>
          <a:lstStyle/>
          <a:p>
            <a:r>
              <a:rPr lang="fr-FR" dirty="0"/>
              <a:t>💡 Le </a:t>
            </a:r>
            <a:r>
              <a:rPr lang="fr-FR" dirty="0" err="1"/>
              <a:t>scaling</a:t>
            </a:r>
            <a:r>
              <a:rPr lang="fr-FR" dirty="0"/>
              <a:t> est lié au plan, pas au slot</a:t>
            </a:r>
          </a:p>
        </p:txBody>
      </p:sp>
    </p:spTree>
    <p:extLst>
      <p:ext uri="{BB962C8B-B14F-4D97-AF65-F5344CB8AC3E}">
        <p14:creationId xmlns:p14="http://schemas.microsoft.com/office/powerpoint/2010/main" val="366306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F6C91-94BF-68DC-2343-B916CCCD0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E7920-073A-F878-DE6F-687A1D01CE6A}"/>
              </a:ext>
            </a:extLst>
          </p:cNvPr>
          <p:cNvSpPr>
            <a:spLocks noGrp="1"/>
          </p:cNvSpPr>
          <p:nvPr>
            <p:ph type="title"/>
          </p:nvPr>
        </p:nvSpPr>
        <p:spPr/>
        <p:txBody>
          <a:bodyPr/>
          <a:lstStyle/>
          <a:p>
            <a:r>
              <a:rPr lang="en-US" dirty="0"/>
              <a:t>Question 8</a:t>
            </a:r>
          </a:p>
        </p:txBody>
      </p:sp>
      <p:sp>
        <p:nvSpPr>
          <p:cNvPr id="3" name="Content Placeholder 2">
            <a:extLst>
              <a:ext uri="{FF2B5EF4-FFF2-40B4-BE49-F238E27FC236}">
                <a16:creationId xmlns:a16="http://schemas.microsoft.com/office/drawing/2014/main" id="{2578D37D-7A24-F763-061E-456E317F9CFB}"/>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Pourquoi Azure applique </a:t>
            </a:r>
            <a:r>
              <a:rPr lang="fr-FR" sz="2400"/>
              <a:t>temporairement certaines </a:t>
            </a:r>
            <a:r>
              <a:rPr lang="fr-FR" sz="2400" dirty="0"/>
              <a:t>configurations du slot cible vers la source avant le swap ?</a:t>
            </a:r>
          </a:p>
          <a:p>
            <a:pPr marL="514350" indent="-514350">
              <a:buFont typeface="+mj-lt"/>
              <a:buAutoNum type="arabicPeriod"/>
            </a:pPr>
            <a:r>
              <a:rPr lang="fr-FR" sz="2400" dirty="0"/>
              <a:t>Pour réduire le coût </a:t>
            </a:r>
          </a:p>
          <a:p>
            <a:pPr marL="514350" indent="-514350">
              <a:buFont typeface="+mj-lt"/>
              <a:buAutoNum type="arabicPeriod"/>
            </a:pPr>
            <a:r>
              <a:rPr lang="fr-FR" sz="2400" dirty="0"/>
              <a:t>Pour accélérer le déploiement </a:t>
            </a:r>
          </a:p>
          <a:p>
            <a:pPr marL="514350" indent="-514350">
              <a:buFont typeface="+mj-lt"/>
              <a:buAutoNum type="arabicPeriod"/>
            </a:pPr>
            <a:r>
              <a:rPr lang="fr-FR" sz="2400" dirty="0"/>
              <a:t>Pour tester l’application dans les conditions de production </a:t>
            </a:r>
          </a:p>
          <a:p>
            <a:pPr marL="514350" indent="-514350">
              <a:buFont typeface="+mj-lt"/>
              <a:buAutoNum type="arabicPeriod"/>
            </a:pPr>
            <a:r>
              <a:rPr lang="fr-FR" sz="2400" dirty="0"/>
              <a:t>Pour synchroniser les logs</a:t>
            </a:r>
          </a:p>
          <a:p>
            <a:pPr marL="0" indent="0">
              <a:buNone/>
            </a:pPr>
            <a:endParaRPr lang="fr-FR" sz="2400" dirty="0"/>
          </a:p>
        </p:txBody>
      </p:sp>
      <p:sp>
        <p:nvSpPr>
          <p:cNvPr id="4" name="Content Placeholder 2">
            <a:extLst>
              <a:ext uri="{FF2B5EF4-FFF2-40B4-BE49-F238E27FC236}">
                <a16:creationId xmlns:a16="http://schemas.microsoft.com/office/drawing/2014/main" id="{387C77CB-E124-86E5-9BEB-CF4370DE6E4A}"/>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79F01FFE-C3F4-F48C-55D6-DBEC622A99BD}"/>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3</a:t>
            </a:r>
          </a:p>
          <a:p>
            <a:endParaRPr lang="fr-FR" dirty="0"/>
          </a:p>
        </p:txBody>
      </p:sp>
      <p:sp>
        <p:nvSpPr>
          <p:cNvPr id="6" name="ZoneTexte 5">
            <a:extLst>
              <a:ext uri="{FF2B5EF4-FFF2-40B4-BE49-F238E27FC236}">
                <a16:creationId xmlns:a16="http://schemas.microsoft.com/office/drawing/2014/main" id="{DBBF2F68-1323-1DFC-5A75-917FB0EF5381}"/>
              </a:ext>
            </a:extLst>
          </p:cNvPr>
          <p:cNvSpPr txBox="1"/>
          <p:nvPr/>
        </p:nvSpPr>
        <p:spPr>
          <a:xfrm>
            <a:off x="-29467" y="2852936"/>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84BD490A-7622-146C-602F-B846D1D6FE34}"/>
              </a:ext>
            </a:extLst>
          </p:cNvPr>
          <p:cNvSpPr txBox="1"/>
          <p:nvPr/>
        </p:nvSpPr>
        <p:spPr>
          <a:xfrm>
            <a:off x="1331640" y="5606534"/>
            <a:ext cx="4942122" cy="369332"/>
          </a:xfrm>
          <a:prstGeom prst="rect">
            <a:avLst/>
          </a:prstGeom>
          <a:noFill/>
        </p:spPr>
        <p:txBody>
          <a:bodyPr wrap="none" rtlCol="0">
            <a:spAutoFit/>
          </a:bodyPr>
          <a:lstStyle/>
          <a:p>
            <a:r>
              <a:rPr lang="fr-FR" dirty="0"/>
              <a:t>💡 Phase de warm-up → simulation de la prod</a:t>
            </a:r>
          </a:p>
        </p:txBody>
      </p:sp>
    </p:spTree>
    <p:extLst>
      <p:ext uri="{BB962C8B-B14F-4D97-AF65-F5344CB8AC3E}">
        <p14:creationId xmlns:p14="http://schemas.microsoft.com/office/powerpoint/2010/main" val="347631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9</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se passe-t-il si une connection string est marquée comme 'Deployment slot setting' ?</a:t>
            </a:r>
            <a:endParaRPr lang="fr-FR" sz="2000" dirty="0"/>
          </a:p>
          <a:p>
            <a:pPr marL="457200" indent="-457200">
              <a:buFont typeface="+mj-lt"/>
              <a:buAutoNum type="arabicPeriod"/>
              <a:defRPr sz="2400"/>
            </a:pPr>
            <a:r>
              <a:rPr lang="fr-FR" sz="2000" dirty="0"/>
              <a:t>Elle est supprimée lors du swap</a:t>
            </a:r>
          </a:p>
          <a:p>
            <a:pPr marL="457200" indent="-457200">
              <a:buFont typeface="+mj-lt"/>
              <a:buAutoNum type="arabicPeriod"/>
              <a:defRPr sz="2400"/>
            </a:pPr>
            <a:r>
              <a:rPr lang="fr-FR" sz="2000" dirty="0"/>
              <a:t>Elle est copiée dans tous les slots</a:t>
            </a:r>
          </a:p>
          <a:p>
            <a:pPr marL="457200" indent="-457200">
              <a:buFont typeface="+mj-lt"/>
              <a:buAutoNum type="arabicPeriod"/>
              <a:defRPr sz="2400"/>
            </a:pPr>
            <a:r>
              <a:rPr lang="fr-FR" sz="2000" dirty="0"/>
              <a:t>Elle reste associée à son slot</a:t>
            </a:r>
          </a:p>
          <a:p>
            <a:pPr marL="457200" indent="-457200">
              <a:buFont typeface="+mj-lt"/>
              <a:buAutoNum type="arabicPeriod"/>
              <a:defRPr sz="2400"/>
            </a:pPr>
            <a:r>
              <a:rPr lang="fr-FR" sz="2000" dirty="0"/>
              <a:t>Elle est automatiquement chiffrée</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a:t>
            </a:r>
            <a:r>
              <a:rPr u="sng" dirty="0"/>
              <a:t> : </a:t>
            </a:r>
            <a:r>
              <a:rPr dirty="0"/>
              <a:t>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Elle reste liée à son slot et n’est pas échangée.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5496"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10</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utiliser une base de données différente pour le slot staging ?</a:t>
            </a:r>
            <a:endParaRPr lang="fr-FR" sz="2000" dirty="0"/>
          </a:p>
          <a:p>
            <a:pPr marL="457200" indent="-457200">
              <a:buFont typeface="+mj-lt"/>
              <a:buAutoNum type="arabicPeriod"/>
              <a:defRPr sz="2400"/>
            </a:pPr>
            <a:r>
              <a:rPr lang="fr-FR" sz="2000" dirty="0"/>
              <a:t>Pour améliorer les performances</a:t>
            </a:r>
          </a:p>
          <a:p>
            <a:pPr marL="457200" indent="-457200">
              <a:buFont typeface="+mj-lt"/>
              <a:buAutoNum type="arabicPeriod"/>
              <a:defRPr sz="2400"/>
            </a:pPr>
            <a:r>
              <a:rPr lang="fr-FR" sz="2000" dirty="0"/>
              <a:t>Pour réduire les coûts</a:t>
            </a:r>
          </a:p>
          <a:p>
            <a:pPr marL="457200" indent="-457200">
              <a:buFont typeface="+mj-lt"/>
              <a:buAutoNum type="arabicPeriod"/>
              <a:defRPr sz="2400"/>
            </a:pPr>
            <a:r>
              <a:rPr lang="fr-FR" sz="2000" dirty="0"/>
              <a:t>Pour activer le swap</a:t>
            </a:r>
          </a:p>
          <a:p>
            <a:pPr marL="457200" indent="-457200">
              <a:buFont typeface="+mj-lt"/>
              <a:buAutoNum type="arabicPeriod"/>
              <a:defRPr sz="2400"/>
            </a:pPr>
            <a:r>
              <a:rPr lang="fr-FR" sz="2000" dirty="0"/>
              <a:t>Pour éviter d’impacter les données de production</a:t>
            </a:r>
          </a:p>
          <a:p>
            <a:pPr>
              <a:defRPr sz="2400"/>
            </a:pPr>
            <a:endParaRPr dirty="0"/>
          </a:p>
        </p:txBody>
      </p:sp>
      <p:sp>
        <p:nvSpPr>
          <p:cNvPr id="8" name="TextBox 7"/>
          <p:cNvSpPr txBox="1"/>
          <p:nvPr/>
        </p:nvSpPr>
        <p:spPr>
          <a:xfrm>
            <a:off x="7164288" y="3515277"/>
            <a:ext cx="1427635" cy="369332"/>
          </a:xfrm>
          <a:prstGeom prst="rect">
            <a:avLst/>
          </a:prstGeom>
          <a:noFill/>
        </p:spPr>
        <p:txBody>
          <a:bodyPr wrap="none">
            <a:spAutoFit/>
          </a:bodyPr>
          <a:lstStyle/>
          <a:p>
            <a:pPr>
              <a:defRPr sz="1800" b="1"/>
            </a:pPr>
            <a:r>
              <a:rPr u="sng" dirty="0" err="1"/>
              <a:t>Réponse</a:t>
            </a:r>
            <a:r>
              <a:rPr u="sng" dirty="0"/>
              <a:t> : </a:t>
            </a:r>
            <a:r>
              <a:rPr lang="fr-FR" dirty="0"/>
              <a:t>4</a:t>
            </a:r>
            <a:endParaRPr dirty="0"/>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 staging doit être isolé de la production pour éviter tout impact sur les données réelles.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63691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11</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comportement par défaut du trafic vers un nouveau slot ?</a:t>
            </a:r>
            <a:endParaRPr lang="fr-FR" sz="2000" dirty="0"/>
          </a:p>
          <a:p>
            <a:pPr marL="457200" indent="-457200">
              <a:buFont typeface="+mj-lt"/>
              <a:buAutoNum type="arabicPeriod"/>
              <a:defRPr sz="2400"/>
            </a:pPr>
            <a:r>
              <a:rPr lang="fr-FR" sz="2000" dirty="0"/>
              <a:t>0%</a:t>
            </a:r>
          </a:p>
          <a:p>
            <a:pPr marL="457200" indent="-457200">
              <a:buFont typeface="+mj-lt"/>
              <a:buAutoNum type="arabicPeriod"/>
              <a:defRPr sz="2400"/>
            </a:pPr>
            <a:r>
              <a:rPr lang="fr-FR" sz="2000" dirty="0"/>
              <a:t>50%</a:t>
            </a:r>
          </a:p>
          <a:p>
            <a:pPr marL="457200" indent="-457200">
              <a:buFont typeface="+mj-lt"/>
              <a:buAutoNum type="arabicPeriod"/>
              <a:defRPr sz="2400"/>
            </a:pPr>
            <a:r>
              <a:rPr lang="fr-FR" sz="2000" dirty="0"/>
              <a:t>100%</a:t>
            </a:r>
          </a:p>
          <a:p>
            <a:pPr marL="457200" indent="-457200">
              <a:buFont typeface="+mj-lt"/>
              <a:buAutoNum type="arabicPeriod"/>
              <a:defRPr sz="2400"/>
            </a:pPr>
            <a:r>
              <a:rPr lang="fr-FR" sz="2000" dirty="0"/>
              <a:t>Dépend du pricing tier</a:t>
            </a:r>
          </a:p>
          <a:p>
            <a:pPr>
              <a:defRPr sz="2400"/>
            </a:pPr>
            <a:endParaRPr dirty="0"/>
          </a:p>
        </p:txBody>
      </p:sp>
      <p:sp>
        <p:nvSpPr>
          <p:cNvPr id="8" name="TextBox 7"/>
          <p:cNvSpPr txBox="1"/>
          <p:nvPr/>
        </p:nvSpPr>
        <p:spPr>
          <a:xfrm>
            <a:off x="6228184" y="3573398"/>
            <a:ext cx="1427635" cy="369332"/>
          </a:xfrm>
          <a:prstGeom prst="rect">
            <a:avLst/>
          </a:prstGeom>
          <a:noFill/>
        </p:spPr>
        <p:txBody>
          <a:bodyPr wrap="none">
            <a:spAutoFit/>
          </a:bodyPr>
          <a:lstStyle/>
          <a:p>
            <a:pPr>
              <a:defRPr sz="1800" b="1"/>
            </a:pPr>
            <a:r>
              <a:rPr u="sng" dirty="0" err="1"/>
              <a:t>Réponse</a:t>
            </a:r>
            <a:r>
              <a:rPr u="sng" dirty="0"/>
              <a:t> :</a:t>
            </a:r>
            <a:r>
              <a:rPr dirty="0"/>
              <a:t> </a:t>
            </a:r>
            <a:r>
              <a:rPr lang="fr-FR" dirty="0"/>
              <a:t>1</a:t>
            </a:r>
            <a:endParaRPr dirty="0"/>
          </a:p>
        </p:txBody>
      </p:sp>
      <p:sp>
        <p:nvSpPr>
          <p:cNvPr id="9" name="TextBox 8"/>
          <p:cNvSpPr txBox="1"/>
          <p:nvPr/>
        </p:nvSpPr>
        <p:spPr>
          <a:xfrm>
            <a:off x="1025236" y="4930239"/>
            <a:ext cx="5851019" cy="338554"/>
          </a:xfrm>
          <a:prstGeom prst="rect">
            <a:avLst/>
          </a:prstGeom>
          <a:noFill/>
        </p:spPr>
        <p:txBody>
          <a:bodyPr wrap="square">
            <a:spAutoFit/>
          </a:bodyPr>
          <a:lstStyle/>
          <a:p>
            <a:pPr>
              <a:defRPr sz="1600"/>
            </a:pPr>
            <a:r>
              <a:rPr dirty="0"/>
              <a:t>Par défaut, aucun trafic n’est dirigé vers un nouveau slot.</a:t>
            </a:r>
            <a:endParaRPr lang="fr-F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162880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12</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permet de diriger une partie du trafic vers un slot ?</a:t>
            </a:r>
            <a:endParaRPr lang="fr-FR" sz="2000" dirty="0"/>
          </a:p>
          <a:p>
            <a:pPr marL="457200" indent="-457200">
              <a:buFont typeface="+mj-lt"/>
              <a:buAutoNum type="arabicPeriod"/>
              <a:defRPr sz="2400"/>
            </a:pPr>
            <a:r>
              <a:rPr lang="fr-FR" sz="2000" dirty="0"/>
              <a:t>Canary </a:t>
            </a:r>
            <a:r>
              <a:rPr lang="fr-FR" sz="2000" dirty="0" err="1"/>
              <a:t>testing</a:t>
            </a:r>
            <a:endParaRPr lang="fr-FR" sz="2000" dirty="0"/>
          </a:p>
          <a:p>
            <a:pPr marL="457200" indent="-457200">
              <a:buFont typeface="+mj-lt"/>
              <a:buAutoNum type="arabicPeriod"/>
              <a:defRPr sz="2400"/>
            </a:pPr>
            <a:r>
              <a:rPr lang="fr-FR" sz="2000" dirty="0"/>
              <a:t>Auto Swap</a:t>
            </a:r>
          </a:p>
          <a:p>
            <a:pPr marL="457200" indent="-457200">
              <a:buFont typeface="+mj-lt"/>
              <a:buAutoNum type="arabicPeriod"/>
              <a:defRPr sz="2400"/>
            </a:pPr>
            <a:r>
              <a:rPr lang="fr-FR" sz="2000" dirty="0" err="1"/>
              <a:t>Scale</a:t>
            </a:r>
            <a:r>
              <a:rPr lang="fr-FR" sz="2000" dirty="0"/>
              <a:t> out</a:t>
            </a:r>
          </a:p>
          <a:p>
            <a:pPr marL="457200" indent="-457200">
              <a:buFont typeface="+mj-lt"/>
              <a:buAutoNum type="arabicPeriod"/>
              <a:defRPr sz="2400"/>
            </a:pPr>
            <a:r>
              <a:rPr lang="fr-FR" sz="2000" dirty="0"/>
              <a:t>Deployment Center</a:t>
            </a:r>
          </a:p>
          <a:p>
            <a:pPr>
              <a:defRPr sz="2400"/>
            </a:pPr>
            <a:endParaRPr dirty="0"/>
          </a:p>
        </p:txBody>
      </p:sp>
      <p:sp>
        <p:nvSpPr>
          <p:cNvPr id="8" name="TextBox 7"/>
          <p:cNvSpPr txBox="1"/>
          <p:nvPr/>
        </p:nvSpPr>
        <p:spPr>
          <a:xfrm>
            <a:off x="6798743" y="4149080"/>
            <a:ext cx="1427635" cy="369332"/>
          </a:xfrm>
          <a:prstGeom prst="rect">
            <a:avLst/>
          </a:prstGeom>
          <a:noFill/>
        </p:spPr>
        <p:txBody>
          <a:bodyPr wrap="none">
            <a:spAutoFit/>
          </a:bodyPr>
          <a:lstStyle/>
          <a:p>
            <a:pPr>
              <a:defRPr sz="1800" b="1"/>
            </a:pPr>
            <a:r>
              <a:rPr u="sng" dirty="0" err="1"/>
              <a:t>Réponse</a:t>
            </a:r>
            <a:r>
              <a:rPr u="sng" dirty="0"/>
              <a:t> :</a:t>
            </a:r>
            <a:r>
              <a:rPr dirty="0"/>
              <a:t> </a:t>
            </a:r>
            <a:r>
              <a:rPr lang="fr-FR" dirty="0"/>
              <a:t>1</a:t>
            </a:r>
            <a:endParaRPr dirty="0"/>
          </a:p>
        </p:txBody>
      </p:sp>
      <p:sp>
        <p:nvSpPr>
          <p:cNvPr id="9" name="TextBox 8"/>
          <p:cNvSpPr txBox="1"/>
          <p:nvPr/>
        </p:nvSpPr>
        <p:spPr>
          <a:xfrm>
            <a:off x="1025237" y="4930239"/>
            <a:ext cx="7835928" cy="830997"/>
          </a:xfrm>
          <a:prstGeom prst="rect">
            <a:avLst/>
          </a:prstGeom>
          <a:noFill/>
        </p:spPr>
        <p:txBody>
          <a:bodyPr wrap="none">
            <a:spAutoFit/>
          </a:bodyPr>
          <a:lstStyle/>
          <a:p>
            <a:pPr>
              <a:defRPr sz="1600"/>
            </a:pPr>
            <a:r>
              <a:rPr dirty="0"/>
              <a:t>Le canary testing permet de diriger un pourcentage du trafic vers un slot.</a:t>
            </a:r>
            <a:endParaRPr lang="fr-FR" dirty="0"/>
          </a:p>
          <a:p>
            <a:pPr>
              <a:defRPr sz="1600"/>
            </a:pPr>
            <a:r>
              <a:rPr lang="fr-FR" dirty="0"/>
              <a:t>Cela fait référence aux canaries utilisés dans les mines pour détecter les gaz toxiques.</a:t>
            </a:r>
          </a:p>
          <a:p>
            <a:pPr>
              <a:defRPr sz="1600"/>
            </a:pPr>
            <a:r>
              <a:rPr lang="fr-FR" dirty="0"/>
              <a:t>Appelé aussi « </a:t>
            </a:r>
            <a:r>
              <a:rPr lang="fr-FR" dirty="0" err="1"/>
              <a:t>Testing</a:t>
            </a:r>
            <a:r>
              <a:rPr lang="fr-FR" dirty="0"/>
              <a:t> in Production » (</a:t>
            </a:r>
            <a:r>
              <a:rPr lang="fr-FR" dirty="0" err="1"/>
              <a:t>TiP</a:t>
            </a:r>
            <a:r>
              <a:rPr lang="fr-FR" dirty="0"/>
              <a:t>)</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162880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3</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header permet de cibler un slot spécifique ?</a:t>
            </a:r>
            <a:endParaRPr lang="fr-FR" sz="2000" dirty="0"/>
          </a:p>
          <a:p>
            <a:pPr marL="457200" indent="-457200">
              <a:buFont typeface="+mj-lt"/>
              <a:buAutoNum type="arabicPeriod"/>
              <a:defRPr sz="2400"/>
            </a:pPr>
            <a:r>
              <a:rPr lang="fr-FR" sz="2000" dirty="0"/>
              <a:t>x-slot-routing</a:t>
            </a:r>
          </a:p>
          <a:p>
            <a:pPr marL="457200" indent="-457200">
              <a:buFont typeface="+mj-lt"/>
              <a:buAutoNum type="arabicPeriod"/>
              <a:defRPr sz="2400"/>
            </a:pPr>
            <a:r>
              <a:rPr lang="fr-FR" sz="2000" dirty="0"/>
              <a:t>x-ms-routing-name</a:t>
            </a:r>
          </a:p>
          <a:p>
            <a:pPr marL="457200" indent="-457200">
              <a:buFont typeface="+mj-lt"/>
              <a:buAutoNum type="arabicPeriod"/>
              <a:defRPr sz="2400"/>
            </a:pPr>
            <a:r>
              <a:rPr lang="fr-FR" sz="2000" dirty="0"/>
              <a:t>x-azure-slot</a:t>
            </a:r>
          </a:p>
          <a:p>
            <a:pPr marL="457200" indent="-457200">
              <a:buFont typeface="+mj-lt"/>
              <a:buAutoNum type="arabicPeriod"/>
              <a:defRPr sz="2400"/>
            </a:pPr>
            <a:r>
              <a:rPr lang="fr-FR" sz="2000" dirty="0"/>
              <a:t>x-appservice-slot</a:t>
            </a:r>
          </a:p>
          <a:p>
            <a:pPr>
              <a:defRPr sz="2400"/>
            </a:pPr>
            <a:endParaRPr dirty="0"/>
          </a:p>
        </p:txBody>
      </p:sp>
      <p:sp>
        <p:nvSpPr>
          <p:cNvPr id="8" name="TextBox 7"/>
          <p:cNvSpPr txBox="1"/>
          <p:nvPr/>
        </p:nvSpPr>
        <p:spPr>
          <a:xfrm>
            <a:off x="6660232" y="3402244"/>
            <a:ext cx="2345257" cy="369332"/>
          </a:xfrm>
          <a:prstGeom prst="rect">
            <a:avLst/>
          </a:prstGeom>
          <a:noFill/>
        </p:spPr>
        <p:txBody>
          <a:bodyPr wrap="none">
            <a:spAutoFit/>
          </a:bodyPr>
          <a:lstStyle/>
          <a:p>
            <a:pPr>
              <a:defRPr sz="1800" b="1"/>
            </a:pPr>
            <a:r>
              <a:rPr u="sng" dirty="0" err="1"/>
              <a:t>Réponse</a:t>
            </a:r>
            <a:r>
              <a:rPr u="sng" dirty="0"/>
              <a:t> : </a:t>
            </a:r>
            <a:r>
              <a:rPr dirty="0"/>
              <a:t>2</a:t>
            </a:r>
          </a:p>
        </p:txBody>
      </p:sp>
      <p:sp>
        <p:nvSpPr>
          <p:cNvPr id="9" name="TextBox 8"/>
          <p:cNvSpPr txBox="1"/>
          <p:nvPr/>
        </p:nvSpPr>
        <p:spPr>
          <a:xfrm>
            <a:off x="1025237" y="4930239"/>
            <a:ext cx="6848350" cy="1569660"/>
          </a:xfrm>
          <a:prstGeom prst="rect">
            <a:avLst/>
          </a:prstGeom>
          <a:noFill/>
        </p:spPr>
        <p:txBody>
          <a:bodyPr wrap="none">
            <a:spAutoFit/>
          </a:bodyPr>
          <a:lstStyle/>
          <a:p>
            <a:pPr>
              <a:defRPr sz="1600"/>
            </a:pPr>
            <a:r>
              <a:rPr dirty="0"/>
              <a:t>Le header x-ms-routing-name permet de diriger vers un slot </a:t>
            </a:r>
            <a:r>
              <a:rPr dirty="0" err="1"/>
              <a:t>spécifique</a:t>
            </a:r>
            <a:r>
              <a:rPr dirty="0"/>
              <a:t>.</a:t>
            </a:r>
            <a:endParaRPr lang="fr-FR" dirty="0"/>
          </a:p>
          <a:p>
            <a:pPr>
              <a:defRPr sz="1600"/>
            </a:pPr>
            <a:r>
              <a:rPr lang="fr-FR" dirty="0"/>
              <a:t>On fournit le nom du slot</a:t>
            </a:r>
          </a:p>
          <a:p>
            <a:pPr>
              <a:defRPr sz="1600"/>
            </a:pPr>
            <a:r>
              <a:rPr lang="fr-FR" dirty="0"/>
              <a:t>Exemple : </a:t>
            </a:r>
          </a:p>
          <a:p>
            <a:pPr>
              <a:defRPr sz="1600"/>
            </a:pPr>
            <a:r>
              <a:rPr lang="fr-FR" dirty="0"/>
              <a:t>x-ms-</a:t>
            </a:r>
            <a:r>
              <a:rPr lang="fr-FR" dirty="0" err="1"/>
              <a:t>routing</a:t>
            </a:r>
            <a:r>
              <a:rPr lang="fr-FR" dirty="0"/>
              <a:t>-</a:t>
            </a:r>
            <a:r>
              <a:rPr lang="fr-FR" dirty="0" err="1"/>
              <a:t>name</a:t>
            </a:r>
            <a:r>
              <a:rPr lang="fr-FR" dirty="0"/>
              <a:t>: </a:t>
            </a:r>
            <a:r>
              <a:rPr lang="fr-FR" dirty="0" err="1"/>
              <a:t>staging</a:t>
            </a:r>
            <a:br>
              <a:rPr lang="fr-FR" dirty="0"/>
            </a:br>
            <a:br>
              <a:rPr lang="fr-FR" dirty="0"/>
            </a:br>
            <a:r>
              <a:rPr lang="fr-FR" dirty="0"/>
              <a:t>Cette </a:t>
            </a:r>
            <a:r>
              <a:rPr lang="fr-FR" sz="1600" dirty="0"/>
              <a:t>fonctionnalité permet d’associer des utilisateurs spécifiques à un slot</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27314"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4</a:t>
            </a:r>
            <a:endParaRPr sz="3200" dirty="0"/>
          </a:p>
        </p:txBody>
      </p:sp>
      <p:sp>
        <p:nvSpPr>
          <p:cNvPr id="3" name="TextBox 2"/>
          <p:cNvSpPr txBox="1"/>
          <p:nvPr/>
        </p:nvSpPr>
        <p:spPr>
          <a:xfrm>
            <a:off x="467096" y="1324006"/>
            <a:ext cx="8431481" cy="2616101"/>
          </a:xfrm>
          <a:prstGeom prst="rect">
            <a:avLst/>
          </a:prstGeom>
          <a:noFill/>
        </p:spPr>
        <p:txBody>
          <a:bodyPr wrap="square">
            <a:spAutoFit/>
          </a:bodyPr>
          <a:lstStyle/>
          <a:p>
            <a:pPr>
              <a:defRPr sz="2400"/>
            </a:pPr>
            <a:r>
              <a:rPr lang="fr-FR" sz="2000" dirty="0"/>
              <a:t>Vous avez déployé une nouvelle version via un slot </a:t>
            </a:r>
            <a:r>
              <a:rPr lang="fr-FR" sz="2000" dirty="0" err="1"/>
              <a:t>staging</a:t>
            </a:r>
            <a:r>
              <a:rPr lang="fr-FR" sz="2000" dirty="0"/>
              <a:t>. </a:t>
            </a:r>
          </a:p>
          <a:p>
            <a:pPr>
              <a:defRPr sz="2400"/>
            </a:pPr>
            <a:r>
              <a:rPr lang="fr-FR" sz="2000" dirty="0"/>
              <a:t>Après le swap, un bug critique apparaît en production. </a:t>
            </a:r>
          </a:p>
          <a:p>
            <a:pPr>
              <a:defRPr sz="2400"/>
            </a:pPr>
            <a:r>
              <a:rPr lang="fr-FR" sz="2000" dirty="0"/>
              <a:t>Quelle est l’action la plus rapide pour revenir à la version précédente ?</a:t>
            </a:r>
          </a:p>
          <a:p>
            <a:pPr marL="457200" indent="-457200">
              <a:buFont typeface="+mj-lt"/>
              <a:buAutoNum type="arabicPeriod"/>
              <a:defRPr sz="2400"/>
            </a:pPr>
            <a:r>
              <a:rPr lang="fr-FR" sz="2000" dirty="0"/>
              <a:t>Redéployer l’ancienne version</a:t>
            </a:r>
          </a:p>
          <a:p>
            <a:pPr marL="457200" indent="-457200">
              <a:buFont typeface="+mj-lt"/>
              <a:buAutoNum type="arabicPeriod"/>
              <a:defRPr sz="2400"/>
            </a:pPr>
            <a:r>
              <a:rPr lang="fr-FR" sz="2000" dirty="0"/>
              <a:t>Restaurer la base</a:t>
            </a:r>
          </a:p>
          <a:p>
            <a:pPr marL="457200" indent="-457200">
              <a:buFont typeface="+mj-lt"/>
              <a:buAutoNum type="arabicPeriod"/>
              <a:defRPr sz="2400"/>
            </a:pPr>
            <a:r>
              <a:rPr lang="fr-FR" sz="2000" dirty="0"/>
              <a:t>Effectuer un swap inverse</a:t>
            </a:r>
          </a:p>
          <a:p>
            <a:pPr marL="457200" indent="-457200">
              <a:buFont typeface="+mj-lt"/>
              <a:buAutoNum type="arabicPeriod"/>
              <a:defRPr sz="2400"/>
            </a:pPr>
            <a:r>
              <a:rPr lang="fr-FR" sz="2000" dirty="0"/>
              <a:t>Redémarrer l’application</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a:t>
            </a:r>
            <a:r>
              <a:rPr u="sng" dirty="0"/>
              <a:t> : </a:t>
            </a:r>
            <a:r>
              <a:rPr dirty="0"/>
              <a:t>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 rollback consiste à faire un swap inverse.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85293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5</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fait Auto Swap ?</a:t>
            </a:r>
            <a:endParaRPr lang="fr-FR" sz="2000" dirty="0"/>
          </a:p>
          <a:p>
            <a:pPr marL="457200" indent="-457200">
              <a:buFont typeface="+mj-lt"/>
              <a:buAutoNum type="arabicPeriod"/>
              <a:defRPr sz="2400"/>
            </a:pPr>
            <a:r>
              <a:rPr lang="fr-FR" sz="2000" dirty="0"/>
              <a:t>Supprime les anciens slots</a:t>
            </a:r>
          </a:p>
          <a:p>
            <a:pPr marL="457200" indent="-457200">
              <a:buFont typeface="+mj-lt"/>
              <a:buAutoNum type="arabicPeriod"/>
              <a:defRPr sz="2400"/>
            </a:pPr>
            <a:r>
              <a:rPr lang="fr-FR" sz="2000" dirty="0"/>
              <a:t>Déploie directement en production</a:t>
            </a:r>
          </a:p>
          <a:p>
            <a:pPr marL="457200" indent="-457200">
              <a:buFont typeface="+mj-lt"/>
              <a:buAutoNum type="arabicPeriod"/>
              <a:defRPr sz="2400"/>
            </a:pPr>
            <a:r>
              <a:rPr lang="fr-FR" sz="2000" dirty="0"/>
              <a:t>Déclenche automatiquement un swap après déploiement</a:t>
            </a:r>
          </a:p>
          <a:p>
            <a:pPr marL="457200" indent="-457200">
              <a:buFont typeface="+mj-lt"/>
              <a:buAutoNum type="arabicPeriod"/>
              <a:defRPr sz="2400"/>
            </a:pPr>
            <a:r>
              <a:rPr lang="fr-FR" sz="2000" dirty="0"/>
              <a:t>Duplique les bases de données</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a:t>
            </a:r>
            <a:r>
              <a:rPr u="sng" dirty="0"/>
              <a:t> : </a:t>
            </a:r>
            <a:r>
              <a:rPr dirty="0"/>
              <a:t>3</a:t>
            </a:r>
          </a:p>
        </p:txBody>
      </p:sp>
      <p:sp>
        <p:nvSpPr>
          <p:cNvPr id="9" name="TextBox 8"/>
          <p:cNvSpPr txBox="1"/>
          <p:nvPr/>
        </p:nvSpPr>
        <p:spPr>
          <a:xfrm>
            <a:off x="755576" y="5589240"/>
            <a:ext cx="3657600" cy="914400"/>
          </a:xfrm>
          <a:prstGeom prst="rect">
            <a:avLst/>
          </a:prstGeom>
          <a:noFill/>
        </p:spPr>
        <p:txBody>
          <a:bodyPr wrap="none">
            <a:spAutoFit/>
          </a:bodyPr>
          <a:lstStyle/>
          <a:p>
            <a:pPr>
              <a:defRPr sz="1600"/>
            </a:pPr>
            <a:r>
              <a:rPr dirty="0"/>
              <a:t>Auto Swap déclenche automatiquement un swap après déploiement et warm-up.</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3398" y="231746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6</a:t>
            </a:r>
            <a:endParaRPr sz="3200" dirty="0"/>
          </a:p>
        </p:txBody>
      </p:sp>
      <p:sp>
        <p:nvSpPr>
          <p:cNvPr id="3" name="TextBox 2"/>
          <p:cNvSpPr txBox="1"/>
          <p:nvPr/>
        </p:nvSpPr>
        <p:spPr>
          <a:xfrm>
            <a:off x="467096" y="1324006"/>
            <a:ext cx="8431481" cy="2616101"/>
          </a:xfrm>
          <a:prstGeom prst="rect">
            <a:avLst/>
          </a:prstGeom>
          <a:noFill/>
        </p:spPr>
        <p:txBody>
          <a:bodyPr wrap="square">
            <a:spAutoFit/>
          </a:bodyPr>
          <a:lstStyle/>
          <a:p>
            <a:pPr>
              <a:defRPr sz="2400"/>
            </a:pPr>
            <a:r>
              <a:rPr sz="2000" dirty="0"/>
              <a:t>Quelle est une limitation importante d’Auto Swap ?</a:t>
            </a:r>
            <a:r>
              <a:rPr lang="fr-FR" sz="2000" dirty="0"/>
              <a:t> </a:t>
            </a:r>
          </a:p>
          <a:p>
            <a:pPr>
              <a:defRPr sz="2400"/>
            </a:pPr>
            <a:r>
              <a:rPr lang="fr-FR" sz="2000" i="1" dirty="0"/>
              <a:t>(Plusieurs réponses possibles)</a:t>
            </a:r>
          </a:p>
          <a:p>
            <a:pPr marL="457200" indent="-457200">
              <a:buFont typeface="+mj-lt"/>
              <a:buAutoNum type="arabicPeriod"/>
              <a:defRPr sz="2400"/>
            </a:pPr>
            <a:r>
              <a:rPr lang="fr-FR" sz="2000" dirty="0"/>
              <a:t>Ne fonctionne pas avec GitHub</a:t>
            </a:r>
          </a:p>
          <a:p>
            <a:pPr marL="457200" indent="-457200">
              <a:buFont typeface="+mj-lt"/>
              <a:buAutoNum type="arabicPeriod"/>
              <a:defRPr sz="2400"/>
            </a:pPr>
            <a:r>
              <a:rPr lang="fr-FR" sz="2000" dirty="0"/>
              <a:t>Ne fonctionne pas avec SQL</a:t>
            </a:r>
          </a:p>
          <a:p>
            <a:pPr marL="457200" indent="-457200">
              <a:buFont typeface="+mj-lt"/>
              <a:buAutoNum type="arabicPeriod"/>
              <a:defRPr sz="2400"/>
            </a:pPr>
            <a:r>
              <a:rPr lang="fr-FR" sz="2000" dirty="0"/>
              <a:t>Ne fonctionne pas sur Linux</a:t>
            </a:r>
          </a:p>
          <a:p>
            <a:pPr marL="457200" indent="-457200">
              <a:buFont typeface="+mj-lt"/>
              <a:buAutoNum type="arabicPeriod"/>
              <a:defRPr sz="2400"/>
            </a:pPr>
            <a:r>
              <a:rPr lang="fr-FR" sz="2000" dirty="0"/>
              <a:t>Ne fonctionne pas avec les Containers</a:t>
            </a:r>
          </a:p>
          <a:p>
            <a:pPr marL="457200" indent="-457200">
              <a:buFont typeface="+mj-lt"/>
              <a:buAutoNum type="arabicPeriod"/>
              <a:defRPr sz="2400"/>
            </a:pPr>
            <a:r>
              <a:rPr lang="fr-FR" sz="2000" dirty="0"/>
              <a:t>Ne fonctionne pas en Premium</a:t>
            </a:r>
          </a:p>
          <a:p>
            <a:pPr>
              <a:defRPr sz="2400"/>
            </a:pPr>
            <a:endParaRPr dirty="0"/>
          </a:p>
        </p:txBody>
      </p:sp>
      <p:sp>
        <p:nvSpPr>
          <p:cNvPr id="8" name="TextBox 7"/>
          <p:cNvSpPr txBox="1"/>
          <p:nvPr/>
        </p:nvSpPr>
        <p:spPr>
          <a:xfrm>
            <a:off x="6151418" y="5029200"/>
            <a:ext cx="1903726" cy="369332"/>
          </a:xfrm>
          <a:prstGeom prst="rect">
            <a:avLst/>
          </a:prstGeom>
          <a:noFill/>
        </p:spPr>
        <p:txBody>
          <a:bodyPr wrap="none">
            <a:spAutoFit/>
          </a:bodyPr>
          <a:lstStyle/>
          <a:p>
            <a:pPr>
              <a:defRPr sz="1800" b="1"/>
            </a:pPr>
            <a:r>
              <a:rPr u="sng" dirty="0" err="1"/>
              <a:t>Réponse</a:t>
            </a:r>
            <a:r>
              <a:rPr u="sng" dirty="0"/>
              <a:t> : </a:t>
            </a:r>
            <a:r>
              <a:rPr dirty="0"/>
              <a:t>3</a:t>
            </a:r>
            <a:r>
              <a:rPr lang="fr-FR" dirty="0"/>
              <a:t> et 4</a:t>
            </a:r>
            <a:endParaRPr dirty="0"/>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Auto Swap n’est pas supporté sur les App Services Linux.</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09665" y="2564904"/>
            <a:ext cx="557808" cy="369332"/>
          </a:xfrm>
          <a:prstGeom prst="rect">
            <a:avLst/>
          </a:prstGeom>
          <a:noFill/>
        </p:spPr>
        <p:txBody>
          <a:bodyPr wrap="square">
            <a:spAutoFit/>
          </a:bodyPr>
          <a:lstStyle/>
          <a:p>
            <a:r>
              <a:rPr lang="fr-FR" b="1" dirty="0"/>
              <a:t>✅</a:t>
            </a:r>
            <a:endParaRPr lang="fr-FR" dirty="0"/>
          </a:p>
        </p:txBody>
      </p:sp>
      <p:sp>
        <p:nvSpPr>
          <p:cNvPr id="4" name="ZoneTexte 3">
            <a:extLst>
              <a:ext uri="{FF2B5EF4-FFF2-40B4-BE49-F238E27FC236}">
                <a16:creationId xmlns:a16="http://schemas.microsoft.com/office/drawing/2014/main" id="{E3C3C20C-5C4A-C1A3-6711-89B6BBFB953C}"/>
              </a:ext>
            </a:extLst>
          </p:cNvPr>
          <p:cNvSpPr txBox="1"/>
          <p:nvPr/>
        </p:nvSpPr>
        <p:spPr>
          <a:xfrm>
            <a:off x="109665" y="285293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7</a:t>
            </a:r>
            <a:endParaRPr sz="3200" dirty="0"/>
          </a:p>
        </p:txBody>
      </p:sp>
      <p:sp>
        <p:nvSpPr>
          <p:cNvPr id="3" name="TextBox 2"/>
          <p:cNvSpPr txBox="1"/>
          <p:nvPr/>
        </p:nvSpPr>
        <p:spPr>
          <a:xfrm>
            <a:off x="467096" y="1324006"/>
            <a:ext cx="8353376" cy="1938992"/>
          </a:xfrm>
          <a:prstGeom prst="rect">
            <a:avLst/>
          </a:prstGeom>
          <a:noFill/>
        </p:spPr>
        <p:txBody>
          <a:bodyPr wrap="square">
            <a:spAutoFit/>
          </a:bodyPr>
          <a:lstStyle/>
          <a:p>
            <a:pPr>
              <a:defRPr sz="2400"/>
            </a:pPr>
            <a:r>
              <a:rPr sz="2000" dirty="0"/>
              <a:t>Que </a:t>
            </a:r>
            <a:r>
              <a:rPr sz="2000" dirty="0" err="1"/>
              <a:t>permet</a:t>
            </a:r>
            <a:r>
              <a:rPr sz="2000" dirty="0"/>
              <a:t> </a:t>
            </a:r>
            <a:r>
              <a:rPr lang="fr-FR" sz="2000" dirty="0"/>
              <a:t>réellement </a:t>
            </a:r>
            <a:r>
              <a:rPr sz="2000" dirty="0" err="1"/>
              <a:t>l’option</a:t>
            </a:r>
            <a:r>
              <a:rPr sz="2000" dirty="0"/>
              <a:t> 'Swap with preview' ?</a:t>
            </a:r>
            <a:endParaRPr lang="fr-FR" sz="2000" dirty="0"/>
          </a:p>
          <a:p>
            <a:pPr marL="457200" indent="-457200">
              <a:buFont typeface="+mj-lt"/>
              <a:buAutoNum type="arabicPeriod"/>
              <a:defRPr sz="2400"/>
            </a:pPr>
            <a:r>
              <a:rPr lang="fr-FR" sz="2000" dirty="0"/>
              <a:t>Finaliser immédiatement le swap</a:t>
            </a:r>
          </a:p>
          <a:p>
            <a:pPr marL="457200" indent="-457200">
              <a:buFont typeface="+mj-lt"/>
              <a:buAutoNum type="arabicPeriod"/>
              <a:defRPr sz="2400"/>
            </a:pPr>
            <a:r>
              <a:rPr lang="fr-FR" sz="2000" dirty="0"/>
              <a:t>Tester l’application avec les paramètres du slot cible avant la bascule finale</a:t>
            </a:r>
          </a:p>
          <a:p>
            <a:pPr marL="457200" indent="-457200">
              <a:buFont typeface="+mj-lt"/>
              <a:buAutoNum type="arabicPeriod"/>
              <a:defRPr sz="2400"/>
            </a:pPr>
            <a:r>
              <a:rPr lang="fr-FR" sz="2000" dirty="0"/>
              <a:t>Supprimer automatiquement le slot source après validation</a:t>
            </a:r>
          </a:p>
          <a:p>
            <a:pPr marL="457200" indent="-457200">
              <a:buFont typeface="+mj-lt"/>
              <a:buAutoNum type="arabicPeriod"/>
              <a:defRPr sz="2400"/>
            </a:pPr>
            <a:r>
              <a:rPr lang="fr-FR" sz="2000" dirty="0"/>
              <a:t>Dupliquer la configuration entre les slots</a:t>
            </a:r>
            <a:endParaRPr dirty="0"/>
          </a:p>
        </p:txBody>
      </p:sp>
      <p:sp>
        <p:nvSpPr>
          <p:cNvPr id="8" name="TextBox 7"/>
          <p:cNvSpPr txBox="1"/>
          <p:nvPr/>
        </p:nvSpPr>
        <p:spPr>
          <a:xfrm>
            <a:off x="6876256" y="2893666"/>
            <a:ext cx="2345257" cy="369332"/>
          </a:xfrm>
          <a:prstGeom prst="rect">
            <a:avLst/>
          </a:prstGeom>
          <a:noFill/>
        </p:spPr>
        <p:txBody>
          <a:bodyPr wrap="none">
            <a:spAutoFit/>
          </a:bodyPr>
          <a:lstStyle/>
          <a:p>
            <a:pPr>
              <a:defRPr sz="1800" b="1"/>
            </a:pPr>
            <a:r>
              <a:rPr u="sng" dirty="0" err="1"/>
              <a:t>Réponse</a:t>
            </a:r>
            <a:r>
              <a:rPr u="sng" dirty="0"/>
              <a:t> : </a:t>
            </a:r>
            <a:r>
              <a:rPr dirty="0"/>
              <a:t>2</a:t>
            </a:r>
          </a:p>
        </p:txBody>
      </p:sp>
      <p:sp>
        <p:nvSpPr>
          <p:cNvPr id="9" name="TextBox 8"/>
          <p:cNvSpPr txBox="1"/>
          <p:nvPr/>
        </p:nvSpPr>
        <p:spPr>
          <a:xfrm>
            <a:off x="827584" y="3262998"/>
            <a:ext cx="6655476" cy="584775"/>
          </a:xfrm>
          <a:prstGeom prst="rect">
            <a:avLst/>
          </a:prstGeom>
          <a:noFill/>
        </p:spPr>
        <p:txBody>
          <a:bodyPr wrap="none">
            <a:spAutoFit/>
          </a:bodyPr>
          <a:lstStyle/>
          <a:p>
            <a:pPr>
              <a:defRPr sz="1600"/>
            </a:pPr>
            <a:r>
              <a:rPr dirty="0"/>
              <a:t>Permet de tester la configuration du slot cible avant de finaliser le swap.</a:t>
            </a:r>
            <a:endParaRPr lang="fr-FR" dirty="0"/>
          </a:p>
          <a:p>
            <a:pP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70920" y="1333903"/>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ADEB8C02-27E5-404E-F59F-69ACFC9CD5A9}"/>
              </a:ext>
            </a:extLst>
          </p:cNvPr>
          <p:cNvSpPr txBox="1"/>
          <p:nvPr/>
        </p:nvSpPr>
        <p:spPr>
          <a:xfrm>
            <a:off x="251520" y="3595003"/>
            <a:ext cx="4653566" cy="3323987"/>
          </a:xfrm>
          <a:prstGeom prst="rect">
            <a:avLst/>
          </a:prstGeom>
          <a:noFill/>
        </p:spPr>
        <p:txBody>
          <a:bodyPr wrap="square">
            <a:spAutoFit/>
          </a:bodyPr>
          <a:lstStyle/>
          <a:p>
            <a:pPr>
              <a:buNone/>
            </a:pPr>
            <a:r>
              <a:rPr lang="fr-FR" sz="1400" b="1" dirty="0"/>
              <a:t>🔹 Phase 1 — Préparation (</a:t>
            </a:r>
            <a:r>
              <a:rPr lang="fr-FR" sz="1400" b="1" dirty="0" err="1"/>
              <a:t>preview</a:t>
            </a:r>
            <a:r>
              <a:rPr lang="fr-FR" sz="1400" b="1" dirty="0"/>
              <a:t>)</a:t>
            </a:r>
          </a:p>
          <a:p>
            <a:pPr>
              <a:buNone/>
            </a:pPr>
            <a:r>
              <a:rPr lang="fr-FR" sz="1400" dirty="0"/>
              <a:t>Azure : applique </a:t>
            </a:r>
            <a:r>
              <a:rPr lang="fr-FR" sz="1400" b="1" dirty="0"/>
              <a:t>temporairement</a:t>
            </a:r>
            <a:r>
              <a:rPr lang="fr-FR" sz="1400" dirty="0"/>
              <a:t> : </a:t>
            </a:r>
          </a:p>
          <a:p>
            <a:pPr marL="285750" indent="-285750">
              <a:buFont typeface="Arial" panose="020B0604020202020204" pitchFamily="34" charset="0"/>
              <a:buChar char="•"/>
            </a:pPr>
            <a:r>
              <a:rPr lang="fr-FR" sz="1400" dirty="0"/>
              <a:t>les App Settings du </a:t>
            </a:r>
            <a:r>
              <a:rPr lang="fr-FR" sz="1400" b="1" dirty="0"/>
              <a:t>slot cible (production)</a:t>
            </a:r>
            <a:r>
              <a:rPr lang="fr-FR" sz="1400" dirty="0"/>
              <a:t> </a:t>
            </a:r>
          </a:p>
          <a:p>
            <a:pPr marL="285750" indent="-285750">
              <a:buFont typeface="Arial" panose="020B0604020202020204" pitchFamily="34" charset="0"/>
              <a:buChar char="•"/>
            </a:pPr>
            <a:r>
              <a:rPr lang="fr-FR" sz="1400" dirty="0"/>
              <a:t>les Connection Strings du </a:t>
            </a:r>
            <a:r>
              <a:rPr lang="fr-FR" sz="1400" b="1" dirty="0"/>
              <a:t>slot cible</a:t>
            </a:r>
            <a:r>
              <a:rPr lang="fr-FR" sz="1400" dirty="0"/>
              <a:t> </a:t>
            </a:r>
          </a:p>
          <a:p>
            <a:pPr>
              <a:buNone/>
            </a:pPr>
            <a:r>
              <a:rPr lang="fr-FR" sz="1400" dirty="0"/>
              <a:t>MAIS :</a:t>
            </a:r>
          </a:p>
          <a:p>
            <a:pPr marL="285750" indent="-285750">
              <a:buFont typeface="Arial" panose="020B0604020202020204" pitchFamily="34" charset="0"/>
              <a:buChar char="•"/>
            </a:pPr>
            <a:r>
              <a:rPr lang="fr-FR" sz="1400" dirty="0"/>
              <a:t>le trafic reste sur production </a:t>
            </a:r>
          </a:p>
          <a:p>
            <a:pPr marL="285750" indent="-285750">
              <a:buFont typeface="Arial" panose="020B0604020202020204" pitchFamily="34" charset="0"/>
              <a:buChar char="•"/>
            </a:pPr>
            <a:r>
              <a:rPr lang="fr-FR" sz="1400" dirty="0"/>
              <a:t>rien n’est encore basculé </a:t>
            </a:r>
          </a:p>
          <a:p>
            <a:pPr>
              <a:buNone/>
            </a:pPr>
            <a:r>
              <a:rPr lang="fr-FR" sz="1400" dirty="0"/>
              <a:t>👉 Résultat :</a:t>
            </a:r>
          </a:p>
          <a:p>
            <a:pPr>
              <a:buNone/>
            </a:pPr>
            <a:r>
              <a:rPr lang="fr-FR" sz="1400" dirty="0"/>
              <a:t>✔️ Le slot </a:t>
            </a:r>
            <a:r>
              <a:rPr lang="fr-FR" sz="1400" dirty="0" err="1"/>
              <a:t>staging</a:t>
            </a:r>
            <a:r>
              <a:rPr lang="fr-FR" sz="1400" dirty="0"/>
              <a:t> tourne </a:t>
            </a:r>
            <a:r>
              <a:rPr lang="fr-FR" sz="1400" b="1" dirty="0"/>
              <a:t>dans les conditions réelles de production</a:t>
            </a:r>
            <a:br>
              <a:rPr lang="fr-FR" sz="1400" dirty="0"/>
            </a:br>
            <a:r>
              <a:rPr lang="fr-FR" sz="1400" dirty="0"/>
              <a:t>✔️ Tu peux tester :</a:t>
            </a:r>
          </a:p>
          <a:p>
            <a:pPr>
              <a:buFont typeface="Arial" panose="020B0604020202020204" pitchFamily="34" charset="0"/>
              <a:buChar char="•"/>
            </a:pPr>
            <a:r>
              <a:rPr lang="fr-FR" sz="1400" dirty="0"/>
              <a:t>config </a:t>
            </a:r>
          </a:p>
          <a:p>
            <a:pPr>
              <a:buFont typeface="Arial" panose="020B0604020202020204" pitchFamily="34" charset="0"/>
              <a:buChar char="•"/>
            </a:pPr>
            <a:r>
              <a:rPr lang="fr-FR" sz="1400" dirty="0"/>
              <a:t>accès DB </a:t>
            </a:r>
          </a:p>
          <a:p>
            <a:pPr>
              <a:buFont typeface="Arial" panose="020B0604020202020204" pitchFamily="34" charset="0"/>
              <a:buChar char="•"/>
            </a:pPr>
            <a:r>
              <a:rPr lang="fr-FR" sz="1400" dirty="0" err="1"/>
              <a:t>auth</a:t>
            </a:r>
            <a:r>
              <a:rPr lang="fr-FR" sz="1400" dirty="0"/>
              <a:t> </a:t>
            </a:r>
          </a:p>
          <a:p>
            <a:pPr>
              <a:buFont typeface="Arial" panose="020B0604020202020204" pitchFamily="34" charset="0"/>
              <a:buChar char="•"/>
            </a:pPr>
            <a:r>
              <a:rPr lang="fr-FR" sz="1400" dirty="0"/>
              <a:t>comportement réel</a:t>
            </a:r>
          </a:p>
        </p:txBody>
      </p:sp>
      <p:sp>
        <p:nvSpPr>
          <p:cNvPr id="7" name="ZoneTexte 6">
            <a:extLst>
              <a:ext uri="{FF2B5EF4-FFF2-40B4-BE49-F238E27FC236}">
                <a16:creationId xmlns:a16="http://schemas.microsoft.com/office/drawing/2014/main" id="{AD19C272-E668-2E3A-E696-6BA3224E9764}"/>
              </a:ext>
            </a:extLst>
          </p:cNvPr>
          <p:cNvSpPr txBox="1"/>
          <p:nvPr/>
        </p:nvSpPr>
        <p:spPr>
          <a:xfrm>
            <a:off x="5292080" y="3717032"/>
            <a:ext cx="3312368" cy="2031325"/>
          </a:xfrm>
          <a:prstGeom prst="rect">
            <a:avLst/>
          </a:prstGeom>
          <a:noFill/>
        </p:spPr>
        <p:txBody>
          <a:bodyPr wrap="square">
            <a:spAutoFit/>
          </a:bodyPr>
          <a:lstStyle/>
          <a:p>
            <a:pPr>
              <a:buNone/>
            </a:pPr>
            <a:r>
              <a:rPr lang="fr-FR" sz="1400" b="1" dirty="0"/>
              <a:t>🔹 Phase 2 — Commit</a:t>
            </a:r>
          </a:p>
          <a:p>
            <a:pPr>
              <a:buNone/>
            </a:pPr>
            <a:r>
              <a:rPr lang="fr-FR" sz="1400" dirty="0"/>
              <a:t>👉 Si tout est OK :</a:t>
            </a:r>
          </a:p>
          <a:p>
            <a:pPr marL="285750" indent="-285750">
              <a:buFont typeface="Arial" panose="020B0604020202020204" pitchFamily="34" charset="0"/>
              <a:buChar char="•"/>
            </a:pPr>
            <a:r>
              <a:rPr lang="fr-FR" sz="1400" dirty="0"/>
              <a:t>tu finalises le swap </a:t>
            </a:r>
          </a:p>
          <a:p>
            <a:pPr marL="285750" indent="-285750">
              <a:buFont typeface="Arial" panose="020B0604020202020204" pitchFamily="34" charset="0"/>
              <a:buChar char="•"/>
            </a:pPr>
            <a:r>
              <a:rPr lang="fr-FR" sz="1400" dirty="0"/>
              <a:t>les slots sont échangés </a:t>
            </a:r>
          </a:p>
          <a:p>
            <a:pPr>
              <a:buNone/>
            </a:pPr>
            <a:endParaRPr lang="fr-FR" sz="1400" dirty="0"/>
          </a:p>
          <a:p>
            <a:pPr>
              <a:buNone/>
            </a:pPr>
            <a:r>
              <a:rPr lang="fr-FR" sz="1400" b="1" dirty="0"/>
              <a:t>🔹 Possibilité d’annuler</a:t>
            </a:r>
          </a:p>
          <a:p>
            <a:pPr>
              <a:buNone/>
            </a:pPr>
            <a:r>
              <a:rPr lang="fr-FR" sz="1400" dirty="0"/>
              <a:t>👉 Si problème :</a:t>
            </a:r>
          </a:p>
          <a:p>
            <a:pPr>
              <a:buNone/>
            </a:pPr>
            <a:r>
              <a:rPr lang="fr-FR" sz="1400" dirty="0"/>
              <a:t>✔️ tu annules</a:t>
            </a:r>
            <a:br>
              <a:rPr lang="fr-FR" sz="1400" dirty="0"/>
            </a:br>
            <a:r>
              <a:rPr lang="fr-FR" sz="1400" dirty="0"/>
              <a:t>✔️ aucun impact sur la production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5" grpId="0"/>
      <p:bldP spid="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18</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se passe-t-il si une application met trop de temps à démarrer lors d’un swap ?</a:t>
            </a:r>
            <a:endParaRPr lang="fr-FR" sz="2000" dirty="0"/>
          </a:p>
          <a:p>
            <a:pPr marL="457200" indent="-457200">
              <a:buFont typeface="+mj-lt"/>
              <a:buAutoNum type="arabicPeriod"/>
              <a:defRPr sz="2400"/>
            </a:pPr>
            <a:r>
              <a:rPr lang="fr-FR" sz="2000" dirty="0"/>
              <a:t>Le swap est ignoré</a:t>
            </a:r>
          </a:p>
          <a:p>
            <a:pPr marL="457200" indent="-457200">
              <a:buFont typeface="+mj-lt"/>
              <a:buAutoNum type="arabicPeriod"/>
              <a:defRPr sz="2400"/>
            </a:pPr>
            <a:r>
              <a:rPr lang="fr-FR" sz="2000" dirty="0"/>
              <a:t>Azure redémarre automatiquement</a:t>
            </a:r>
          </a:p>
          <a:p>
            <a:pPr marL="457200" indent="-457200">
              <a:buFont typeface="+mj-lt"/>
              <a:buAutoNum type="arabicPeriod"/>
              <a:defRPr sz="2400"/>
            </a:pPr>
            <a:r>
              <a:rPr lang="fr-FR" sz="2000" dirty="0"/>
              <a:t>Le swap peut échouer (timeout)</a:t>
            </a:r>
          </a:p>
          <a:p>
            <a:pPr marL="457200" indent="-457200">
              <a:buFont typeface="+mj-lt"/>
              <a:buAutoNum type="arabicPeriod"/>
              <a:defRPr sz="2400"/>
            </a:pPr>
            <a:r>
              <a:rPr lang="fr-FR" sz="2000" dirty="0"/>
              <a:t>Le slot est supprimé</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a:t>
            </a:r>
            <a:r>
              <a:rPr u="sng" dirty="0"/>
              <a:t> : </a:t>
            </a:r>
            <a:r>
              <a:rPr dirty="0"/>
              <a:t>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Un timeout peut provoquer l’échec du swap.</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2057"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9</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l’impact du scaling sur les deployment slots ?</a:t>
            </a:r>
            <a:endParaRPr lang="fr-FR" sz="2000" dirty="0"/>
          </a:p>
          <a:p>
            <a:pPr marL="457200" indent="-457200">
              <a:buFont typeface="+mj-lt"/>
              <a:buAutoNum type="arabicPeriod"/>
              <a:defRPr sz="2400"/>
            </a:pPr>
            <a:r>
              <a:rPr lang="fr-FR" sz="2000" dirty="0"/>
              <a:t>Chaque slot a son propre scaling</a:t>
            </a:r>
          </a:p>
          <a:p>
            <a:pPr marL="457200" indent="-457200">
              <a:buFont typeface="+mj-lt"/>
              <a:buAutoNum type="arabicPeriod"/>
              <a:defRPr sz="2400"/>
            </a:pPr>
            <a:r>
              <a:rPr lang="fr-FR" sz="2000" dirty="0"/>
              <a:t>Le scaling s’applique à tous les slots du plan</a:t>
            </a:r>
          </a:p>
          <a:p>
            <a:pPr marL="457200" indent="-457200">
              <a:buFont typeface="+mj-lt"/>
              <a:buAutoNum type="arabicPeriod"/>
              <a:defRPr sz="2400"/>
            </a:pPr>
            <a:r>
              <a:rPr lang="fr-FR" sz="2000" dirty="0"/>
              <a:t>Le scaling ne fonctionne pas avec les slots</a:t>
            </a:r>
          </a:p>
          <a:p>
            <a:pPr marL="457200" indent="-457200">
              <a:buFont typeface="+mj-lt"/>
              <a:buAutoNum type="arabicPeriod"/>
              <a:defRPr sz="2400"/>
            </a:pPr>
            <a:r>
              <a:rPr lang="fr-FR" sz="2000" dirty="0"/>
              <a:t>Le scaling supprime les slots</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a:t>
            </a:r>
            <a:r>
              <a:rPr u="sng" dirty="0"/>
              <a:t> : </a:t>
            </a:r>
            <a:r>
              <a:rPr dirty="0"/>
              <a:t>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 scaling est au niveau du App Service Plan.</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5496"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E7A2F-0A81-FBAA-5CF9-1A16CB3A90F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3719933-B3AE-44F7-7628-FCC3D4BD2A25}"/>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A92ED855-4882-CA9D-DFA2-21A461F64F61}"/>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20</a:t>
            </a:r>
            <a:endParaRPr sz="3200" dirty="0"/>
          </a:p>
        </p:txBody>
      </p:sp>
      <p:sp>
        <p:nvSpPr>
          <p:cNvPr id="3" name="TextBox 2">
            <a:extLst>
              <a:ext uri="{FF2B5EF4-FFF2-40B4-BE49-F238E27FC236}">
                <a16:creationId xmlns:a16="http://schemas.microsoft.com/office/drawing/2014/main" id="{9B393A00-D578-0FDE-44ED-3E4DC1276211}"/>
              </a:ext>
            </a:extLst>
          </p:cNvPr>
          <p:cNvSpPr txBox="1"/>
          <p:nvPr/>
        </p:nvSpPr>
        <p:spPr>
          <a:xfrm>
            <a:off x="467096" y="1324006"/>
            <a:ext cx="8431481" cy="2246769"/>
          </a:xfrm>
          <a:prstGeom prst="rect">
            <a:avLst/>
          </a:prstGeom>
          <a:noFill/>
        </p:spPr>
        <p:txBody>
          <a:bodyPr wrap="square">
            <a:spAutoFit/>
          </a:bodyPr>
          <a:lstStyle/>
          <a:p>
            <a:pPr>
              <a:defRPr sz="2400"/>
            </a:pPr>
            <a:r>
              <a:rPr lang="fr-FR" sz="2000" dirty="0"/>
              <a:t>Comment fonctionnent les </a:t>
            </a:r>
            <a:r>
              <a:rPr lang="fr-FR" sz="2000" dirty="0" err="1"/>
              <a:t>hostnames</a:t>
            </a:r>
            <a:r>
              <a:rPr lang="fr-FR" sz="2000" dirty="0"/>
              <a:t> (URL) avec les </a:t>
            </a:r>
            <a:r>
              <a:rPr lang="fr-FR" sz="2000" dirty="0" err="1"/>
              <a:t>deployment</a:t>
            </a:r>
            <a:r>
              <a:rPr lang="fr-FR" sz="2000" dirty="0"/>
              <a:t> slots dans Azure App Service ?</a:t>
            </a:r>
          </a:p>
          <a:p>
            <a:pPr marL="457200" indent="-457200">
              <a:buFont typeface="+mj-lt"/>
              <a:buAutoNum type="arabicPeriod"/>
              <a:defRPr sz="2400"/>
            </a:pPr>
            <a:r>
              <a:rPr lang="fr-FR" sz="2000" dirty="0"/>
              <a:t>Tous les slots partagent le même </a:t>
            </a:r>
            <a:r>
              <a:rPr lang="fr-FR" sz="2000" dirty="0" err="1"/>
              <a:t>hostname</a:t>
            </a:r>
            <a:endParaRPr lang="fr-FR" sz="2000" dirty="0"/>
          </a:p>
          <a:p>
            <a:pPr marL="457200" indent="-457200">
              <a:buFont typeface="+mj-lt"/>
              <a:buAutoNum type="arabicPeriod"/>
              <a:defRPr sz="2400"/>
            </a:pPr>
            <a:r>
              <a:rPr lang="fr-FR" sz="2000" dirty="0"/>
              <a:t>Chaque slot possède un </a:t>
            </a:r>
            <a:r>
              <a:rPr lang="fr-FR" sz="2000" dirty="0" err="1"/>
              <a:t>hostname</a:t>
            </a:r>
            <a:r>
              <a:rPr lang="fr-FR" sz="2000" dirty="0"/>
              <a:t> unique basé sur le nom du slot</a:t>
            </a:r>
          </a:p>
          <a:p>
            <a:pPr marL="457200" indent="-457200">
              <a:buFont typeface="+mj-lt"/>
              <a:buAutoNum type="arabicPeriod"/>
              <a:defRPr sz="2400"/>
            </a:pPr>
            <a:r>
              <a:rPr lang="fr-FR" sz="2000" dirty="0"/>
              <a:t>Seul le slot production possède un </a:t>
            </a:r>
            <a:r>
              <a:rPr lang="fr-FR" sz="2000" dirty="0" err="1"/>
              <a:t>hostname</a:t>
            </a:r>
            <a:endParaRPr lang="fr-FR" sz="2000" dirty="0"/>
          </a:p>
          <a:p>
            <a:pPr marL="457200" indent="-457200">
              <a:buFont typeface="+mj-lt"/>
              <a:buAutoNum type="arabicPeriod"/>
              <a:defRPr sz="2400"/>
            </a:pPr>
            <a:r>
              <a:rPr lang="fr-FR" sz="2000" dirty="0"/>
              <a:t>Les </a:t>
            </a:r>
            <a:r>
              <a:rPr lang="fr-FR" sz="2000" dirty="0" err="1"/>
              <a:t>hostnames</a:t>
            </a:r>
            <a:r>
              <a:rPr lang="fr-FR" sz="2000" dirty="0"/>
              <a:t> changent automatiquement après chaque déploiement</a:t>
            </a:r>
            <a:endParaRPr dirty="0"/>
          </a:p>
        </p:txBody>
      </p:sp>
      <p:sp>
        <p:nvSpPr>
          <p:cNvPr id="8" name="TextBox 7">
            <a:extLst>
              <a:ext uri="{FF2B5EF4-FFF2-40B4-BE49-F238E27FC236}">
                <a16:creationId xmlns:a16="http://schemas.microsoft.com/office/drawing/2014/main" id="{6F8AD3CC-52C8-1AAC-AAE0-E522D89CAC14}"/>
              </a:ext>
            </a:extLst>
          </p:cNvPr>
          <p:cNvSpPr txBox="1"/>
          <p:nvPr/>
        </p:nvSpPr>
        <p:spPr>
          <a:xfrm>
            <a:off x="6151418" y="5029200"/>
            <a:ext cx="2345257" cy="369332"/>
          </a:xfrm>
          <a:prstGeom prst="rect">
            <a:avLst/>
          </a:prstGeom>
          <a:noFill/>
        </p:spPr>
        <p:txBody>
          <a:bodyPr wrap="none">
            <a:spAutoFit/>
          </a:bodyPr>
          <a:lstStyle/>
          <a:p>
            <a:pPr>
              <a:defRPr sz="1800" b="1"/>
            </a:pPr>
            <a:r>
              <a:rPr u="sng" dirty="0" err="1"/>
              <a:t>Réponse</a:t>
            </a:r>
            <a:r>
              <a:rPr u="sng" dirty="0"/>
              <a:t> : </a:t>
            </a:r>
            <a:r>
              <a:rPr dirty="0"/>
              <a:t>2</a:t>
            </a:r>
          </a:p>
        </p:txBody>
      </p:sp>
      <p:sp>
        <p:nvSpPr>
          <p:cNvPr id="9" name="TextBox 8">
            <a:extLst>
              <a:ext uri="{FF2B5EF4-FFF2-40B4-BE49-F238E27FC236}">
                <a16:creationId xmlns:a16="http://schemas.microsoft.com/office/drawing/2014/main" id="{E457D7DF-B5EC-9BA7-F032-9F94A49EA45E}"/>
              </a:ext>
            </a:extLst>
          </p:cNvPr>
          <p:cNvSpPr txBox="1"/>
          <p:nvPr/>
        </p:nvSpPr>
        <p:spPr>
          <a:xfrm>
            <a:off x="1025237" y="4930239"/>
            <a:ext cx="3568541" cy="338554"/>
          </a:xfrm>
          <a:prstGeom prst="rect">
            <a:avLst/>
          </a:prstGeom>
          <a:noFill/>
        </p:spPr>
        <p:txBody>
          <a:bodyPr wrap="none">
            <a:spAutoFit/>
          </a:bodyPr>
          <a:lstStyle/>
          <a:p>
            <a:pPr>
              <a:defRPr sz="1600"/>
            </a:pPr>
            <a:r>
              <a:rPr lang="fr-FR" dirty="0"/>
              <a:t>Chaque slot possède </a:t>
            </a:r>
            <a:r>
              <a:rPr lang="fr-FR" b="1" dirty="0"/>
              <a:t>sa propre URL</a:t>
            </a:r>
            <a:endParaRPr dirty="0"/>
          </a:p>
        </p:txBody>
      </p:sp>
      <p:sp>
        <p:nvSpPr>
          <p:cNvPr id="13" name="ZoneTexte 12">
            <a:extLst>
              <a:ext uri="{FF2B5EF4-FFF2-40B4-BE49-F238E27FC236}">
                <a16:creationId xmlns:a16="http://schemas.microsoft.com/office/drawing/2014/main" id="{1DE420D1-19F0-75C8-F2B4-A03D63FFD22B}"/>
              </a:ext>
            </a:extLst>
          </p:cNvPr>
          <p:cNvSpPr txBox="1"/>
          <p:nvPr/>
        </p:nvSpPr>
        <p:spPr>
          <a:xfrm>
            <a:off x="35496" y="2262724"/>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87022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EFB51-7170-13CF-721F-19FE0442E77C}"/>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26593A4-3F45-9CE0-6457-1C739B2A4558}"/>
              </a:ext>
            </a:extLst>
          </p:cNvPr>
          <p:cNvSpPr>
            <a:spLocks noGrp="1"/>
          </p:cNvSpPr>
          <p:nvPr>
            <p:ph type="body" sz="quarter" idx="11"/>
          </p:nvPr>
        </p:nvSpPr>
        <p:spPr/>
        <p:txBody>
          <a:bodyPr/>
          <a:lstStyle/>
          <a:p>
            <a:r>
              <a:rPr lang="fr-FR" dirty="0"/>
              <a:t>Quizz 9</a:t>
            </a:r>
          </a:p>
        </p:txBody>
      </p:sp>
      <p:sp>
        <p:nvSpPr>
          <p:cNvPr id="3" name="Espace réservé du texte 2">
            <a:extLst>
              <a:ext uri="{FF2B5EF4-FFF2-40B4-BE49-F238E27FC236}">
                <a16:creationId xmlns:a16="http://schemas.microsoft.com/office/drawing/2014/main" id="{30D34495-1657-C5F8-0961-3A9063792D1C}"/>
              </a:ext>
            </a:extLst>
          </p:cNvPr>
          <p:cNvSpPr>
            <a:spLocks noGrp="1"/>
          </p:cNvSpPr>
          <p:nvPr>
            <p:ph type="body" sz="quarter" idx="12"/>
          </p:nvPr>
        </p:nvSpPr>
        <p:spPr>
          <a:xfrm>
            <a:off x="2604868" y="3501008"/>
            <a:ext cx="5624732" cy="1432560"/>
          </a:xfrm>
        </p:spPr>
        <p:txBody>
          <a:bodyPr/>
          <a:lstStyle/>
          <a:p>
            <a:r>
              <a:rPr lang="fr-FR" dirty="0"/>
              <a:t>Azure </a:t>
            </a:r>
            <a:r>
              <a:rPr lang="fr-FR" dirty="0" err="1"/>
              <a:t>functions</a:t>
            </a:r>
            <a:endParaRPr lang="fr-FR" dirty="0"/>
          </a:p>
        </p:txBody>
      </p:sp>
    </p:spTree>
    <p:extLst>
      <p:ext uri="{BB962C8B-B14F-4D97-AF65-F5344CB8AC3E}">
        <p14:creationId xmlns:p14="http://schemas.microsoft.com/office/powerpoint/2010/main" val="31413854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rôle principal d’un trigger dans une Azure Function ?</a:t>
            </a:r>
            <a:endParaRPr lang="fr-FR" sz="2000" dirty="0"/>
          </a:p>
          <a:p>
            <a:pPr marL="457200" indent="-457200">
              <a:buFont typeface="+mj-lt"/>
              <a:buAutoNum type="arabicPeriod"/>
              <a:defRPr sz="2400"/>
            </a:pPr>
            <a:r>
              <a:rPr lang="fr-FR" sz="2000" dirty="0"/>
              <a:t>Définir le plan tarifaire</a:t>
            </a:r>
          </a:p>
          <a:p>
            <a:pPr marL="457200" indent="-457200">
              <a:buFont typeface="+mj-lt"/>
              <a:buAutoNum type="arabicPeriod"/>
              <a:defRPr sz="2400"/>
            </a:pPr>
            <a:r>
              <a:rPr lang="fr-FR" sz="2000" dirty="0"/>
              <a:t>Déclencher l’exécution de la fonction</a:t>
            </a:r>
          </a:p>
          <a:p>
            <a:pPr marL="457200" indent="-457200">
              <a:buFont typeface="+mj-lt"/>
              <a:buAutoNum type="arabicPeriod"/>
              <a:defRPr sz="2400"/>
            </a:pPr>
            <a:r>
              <a:rPr lang="fr-FR" sz="2000" dirty="0"/>
              <a:t>Configurer les logs</a:t>
            </a:r>
          </a:p>
          <a:p>
            <a:pPr marL="457200" indent="-457200">
              <a:buFont typeface="+mj-lt"/>
              <a:buAutoNum type="arabicPeriod"/>
              <a:defRPr sz="2400"/>
            </a:pPr>
            <a:r>
              <a:rPr lang="fr-FR" sz="2000" dirty="0"/>
              <a:t>Définir les variables d’environnement</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 trigger détermine quand la fonction s’exécute.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le plan Consumption, comment est facturée une Azure Function ?</a:t>
            </a:r>
            <a:endParaRPr lang="fr-FR" sz="2000" dirty="0"/>
          </a:p>
          <a:p>
            <a:pPr marL="457200" indent="-457200">
              <a:buFont typeface="+mj-lt"/>
              <a:buAutoNum type="arabicPeriod"/>
              <a:defRPr sz="2400"/>
            </a:pPr>
            <a:r>
              <a:rPr lang="fr-FR" sz="2000" dirty="0"/>
              <a:t>À la seconde d’exécution uniquement</a:t>
            </a:r>
          </a:p>
          <a:p>
            <a:pPr marL="457200" indent="-457200">
              <a:buFont typeface="+mj-lt"/>
              <a:buAutoNum type="arabicPeriod"/>
              <a:defRPr sz="2400"/>
            </a:pPr>
            <a:r>
              <a:rPr lang="fr-FR" sz="2000" dirty="0"/>
              <a:t>Au nombre de requêtes HTTP</a:t>
            </a:r>
          </a:p>
          <a:p>
            <a:pPr marL="457200" indent="-457200">
              <a:buFont typeface="+mj-lt"/>
              <a:buAutoNum type="arabicPeriod"/>
              <a:defRPr sz="2400"/>
            </a:pPr>
            <a:r>
              <a:rPr lang="fr-FR" sz="2000" dirty="0"/>
              <a:t>À l’exécution + temps + mémoire utilisée</a:t>
            </a:r>
          </a:p>
          <a:p>
            <a:pPr marL="457200" indent="-457200">
              <a:buFont typeface="+mj-lt"/>
              <a:buAutoNum type="arabicPeriod"/>
              <a:defRPr sz="2400"/>
            </a:pPr>
            <a:r>
              <a:rPr lang="fr-FR" sz="2000" dirty="0"/>
              <a:t>Forfait mensuel fixe</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827584" y="4316611"/>
            <a:ext cx="2740558" cy="1077218"/>
          </a:xfrm>
          <a:prstGeom prst="rect">
            <a:avLst/>
          </a:prstGeom>
          <a:noFill/>
        </p:spPr>
        <p:txBody>
          <a:bodyPr wrap="none">
            <a:spAutoFit/>
          </a:bodyPr>
          <a:lstStyle/>
          <a:p>
            <a:pPr>
              <a:defRPr sz="1600"/>
            </a:pPr>
            <a:r>
              <a:rPr dirty="0"/>
              <a:t>La </a:t>
            </a:r>
            <a:r>
              <a:rPr dirty="0" err="1"/>
              <a:t>facturation</a:t>
            </a:r>
            <a:r>
              <a:rPr dirty="0"/>
              <a:t> </a:t>
            </a:r>
            <a:r>
              <a:rPr dirty="0" err="1"/>
              <a:t>dépend</a:t>
            </a:r>
            <a:r>
              <a:rPr dirty="0"/>
              <a:t> </a:t>
            </a:r>
            <a:r>
              <a:rPr lang="fr-FR" dirty="0"/>
              <a:t>:</a:t>
            </a:r>
          </a:p>
          <a:p>
            <a:pPr marL="285750" indent="-285750">
              <a:buFontTx/>
              <a:buChar char="-"/>
              <a:defRPr sz="1600"/>
            </a:pPr>
            <a:r>
              <a:rPr dirty="0"/>
              <a:t>du nombre d’exécutions, </a:t>
            </a:r>
            <a:endParaRPr lang="fr-FR" dirty="0"/>
          </a:p>
          <a:p>
            <a:pPr marL="285750" indent="-285750">
              <a:buFontTx/>
              <a:buChar char="-"/>
              <a:defRPr sz="1600"/>
            </a:pPr>
            <a:r>
              <a:rPr dirty="0"/>
              <a:t>du temps d’exécution et </a:t>
            </a:r>
            <a:endParaRPr lang="fr-FR" dirty="0"/>
          </a:p>
          <a:p>
            <a:pPr marL="285750" indent="-285750">
              <a:buFontTx/>
              <a:buChar char="-"/>
              <a:defRPr sz="1600"/>
            </a:pPr>
            <a:r>
              <a:rPr dirty="0"/>
              <a:t>de la mémoire utilisée.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90712" y="220486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est la différence principale entre un trigger HTTP et un trigger Queue ?</a:t>
            </a:r>
            <a:endParaRPr lang="fr-FR" sz="2000" dirty="0"/>
          </a:p>
          <a:p>
            <a:pPr marL="457200" indent="-457200">
              <a:buFont typeface="+mj-lt"/>
              <a:buAutoNum type="arabicPeriod"/>
              <a:defRPr sz="2400"/>
            </a:pPr>
            <a:r>
              <a:rPr lang="fr-FR" sz="2000" dirty="0"/>
              <a:t>Le trigger Queue est plus rapide</a:t>
            </a:r>
          </a:p>
          <a:p>
            <a:pPr marL="457200" indent="-457200">
              <a:buFont typeface="+mj-lt"/>
              <a:buAutoNum type="arabicPeriod"/>
              <a:defRPr sz="2400"/>
            </a:pPr>
            <a:r>
              <a:rPr lang="fr-FR" sz="2000" dirty="0"/>
              <a:t>Le trigger HTTP est synchrone, la queue est asynchrone</a:t>
            </a:r>
          </a:p>
          <a:p>
            <a:pPr marL="457200" indent="-457200">
              <a:buFont typeface="+mj-lt"/>
              <a:buAutoNum type="arabicPeriod"/>
              <a:defRPr sz="2400"/>
            </a:pPr>
            <a:r>
              <a:rPr lang="fr-FR" sz="2000" dirty="0"/>
              <a:t>Le trigger HTTP ne supporte pas JSON</a:t>
            </a:r>
          </a:p>
          <a:p>
            <a:pPr marL="457200" indent="-457200">
              <a:buFont typeface="+mj-lt"/>
              <a:buAutoNum type="arabicPeriod"/>
              <a:defRPr sz="2400"/>
            </a:pPr>
            <a:r>
              <a:rPr lang="fr-FR" sz="2000" dirty="0"/>
              <a:t>Le trigger Queue nécessite un App Service Plan</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HTTP est synchrone, Queue est asynchrone.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27687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binding permet d’écrire automatiquement un message dans une queue ?</a:t>
            </a:r>
            <a:endParaRPr lang="fr-FR" sz="2000" dirty="0"/>
          </a:p>
          <a:p>
            <a:pPr marL="457200" indent="-457200">
              <a:buFont typeface="+mj-lt"/>
              <a:buAutoNum type="arabicPeriod"/>
              <a:defRPr sz="2400"/>
            </a:pPr>
            <a:r>
              <a:rPr lang="fr-FR" sz="2000" dirty="0"/>
              <a:t>Input binding</a:t>
            </a:r>
          </a:p>
          <a:p>
            <a:pPr marL="457200" indent="-457200">
              <a:buFont typeface="+mj-lt"/>
              <a:buAutoNum type="arabicPeriod"/>
              <a:defRPr sz="2400"/>
            </a:pPr>
            <a:r>
              <a:rPr lang="fr-FR" sz="2000" dirty="0"/>
              <a:t>Trigger binding</a:t>
            </a:r>
          </a:p>
          <a:p>
            <a:pPr marL="457200" indent="-457200">
              <a:buFont typeface="+mj-lt"/>
              <a:buAutoNum type="arabicPeriod"/>
              <a:defRPr sz="2400"/>
            </a:pPr>
            <a:r>
              <a:rPr lang="fr-FR" sz="2000" dirty="0"/>
              <a:t>Output binding</a:t>
            </a:r>
          </a:p>
          <a:p>
            <a:pPr marL="457200" indent="-457200">
              <a:buFont typeface="+mj-lt"/>
              <a:buAutoNum type="arabicPeriod"/>
              <a:defRPr sz="2400"/>
            </a:pPr>
            <a:r>
              <a:rPr lang="fr-FR" sz="2000" dirty="0"/>
              <a:t>Logging binding</a:t>
            </a:r>
          </a:p>
          <a:p>
            <a:pPr>
              <a:defRPr sz="2400"/>
            </a:pPr>
            <a:endParaRPr dirty="0"/>
          </a:p>
        </p:txBody>
      </p:sp>
      <p:sp>
        <p:nvSpPr>
          <p:cNvPr id="8" name="TextBox 7"/>
          <p:cNvSpPr txBox="1"/>
          <p:nvPr/>
        </p:nvSpPr>
        <p:spPr>
          <a:xfrm>
            <a:off x="7092280" y="1954948"/>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467096" y="3272575"/>
            <a:ext cx="5668090" cy="3539430"/>
          </a:xfrm>
          <a:prstGeom prst="rect">
            <a:avLst/>
          </a:prstGeom>
          <a:noFill/>
        </p:spPr>
        <p:txBody>
          <a:bodyPr wrap="none">
            <a:spAutoFit/>
          </a:bodyPr>
          <a:lstStyle/>
          <a:p>
            <a:pPr>
              <a:defRPr sz="1600"/>
            </a:pPr>
            <a:r>
              <a:rPr dirty="0"/>
              <a:t>Un output binding permet d’écrire sans gérer </a:t>
            </a:r>
            <a:r>
              <a:rPr dirty="0" err="1"/>
              <a:t>l’infrastructure</a:t>
            </a:r>
            <a:r>
              <a:rPr dirty="0"/>
              <a:t>.</a:t>
            </a:r>
            <a:endParaRPr lang="fr-FR" dirty="0"/>
          </a:p>
          <a:p>
            <a:pPr>
              <a:defRPr sz="1600"/>
            </a:pPr>
            <a:endParaRPr lang="fr-FR" dirty="0"/>
          </a:p>
          <a:p>
            <a:pPr>
              <a:defRPr sz="1600"/>
            </a:pPr>
            <a:r>
              <a:rPr lang="fr-FR" dirty="0"/>
              <a:t>Exemple sans binding :</a:t>
            </a:r>
          </a:p>
          <a:p>
            <a:pPr>
              <a:defRPr sz="1600"/>
            </a:pPr>
            <a:endParaRPr lang="fr-FR" dirty="0"/>
          </a:p>
          <a:p>
            <a:pPr>
              <a:defRPr sz="1600"/>
            </a:pPr>
            <a:endParaRPr lang="fr-FR" dirty="0"/>
          </a:p>
          <a:p>
            <a:pPr>
              <a:defRPr sz="1600"/>
            </a:pPr>
            <a:endParaRPr lang="fr-FR" dirty="0"/>
          </a:p>
          <a:p>
            <a:pPr>
              <a:defRPr sz="1600"/>
            </a:pPr>
            <a:r>
              <a:rPr lang="fr-FR" dirty="0"/>
              <a:t>Exemple avec output binding :</a:t>
            </a:r>
          </a:p>
          <a:p>
            <a:pPr>
              <a:defRPr sz="1600"/>
            </a:pPr>
            <a:endParaRPr lang="fr-FR" dirty="0"/>
          </a:p>
          <a:p>
            <a:pPr>
              <a:defRPr sz="1600"/>
            </a:pPr>
            <a:endParaRPr lang="fr-FR" dirty="0"/>
          </a:p>
          <a:p>
            <a:pPr>
              <a:defRPr sz="1600"/>
            </a:pPr>
            <a:endParaRPr lang="fr-FR" dirty="0"/>
          </a:p>
          <a:p>
            <a:pPr>
              <a:defRPr sz="1600"/>
            </a:pPr>
            <a:endParaRPr lang="fr-FR" dirty="0"/>
          </a:p>
          <a:p>
            <a:pPr>
              <a:defRPr sz="1600"/>
            </a:pPr>
            <a:endParaRPr lang="fr-FR" dirty="0"/>
          </a:p>
          <a:p>
            <a:pPr>
              <a:defRPr sz="1600"/>
            </a:pPr>
            <a:r>
              <a:rPr lang="fr-FR" dirty="0"/>
              <a:t>Autre exemple avec trigger binding :</a:t>
            </a:r>
          </a:p>
          <a:p>
            <a:pP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14435" y="2600098"/>
            <a:ext cx="557808" cy="369332"/>
          </a:xfrm>
          <a:prstGeom prst="rect">
            <a:avLst/>
          </a:prstGeom>
          <a:noFill/>
        </p:spPr>
        <p:txBody>
          <a:bodyPr wrap="square">
            <a:spAutoFit/>
          </a:bodyPr>
          <a:lstStyle/>
          <a:p>
            <a:r>
              <a:rPr lang="fr-FR" b="1" dirty="0"/>
              <a:t>✅</a:t>
            </a:r>
            <a:endParaRPr lang="fr-FR" dirty="0"/>
          </a:p>
        </p:txBody>
      </p:sp>
      <p:sp>
        <p:nvSpPr>
          <p:cNvPr id="12" name="ZoneTexte 11">
            <a:extLst>
              <a:ext uri="{FF2B5EF4-FFF2-40B4-BE49-F238E27FC236}">
                <a16:creationId xmlns:a16="http://schemas.microsoft.com/office/drawing/2014/main" id="{E6FAAC1A-E228-FACD-2304-D5904C161A4F}"/>
              </a:ext>
            </a:extLst>
          </p:cNvPr>
          <p:cNvSpPr txBox="1"/>
          <p:nvPr/>
        </p:nvSpPr>
        <p:spPr>
          <a:xfrm>
            <a:off x="518562" y="4063118"/>
            <a:ext cx="5616624" cy="461665"/>
          </a:xfrm>
          <a:prstGeom prst="rect">
            <a:avLst/>
          </a:prstGeom>
          <a:noFill/>
        </p:spPr>
        <p:txBody>
          <a:bodyPr wrap="square">
            <a:spAutoFit/>
          </a:bodyPr>
          <a:lstStyle/>
          <a:p>
            <a:pPr>
              <a:buNone/>
            </a:pPr>
            <a:r>
              <a:rPr lang="fr-FR" sz="1200" dirty="0">
                <a:solidFill>
                  <a:srgbClr val="0000FF"/>
                </a:solidFill>
                <a:effectLst/>
                <a:latin typeface="Cascadia Mono" panose="020B0609020000020004" pitchFamily="49" charset="0"/>
              </a:rPr>
              <a:t>var</a:t>
            </a:r>
            <a:r>
              <a:rPr lang="fr-FR" sz="1200" dirty="0">
                <a:solidFill>
                  <a:srgbClr val="000000"/>
                </a:solidFill>
                <a:effectLst/>
                <a:latin typeface="Cascadia Mono" panose="020B0609020000020004" pitchFamily="49" charset="0"/>
              </a:rPr>
              <a:t> </a:t>
            </a:r>
            <a:r>
              <a:rPr lang="fr-FR" sz="1200" dirty="0">
                <a:solidFill>
                  <a:srgbClr val="1F377F"/>
                </a:solidFill>
                <a:effectLst/>
                <a:latin typeface="Cascadia Mono" panose="020B0609020000020004" pitchFamily="49" charset="0"/>
              </a:rPr>
              <a:t>client</a:t>
            </a:r>
            <a:r>
              <a:rPr lang="fr-FR" sz="1200" dirty="0">
                <a:solidFill>
                  <a:srgbClr val="000000"/>
                </a:solidFill>
                <a:effectLst/>
                <a:latin typeface="Cascadia Mono" panose="020B0609020000020004" pitchFamily="49" charset="0"/>
              </a:rPr>
              <a:t> = </a:t>
            </a:r>
            <a:r>
              <a:rPr lang="fr-FR" sz="1200" dirty="0">
                <a:solidFill>
                  <a:srgbClr val="0000FF"/>
                </a:solidFill>
                <a:effectLst/>
                <a:latin typeface="Cascadia Mono" panose="020B0609020000020004" pitchFamily="49" charset="0"/>
              </a:rPr>
              <a:t>new</a:t>
            </a:r>
            <a:r>
              <a:rPr lang="fr-FR" sz="1200" dirty="0">
                <a:solidFill>
                  <a:srgbClr val="000000"/>
                </a:solidFill>
                <a:effectLst/>
                <a:latin typeface="Cascadia Mono" panose="020B0609020000020004" pitchFamily="49" charset="0"/>
              </a:rPr>
              <a:t> </a:t>
            </a:r>
            <a:r>
              <a:rPr lang="fr-FR" sz="1200" dirty="0" err="1">
                <a:solidFill>
                  <a:srgbClr val="2B91AF"/>
                </a:solidFill>
                <a:effectLst/>
                <a:latin typeface="Cascadia Mono" panose="020B0609020000020004" pitchFamily="49" charset="0"/>
              </a:rPr>
              <a:t>QueueClient</a:t>
            </a:r>
            <a:r>
              <a:rPr lang="fr-FR" sz="1200" dirty="0">
                <a:solidFill>
                  <a:srgbClr val="000000"/>
                </a:solidFill>
                <a:effectLst/>
                <a:latin typeface="Cascadia Mono" panose="020B0609020000020004" pitchFamily="49" charset="0"/>
              </a:rPr>
              <a:t>(</a:t>
            </a:r>
            <a:r>
              <a:rPr lang="fr-FR" sz="1200" dirty="0" err="1">
                <a:solidFill>
                  <a:srgbClr val="1F377F"/>
                </a:solidFill>
                <a:effectLst/>
                <a:latin typeface="Cascadia Mono" panose="020B0609020000020004" pitchFamily="49" charset="0"/>
              </a:rPr>
              <a:t>connectionString</a:t>
            </a:r>
            <a:r>
              <a:rPr lang="fr-FR" sz="1200" dirty="0">
                <a:solidFill>
                  <a:srgbClr val="000000"/>
                </a:solidFill>
                <a:effectLst/>
                <a:latin typeface="Cascadia Mono" panose="020B0609020000020004" pitchFamily="49" charset="0"/>
              </a:rPr>
              <a:t>, </a:t>
            </a:r>
            <a:r>
              <a:rPr lang="fr-FR" sz="1200" dirty="0">
                <a:solidFill>
                  <a:srgbClr val="A31515"/>
                </a:solidFill>
                <a:effectLst/>
                <a:latin typeface="Cascadia Mono" panose="020B0609020000020004" pitchFamily="49" charset="0"/>
              </a:rPr>
              <a:t>"</a:t>
            </a:r>
            <a:r>
              <a:rPr lang="fr-FR" sz="1200" dirty="0" err="1">
                <a:solidFill>
                  <a:srgbClr val="A31515"/>
                </a:solidFill>
                <a:effectLst/>
                <a:latin typeface="Cascadia Mono" panose="020B0609020000020004" pitchFamily="49" charset="0"/>
              </a:rPr>
              <a:t>maqueue</a:t>
            </a:r>
            <a:r>
              <a:rPr lang="fr-FR" sz="1200" dirty="0">
                <a:solidFill>
                  <a:srgbClr val="A31515"/>
                </a:solidFill>
                <a:effectLst/>
                <a:latin typeface="Cascadia Mono" panose="020B0609020000020004" pitchFamily="49" charset="0"/>
              </a:rPr>
              <a:t>"</a:t>
            </a:r>
            <a:r>
              <a:rPr lang="fr-FR" sz="1200" dirty="0">
                <a:solidFill>
                  <a:srgbClr val="000000"/>
                </a:solidFill>
                <a:effectLst/>
                <a:latin typeface="Cascadia Mono" panose="020B0609020000020004" pitchFamily="49" charset="0"/>
              </a:rPr>
              <a:t>);</a:t>
            </a:r>
          </a:p>
          <a:p>
            <a:pPr>
              <a:buNone/>
            </a:pPr>
            <a:r>
              <a:rPr lang="fr-FR" sz="1200" dirty="0" err="1">
                <a:solidFill>
                  <a:srgbClr val="8F08C4"/>
                </a:solidFill>
                <a:effectLst/>
                <a:latin typeface="Cascadia Mono" panose="020B0609020000020004" pitchFamily="49" charset="0"/>
              </a:rPr>
              <a:t>await</a:t>
            </a:r>
            <a:r>
              <a:rPr lang="fr-FR" sz="1200" dirty="0">
                <a:solidFill>
                  <a:srgbClr val="000000"/>
                </a:solidFill>
                <a:effectLst/>
                <a:latin typeface="Cascadia Mono" panose="020B0609020000020004" pitchFamily="49" charset="0"/>
              </a:rPr>
              <a:t> </a:t>
            </a:r>
            <a:r>
              <a:rPr lang="fr-FR" sz="1200" dirty="0" err="1">
                <a:solidFill>
                  <a:srgbClr val="1F377F"/>
                </a:solidFill>
                <a:effectLst/>
                <a:latin typeface="Cascadia Mono" panose="020B0609020000020004" pitchFamily="49" charset="0"/>
              </a:rPr>
              <a:t>client</a:t>
            </a:r>
            <a:r>
              <a:rPr lang="fr-FR" sz="1200" dirty="0" err="1">
                <a:solidFill>
                  <a:srgbClr val="000000"/>
                </a:solidFill>
                <a:effectLst/>
                <a:latin typeface="Cascadia Mono" panose="020B0609020000020004" pitchFamily="49" charset="0"/>
              </a:rPr>
              <a:t>.</a:t>
            </a:r>
            <a:r>
              <a:rPr lang="fr-FR" sz="1200" dirty="0" err="1">
                <a:solidFill>
                  <a:srgbClr val="74531F"/>
                </a:solidFill>
                <a:effectLst/>
                <a:latin typeface="Cascadia Mono" panose="020B0609020000020004" pitchFamily="49" charset="0"/>
              </a:rPr>
              <a:t>SendMessageAsync</a:t>
            </a:r>
            <a:r>
              <a:rPr lang="fr-FR" sz="1200" dirty="0">
                <a:solidFill>
                  <a:srgbClr val="000000"/>
                </a:solidFill>
                <a:effectLst/>
                <a:latin typeface="Cascadia Mono" panose="020B0609020000020004" pitchFamily="49" charset="0"/>
              </a:rPr>
              <a:t>(</a:t>
            </a:r>
            <a:r>
              <a:rPr lang="fr-FR" sz="1200" dirty="0">
                <a:solidFill>
                  <a:srgbClr val="A31515"/>
                </a:solidFill>
                <a:effectLst/>
                <a:latin typeface="Cascadia Mono" panose="020B0609020000020004" pitchFamily="49" charset="0"/>
              </a:rPr>
              <a:t>"hello"</a:t>
            </a:r>
            <a:r>
              <a:rPr lang="fr-FR" sz="1200" dirty="0">
                <a:solidFill>
                  <a:srgbClr val="000000"/>
                </a:solidFill>
                <a:effectLst/>
                <a:latin typeface="Cascadia Mono" panose="020B0609020000020004" pitchFamily="49" charset="0"/>
              </a:rPr>
              <a:t>);</a:t>
            </a:r>
            <a:endParaRPr lang="fr-FR" sz="1200" dirty="0"/>
          </a:p>
        </p:txBody>
      </p:sp>
      <p:sp>
        <p:nvSpPr>
          <p:cNvPr id="15" name="ZoneTexte 14">
            <a:extLst>
              <a:ext uri="{FF2B5EF4-FFF2-40B4-BE49-F238E27FC236}">
                <a16:creationId xmlns:a16="http://schemas.microsoft.com/office/drawing/2014/main" id="{35B7720B-D5DD-E62C-55F8-7C84D00592F5}"/>
              </a:ext>
            </a:extLst>
          </p:cNvPr>
          <p:cNvSpPr txBox="1"/>
          <p:nvPr/>
        </p:nvSpPr>
        <p:spPr>
          <a:xfrm>
            <a:off x="179512" y="5048898"/>
            <a:ext cx="4653566" cy="1015663"/>
          </a:xfrm>
          <a:prstGeom prst="rect">
            <a:avLst/>
          </a:prstGeom>
          <a:noFill/>
        </p:spPr>
        <p:txBody>
          <a:bodyPr wrap="square">
            <a:spAutoFit/>
          </a:bodyPr>
          <a:lstStyle/>
          <a:p>
            <a:pPr>
              <a:buNone/>
            </a:pPr>
            <a:r>
              <a:rPr lang="en-US" sz="1200" dirty="0">
                <a:solidFill>
                  <a:srgbClr val="000000"/>
                </a:solidFill>
                <a:effectLst/>
                <a:latin typeface="Cascadia Mono" panose="020B0609020000020004" pitchFamily="49" charset="0"/>
              </a:rPr>
              <a:t>    [</a:t>
            </a:r>
            <a:r>
              <a:rPr lang="en-US" sz="1200" dirty="0" err="1">
                <a:solidFill>
                  <a:srgbClr val="2B91AF"/>
                </a:solidFill>
                <a:effectLst/>
                <a:latin typeface="Cascadia Mono" panose="020B0609020000020004" pitchFamily="49" charset="0"/>
              </a:rPr>
              <a:t>QueueOutput</a:t>
            </a:r>
            <a:r>
              <a:rPr lang="en-US" sz="1200" dirty="0">
                <a:solidFill>
                  <a:srgbClr val="000000"/>
                </a:solidFill>
                <a:effectLst/>
                <a:latin typeface="Cascadia Mono" panose="020B0609020000020004" pitchFamily="49" charset="0"/>
              </a:rPr>
              <a:t>(</a:t>
            </a:r>
            <a:r>
              <a:rPr lang="en-US" sz="1200" dirty="0">
                <a:solidFill>
                  <a:srgbClr val="A31515"/>
                </a:solidFill>
                <a:effectLst/>
                <a:latin typeface="Cascadia Mono" panose="020B0609020000020004" pitchFamily="49" charset="0"/>
              </a:rPr>
              <a:t>"</a:t>
            </a:r>
            <a:r>
              <a:rPr lang="en-US" sz="1200" dirty="0" err="1">
                <a:solidFill>
                  <a:srgbClr val="A31515"/>
                </a:solidFill>
                <a:effectLst/>
                <a:latin typeface="Cascadia Mono" panose="020B0609020000020004" pitchFamily="49" charset="0"/>
              </a:rPr>
              <a:t>maqueue</a:t>
            </a:r>
            <a:r>
              <a:rPr lang="en-US" sz="1200" dirty="0">
                <a:solidFill>
                  <a:srgbClr val="A31515"/>
                </a:solidFill>
                <a:effectLst/>
                <a:latin typeface="Cascadia Mono" panose="020B0609020000020004" pitchFamily="49" charset="0"/>
              </a:rPr>
              <a:t>"</a:t>
            </a:r>
            <a:r>
              <a:rPr lang="en-US" sz="1200" dirty="0">
                <a:solidFill>
                  <a:srgbClr val="000000"/>
                </a:solidFill>
                <a:effectLst/>
                <a:latin typeface="Cascadia Mono" panose="020B0609020000020004" pitchFamily="49" charset="0"/>
              </a:rPr>
              <a:t>)]</a:t>
            </a:r>
          </a:p>
          <a:p>
            <a:pPr>
              <a:buNone/>
            </a:pPr>
            <a:r>
              <a:rPr lang="en-US" sz="1200" dirty="0">
                <a:solidFill>
                  <a:srgbClr val="000000"/>
                </a:solidFill>
                <a:effectLst/>
                <a:latin typeface="Cascadia Mono" panose="020B0609020000020004" pitchFamily="49" charset="0"/>
              </a:rPr>
              <a:t>    </a:t>
            </a:r>
            <a:r>
              <a:rPr lang="en-US" sz="1200" dirty="0">
                <a:solidFill>
                  <a:srgbClr val="0000FF"/>
                </a:solidFill>
                <a:effectLst/>
                <a:latin typeface="Cascadia Mono" panose="020B0609020000020004" pitchFamily="49" charset="0"/>
              </a:rPr>
              <a:t>public</a:t>
            </a:r>
            <a:r>
              <a:rPr lang="en-US" sz="1200" dirty="0">
                <a:solidFill>
                  <a:srgbClr val="000000"/>
                </a:solidFill>
                <a:effectLst/>
                <a:latin typeface="Cascadia Mono" panose="020B0609020000020004" pitchFamily="49" charset="0"/>
              </a:rPr>
              <a:t> </a:t>
            </a:r>
            <a:r>
              <a:rPr lang="en-US" sz="1200" dirty="0">
                <a:solidFill>
                  <a:srgbClr val="0000FF"/>
                </a:solidFill>
                <a:effectLst/>
                <a:latin typeface="Cascadia Mono" panose="020B0609020000020004" pitchFamily="49" charset="0"/>
              </a:rPr>
              <a:t>string</a:t>
            </a:r>
            <a:r>
              <a:rPr lang="en-US" sz="1200" dirty="0">
                <a:solidFill>
                  <a:srgbClr val="000000"/>
                </a:solidFill>
                <a:effectLst/>
                <a:latin typeface="Cascadia Mono" panose="020B0609020000020004" pitchFamily="49" charset="0"/>
              </a:rPr>
              <a:t> </a:t>
            </a:r>
            <a:r>
              <a:rPr lang="en-US" sz="1200" dirty="0">
                <a:solidFill>
                  <a:srgbClr val="74531F"/>
                </a:solidFill>
                <a:effectLst/>
                <a:latin typeface="Cascadia Mono" panose="020B0609020000020004" pitchFamily="49" charset="0"/>
              </a:rPr>
              <a:t>Run</a:t>
            </a:r>
            <a:r>
              <a:rPr lang="en-US" sz="1200" dirty="0">
                <a:solidFill>
                  <a:srgbClr val="000000"/>
                </a:solidFill>
                <a:effectLst/>
                <a:latin typeface="Cascadia Mono" panose="020B0609020000020004" pitchFamily="49" charset="0"/>
              </a:rPr>
              <a:t>(...)</a:t>
            </a:r>
          </a:p>
          <a:p>
            <a:pPr>
              <a:buNone/>
            </a:pPr>
            <a:r>
              <a:rPr lang="en-US" sz="1200" dirty="0">
                <a:solidFill>
                  <a:srgbClr val="000000"/>
                </a:solidFill>
                <a:effectLst/>
                <a:latin typeface="Cascadia Mono" panose="020B0609020000020004" pitchFamily="49" charset="0"/>
              </a:rPr>
              <a:t>    {</a:t>
            </a:r>
          </a:p>
          <a:p>
            <a:pPr>
              <a:buNone/>
            </a:pPr>
            <a:r>
              <a:rPr lang="en-US" sz="1200" dirty="0">
                <a:solidFill>
                  <a:srgbClr val="000000"/>
                </a:solidFill>
                <a:effectLst/>
                <a:latin typeface="Cascadia Mono" panose="020B0609020000020004" pitchFamily="49" charset="0"/>
              </a:rPr>
              <a:t>        </a:t>
            </a:r>
            <a:r>
              <a:rPr lang="en-US" sz="1200" dirty="0">
                <a:solidFill>
                  <a:srgbClr val="8F08C4"/>
                </a:solidFill>
                <a:effectLst/>
                <a:latin typeface="Cascadia Mono" panose="020B0609020000020004" pitchFamily="49" charset="0"/>
              </a:rPr>
              <a:t>return</a:t>
            </a:r>
            <a:r>
              <a:rPr lang="en-US" sz="1200" dirty="0">
                <a:solidFill>
                  <a:srgbClr val="000000"/>
                </a:solidFill>
                <a:effectLst/>
                <a:latin typeface="Cascadia Mono" panose="020B0609020000020004" pitchFamily="49" charset="0"/>
              </a:rPr>
              <a:t> </a:t>
            </a:r>
            <a:r>
              <a:rPr lang="en-US" sz="1200" dirty="0">
                <a:solidFill>
                  <a:srgbClr val="A31515"/>
                </a:solidFill>
                <a:effectLst/>
                <a:latin typeface="Cascadia Mono" panose="020B0609020000020004" pitchFamily="49" charset="0"/>
              </a:rPr>
              <a:t>"hello"</a:t>
            </a:r>
            <a:r>
              <a:rPr lang="en-US" sz="1200" dirty="0">
                <a:solidFill>
                  <a:srgbClr val="000000"/>
                </a:solidFill>
                <a:effectLst/>
                <a:latin typeface="Cascadia Mono" panose="020B0609020000020004" pitchFamily="49" charset="0"/>
              </a:rPr>
              <a:t>;</a:t>
            </a:r>
          </a:p>
          <a:p>
            <a:pPr>
              <a:buNone/>
            </a:pPr>
            <a:r>
              <a:rPr lang="en-US" sz="1200" dirty="0">
                <a:solidFill>
                  <a:srgbClr val="000000"/>
                </a:solidFill>
                <a:effectLst/>
                <a:latin typeface="Cascadia Mono" panose="020B0609020000020004" pitchFamily="49" charset="0"/>
              </a:rPr>
              <a:t>    }</a:t>
            </a:r>
            <a:endParaRPr lang="fr-FR" sz="1200" dirty="0"/>
          </a:p>
        </p:txBody>
      </p:sp>
      <p:graphicFrame>
        <p:nvGraphicFramePr>
          <p:cNvPr id="16" name="Tableau 15">
            <a:extLst>
              <a:ext uri="{FF2B5EF4-FFF2-40B4-BE49-F238E27FC236}">
                <a16:creationId xmlns:a16="http://schemas.microsoft.com/office/drawing/2014/main" id="{228C342A-75F9-BBB6-D8D2-0AFAF5B82CA8}"/>
              </a:ext>
            </a:extLst>
          </p:cNvPr>
          <p:cNvGraphicFramePr>
            <a:graphicFrameLocks noGrp="1"/>
          </p:cNvGraphicFramePr>
          <p:nvPr>
            <p:extLst>
              <p:ext uri="{D42A27DB-BD31-4B8C-83A1-F6EECF244321}">
                <p14:modId xmlns:p14="http://schemas.microsoft.com/office/powerpoint/2010/main" val="2418479046"/>
              </p:ext>
            </p:extLst>
          </p:nvPr>
        </p:nvGraphicFramePr>
        <p:xfrm>
          <a:off x="3840428" y="4793315"/>
          <a:ext cx="5400600" cy="1203960"/>
        </p:xfrm>
        <a:graphic>
          <a:graphicData uri="http://schemas.openxmlformats.org/drawingml/2006/table">
            <a:tbl>
              <a:tblPr/>
              <a:tblGrid>
                <a:gridCol w="1800200">
                  <a:extLst>
                    <a:ext uri="{9D8B030D-6E8A-4147-A177-3AD203B41FA5}">
                      <a16:colId xmlns:a16="http://schemas.microsoft.com/office/drawing/2014/main" val="665652088"/>
                    </a:ext>
                  </a:extLst>
                </a:gridCol>
                <a:gridCol w="1800200">
                  <a:extLst>
                    <a:ext uri="{9D8B030D-6E8A-4147-A177-3AD203B41FA5}">
                      <a16:colId xmlns:a16="http://schemas.microsoft.com/office/drawing/2014/main" val="1318308423"/>
                    </a:ext>
                  </a:extLst>
                </a:gridCol>
                <a:gridCol w="1800200">
                  <a:extLst>
                    <a:ext uri="{9D8B030D-6E8A-4147-A177-3AD203B41FA5}">
                      <a16:colId xmlns:a16="http://schemas.microsoft.com/office/drawing/2014/main" val="1607395771"/>
                    </a:ext>
                  </a:extLst>
                </a:gridCol>
              </a:tblGrid>
              <a:tr h="0">
                <a:tc>
                  <a:txBody>
                    <a:bodyPr/>
                    <a:lstStyle/>
                    <a:p>
                      <a:pPr>
                        <a:buNone/>
                      </a:pPr>
                      <a:r>
                        <a:rPr lang="fr-FR" sz="1100" dirty="0"/>
                        <a:t>Type</a:t>
                      </a:r>
                    </a:p>
                  </a:txBody>
                  <a:tcPr anchor="ctr">
                    <a:lnL>
                      <a:noFill/>
                    </a:lnL>
                    <a:lnR>
                      <a:noFill/>
                    </a:lnR>
                    <a:lnT>
                      <a:noFill/>
                    </a:lnT>
                    <a:lnB>
                      <a:noFill/>
                    </a:lnB>
                    <a:noFill/>
                  </a:tcPr>
                </a:tc>
                <a:tc>
                  <a:txBody>
                    <a:bodyPr/>
                    <a:lstStyle/>
                    <a:p>
                      <a:pPr>
                        <a:buNone/>
                      </a:pPr>
                      <a:r>
                        <a:rPr lang="fr-FR" sz="1100"/>
                        <a:t>Rôle</a:t>
                      </a:r>
                    </a:p>
                  </a:txBody>
                  <a:tcPr anchor="ctr">
                    <a:lnL>
                      <a:noFill/>
                    </a:lnL>
                    <a:lnR>
                      <a:noFill/>
                    </a:lnR>
                    <a:lnT>
                      <a:noFill/>
                    </a:lnT>
                    <a:lnB>
                      <a:noFill/>
                    </a:lnB>
                    <a:noFill/>
                  </a:tcPr>
                </a:tc>
                <a:tc>
                  <a:txBody>
                    <a:bodyPr/>
                    <a:lstStyle/>
                    <a:p>
                      <a:pPr>
                        <a:buNone/>
                      </a:pPr>
                      <a:r>
                        <a:rPr lang="fr-FR" sz="1100" dirty="0"/>
                        <a:t>Exemple</a:t>
                      </a:r>
                    </a:p>
                  </a:txBody>
                  <a:tcPr anchor="ctr">
                    <a:lnL>
                      <a:noFill/>
                    </a:lnL>
                    <a:lnR>
                      <a:noFill/>
                    </a:lnR>
                    <a:lnT>
                      <a:noFill/>
                    </a:lnT>
                    <a:lnB>
                      <a:noFill/>
                    </a:lnB>
                    <a:noFill/>
                  </a:tcPr>
                </a:tc>
                <a:extLst>
                  <a:ext uri="{0D108BD9-81ED-4DB2-BD59-A6C34878D82A}">
                    <a16:rowId xmlns:a16="http://schemas.microsoft.com/office/drawing/2014/main" val="2134900448"/>
                  </a:ext>
                </a:extLst>
              </a:tr>
              <a:tr h="0">
                <a:tc>
                  <a:txBody>
                    <a:bodyPr/>
                    <a:lstStyle/>
                    <a:p>
                      <a:pPr>
                        <a:buNone/>
                      </a:pPr>
                      <a:r>
                        <a:rPr lang="fr-FR" sz="1100" b="1" dirty="0"/>
                        <a:t>Trigger</a:t>
                      </a:r>
                      <a:endParaRPr lang="fr-FR" sz="1100" dirty="0"/>
                    </a:p>
                  </a:txBody>
                  <a:tcPr anchor="ctr">
                    <a:lnL>
                      <a:noFill/>
                    </a:lnL>
                    <a:lnR>
                      <a:noFill/>
                    </a:lnR>
                    <a:lnT>
                      <a:noFill/>
                    </a:lnT>
                    <a:lnB>
                      <a:noFill/>
                    </a:lnB>
                    <a:noFill/>
                  </a:tcPr>
                </a:tc>
                <a:tc>
                  <a:txBody>
                    <a:bodyPr/>
                    <a:lstStyle/>
                    <a:p>
                      <a:pPr>
                        <a:buNone/>
                      </a:pPr>
                      <a:r>
                        <a:rPr lang="fr-FR" sz="1100" dirty="0"/>
                        <a:t>Démarre la fonction</a:t>
                      </a:r>
                    </a:p>
                  </a:txBody>
                  <a:tcPr anchor="ctr">
                    <a:lnL>
                      <a:noFill/>
                    </a:lnL>
                    <a:lnR>
                      <a:noFill/>
                    </a:lnR>
                    <a:lnT>
                      <a:noFill/>
                    </a:lnT>
                    <a:lnB>
                      <a:noFill/>
                    </a:lnB>
                    <a:noFill/>
                  </a:tcPr>
                </a:tc>
                <a:tc>
                  <a:txBody>
                    <a:bodyPr/>
                    <a:lstStyle/>
                    <a:p>
                      <a:pPr>
                        <a:buNone/>
                      </a:pPr>
                      <a:r>
                        <a:rPr lang="fr-FR" sz="1100" dirty="0"/>
                        <a:t>HTTP, Queue, </a:t>
                      </a:r>
                      <a:r>
                        <a:rPr lang="fr-FR" sz="1100" dirty="0" err="1"/>
                        <a:t>Timer</a:t>
                      </a:r>
                      <a:endParaRPr lang="fr-FR" sz="1100" dirty="0"/>
                    </a:p>
                  </a:txBody>
                  <a:tcPr anchor="ctr">
                    <a:lnL>
                      <a:noFill/>
                    </a:lnL>
                    <a:lnR>
                      <a:noFill/>
                    </a:lnR>
                    <a:lnT>
                      <a:noFill/>
                    </a:lnT>
                    <a:lnB>
                      <a:noFill/>
                    </a:lnB>
                    <a:noFill/>
                  </a:tcPr>
                </a:tc>
                <a:extLst>
                  <a:ext uri="{0D108BD9-81ED-4DB2-BD59-A6C34878D82A}">
                    <a16:rowId xmlns:a16="http://schemas.microsoft.com/office/drawing/2014/main" val="3981427909"/>
                  </a:ext>
                </a:extLst>
              </a:tr>
              <a:tr h="0">
                <a:tc>
                  <a:txBody>
                    <a:bodyPr/>
                    <a:lstStyle/>
                    <a:p>
                      <a:pPr>
                        <a:buNone/>
                      </a:pPr>
                      <a:r>
                        <a:rPr lang="fr-FR" sz="1100" b="1"/>
                        <a:t>Input binding</a:t>
                      </a:r>
                      <a:endParaRPr lang="fr-FR" sz="1100"/>
                    </a:p>
                  </a:txBody>
                  <a:tcPr anchor="ctr">
                    <a:lnL>
                      <a:noFill/>
                    </a:lnL>
                    <a:lnR>
                      <a:noFill/>
                    </a:lnR>
                    <a:lnT>
                      <a:noFill/>
                    </a:lnT>
                    <a:lnB>
                      <a:noFill/>
                    </a:lnB>
                    <a:noFill/>
                  </a:tcPr>
                </a:tc>
                <a:tc>
                  <a:txBody>
                    <a:bodyPr/>
                    <a:lstStyle/>
                    <a:p>
                      <a:pPr>
                        <a:buNone/>
                      </a:pPr>
                      <a:r>
                        <a:rPr lang="fr-FR" sz="1100" dirty="0"/>
                        <a:t>Lit des données</a:t>
                      </a:r>
                    </a:p>
                  </a:txBody>
                  <a:tcPr anchor="ctr">
                    <a:lnL>
                      <a:noFill/>
                    </a:lnL>
                    <a:lnR>
                      <a:noFill/>
                    </a:lnR>
                    <a:lnT>
                      <a:noFill/>
                    </a:lnT>
                    <a:lnB>
                      <a:noFill/>
                    </a:lnB>
                    <a:noFill/>
                  </a:tcPr>
                </a:tc>
                <a:tc>
                  <a:txBody>
                    <a:bodyPr/>
                    <a:lstStyle/>
                    <a:p>
                      <a:pPr>
                        <a:buNone/>
                      </a:pPr>
                      <a:r>
                        <a:rPr lang="fr-FR" sz="1100" dirty="0"/>
                        <a:t>Lire un blob, lire une queue</a:t>
                      </a:r>
                    </a:p>
                  </a:txBody>
                  <a:tcPr anchor="ctr">
                    <a:lnL>
                      <a:noFill/>
                    </a:lnL>
                    <a:lnR>
                      <a:noFill/>
                    </a:lnR>
                    <a:lnT>
                      <a:noFill/>
                    </a:lnT>
                    <a:lnB>
                      <a:noFill/>
                    </a:lnB>
                    <a:noFill/>
                  </a:tcPr>
                </a:tc>
                <a:extLst>
                  <a:ext uri="{0D108BD9-81ED-4DB2-BD59-A6C34878D82A}">
                    <a16:rowId xmlns:a16="http://schemas.microsoft.com/office/drawing/2014/main" val="3258313721"/>
                  </a:ext>
                </a:extLst>
              </a:tr>
              <a:tr h="0">
                <a:tc>
                  <a:txBody>
                    <a:bodyPr/>
                    <a:lstStyle/>
                    <a:p>
                      <a:pPr>
                        <a:buNone/>
                      </a:pPr>
                      <a:r>
                        <a:rPr lang="fr-FR" sz="1100" b="1"/>
                        <a:t>Output binding</a:t>
                      </a:r>
                      <a:endParaRPr lang="fr-FR" sz="1100"/>
                    </a:p>
                  </a:txBody>
                  <a:tcPr anchor="ctr">
                    <a:lnL>
                      <a:noFill/>
                    </a:lnL>
                    <a:lnR>
                      <a:noFill/>
                    </a:lnR>
                    <a:lnT>
                      <a:noFill/>
                    </a:lnT>
                    <a:lnB>
                      <a:noFill/>
                    </a:lnB>
                    <a:noFill/>
                  </a:tcPr>
                </a:tc>
                <a:tc>
                  <a:txBody>
                    <a:bodyPr/>
                    <a:lstStyle/>
                    <a:p>
                      <a:pPr>
                        <a:buNone/>
                      </a:pPr>
                      <a:r>
                        <a:rPr lang="fr-FR" sz="1100" dirty="0"/>
                        <a:t>Écrit des données</a:t>
                      </a:r>
                    </a:p>
                  </a:txBody>
                  <a:tcPr anchor="ctr">
                    <a:lnL>
                      <a:noFill/>
                    </a:lnL>
                    <a:lnR>
                      <a:noFill/>
                    </a:lnR>
                    <a:lnT>
                      <a:noFill/>
                    </a:lnT>
                    <a:lnB>
                      <a:noFill/>
                    </a:lnB>
                    <a:noFill/>
                  </a:tcPr>
                </a:tc>
                <a:tc>
                  <a:txBody>
                    <a:bodyPr/>
                    <a:lstStyle/>
                    <a:p>
                      <a:pPr>
                        <a:buNone/>
                      </a:pPr>
                      <a:r>
                        <a:rPr lang="fr-FR" sz="1100" dirty="0"/>
                        <a:t>Écrire dans queue, blob</a:t>
                      </a:r>
                    </a:p>
                  </a:txBody>
                  <a:tcPr anchor="ctr">
                    <a:lnL>
                      <a:noFill/>
                    </a:lnL>
                    <a:lnR>
                      <a:noFill/>
                    </a:lnR>
                    <a:lnT>
                      <a:noFill/>
                    </a:lnT>
                    <a:lnB>
                      <a:noFill/>
                    </a:lnB>
                    <a:noFill/>
                  </a:tcPr>
                </a:tc>
                <a:extLst>
                  <a:ext uri="{0D108BD9-81ED-4DB2-BD59-A6C34878D82A}">
                    <a16:rowId xmlns:a16="http://schemas.microsoft.com/office/drawing/2014/main" val="2962867298"/>
                  </a:ext>
                </a:extLst>
              </a:tr>
            </a:tbl>
          </a:graphicData>
        </a:graphic>
      </p:graphicFrame>
      <p:sp>
        <p:nvSpPr>
          <p:cNvPr id="17" name="Rectangle 1">
            <a:extLst>
              <a:ext uri="{FF2B5EF4-FFF2-40B4-BE49-F238E27FC236}">
                <a16:creationId xmlns:a16="http://schemas.microsoft.com/office/drawing/2014/main" id="{8E4A391D-1AF4-0682-9634-CF67F92FC127}"/>
              </a:ext>
            </a:extLst>
          </p:cNvPr>
          <p:cNvSpPr>
            <a:spLocks noChangeArrowheads="1"/>
          </p:cNvSpPr>
          <p:nvPr/>
        </p:nvSpPr>
        <p:spPr bwMode="auto">
          <a:xfrm>
            <a:off x="4884544" y="4437112"/>
            <a:ext cx="2799164"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1" i="0" u="none" strike="noStrike" cap="none" normalizeH="0" baseline="0" dirty="0">
                <a:ln>
                  <a:noFill/>
                </a:ln>
                <a:solidFill>
                  <a:schemeClr val="tx1"/>
                </a:solidFill>
                <a:effectLst/>
                <a:latin typeface="Arial" panose="020B0604020202020204" pitchFamily="34" charset="0"/>
              </a:rPr>
              <a:t>🎯 Les 3 types de bindings à connaître :</a:t>
            </a:r>
            <a:endParaRPr kumimoji="0" lang="fr-FR" altLang="fr-FR" sz="3600" b="0" i="0" u="none" strike="noStrike" cap="none" normalizeH="0" baseline="0" dirty="0">
              <a:ln>
                <a:noFill/>
              </a:ln>
              <a:solidFill>
                <a:schemeClr val="tx1"/>
              </a:solidFill>
              <a:effectLst/>
              <a:latin typeface="Arial" panose="020B0604020202020204" pitchFamily="34" charset="0"/>
            </a:endParaRPr>
          </a:p>
        </p:txBody>
      </p:sp>
      <p:sp>
        <p:nvSpPr>
          <p:cNvPr id="19" name="ZoneTexte 18">
            <a:extLst>
              <a:ext uri="{FF2B5EF4-FFF2-40B4-BE49-F238E27FC236}">
                <a16:creationId xmlns:a16="http://schemas.microsoft.com/office/drawing/2014/main" id="{54264EC8-034F-6D50-41C2-9D0805FBD84E}"/>
              </a:ext>
            </a:extLst>
          </p:cNvPr>
          <p:cNvSpPr txBox="1"/>
          <p:nvPr/>
        </p:nvSpPr>
        <p:spPr>
          <a:xfrm>
            <a:off x="-156638" y="6528802"/>
            <a:ext cx="9457275" cy="276999"/>
          </a:xfrm>
          <a:prstGeom prst="rect">
            <a:avLst/>
          </a:prstGeom>
          <a:noFill/>
        </p:spPr>
        <p:txBody>
          <a:bodyPr wrap="square">
            <a:spAutoFit/>
          </a:bodyPr>
          <a:lstStyle/>
          <a:p>
            <a:r>
              <a:rPr lang="fr-FR" sz="1200" dirty="0">
                <a:solidFill>
                  <a:srgbClr val="000000"/>
                </a:solidFill>
                <a:effectLst/>
                <a:latin typeface="Cascadia Mono" panose="020B0609020000020004" pitchFamily="49" charset="0"/>
              </a:rPr>
              <a:t> </a:t>
            </a:r>
            <a:r>
              <a:rPr lang="fr-FR" sz="1200" dirty="0">
                <a:solidFill>
                  <a:srgbClr val="0000FF"/>
                </a:solidFill>
                <a:effectLst/>
                <a:latin typeface="Cascadia Mono" panose="020B0609020000020004" pitchFamily="49" charset="0"/>
              </a:rPr>
              <a:t>public</a:t>
            </a:r>
            <a:r>
              <a:rPr lang="fr-FR" sz="1200" dirty="0">
                <a:solidFill>
                  <a:srgbClr val="000000"/>
                </a:solidFill>
                <a:effectLst/>
                <a:latin typeface="Cascadia Mono" panose="020B0609020000020004" pitchFamily="49" charset="0"/>
              </a:rPr>
              <a:t> </a:t>
            </a:r>
            <a:r>
              <a:rPr lang="fr-FR" sz="1200" dirty="0" err="1">
                <a:solidFill>
                  <a:srgbClr val="0000FF"/>
                </a:solidFill>
                <a:effectLst/>
                <a:latin typeface="Cascadia Mono" panose="020B0609020000020004" pitchFamily="49" charset="0"/>
              </a:rPr>
              <a:t>void</a:t>
            </a:r>
            <a:r>
              <a:rPr lang="fr-FR" sz="1200" dirty="0">
                <a:solidFill>
                  <a:srgbClr val="000000"/>
                </a:solidFill>
                <a:effectLst/>
                <a:latin typeface="Cascadia Mono" panose="020B0609020000020004" pitchFamily="49" charset="0"/>
              </a:rPr>
              <a:t> </a:t>
            </a:r>
            <a:r>
              <a:rPr lang="fr-FR" sz="1200" dirty="0">
                <a:solidFill>
                  <a:srgbClr val="74531F"/>
                </a:solidFill>
                <a:effectLst/>
                <a:latin typeface="Cascadia Mono" panose="020B0609020000020004" pitchFamily="49" charset="0"/>
              </a:rPr>
              <a:t>Run</a:t>
            </a:r>
            <a:r>
              <a:rPr lang="fr-FR" sz="1200" dirty="0">
                <a:solidFill>
                  <a:srgbClr val="000000"/>
                </a:solidFill>
                <a:effectLst/>
                <a:latin typeface="Cascadia Mono" panose="020B0609020000020004" pitchFamily="49" charset="0"/>
              </a:rPr>
              <a:t>([</a:t>
            </a:r>
            <a:r>
              <a:rPr lang="fr-FR" sz="1200" dirty="0" err="1">
                <a:solidFill>
                  <a:srgbClr val="2B91AF"/>
                </a:solidFill>
                <a:effectLst/>
                <a:latin typeface="Cascadia Mono" panose="020B0609020000020004" pitchFamily="49" charset="0"/>
              </a:rPr>
              <a:t>QueueTrigger</a:t>
            </a:r>
            <a:r>
              <a:rPr lang="fr-FR" sz="1200" dirty="0">
                <a:solidFill>
                  <a:srgbClr val="000000"/>
                </a:solidFill>
                <a:effectLst/>
                <a:latin typeface="Cascadia Mono" panose="020B0609020000020004" pitchFamily="49" charset="0"/>
              </a:rPr>
              <a:t>(</a:t>
            </a:r>
            <a:r>
              <a:rPr lang="fr-FR" sz="1200" dirty="0">
                <a:solidFill>
                  <a:srgbClr val="A31515"/>
                </a:solidFill>
                <a:effectLst/>
                <a:latin typeface="Cascadia Mono" panose="020B0609020000020004" pitchFamily="49" charset="0"/>
              </a:rPr>
              <a:t>"quiz-queue"</a:t>
            </a:r>
            <a:r>
              <a:rPr lang="fr-FR" sz="1200" dirty="0">
                <a:solidFill>
                  <a:srgbClr val="000000"/>
                </a:solidFill>
                <a:effectLst/>
                <a:latin typeface="Cascadia Mono" panose="020B0609020000020004" pitchFamily="49" charset="0"/>
              </a:rPr>
              <a:t>, Connection = </a:t>
            </a:r>
            <a:r>
              <a:rPr lang="fr-FR" sz="1200" dirty="0">
                <a:solidFill>
                  <a:srgbClr val="A31515"/>
                </a:solidFill>
                <a:effectLst/>
                <a:latin typeface="Cascadia Mono" panose="020B0609020000020004" pitchFamily="49" charset="0"/>
              </a:rPr>
              <a:t>"</a:t>
            </a:r>
            <a:r>
              <a:rPr lang="fr-FR" sz="1200" dirty="0" err="1">
                <a:solidFill>
                  <a:srgbClr val="A31515"/>
                </a:solidFill>
                <a:effectLst/>
                <a:latin typeface="Cascadia Mono" panose="020B0609020000020004" pitchFamily="49" charset="0"/>
              </a:rPr>
              <a:t>AzureWebJobsStorage</a:t>
            </a:r>
            <a:r>
              <a:rPr lang="fr-FR" sz="1200" dirty="0">
                <a:solidFill>
                  <a:srgbClr val="A31515"/>
                </a:solidFill>
                <a:effectLst/>
                <a:latin typeface="Cascadia Mono" panose="020B0609020000020004" pitchFamily="49" charset="0"/>
              </a:rPr>
              <a:t>"</a:t>
            </a:r>
            <a:r>
              <a:rPr lang="fr-FR" sz="1200" dirty="0">
                <a:solidFill>
                  <a:srgbClr val="000000"/>
                </a:solidFill>
                <a:effectLst/>
                <a:latin typeface="Cascadia Mono" panose="020B0609020000020004" pitchFamily="49" charset="0"/>
              </a:rPr>
              <a:t>)] </a:t>
            </a:r>
            <a:r>
              <a:rPr lang="fr-FR" sz="1200" dirty="0" err="1">
                <a:solidFill>
                  <a:srgbClr val="2B91AF"/>
                </a:solidFill>
                <a:effectLst/>
                <a:latin typeface="Cascadia Mono" panose="020B0609020000020004" pitchFamily="49" charset="0"/>
              </a:rPr>
              <a:t>QueueMessage</a:t>
            </a:r>
            <a:r>
              <a:rPr lang="fr-FR" sz="1200" dirty="0">
                <a:solidFill>
                  <a:srgbClr val="000000"/>
                </a:solidFill>
                <a:effectLst/>
                <a:latin typeface="Cascadia Mono" panose="020B0609020000020004" pitchFamily="49" charset="0"/>
              </a:rPr>
              <a:t> </a:t>
            </a:r>
            <a:r>
              <a:rPr lang="fr-FR" sz="1200" dirty="0">
                <a:solidFill>
                  <a:srgbClr val="1F377F"/>
                </a:solidFill>
                <a:effectLst/>
                <a:latin typeface="Cascadia Mono" panose="020B0609020000020004" pitchFamily="49" charset="0"/>
              </a:rPr>
              <a:t>message</a:t>
            </a:r>
            <a:r>
              <a:rPr lang="fr-FR" sz="1200" dirty="0">
                <a:solidFill>
                  <a:srgbClr val="000000"/>
                </a:solidFill>
                <a:effectLst/>
                <a:latin typeface="Cascadia Mono" panose="020B0609020000020004" pitchFamily="49" charset="0"/>
              </a:rPr>
              <a:t>)</a:t>
            </a:r>
            <a:endParaRPr lang="fr-F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12" grpId="0"/>
      <p:bldP spid="15" grpId="0"/>
      <p:bldP spid="17" grpId="0"/>
      <p:bldP spid="1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4 bis</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l’avantage principal des bindings ?</a:t>
            </a:r>
            <a:endParaRPr lang="fr-FR" sz="2000" dirty="0"/>
          </a:p>
          <a:p>
            <a:pPr marL="457200" indent="-457200">
              <a:buFont typeface="+mj-lt"/>
              <a:buAutoNum type="arabicPeriod"/>
              <a:defRPr sz="2400"/>
            </a:pPr>
            <a:r>
              <a:rPr lang="fr-FR" sz="2000" dirty="0"/>
              <a:t>Moins de sécurité</a:t>
            </a:r>
          </a:p>
          <a:p>
            <a:pPr marL="457200" indent="-457200">
              <a:buFont typeface="+mj-lt"/>
              <a:buAutoNum type="arabicPeriod"/>
              <a:defRPr sz="2400"/>
            </a:pPr>
            <a:r>
              <a:rPr lang="fr-FR" sz="2000" dirty="0"/>
              <a:t>Moins de code technique</a:t>
            </a:r>
          </a:p>
          <a:p>
            <a:pPr marL="457200" indent="-457200">
              <a:buFont typeface="+mj-lt"/>
              <a:buAutoNum type="arabicPeriod"/>
              <a:defRPr sz="2400"/>
            </a:pPr>
            <a:r>
              <a:rPr lang="fr-FR" sz="2000" dirty="0"/>
              <a:t>Plus de logs</a:t>
            </a:r>
          </a:p>
          <a:p>
            <a:pPr marL="457200" indent="-457200">
              <a:buFont typeface="+mj-lt"/>
              <a:buAutoNum type="arabicPeriod"/>
              <a:defRPr sz="2400"/>
            </a:pPr>
            <a:r>
              <a:rPr lang="fr-FR" sz="2000" dirty="0"/>
              <a:t>Plus de CPU</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Les bindings simplifient le code.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1954948"/>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83381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3D26A-8399-8142-0DA0-57F17DEB7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D1FF0-4AD2-5DF2-FE03-65A3AD248414}"/>
              </a:ext>
            </a:extLst>
          </p:cNvPr>
          <p:cNvSpPr>
            <a:spLocks noGrp="1"/>
          </p:cNvSpPr>
          <p:nvPr>
            <p:ph type="title"/>
          </p:nvPr>
        </p:nvSpPr>
        <p:spPr/>
        <p:txBody>
          <a:bodyPr/>
          <a:lstStyle/>
          <a:p>
            <a:pPr>
              <a:defRPr sz="3600" b="1">
                <a:solidFill>
                  <a:srgbClr val="FFFFFF"/>
                </a:solidFill>
              </a:defRPr>
            </a:pPr>
            <a:r>
              <a:rPr lang="fr-FR" dirty="0"/>
              <a:t>Question 5</a:t>
            </a:r>
          </a:p>
        </p:txBody>
      </p:sp>
      <p:sp>
        <p:nvSpPr>
          <p:cNvPr id="3" name="Content Placeholder 2">
            <a:extLst>
              <a:ext uri="{FF2B5EF4-FFF2-40B4-BE49-F238E27FC236}">
                <a16:creationId xmlns:a16="http://schemas.microsoft.com/office/drawing/2014/main" id="{8D7B9F00-5409-1223-91E5-F88D9989C109}"/>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2400" dirty="0"/>
              <a:t>Quel est le comportement de la fonction Azure suivante ?</a:t>
            </a:r>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a:buFont typeface="+mj-lt"/>
              <a:buAutoNum type="arabicPeriod"/>
            </a:pPr>
            <a:r>
              <a:rPr lang="fr-FR" sz="2000" dirty="0"/>
              <a:t>Elle est déclenchée par une requête HTTP et écrit dans une queue</a:t>
            </a:r>
          </a:p>
          <a:p>
            <a:pPr>
              <a:buFont typeface="+mj-lt"/>
              <a:buAutoNum type="arabicPeriod"/>
            </a:pPr>
            <a:r>
              <a:rPr lang="fr-FR" sz="2000" dirty="0"/>
              <a:t>Elle lit un message depuis une queue et écrit dans une autre queue</a:t>
            </a:r>
          </a:p>
          <a:p>
            <a:pPr>
              <a:buFont typeface="+mj-lt"/>
              <a:buAutoNum type="arabicPeriod"/>
            </a:pPr>
            <a:r>
              <a:rPr lang="fr-FR" sz="2000" dirty="0"/>
              <a:t>Elle écrit uniquement dans une queue sans déclencheur</a:t>
            </a:r>
          </a:p>
          <a:p>
            <a:pPr>
              <a:buFont typeface="+mj-lt"/>
              <a:buAutoNum type="arabicPeriod"/>
            </a:pPr>
            <a:r>
              <a:rPr lang="fr-FR" sz="2000" dirty="0"/>
              <a:t>Elle lit et écrit dans la même queue</a:t>
            </a:r>
          </a:p>
        </p:txBody>
      </p:sp>
      <p:sp>
        <p:nvSpPr>
          <p:cNvPr id="4" name="Content Placeholder 2">
            <a:extLst>
              <a:ext uri="{FF2B5EF4-FFF2-40B4-BE49-F238E27FC236}">
                <a16:creationId xmlns:a16="http://schemas.microsoft.com/office/drawing/2014/main" id="{786A5872-B06F-FA4C-5F7A-50EB4EC0D81B}"/>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209FBE1F-0A2B-8B54-A073-B334C89CCF8D}"/>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2</a:t>
            </a:r>
          </a:p>
          <a:p>
            <a:endParaRPr lang="fr-FR" dirty="0"/>
          </a:p>
        </p:txBody>
      </p:sp>
      <p:sp>
        <p:nvSpPr>
          <p:cNvPr id="6" name="ZoneTexte 5">
            <a:extLst>
              <a:ext uri="{FF2B5EF4-FFF2-40B4-BE49-F238E27FC236}">
                <a16:creationId xmlns:a16="http://schemas.microsoft.com/office/drawing/2014/main" id="{2C712103-A5F8-397A-B05D-98EA5752A3A3}"/>
              </a:ext>
            </a:extLst>
          </p:cNvPr>
          <p:cNvSpPr txBox="1"/>
          <p:nvPr/>
        </p:nvSpPr>
        <p:spPr>
          <a:xfrm>
            <a:off x="7225" y="3703635"/>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60E0AC48-DF47-9679-6B93-71ED48E2F74E}"/>
              </a:ext>
            </a:extLst>
          </p:cNvPr>
          <p:cNvSpPr txBox="1"/>
          <p:nvPr/>
        </p:nvSpPr>
        <p:spPr>
          <a:xfrm>
            <a:off x="323528" y="5058802"/>
            <a:ext cx="6879319" cy="1569660"/>
          </a:xfrm>
          <a:prstGeom prst="rect">
            <a:avLst/>
          </a:prstGeom>
          <a:noFill/>
        </p:spPr>
        <p:txBody>
          <a:bodyPr wrap="none" rtlCol="0">
            <a:spAutoFit/>
          </a:bodyPr>
          <a:lstStyle/>
          <a:p>
            <a:r>
              <a:rPr lang="fr-FR" sz="1600" b="1" dirty="0"/>
              <a:t>💡 Explication</a:t>
            </a:r>
          </a:p>
          <a:p>
            <a:r>
              <a:rPr lang="fr-FR" sz="1600" dirty="0">
                <a:solidFill>
                  <a:srgbClr val="000000"/>
                </a:solidFill>
                <a:latin typeface="Cascadia Mono" panose="020B0609020000020004" pitchFamily="49" charset="0"/>
              </a:rPr>
              <a:t>[</a:t>
            </a:r>
            <a:r>
              <a:rPr lang="fr-FR" sz="1600" dirty="0" err="1">
                <a:solidFill>
                  <a:srgbClr val="2B91AF"/>
                </a:solidFill>
                <a:latin typeface="Cascadia Mono" panose="020B0609020000020004" pitchFamily="49" charset="0"/>
              </a:rPr>
              <a:t>QueueTrigger</a:t>
            </a:r>
            <a:r>
              <a:rPr lang="fr-FR" sz="1600" dirty="0">
                <a:solidFill>
                  <a:srgbClr val="000000"/>
                </a:solidFill>
                <a:latin typeface="Cascadia Mono" panose="020B0609020000020004" pitchFamily="49" charset="0"/>
              </a:rPr>
              <a:t>(</a:t>
            </a:r>
            <a:r>
              <a:rPr lang="fr-FR" sz="1600" dirty="0">
                <a:solidFill>
                  <a:srgbClr val="A31515"/>
                </a:solidFill>
                <a:latin typeface="Cascadia Mono" panose="020B0609020000020004" pitchFamily="49" charset="0"/>
              </a:rPr>
              <a:t>"</a:t>
            </a:r>
            <a:r>
              <a:rPr lang="fr-FR" sz="1600" dirty="0" err="1">
                <a:solidFill>
                  <a:srgbClr val="A31515"/>
                </a:solidFill>
                <a:latin typeface="Cascadia Mono" panose="020B0609020000020004" pitchFamily="49" charset="0"/>
              </a:rPr>
              <a:t>orders</a:t>
            </a:r>
            <a:r>
              <a:rPr lang="fr-FR" sz="1600" dirty="0">
                <a:solidFill>
                  <a:srgbClr val="A31515"/>
                </a:solidFill>
                <a:latin typeface="Cascadia Mono" panose="020B0609020000020004" pitchFamily="49" charset="0"/>
              </a:rPr>
              <a:t>"</a:t>
            </a:r>
            <a:r>
              <a:rPr lang="fr-FR" sz="1600" dirty="0">
                <a:solidFill>
                  <a:srgbClr val="000000"/>
                </a:solidFill>
                <a:latin typeface="Cascadia Mono" panose="020B0609020000020004" pitchFamily="49" charset="0"/>
              </a:rPr>
              <a:t>)]</a:t>
            </a:r>
            <a:br>
              <a:rPr lang="fr-FR" sz="1600" dirty="0"/>
            </a:br>
            <a:r>
              <a:rPr lang="fr-FR" sz="1600" dirty="0"/>
              <a:t>👉 </a:t>
            </a:r>
            <a:r>
              <a:rPr lang="fr-FR" sz="1600" b="1" dirty="0"/>
              <a:t>déclenche la fonction</a:t>
            </a:r>
            <a:r>
              <a:rPr lang="fr-FR" sz="1600" dirty="0"/>
              <a:t> lorsqu’un message arrive dans la queue </a:t>
            </a:r>
            <a:r>
              <a:rPr lang="fr-FR" sz="1600" dirty="0" err="1"/>
              <a:t>orders</a:t>
            </a:r>
            <a:r>
              <a:rPr lang="fr-FR" sz="1600" dirty="0"/>
              <a:t> </a:t>
            </a:r>
          </a:p>
          <a:p>
            <a:r>
              <a:rPr lang="fr-FR" sz="1600" dirty="0">
                <a:solidFill>
                  <a:srgbClr val="000000"/>
                </a:solidFill>
                <a:latin typeface="Cascadia Mono" panose="020B0609020000020004" pitchFamily="49" charset="0"/>
              </a:rPr>
              <a:t>[</a:t>
            </a:r>
            <a:r>
              <a:rPr lang="fr-FR" sz="1600" dirty="0">
                <a:solidFill>
                  <a:srgbClr val="2B91AF"/>
                </a:solidFill>
                <a:latin typeface="Cascadia Mono" panose="020B0609020000020004" pitchFamily="49" charset="0"/>
              </a:rPr>
              <a:t>Queue</a:t>
            </a:r>
            <a:r>
              <a:rPr lang="fr-FR" sz="1600" dirty="0">
                <a:solidFill>
                  <a:srgbClr val="000000"/>
                </a:solidFill>
                <a:latin typeface="Cascadia Mono" panose="020B0609020000020004" pitchFamily="49" charset="0"/>
              </a:rPr>
              <a:t>(</a:t>
            </a:r>
            <a:r>
              <a:rPr lang="fr-FR" sz="1600" dirty="0">
                <a:solidFill>
                  <a:srgbClr val="A31515"/>
                </a:solidFill>
                <a:latin typeface="Cascadia Mono" panose="020B0609020000020004" pitchFamily="49" charset="0"/>
              </a:rPr>
              <a:t>"</a:t>
            </a:r>
            <a:r>
              <a:rPr lang="fr-FR" sz="1600" dirty="0" err="1">
                <a:solidFill>
                  <a:srgbClr val="A31515"/>
                </a:solidFill>
                <a:latin typeface="Cascadia Mono" panose="020B0609020000020004" pitchFamily="49" charset="0"/>
              </a:rPr>
              <a:t>processed-orders</a:t>
            </a:r>
            <a:r>
              <a:rPr lang="fr-FR" sz="1600" dirty="0">
                <a:solidFill>
                  <a:srgbClr val="A31515"/>
                </a:solidFill>
                <a:latin typeface="Cascadia Mono" panose="020B0609020000020004" pitchFamily="49" charset="0"/>
              </a:rPr>
              <a:t>"</a:t>
            </a:r>
            <a:r>
              <a:rPr lang="fr-FR" sz="1600" dirty="0">
                <a:solidFill>
                  <a:srgbClr val="000000"/>
                </a:solidFill>
                <a:latin typeface="Cascadia Mono" panose="020B0609020000020004" pitchFamily="49" charset="0"/>
              </a:rPr>
              <a:t>)]</a:t>
            </a:r>
            <a:br>
              <a:rPr lang="fr-FR" sz="1600" dirty="0"/>
            </a:br>
            <a:r>
              <a:rPr lang="fr-FR" sz="1600" dirty="0"/>
              <a:t>👉 </a:t>
            </a:r>
            <a:r>
              <a:rPr lang="fr-FR" sz="1600" b="1" dirty="0"/>
              <a:t>output binding</a:t>
            </a:r>
            <a:r>
              <a:rPr lang="fr-FR" sz="1600" dirty="0"/>
              <a:t> → écrit automatiquement dans une autre queue</a:t>
            </a:r>
          </a:p>
          <a:p>
            <a:endParaRPr lang="fr-FR" sz="1600" dirty="0"/>
          </a:p>
        </p:txBody>
      </p:sp>
      <p:sp>
        <p:nvSpPr>
          <p:cNvPr id="10" name="ZoneTexte 9">
            <a:extLst>
              <a:ext uri="{FF2B5EF4-FFF2-40B4-BE49-F238E27FC236}">
                <a16:creationId xmlns:a16="http://schemas.microsoft.com/office/drawing/2014/main" id="{C16865DE-A7F3-9ECF-F909-A5AD20AD7B43}"/>
              </a:ext>
            </a:extLst>
          </p:cNvPr>
          <p:cNvSpPr txBox="1"/>
          <p:nvPr/>
        </p:nvSpPr>
        <p:spPr>
          <a:xfrm>
            <a:off x="755576" y="1526375"/>
            <a:ext cx="6624736" cy="1754326"/>
          </a:xfrm>
          <a:prstGeom prst="rect">
            <a:avLst/>
          </a:prstGeom>
          <a:noFill/>
        </p:spPr>
        <p:txBody>
          <a:bodyPr wrap="square">
            <a:spAutoFit/>
          </a:bodyPr>
          <a:lstStyle/>
          <a:p>
            <a:pPr>
              <a:buNone/>
            </a:pPr>
            <a:r>
              <a:rPr lang="fr-FR" sz="1200" dirty="0">
                <a:solidFill>
                  <a:srgbClr val="000000"/>
                </a:solidFill>
                <a:effectLst/>
                <a:latin typeface="Cascadia Mono" panose="020B0609020000020004" pitchFamily="49" charset="0"/>
              </a:rPr>
              <a:t> [</a:t>
            </a:r>
            <a:r>
              <a:rPr lang="fr-FR" sz="1200" dirty="0" err="1">
                <a:solidFill>
                  <a:srgbClr val="2B91AF"/>
                </a:solidFill>
                <a:effectLst/>
                <a:latin typeface="Cascadia Mono" panose="020B0609020000020004" pitchFamily="49" charset="0"/>
              </a:rPr>
              <a:t>Function</a:t>
            </a:r>
            <a:r>
              <a:rPr lang="fr-FR" sz="1200" dirty="0">
                <a:solidFill>
                  <a:srgbClr val="000000"/>
                </a:solidFill>
                <a:effectLst/>
                <a:latin typeface="Cascadia Mono" panose="020B0609020000020004" pitchFamily="49" charset="0"/>
              </a:rPr>
              <a:t>(</a:t>
            </a:r>
            <a:r>
              <a:rPr lang="fr-FR" sz="1200" dirty="0">
                <a:solidFill>
                  <a:srgbClr val="A31515"/>
                </a:solidFill>
                <a:effectLst/>
                <a:latin typeface="Cascadia Mono" panose="020B0609020000020004" pitchFamily="49" charset="0"/>
              </a:rPr>
              <a:t>"</a:t>
            </a:r>
            <a:r>
              <a:rPr lang="fr-FR" sz="1200" dirty="0" err="1">
                <a:solidFill>
                  <a:srgbClr val="A31515"/>
                </a:solidFill>
                <a:effectLst/>
                <a:latin typeface="Cascadia Mono" panose="020B0609020000020004" pitchFamily="49" charset="0"/>
              </a:rPr>
              <a:t>ProcessOrder</a:t>
            </a:r>
            <a:r>
              <a:rPr lang="fr-FR" sz="1200" dirty="0">
                <a:solidFill>
                  <a:srgbClr val="A31515"/>
                </a:solidFill>
                <a:effectLst/>
                <a:latin typeface="Cascadia Mono" panose="020B0609020000020004" pitchFamily="49" charset="0"/>
              </a:rPr>
              <a:t>"</a:t>
            </a:r>
            <a:r>
              <a:rPr lang="fr-FR" sz="1200" dirty="0">
                <a:solidFill>
                  <a:srgbClr val="000000"/>
                </a:solidFill>
                <a:effectLst/>
                <a:latin typeface="Cascadia Mono" panose="020B0609020000020004" pitchFamily="49" charset="0"/>
              </a:rPr>
              <a:t>)]</a:t>
            </a:r>
          </a:p>
          <a:p>
            <a:pPr>
              <a:buNone/>
            </a:pPr>
            <a:r>
              <a:rPr lang="fr-FR" sz="1200" dirty="0">
                <a:solidFill>
                  <a:srgbClr val="000000"/>
                </a:solidFill>
                <a:effectLst/>
                <a:latin typeface="Cascadia Mono" panose="020B0609020000020004" pitchFamily="49" charset="0"/>
              </a:rPr>
              <a:t>    </a:t>
            </a:r>
            <a:r>
              <a:rPr lang="fr-FR" sz="1200" dirty="0">
                <a:solidFill>
                  <a:srgbClr val="0000FF"/>
                </a:solidFill>
                <a:effectLst/>
                <a:latin typeface="Cascadia Mono" panose="020B0609020000020004" pitchFamily="49" charset="0"/>
              </a:rPr>
              <a:t>public</a:t>
            </a:r>
            <a:r>
              <a:rPr lang="fr-FR" sz="1200" dirty="0">
                <a:solidFill>
                  <a:srgbClr val="000000"/>
                </a:solidFill>
                <a:effectLst/>
                <a:latin typeface="Cascadia Mono" panose="020B0609020000020004" pitchFamily="49" charset="0"/>
              </a:rPr>
              <a:t> </a:t>
            </a:r>
            <a:r>
              <a:rPr lang="fr-FR" sz="1200" dirty="0" err="1">
                <a:solidFill>
                  <a:srgbClr val="0000FF"/>
                </a:solidFill>
                <a:effectLst/>
                <a:latin typeface="Cascadia Mono" panose="020B0609020000020004" pitchFamily="49" charset="0"/>
              </a:rPr>
              <a:t>static</a:t>
            </a:r>
            <a:r>
              <a:rPr lang="fr-FR" sz="1200" dirty="0">
                <a:solidFill>
                  <a:srgbClr val="000000"/>
                </a:solidFill>
                <a:effectLst/>
                <a:latin typeface="Cascadia Mono" panose="020B0609020000020004" pitchFamily="49" charset="0"/>
              </a:rPr>
              <a:t> </a:t>
            </a:r>
            <a:r>
              <a:rPr lang="fr-FR" sz="1200" dirty="0" err="1">
                <a:solidFill>
                  <a:srgbClr val="0000FF"/>
                </a:solidFill>
                <a:effectLst/>
                <a:latin typeface="Cascadia Mono" panose="020B0609020000020004" pitchFamily="49" charset="0"/>
              </a:rPr>
              <a:t>void</a:t>
            </a:r>
            <a:r>
              <a:rPr lang="fr-FR" sz="1200" dirty="0">
                <a:solidFill>
                  <a:srgbClr val="000000"/>
                </a:solidFill>
                <a:effectLst/>
                <a:latin typeface="Cascadia Mono" panose="020B0609020000020004" pitchFamily="49" charset="0"/>
              </a:rPr>
              <a:t> </a:t>
            </a:r>
            <a:r>
              <a:rPr lang="fr-FR" sz="1200" dirty="0">
                <a:solidFill>
                  <a:srgbClr val="74531F"/>
                </a:solidFill>
                <a:effectLst/>
                <a:latin typeface="Cascadia Mono" panose="020B0609020000020004" pitchFamily="49" charset="0"/>
              </a:rPr>
              <a:t>Run</a:t>
            </a:r>
            <a:r>
              <a:rPr lang="fr-FR" sz="1200" dirty="0">
                <a:solidFill>
                  <a:srgbClr val="000000"/>
                </a:solidFill>
                <a:effectLst/>
                <a:latin typeface="Cascadia Mono" panose="020B0609020000020004" pitchFamily="49" charset="0"/>
              </a:rPr>
              <a:t>(</a:t>
            </a:r>
          </a:p>
          <a:p>
            <a:pPr>
              <a:buNone/>
            </a:pPr>
            <a:r>
              <a:rPr lang="fr-FR" sz="1200" dirty="0">
                <a:solidFill>
                  <a:srgbClr val="000000"/>
                </a:solidFill>
                <a:effectLst/>
                <a:latin typeface="Cascadia Mono" panose="020B0609020000020004" pitchFamily="49" charset="0"/>
              </a:rPr>
              <a:t>    [</a:t>
            </a:r>
            <a:r>
              <a:rPr lang="fr-FR" sz="1200" dirty="0" err="1">
                <a:solidFill>
                  <a:srgbClr val="2B91AF"/>
                </a:solidFill>
                <a:effectLst/>
                <a:latin typeface="Cascadia Mono" panose="020B0609020000020004" pitchFamily="49" charset="0"/>
              </a:rPr>
              <a:t>QueueTrigger</a:t>
            </a:r>
            <a:r>
              <a:rPr lang="fr-FR" sz="1200" dirty="0">
                <a:solidFill>
                  <a:srgbClr val="000000"/>
                </a:solidFill>
                <a:effectLst/>
                <a:latin typeface="Cascadia Mono" panose="020B0609020000020004" pitchFamily="49" charset="0"/>
              </a:rPr>
              <a:t>(</a:t>
            </a:r>
            <a:r>
              <a:rPr lang="fr-FR" sz="1200" dirty="0">
                <a:solidFill>
                  <a:srgbClr val="A31515"/>
                </a:solidFill>
                <a:effectLst/>
                <a:latin typeface="Cascadia Mono" panose="020B0609020000020004" pitchFamily="49" charset="0"/>
              </a:rPr>
              <a:t>"</a:t>
            </a:r>
            <a:r>
              <a:rPr lang="fr-FR" sz="1200" dirty="0" err="1">
                <a:solidFill>
                  <a:srgbClr val="A31515"/>
                </a:solidFill>
                <a:effectLst/>
                <a:latin typeface="Cascadia Mono" panose="020B0609020000020004" pitchFamily="49" charset="0"/>
              </a:rPr>
              <a:t>orders</a:t>
            </a:r>
            <a:r>
              <a:rPr lang="fr-FR" sz="1200" dirty="0">
                <a:solidFill>
                  <a:srgbClr val="A31515"/>
                </a:solidFill>
                <a:effectLst/>
                <a:latin typeface="Cascadia Mono" panose="020B0609020000020004" pitchFamily="49" charset="0"/>
              </a:rPr>
              <a:t>"</a:t>
            </a:r>
            <a:r>
              <a:rPr lang="fr-FR" sz="1200" dirty="0">
                <a:solidFill>
                  <a:srgbClr val="000000"/>
                </a:solidFill>
                <a:effectLst/>
                <a:latin typeface="Cascadia Mono" panose="020B0609020000020004" pitchFamily="49" charset="0"/>
              </a:rPr>
              <a:t>)] </a:t>
            </a:r>
            <a:r>
              <a:rPr lang="fr-FR" sz="1200" dirty="0">
                <a:solidFill>
                  <a:srgbClr val="0000FF"/>
                </a:solidFill>
                <a:effectLst/>
                <a:latin typeface="Cascadia Mono" panose="020B0609020000020004" pitchFamily="49" charset="0"/>
              </a:rPr>
              <a:t>string</a:t>
            </a:r>
            <a:r>
              <a:rPr lang="fr-FR" sz="1200" dirty="0">
                <a:solidFill>
                  <a:srgbClr val="000000"/>
                </a:solidFill>
                <a:effectLst/>
                <a:latin typeface="Cascadia Mono" panose="020B0609020000020004" pitchFamily="49" charset="0"/>
              </a:rPr>
              <a:t> </a:t>
            </a:r>
            <a:r>
              <a:rPr lang="fr-FR" sz="1200" dirty="0" err="1">
                <a:solidFill>
                  <a:srgbClr val="1F377F"/>
                </a:solidFill>
                <a:effectLst/>
                <a:latin typeface="Cascadia Mono" panose="020B0609020000020004" pitchFamily="49" charset="0"/>
              </a:rPr>
              <a:t>order</a:t>
            </a:r>
            <a:r>
              <a:rPr lang="fr-FR" sz="1200" dirty="0">
                <a:solidFill>
                  <a:srgbClr val="000000"/>
                </a:solidFill>
                <a:effectLst/>
                <a:latin typeface="Cascadia Mono" panose="020B0609020000020004" pitchFamily="49" charset="0"/>
              </a:rPr>
              <a:t>,</a:t>
            </a:r>
          </a:p>
          <a:p>
            <a:pPr>
              <a:buNone/>
            </a:pPr>
            <a:r>
              <a:rPr lang="fr-FR" sz="1200" dirty="0">
                <a:solidFill>
                  <a:srgbClr val="000000"/>
                </a:solidFill>
                <a:effectLst/>
                <a:latin typeface="Cascadia Mono" panose="020B0609020000020004" pitchFamily="49" charset="0"/>
              </a:rPr>
              <a:t>    [</a:t>
            </a:r>
            <a:r>
              <a:rPr lang="fr-FR" sz="1200" dirty="0">
                <a:solidFill>
                  <a:srgbClr val="2B91AF"/>
                </a:solidFill>
                <a:effectLst/>
                <a:latin typeface="Cascadia Mono" panose="020B0609020000020004" pitchFamily="49" charset="0"/>
              </a:rPr>
              <a:t>Queue</a:t>
            </a:r>
            <a:r>
              <a:rPr lang="fr-FR" sz="1200" dirty="0">
                <a:solidFill>
                  <a:srgbClr val="000000"/>
                </a:solidFill>
                <a:effectLst/>
                <a:latin typeface="Cascadia Mono" panose="020B0609020000020004" pitchFamily="49" charset="0"/>
              </a:rPr>
              <a:t>(</a:t>
            </a:r>
            <a:r>
              <a:rPr lang="fr-FR" sz="1200" dirty="0">
                <a:solidFill>
                  <a:srgbClr val="A31515"/>
                </a:solidFill>
                <a:effectLst/>
                <a:latin typeface="Cascadia Mono" panose="020B0609020000020004" pitchFamily="49" charset="0"/>
              </a:rPr>
              <a:t>"</a:t>
            </a:r>
            <a:r>
              <a:rPr lang="fr-FR" sz="1200" dirty="0" err="1">
                <a:solidFill>
                  <a:srgbClr val="A31515"/>
                </a:solidFill>
                <a:effectLst/>
                <a:latin typeface="Cascadia Mono" panose="020B0609020000020004" pitchFamily="49" charset="0"/>
              </a:rPr>
              <a:t>processed-orders</a:t>
            </a:r>
            <a:r>
              <a:rPr lang="fr-FR" sz="1200" dirty="0">
                <a:solidFill>
                  <a:srgbClr val="A31515"/>
                </a:solidFill>
                <a:effectLst/>
                <a:latin typeface="Cascadia Mono" panose="020B0609020000020004" pitchFamily="49" charset="0"/>
              </a:rPr>
              <a:t>"</a:t>
            </a:r>
            <a:r>
              <a:rPr lang="fr-FR" sz="1200" dirty="0">
                <a:solidFill>
                  <a:srgbClr val="000000"/>
                </a:solidFill>
                <a:effectLst/>
                <a:latin typeface="Cascadia Mono" panose="020B0609020000020004" pitchFamily="49" charset="0"/>
              </a:rPr>
              <a:t>)] </a:t>
            </a:r>
            <a:r>
              <a:rPr lang="fr-FR" sz="1200" dirty="0">
                <a:solidFill>
                  <a:srgbClr val="0000FF"/>
                </a:solidFill>
                <a:effectLst/>
                <a:latin typeface="Cascadia Mono" panose="020B0609020000020004" pitchFamily="49" charset="0"/>
              </a:rPr>
              <a:t>out</a:t>
            </a:r>
            <a:r>
              <a:rPr lang="fr-FR" sz="1200" dirty="0">
                <a:solidFill>
                  <a:srgbClr val="000000"/>
                </a:solidFill>
                <a:effectLst/>
                <a:latin typeface="Cascadia Mono" panose="020B0609020000020004" pitchFamily="49" charset="0"/>
              </a:rPr>
              <a:t> </a:t>
            </a:r>
            <a:r>
              <a:rPr lang="fr-FR" sz="1200" dirty="0">
                <a:solidFill>
                  <a:srgbClr val="0000FF"/>
                </a:solidFill>
                <a:effectLst/>
                <a:latin typeface="Cascadia Mono" panose="020B0609020000020004" pitchFamily="49" charset="0"/>
              </a:rPr>
              <a:t>string</a:t>
            </a:r>
            <a:r>
              <a:rPr lang="fr-FR" sz="1200" dirty="0">
                <a:solidFill>
                  <a:srgbClr val="000000"/>
                </a:solidFill>
                <a:effectLst/>
                <a:latin typeface="Cascadia Mono" panose="020B0609020000020004" pitchFamily="49" charset="0"/>
              </a:rPr>
              <a:t> </a:t>
            </a:r>
            <a:r>
              <a:rPr lang="fr-FR" sz="1200" dirty="0" err="1">
                <a:solidFill>
                  <a:srgbClr val="1F377F"/>
                </a:solidFill>
                <a:effectLst/>
                <a:latin typeface="Cascadia Mono" panose="020B0609020000020004" pitchFamily="49" charset="0"/>
              </a:rPr>
              <a:t>outputQueueItem</a:t>
            </a:r>
            <a:r>
              <a:rPr lang="fr-FR" sz="1200" dirty="0">
                <a:solidFill>
                  <a:srgbClr val="000000"/>
                </a:solidFill>
                <a:effectLst/>
                <a:latin typeface="Cascadia Mono" panose="020B0609020000020004" pitchFamily="49" charset="0"/>
              </a:rPr>
              <a:t>,</a:t>
            </a:r>
          </a:p>
          <a:p>
            <a:pPr>
              <a:buNone/>
            </a:pPr>
            <a:r>
              <a:rPr lang="fr-FR" sz="1200" dirty="0">
                <a:solidFill>
                  <a:srgbClr val="000000"/>
                </a:solidFill>
                <a:effectLst/>
                <a:latin typeface="Cascadia Mono" panose="020B0609020000020004" pitchFamily="49" charset="0"/>
              </a:rPr>
              <a:t>    </a:t>
            </a:r>
            <a:r>
              <a:rPr lang="fr-FR" sz="1200" dirty="0" err="1">
                <a:solidFill>
                  <a:srgbClr val="2B91AF"/>
                </a:solidFill>
                <a:effectLst/>
                <a:latin typeface="Cascadia Mono" panose="020B0609020000020004" pitchFamily="49" charset="0"/>
              </a:rPr>
              <a:t>ILogger</a:t>
            </a:r>
            <a:r>
              <a:rPr lang="fr-FR" sz="1200" dirty="0">
                <a:solidFill>
                  <a:srgbClr val="000000"/>
                </a:solidFill>
                <a:effectLst/>
                <a:latin typeface="Cascadia Mono" panose="020B0609020000020004" pitchFamily="49" charset="0"/>
              </a:rPr>
              <a:t> </a:t>
            </a:r>
            <a:r>
              <a:rPr lang="fr-FR" sz="1200" dirty="0">
                <a:solidFill>
                  <a:srgbClr val="1F377F"/>
                </a:solidFill>
                <a:effectLst/>
                <a:latin typeface="Cascadia Mono" panose="020B0609020000020004" pitchFamily="49" charset="0"/>
              </a:rPr>
              <a:t>log</a:t>
            </a:r>
            <a:r>
              <a:rPr lang="fr-FR" sz="1200" dirty="0">
                <a:solidFill>
                  <a:srgbClr val="000000"/>
                </a:solidFill>
                <a:effectLst/>
                <a:latin typeface="Cascadia Mono" panose="020B0609020000020004" pitchFamily="49" charset="0"/>
              </a:rPr>
              <a:t>)</a:t>
            </a:r>
          </a:p>
          <a:p>
            <a:pPr>
              <a:buNone/>
            </a:pPr>
            <a:r>
              <a:rPr lang="fr-FR" sz="1200" dirty="0">
                <a:solidFill>
                  <a:srgbClr val="000000"/>
                </a:solidFill>
                <a:effectLst/>
                <a:latin typeface="Cascadia Mono" panose="020B0609020000020004" pitchFamily="49" charset="0"/>
              </a:rPr>
              <a:t>    {</a:t>
            </a:r>
          </a:p>
          <a:p>
            <a:pPr>
              <a:buNone/>
            </a:pPr>
            <a:r>
              <a:rPr lang="fr-FR" sz="1200" dirty="0">
                <a:solidFill>
                  <a:srgbClr val="000000"/>
                </a:solidFill>
                <a:effectLst/>
                <a:latin typeface="Cascadia Mono" panose="020B0609020000020004" pitchFamily="49" charset="0"/>
              </a:rPr>
              <a:t>        </a:t>
            </a:r>
            <a:r>
              <a:rPr lang="fr-FR" sz="1200" dirty="0" err="1">
                <a:solidFill>
                  <a:srgbClr val="1F377F"/>
                </a:solidFill>
                <a:effectLst/>
                <a:latin typeface="Cascadia Mono" panose="020B0609020000020004" pitchFamily="49" charset="0"/>
              </a:rPr>
              <a:t>log</a:t>
            </a:r>
            <a:r>
              <a:rPr lang="fr-FR" sz="1200" dirty="0" err="1">
                <a:solidFill>
                  <a:srgbClr val="000000"/>
                </a:solidFill>
                <a:effectLst/>
                <a:latin typeface="Cascadia Mono" panose="020B0609020000020004" pitchFamily="49" charset="0"/>
              </a:rPr>
              <a:t>.</a:t>
            </a:r>
            <a:r>
              <a:rPr lang="fr-FR" sz="1200" dirty="0" err="1">
                <a:solidFill>
                  <a:srgbClr val="74531F"/>
                </a:solidFill>
                <a:effectLst/>
                <a:latin typeface="Cascadia Mono" panose="020B0609020000020004" pitchFamily="49" charset="0"/>
              </a:rPr>
              <a:t>LogInformation</a:t>
            </a:r>
            <a:r>
              <a:rPr lang="fr-FR" sz="1200" dirty="0">
                <a:solidFill>
                  <a:srgbClr val="000000"/>
                </a:solidFill>
                <a:effectLst/>
                <a:latin typeface="Cascadia Mono" panose="020B0609020000020004" pitchFamily="49" charset="0"/>
              </a:rPr>
              <a:t>(</a:t>
            </a:r>
            <a:r>
              <a:rPr lang="fr-FR" sz="1200" dirty="0">
                <a:solidFill>
                  <a:srgbClr val="A31515"/>
                </a:solidFill>
                <a:effectLst/>
                <a:latin typeface="Cascadia Mono" panose="020B0609020000020004" pitchFamily="49" charset="0"/>
              </a:rPr>
              <a:t>$"</a:t>
            </a:r>
            <a:r>
              <a:rPr lang="fr-FR" sz="1200" dirty="0" err="1">
                <a:solidFill>
                  <a:srgbClr val="A31515"/>
                </a:solidFill>
                <a:effectLst/>
                <a:latin typeface="Cascadia Mono" panose="020B0609020000020004" pitchFamily="49" charset="0"/>
              </a:rPr>
              <a:t>Processing</a:t>
            </a:r>
            <a:r>
              <a:rPr lang="fr-FR" sz="1200" dirty="0">
                <a:solidFill>
                  <a:srgbClr val="A31515"/>
                </a:solidFill>
                <a:effectLst/>
                <a:latin typeface="Cascadia Mono" panose="020B0609020000020004" pitchFamily="49" charset="0"/>
              </a:rPr>
              <a:t> </a:t>
            </a:r>
            <a:r>
              <a:rPr lang="fr-FR" sz="1200" dirty="0" err="1">
                <a:solidFill>
                  <a:srgbClr val="A31515"/>
                </a:solidFill>
                <a:effectLst/>
                <a:latin typeface="Cascadia Mono" panose="020B0609020000020004" pitchFamily="49" charset="0"/>
              </a:rPr>
              <a:t>order</a:t>
            </a:r>
            <a:r>
              <a:rPr lang="fr-FR" sz="1200" dirty="0">
                <a:solidFill>
                  <a:srgbClr val="A31515"/>
                </a:solidFill>
                <a:effectLst/>
                <a:latin typeface="Cascadia Mono" panose="020B0609020000020004" pitchFamily="49" charset="0"/>
              </a:rPr>
              <a:t>: </a:t>
            </a:r>
            <a:r>
              <a:rPr lang="fr-FR" sz="1200" dirty="0">
                <a:solidFill>
                  <a:srgbClr val="000000"/>
                </a:solidFill>
                <a:effectLst/>
                <a:latin typeface="Cascadia Mono" panose="020B0609020000020004" pitchFamily="49" charset="0"/>
              </a:rPr>
              <a:t>{</a:t>
            </a:r>
            <a:r>
              <a:rPr lang="fr-FR" sz="1200" dirty="0" err="1">
                <a:solidFill>
                  <a:srgbClr val="1F377F"/>
                </a:solidFill>
                <a:effectLst/>
                <a:latin typeface="Cascadia Mono" panose="020B0609020000020004" pitchFamily="49" charset="0"/>
              </a:rPr>
              <a:t>order</a:t>
            </a:r>
            <a:r>
              <a:rPr lang="fr-FR" sz="1200" dirty="0">
                <a:solidFill>
                  <a:srgbClr val="000000"/>
                </a:solidFill>
                <a:effectLst/>
                <a:latin typeface="Cascadia Mono" panose="020B0609020000020004" pitchFamily="49" charset="0"/>
              </a:rPr>
              <a:t>}</a:t>
            </a:r>
            <a:r>
              <a:rPr lang="fr-FR" sz="1200" dirty="0">
                <a:solidFill>
                  <a:srgbClr val="A31515"/>
                </a:solidFill>
                <a:effectLst/>
                <a:latin typeface="Cascadia Mono" panose="020B0609020000020004" pitchFamily="49" charset="0"/>
              </a:rPr>
              <a:t>"</a:t>
            </a:r>
            <a:r>
              <a:rPr lang="fr-FR" sz="1200" dirty="0">
                <a:solidFill>
                  <a:srgbClr val="000000"/>
                </a:solidFill>
                <a:effectLst/>
                <a:latin typeface="Cascadia Mono" panose="020B0609020000020004" pitchFamily="49" charset="0"/>
              </a:rPr>
              <a:t>);</a:t>
            </a:r>
          </a:p>
          <a:p>
            <a:pPr>
              <a:buNone/>
            </a:pPr>
            <a:r>
              <a:rPr lang="fr-FR" sz="1200" dirty="0">
                <a:solidFill>
                  <a:srgbClr val="000000"/>
                </a:solidFill>
                <a:effectLst/>
                <a:latin typeface="Cascadia Mono" panose="020B0609020000020004" pitchFamily="49" charset="0"/>
              </a:rPr>
              <a:t>        </a:t>
            </a:r>
            <a:r>
              <a:rPr lang="fr-FR" sz="1200" dirty="0" err="1">
                <a:solidFill>
                  <a:srgbClr val="1F377F"/>
                </a:solidFill>
                <a:effectLst/>
                <a:latin typeface="Cascadia Mono" panose="020B0609020000020004" pitchFamily="49" charset="0"/>
              </a:rPr>
              <a:t>outputQueueItem</a:t>
            </a:r>
            <a:r>
              <a:rPr lang="fr-FR" sz="1200" dirty="0">
                <a:solidFill>
                  <a:srgbClr val="000000"/>
                </a:solidFill>
                <a:effectLst/>
                <a:latin typeface="Cascadia Mono" panose="020B0609020000020004" pitchFamily="49" charset="0"/>
              </a:rPr>
              <a:t> = </a:t>
            </a:r>
            <a:r>
              <a:rPr lang="fr-FR" sz="1200" dirty="0">
                <a:solidFill>
                  <a:srgbClr val="A31515"/>
                </a:solidFill>
                <a:effectLst/>
                <a:latin typeface="Cascadia Mono" panose="020B0609020000020004" pitchFamily="49" charset="0"/>
              </a:rPr>
              <a:t>$"</a:t>
            </a:r>
            <a:r>
              <a:rPr lang="fr-FR" sz="1200" dirty="0" err="1">
                <a:solidFill>
                  <a:srgbClr val="A31515"/>
                </a:solidFill>
                <a:effectLst/>
                <a:latin typeface="Cascadia Mono" panose="020B0609020000020004" pitchFamily="49" charset="0"/>
              </a:rPr>
              <a:t>Processed</a:t>
            </a:r>
            <a:r>
              <a:rPr lang="fr-FR" sz="1200" dirty="0">
                <a:solidFill>
                  <a:srgbClr val="A31515"/>
                </a:solidFill>
                <a:effectLst/>
                <a:latin typeface="Cascadia Mono" panose="020B0609020000020004" pitchFamily="49" charset="0"/>
              </a:rPr>
              <a:t>: </a:t>
            </a:r>
            <a:r>
              <a:rPr lang="fr-FR" sz="1200" dirty="0">
                <a:solidFill>
                  <a:srgbClr val="000000"/>
                </a:solidFill>
                <a:effectLst/>
                <a:latin typeface="Cascadia Mono" panose="020B0609020000020004" pitchFamily="49" charset="0"/>
              </a:rPr>
              <a:t>{</a:t>
            </a:r>
            <a:r>
              <a:rPr lang="fr-FR" sz="1200" dirty="0" err="1">
                <a:solidFill>
                  <a:srgbClr val="1F377F"/>
                </a:solidFill>
                <a:effectLst/>
                <a:latin typeface="Cascadia Mono" panose="020B0609020000020004" pitchFamily="49" charset="0"/>
              </a:rPr>
              <a:t>order</a:t>
            </a:r>
            <a:r>
              <a:rPr lang="fr-FR" sz="1200" dirty="0">
                <a:solidFill>
                  <a:srgbClr val="000000"/>
                </a:solidFill>
                <a:effectLst/>
                <a:latin typeface="Cascadia Mono" panose="020B0609020000020004" pitchFamily="49" charset="0"/>
              </a:rPr>
              <a:t>}</a:t>
            </a:r>
            <a:r>
              <a:rPr lang="fr-FR" sz="1200" dirty="0">
                <a:solidFill>
                  <a:srgbClr val="A31515"/>
                </a:solidFill>
                <a:effectLst/>
                <a:latin typeface="Cascadia Mono" panose="020B0609020000020004" pitchFamily="49" charset="0"/>
              </a:rPr>
              <a:t>"</a:t>
            </a:r>
            <a:r>
              <a:rPr lang="fr-FR" sz="1200" dirty="0">
                <a:solidFill>
                  <a:srgbClr val="000000"/>
                </a:solidFill>
                <a:effectLst/>
                <a:latin typeface="Cascadia Mono" panose="020B0609020000020004" pitchFamily="49" charset="0"/>
              </a:rPr>
              <a:t>;</a:t>
            </a:r>
          </a:p>
          <a:p>
            <a:pPr>
              <a:buNone/>
            </a:pPr>
            <a:r>
              <a:rPr lang="fr-FR" sz="1200" dirty="0">
                <a:solidFill>
                  <a:srgbClr val="000000"/>
                </a:solidFill>
                <a:effectLst/>
                <a:latin typeface="Cascadia Mono" panose="020B0609020000020004" pitchFamily="49" charset="0"/>
              </a:rPr>
              <a:t>    }</a:t>
            </a:r>
            <a:endParaRPr lang="fr-FR" sz="1200" dirty="0"/>
          </a:p>
        </p:txBody>
      </p:sp>
    </p:spTree>
    <p:extLst>
      <p:ext uri="{BB962C8B-B14F-4D97-AF65-F5344CB8AC3E}">
        <p14:creationId xmlns:p14="http://schemas.microsoft.com/office/powerpoint/2010/main" val="3416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6</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votre scénario AzureQuizLab, pourquoi utiliser une Azure Function ?</a:t>
            </a:r>
            <a:endParaRPr lang="fr-FR" sz="2000" dirty="0"/>
          </a:p>
          <a:p>
            <a:pPr marL="457200" indent="-457200">
              <a:buFont typeface="+mj-lt"/>
              <a:buAutoNum type="arabicPeriod"/>
              <a:defRPr sz="2400"/>
            </a:pPr>
            <a:r>
              <a:rPr lang="fr-FR" sz="2000" dirty="0"/>
              <a:t>Remplacer la base SQL</a:t>
            </a:r>
          </a:p>
          <a:p>
            <a:pPr marL="457200" indent="-457200">
              <a:buFont typeface="+mj-lt"/>
              <a:buAutoNum type="arabicPeriod"/>
              <a:defRPr sz="2400"/>
            </a:pPr>
            <a:r>
              <a:rPr lang="fr-FR" sz="2000" dirty="0"/>
              <a:t>Gérer les requêtes HTTP du site</a:t>
            </a:r>
          </a:p>
          <a:p>
            <a:pPr marL="457200" indent="-457200">
              <a:buFont typeface="+mj-lt"/>
              <a:buAutoNum type="arabicPeriod"/>
              <a:defRPr sz="2400"/>
            </a:pPr>
            <a:r>
              <a:rPr lang="fr-FR" sz="2000" dirty="0"/>
              <a:t>Traiter des tâches en arrière-plan</a:t>
            </a:r>
          </a:p>
          <a:p>
            <a:pPr marL="457200" indent="-457200">
              <a:buFont typeface="+mj-lt"/>
              <a:buAutoNum type="arabicPeriod"/>
              <a:defRPr sz="2400"/>
            </a:pPr>
            <a:r>
              <a:rPr lang="fr-FR" sz="2000" dirty="0"/>
              <a:t>Héberger le frontend</a:t>
            </a:r>
          </a:p>
          <a:p>
            <a:pPr>
              <a:defRPr sz="2400"/>
            </a:pPr>
            <a:endParaRPr dirty="0"/>
          </a:p>
        </p:txBody>
      </p:sp>
      <p:sp>
        <p:nvSpPr>
          <p:cNvPr id="8" name="TextBox 7"/>
          <p:cNvSpPr txBox="1"/>
          <p:nvPr/>
        </p:nvSpPr>
        <p:spPr>
          <a:xfrm>
            <a:off x="6876256" y="3164115"/>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Les Azure Functions sont idéales pour les traitements asynchrones.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27687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7</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Azure Functions, que signifie cold start ?</a:t>
            </a:r>
            <a:endParaRPr lang="fr-FR" sz="2000" dirty="0"/>
          </a:p>
          <a:p>
            <a:pPr marL="457200" indent="-457200">
              <a:buFont typeface="+mj-lt"/>
              <a:buAutoNum type="arabicPeriod"/>
              <a:defRPr sz="2400"/>
            </a:pPr>
            <a:r>
              <a:rPr lang="fr-FR" sz="2000" dirty="0"/>
              <a:t>Première exécution lente</a:t>
            </a:r>
          </a:p>
          <a:p>
            <a:pPr marL="457200" indent="-457200">
              <a:buFont typeface="+mj-lt"/>
              <a:buAutoNum type="arabicPeriod"/>
              <a:defRPr sz="2400"/>
            </a:pPr>
            <a:r>
              <a:rPr lang="fr-FR" sz="2000" dirty="0"/>
              <a:t>Fonction en erreur</a:t>
            </a:r>
          </a:p>
          <a:p>
            <a:pPr marL="457200" indent="-457200">
              <a:buFont typeface="+mj-lt"/>
              <a:buAutoNum type="arabicPeriod"/>
              <a:defRPr sz="2400"/>
            </a:pPr>
            <a:r>
              <a:rPr lang="fr-FR" sz="2000" dirty="0"/>
              <a:t>Timeout réseau</a:t>
            </a:r>
          </a:p>
          <a:p>
            <a:pPr marL="457200" indent="-457200">
              <a:buFont typeface="+mj-lt"/>
              <a:buAutoNum type="arabicPeriod"/>
              <a:defRPr sz="2400"/>
            </a:pPr>
            <a:r>
              <a:rPr lang="fr-FR" sz="2000" dirty="0"/>
              <a:t>Problème de scaling</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La première exécution peut être lente.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621641"/>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63526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8</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solution permet d’éviter les cold starts ?</a:t>
            </a:r>
            <a:endParaRPr lang="fr-FR" sz="2000" dirty="0"/>
          </a:p>
          <a:p>
            <a:pPr marL="457200" indent="-457200">
              <a:buFont typeface="+mj-lt"/>
              <a:buAutoNum type="arabicPeriod"/>
              <a:defRPr sz="2400"/>
            </a:pPr>
            <a:r>
              <a:rPr lang="fr-FR" sz="2000" dirty="0"/>
              <a:t>Augmenter le CPU</a:t>
            </a:r>
          </a:p>
          <a:p>
            <a:pPr marL="457200" indent="-457200">
              <a:buFont typeface="+mj-lt"/>
              <a:buAutoNum type="arabicPeriod"/>
              <a:defRPr sz="2400"/>
            </a:pPr>
            <a:r>
              <a:rPr lang="fr-FR" sz="2000" dirty="0"/>
              <a:t>Passer en Premium plan</a:t>
            </a:r>
          </a:p>
          <a:p>
            <a:pPr marL="457200" indent="-457200">
              <a:buFont typeface="+mj-lt"/>
              <a:buAutoNum type="arabicPeriod"/>
              <a:defRPr sz="2400"/>
            </a:pPr>
            <a:r>
              <a:rPr lang="fr-FR" sz="2000" dirty="0"/>
              <a:t>Ajouter un CDN</a:t>
            </a:r>
          </a:p>
          <a:p>
            <a:pPr marL="457200" indent="-457200">
              <a:buFont typeface="+mj-lt"/>
              <a:buAutoNum type="arabicPeriod"/>
              <a:defRPr sz="2400"/>
            </a:pPr>
            <a:r>
              <a:rPr lang="fr-FR" sz="2000" dirty="0"/>
              <a:t>Utiliser Blob Storage</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 plan Premium garde des instances chaudes.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191683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55977-0F42-8E24-EFC3-BAD51FF61EE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CB5EAF1-A9C7-F833-565B-08CE313B1506}"/>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2" name="Rectangle 1">
            <a:extLst>
              <a:ext uri="{FF2B5EF4-FFF2-40B4-BE49-F238E27FC236}">
                <a16:creationId xmlns:a16="http://schemas.microsoft.com/office/drawing/2014/main" id="{804B018E-92A2-5DC2-A6DB-5C92CF020122}"/>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lang="fr-FR" sz="3200" dirty="0"/>
              <a:t>Azure </a:t>
            </a:r>
            <a:r>
              <a:rPr lang="fr-FR" sz="3200" dirty="0" err="1"/>
              <a:t>Functions</a:t>
            </a:r>
            <a:r>
              <a:rPr lang="fr-FR" sz="3200" dirty="0"/>
              <a:t> </a:t>
            </a:r>
            <a:r>
              <a:rPr lang="fr-FR" sz="3200" dirty="0" err="1"/>
              <a:t>Hosting</a:t>
            </a:r>
            <a:r>
              <a:rPr lang="fr-FR" sz="3200" dirty="0"/>
              <a:t> Plans</a:t>
            </a:r>
          </a:p>
        </p:txBody>
      </p:sp>
      <p:pic>
        <p:nvPicPr>
          <p:cNvPr id="12" name="Image 11">
            <a:extLst>
              <a:ext uri="{FF2B5EF4-FFF2-40B4-BE49-F238E27FC236}">
                <a16:creationId xmlns:a16="http://schemas.microsoft.com/office/drawing/2014/main" id="{A69F7800-C5E0-CCAD-013A-3BA2BAEDFD4B}"/>
              </a:ext>
            </a:extLst>
          </p:cNvPr>
          <p:cNvPicPr>
            <a:picLocks noChangeAspect="1"/>
          </p:cNvPicPr>
          <p:nvPr/>
        </p:nvPicPr>
        <p:blipFill>
          <a:blip r:embed="rId2"/>
          <a:stretch>
            <a:fillRect/>
          </a:stretch>
        </p:blipFill>
        <p:spPr>
          <a:xfrm>
            <a:off x="554226" y="953984"/>
            <a:ext cx="7956376" cy="5412280"/>
          </a:xfrm>
          <a:prstGeom prst="rect">
            <a:avLst/>
          </a:prstGeom>
        </p:spPr>
      </p:pic>
      <p:sp>
        <p:nvSpPr>
          <p:cNvPr id="14" name="ZoneTexte 13">
            <a:extLst>
              <a:ext uri="{FF2B5EF4-FFF2-40B4-BE49-F238E27FC236}">
                <a16:creationId xmlns:a16="http://schemas.microsoft.com/office/drawing/2014/main" id="{D36F6056-7573-C862-FDB6-B5000EBE75F6}"/>
              </a:ext>
            </a:extLst>
          </p:cNvPr>
          <p:cNvSpPr txBox="1"/>
          <p:nvPr/>
        </p:nvSpPr>
        <p:spPr>
          <a:xfrm>
            <a:off x="7236296" y="6309320"/>
            <a:ext cx="1087157" cy="430887"/>
          </a:xfrm>
          <a:prstGeom prst="rect">
            <a:avLst/>
          </a:prstGeom>
          <a:noFill/>
        </p:spPr>
        <p:txBody>
          <a:bodyPr wrap="none" rtlCol="0">
            <a:spAutoFit/>
          </a:bodyPr>
          <a:lstStyle/>
          <a:p>
            <a:r>
              <a:rPr lang="fr-FR" sz="1100" dirty="0"/>
              <a:t>Le moins cher </a:t>
            </a:r>
          </a:p>
          <a:p>
            <a:r>
              <a:rPr lang="fr-FR" sz="1100" dirty="0" err="1"/>
              <a:t>Scaling</a:t>
            </a:r>
            <a:r>
              <a:rPr lang="fr-FR" sz="1100" dirty="0"/>
              <a:t> auto</a:t>
            </a:r>
          </a:p>
        </p:txBody>
      </p:sp>
      <p:sp>
        <p:nvSpPr>
          <p:cNvPr id="15" name="ZoneTexte 14">
            <a:extLst>
              <a:ext uri="{FF2B5EF4-FFF2-40B4-BE49-F238E27FC236}">
                <a16:creationId xmlns:a16="http://schemas.microsoft.com/office/drawing/2014/main" id="{6089FA74-298E-28A5-E036-1E53CFEB7444}"/>
              </a:ext>
            </a:extLst>
          </p:cNvPr>
          <p:cNvSpPr txBox="1"/>
          <p:nvPr/>
        </p:nvSpPr>
        <p:spPr>
          <a:xfrm>
            <a:off x="1979712" y="6337792"/>
            <a:ext cx="1058303" cy="430887"/>
          </a:xfrm>
          <a:prstGeom prst="rect">
            <a:avLst/>
          </a:prstGeom>
          <a:noFill/>
        </p:spPr>
        <p:txBody>
          <a:bodyPr wrap="none" rtlCol="0">
            <a:spAutoFit/>
          </a:bodyPr>
          <a:lstStyle/>
          <a:p>
            <a:r>
              <a:rPr lang="fr-FR" sz="1100" dirty="0"/>
              <a:t>Réduction du </a:t>
            </a:r>
          </a:p>
          <a:p>
            <a:r>
              <a:rPr lang="fr-FR" sz="1100" dirty="0"/>
              <a:t>cold start</a:t>
            </a:r>
          </a:p>
        </p:txBody>
      </p:sp>
      <p:sp>
        <p:nvSpPr>
          <p:cNvPr id="16" name="ZoneTexte 15">
            <a:extLst>
              <a:ext uri="{FF2B5EF4-FFF2-40B4-BE49-F238E27FC236}">
                <a16:creationId xmlns:a16="http://schemas.microsoft.com/office/drawing/2014/main" id="{100580D8-C1E9-3F7C-DD3C-727B66780F1E}"/>
              </a:ext>
            </a:extLst>
          </p:cNvPr>
          <p:cNvSpPr txBox="1"/>
          <p:nvPr/>
        </p:nvSpPr>
        <p:spPr>
          <a:xfrm>
            <a:off x="4463501" y="6278914"/>
            <a:ext cx="1479892" cy="769441"/>
          </a:xfrm>
          <a:prstGeom prst="rect">
            <a:avLst/>
          </a:prstGeom>
          <a:noFill/>
        </p:spPr>
        <p:txBody>
          <a:bodyPr wrap="none" rtlCol="0">
            <a:spAutoFit/>
          </a:bodyPr>
          <a:lstStyle/>
          <a:p>
            <a:r>
              <a:rPr lang="fr-FR" sz="1100" dirty="0"/>
              <a:t>Coûts prévisibles</a:t>
            </a:r>
          </a:p>
          <a:p>
            <a:r>
              <a:rPr lang="fr-FR" sz="1100" dirty="0" err="1"/>
              <a:t>Workload</a:t>
            </a:r>
            <a:r>
              <a:rPr lang="fr-FR" sz="1100" dirty="0"/>
              <a:t> lourds</a:t>
            </a:r>
          </a:p>
          <a:p>
            <a:r>
              <a:rPr lang="fr-FR" sz="1100" dirty="0" err="1"/>
              <a:t>Scaling</a:t>
            </a:r>
            <a:r>
              <a:rPr lang="fr-FR" sz="1100" dirty="0"/>
              <a:t> manuel/</a:t>
            </a:r>
            <a:r>
              <a:rPr lang="fr-FR" sz="1100" dirty="0" err="1"/>
              <a:t>rules</a:t>
            </a:r>
            <a:endParaRPr lang="fr-FR" sz="1100" dirty="0"/>
          </a:p>
          <a:p>
            <a:endParaRPr lang="fr-FR" sz="1100" dirty="0"/>
          </a:p>
        </p:txBody>
      </p:sp>
    </p:spTree>
    <p:extLst>
      <p:ext uri="{BB962C8B-B14F-4D97-AF65-F5344CB8AC3E}">
        <p14:creationId xmlns:p14="http://schemas.microsoft.com/office/powerpoint/2010/main" val="24540636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9</a:t>
            </a:r>
            <a:endParaRPr sz="3200" dirty="0"/>
          </a:p>
        </p:txBody>
      </p:sp>
      <p:sp>
        <p:nvSpPr>
          <p:cNvPr id="3" name="TextBox 2"/>
          <p:cNvSpPr txBox="1"/>
          <p:nvPr/>
        </p:nvSpPr>
        <p:spPr>
          <a:xfrm>
            <a:off x="464304" y="1125409"/>
            <a:ext cx="8431481" cy="769441"/>
          </a:xfrm>
          <a:prstGeom prst="rect">
            <a:avLst/>
          </a:prstGeom>
          <a:noFill/>
        </p:spPr>
        <p:txBody>
          <a:bodyPr wrap="square">
            <a:spAutoFit/>
          </a:bodyPr>
          <a:lstStyle/>
          <a:p>
            <a:pPr>
              <a:defRPr sz="2400"/>
            </a:pPr>
            <a:r>
              <a:rPr lang="fr-FR" sz="2000" dirty="0"/>
              <a:t>Dans les azure </a:t>
            </a:r>
            <a:r>
              <a:rPr lang="fr-FR" sz="2000" dirty="0" err="1"/>
              <a:t>function</a:t>
            </a:r>
            <a:r>
              <a:rPr lang="fr-FR" sz="2000" dirty="0"/>
              <a:t> comment se passent le </a:t>
            </a:r>
            <a:r>
              <a:rPr lang="fr-FR" sz="2000" dirty="0" err="1"/>
              <a:t>scale</a:t>
            </a:r>
            <a:r>
              <a:rPr lang="fr-FR" sz="2000" dirty="0"/>
              <a:t> out ?</a:t>
            </a:r>
          </a:p>
          <a:p>
            <a:pPr>
              <a:defRPr sz="2400"/>
            </a:pPr>
            <a:endParaRPr dirty="0"/>
          </a:p>
        </p:txBody>
      </p:sp>
      <p:graphicFrame>
        <p:nvGraphicFramePr>
          <p:cNvPr id="5" name="Tableau 4">
            <a:extLst>
              <a:ext uri="{FF2B5EF4-FFF2-40B4-BE49-F238E27FC236}">
                <a16:creationId xmlns:a16="http://schemas.microsoft.com/office/drawing/2014/main" id="{66DE71E9-64F9-AFBC-010B-4FAE52C144C6}"/>
              </a:ext>
            </a:extLst>
          </p:cNvPr>
          <p:cNvGraphicFramePr>
            <a:graphicFrameLocks noGrp="1"/>
          </p:cNvGraphicFramePr>
          <p:nvPr>
            <p:extLst>
              <p:ext uri="{D42A27DB-BD31-4B8C-83A1-F6EECF244321}">
                <p14:modId xmlns:p14="http://schemas.microsoft.com/office/powerpoint/2010/main" val="3815531965"/>
              </p:ext>
            </p:extLst>
          </p:nvPr>
        </p:nvGraphicFramePr>
        <p:xfrm>
          <a:off x="316982" y="1854512"/>
          <a:ext cx="8431481" cy="814596"/>
        </p:xfrm>
        <a:graphic>
          <a:graphicData uri="http://schemas.openxmlformats.org/drawingml/2006/table">
            <a:tbl>
              <a:tblPr/>
              <a:tblGrid>
                <a:gridCol w="2022770">
                  <a:extLst>
                    <a:ext uri="{9D8B030D-6E8A-4147-A177-3AD203B41FA5}">
                      <a16:colId xmlns:a16="http://schemas.microsoft.com/office/drawing/2014/main" val="1682933850"/>
                    </a:ext>
                  </a:extLst>
                </a:gridCol>
                <a:gridCol w="2003924">
                  <a:extLst>
                    <a:ext uri="{9D8B030D-6E8A-4147-A177-3AD203B41FA5}">
                      <a16:colId xmlns:a16="http://schemas.microsoft.com/office/drawing/2014/main" val="2961641166"/>
                    </a:ext>
                  </a:extLst>
                </a:gridCol>
                <a:gridCol w="2930223">
                  <a:extLst>
                    <a:ext uri="{9D8B030D-6E8A-4147-A177-3AD203B41FA5}">
                      <a16:colId xmlns:a16="http://schemas.microsoft.com/office/drawing/2014/main" val="2432108569"/>
                    </a:ext>
                  </a:extLst>
                </a:gridCol>
                <a:gridCol w="1474564">
                  <a:extLst>
                    <a:ext uri="{9D8B030D-6E8A-4147-A177-3AD203B41FA5}">
                      <a16:colId xmlns:a16="http://schemas.microsoft.com/office/drawing/2014/main" val="2088396984"/>
                    </a:ext>
                  </a:extLst>
                </a:gridCol>
              </a:tblGrid>
              <a:tr h="271532">
                <a:tc>
                  <a:txBody>
                    <a:bodyPr/>
                    <a:lstStyle/>
                    <a:p>
                      <a:pPr algn="ctr" fontAlgn="ctr">
                        <a:buNone/>
                      </a:pPr>
                      <a:r>
                        <a:rPr lang="fr-FR" sz="1100" b="1" i="0" u="none" strike="noStrike">
                          <a:solidFill>
                            <a:srgbClr val="FFFFFF"/>
                          </a:solidFill>
                          <a:effectLst/>
                          <a:latin typeface="Calibri" panose="020F0502020204030204" pitchFamily="34" charset="0"/>
                        </a:rPr>
                        <a:t>Critère</a:t>
                      </a:r>
                    </a:p>
                  </a:txBody>
                  <a:tcPr marL="6350" marR="6350" marT="635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fr-FR" sz="1100" b="1" i="0" u="none" strike="noStrike">
                          <a:solidFill>
                            <a:srgbClr val="FFFFFF"/>
                          </a:solidFill>
                          <a:effectLst/>
                          <a:latin typeface="Calibri" panose="020F0502020204030204" pitchFamily="34" charset="0"/>
                        </a:rPr>
                        <a:t>Premium</a:t>
                      </a:r>
                    </a:p>
                  </a:txBody>
                  <a:tcPr marL="6350" marR="6350" marT="635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fr-FR" sz="1100" b="1" i="0" u="none" strike="noStrike">
                          <a:solidFill>
                            <a:srgbClr val="FFFFFF"/>
                          </a:solidFill>
                          <a:effectLst/>
                          <a:latin typeface="Calibri" panose="020F0502020204030204" pitchFamily="34" charset="0"/>
                        </a:rPr>
                        <a:t>App Service</a:t>
                      </a:r>
                    </a:p>
                  </a:txBody>
                  <a:tcPr marL="6350" marR="6350" marT="635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fr-FR" sz="1100" b="1" i="0" u="none" strike="noStrike">
                          <a:solidFill>
                            <a:srgbClr val="FFFFFF"/>
                          </a:solidFill>
                          <a:effectLst/>
                          <a:latin typeface="Calibri" panose="020F0502020204030204" pitchFamily="34" charset="0"/>
                        </a:rPr>
                        <a:t>Consumption</a:t>
                      </a:r>
                    </a:p>
                  </a:txBody>
                  <a:tcPr marL="6350" marR="6350" marT="635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2958957262"/>
                  </a:ext>
                </a:extLst>
              </a:tr>
              <a:tr h="271532">
                <a:tc>
                  <a:txBody>
                    <a:bodyPr/>
                    <a:lstStyle/>
                    <a:p>
                      <a:pPr algn="l" fontAlgn="ctr">
                        <a:buNone/>
                      </a:pPr>
                      <a:r>
                        <a:rPr lang="fr-FR" sz="1100" b="0" i="0" u="none" strike="noStrike" dirty="0" err="1">
                          <a:solidFill>
                            <a:srgbClr val="000000"/>
                          </a:solidFill>
                          <a:effectLst/>
                          <a:latin typeface="Calibri" panose="020F0502020204030204" pitchFamily="34" charset="0"/>
                        </a:rPr>
                        <a:t>Scale</a:t>
                      </a:r>
                      <a:r>
                        <a:rPr lang="fr-FR" sz="1100" b="0" i="0" u="none" strike="noStrike" dirty="0">
                          <a:solidFill>
                            <a:srgbClr val="000000"/>
                          </a:solidFill>
                          <a:effectLst/>
                          <a:latin typeface="Calibri" panose="020F0502020204030204" pitchFamily="34" charset="0"/>
                        </a:rPr>
                        <a:t> to </a:t>
                      </a:r>
                      <a:r>
                        <a:rPr lang="fr-FR" sz="1100" b="0" i="0" u="none" strike="noStrike" dirty="0" err="1">
                          <a:solidFill>
                            <a:srgbClr val="000000"/>
                          </a:solidFill>
                          <a:effectLst/>
                          <a:latin typeface="Calibri" panose="020F0502020204030204" pitchFamily="34" charset="0"/>
                        </a:rPr>
                        <a:t>zero</a:t>
                      </a:r>
                      <a:r>
                        <a:rPr lang="fr-FR" sz="1100" b="0" i="0" u="none" strike="noStrike" dirty="0">
                          <a:solidFill>
                            <a:srgbClr val="000000"/>
                          </a:solidFill>
                          <a:effectLst/>
                          <a:latin typeface="Calibri" panose="020F0502020204030204" pitchFamily="34" charset="0"/>
                        </a:rPr>
                        <a:t> (Oui/Non)</a:t>
                      </a:r>
                    </a:p>
                  </a:txBody>
                  <a:tcPr marL="6350" marR="6350" marT="635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buNone/>
                      </a:pPr>
                      <a:r>
                        <a:rPr lang="fr-FR" sz="1100" b="0" i="0" u="none" strike="noStrike">
                          <a:solidFill>
                            <a:srgbClr val="000000"/>
                          </a:solidFill>
                          <a:effectLst/>
                          <a:latin typeface="Calibri" panose="020F0502020204030204" pitchFamily="34" charset="0"/>
                        </a:rPr>
                        <a:t>❌ Non</a:t>
                      </a:r>
                    </a:p>
                  </a:txBody>
                  <a:tcPr marL="6350" marR="6350" marT="635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buNone/>
                      </a:pPr>
                      <a:r>
                        <a:rPr lang="fr-FR" sz="1100" b="0" i="0" u="none" strike="noStrike">
                          <a:solidFill>
                            <a:srgbClr val="000000"/>
                          </a:solidFill>
                          <a:effectLst/>
                          <a:latin typeface="Calibri" panose="020F0502020204030204" pitchFamily="34" charset="0"/>
                        </a:rPr>
                        <a:t>❌ Non</a:t>
                      </a:r>
                    </a:p>
                  </a:txBody>
                  <a:tcPr marL="6350" marR="6350" marT="635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100" b="0" i="0" u="none" strike="noStrike" dirty="0">
                          <a:solidFill>
                            <a:srgbClr val="000000"/>
                          </a:solidFill>
                          <a:effectLst/>
                          <a:latin typeface="Calibri" panose="020F0502020204030204" pitchFamily="34" charset="0"/>
                        </a:rPr>
                        <a:t>✅ Oui </a:t>
                      </a:r>
                      <a:r>
                        <a:rPr lang="fr-FR" sz="1100" dirty="0"/>
                        <a:t>❗ cold start</a:t>
                      </a:r>
                    </a:p>
                  </a:txBody>
                  <a:tcPr marL="6350" marR="6350" marT="635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890686484"/>
                  </a:ext>
                </a:extLst>
              </a:tr>
              <a:tr h="271532">
                <a:tc>
                  <a:txBody>
                    <a:bodyPr/>
                    <a:lstStyle/>
                    <a:p>
                      <a:pPr algn="l" fontAlgn="ctr">
                        <a:buNone/>
                      </a:pPr>
                      <a:r>
                        <a:rPr lang="fr-FR" sz="1100" b="0" i="0" u="none" strike="noStrike" dirty="0" err="1">
                          <a:solidFill>
                            <a:srgbClr val="000000"/>
                          </a:solidFill>
                          <a:effectLst/>
                          <a:latin typeface="Calibri" panose="020F0502020204030204" pitchFamily="34" charset="0"/>
                        </a:rPr>
                        <a:t>Scale</a:t>
                      </a:r>
                      <a:r>
                        <a:rPr lang="fr-FR" sz="1100" b="0" i="0" u="none" strike="noStrike" dirty="0">
                          <a:solidFill>
                            <a:srgbClr val="000000"/>
                          </a:solidFill>
                          <a:effectLst/>
                          <a:latin typeface="Calibri" panose="020F0502020204030204" pitchFamily="34" charset="0"/>
                        </a:rPr>
                        <a:t> out (Automatique/Manuel)</a:t>
                      </a:r>
                    </a:p>
                  </a:txBody>
                  <a:tcPr marL="6350" marR="6350" marT="635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Calibri" panose="020F0502020204030204" pitchFamily="34" charset="0"/>
                        </a:rPr>
                        <a:t>Automatique (configurable)</a:t>
                      </a:r>
                    </a:p>
                  </a:txBody>
                  <a:tcPr marL="6350" marR="6350" marT="635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buNone/>
                      </a:pPr>
                      <a:r>
                        <a:rPr lang="fr-FR" sz="1100" b="0" i="0" u="none" strike="noStrike">
                          <a:solidFill>
                            <a:srgbClr val="000000"/>
                          </a:solidFill>
                          <a:effectLst/>
                          <a:latin typeface="Calibri" panose="020F0502020204030204" pitchFamily="34" charset="0"/>
                        </a:rPr>
                        <a:t>Manuel / Autoscale à configurer</a:t>
                      </a:r>
                    </a:p>
                  </a:txBody>
                  <a:tcPr marL="6350" marR="6350" marT="635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buNone/>
                      </a:pPr>
                      <a:r>
                        <a:rPr lang="fr-FR" sz="1100" b="0" i="0" u="none" strike="noStrike" dirty="0">
                          <a:solidFill>
                            <a:srgbClr val="000000"/>
                          </a:solidFill>
                          <a:effectLst/>
                          <a:latin typeface="Calibri" panose="020F0502020204030204" pitchFamily="34" charset="0"/>
                        </a:rPr>
                        <a:t>Automatique</a:t>
                      </a:r>
                    </a:p>
                  </a:txBody>
                  <a:tcPr marL="6350" marR="6350" marT="635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705361767"/>
                  </a:ext>
                </a:extLst>
              </a:tr>
            </a:tbl>
          </a:graphicData>
        </a:graphic>
      </p:graphicFrame>
      <p:pic>
        <p:nvPicPr>
          <p:cNvPr id="7" name="Image 6">
            <a:extLst>
              <a:ext uri="{FF2B5EF4-FFF2-40B4-BE49-F238E27FC236}">
                <a16:creationId xmlns:a16="http://schemas.microsoft.com/office/drawing/2014/main" id="{8DF50FB5-8252-E61F-221D-B60DB6393CAA}"/>
              </a:ext>
            </a:extLst>
          </p:cNvPr>
          <p:cNvPicPr>
            <a:picLocks noChangeAspect="1"/>
          </p:cNvPicPr>
          <p:nvPr/>
        </p:nvPicPr>
        <p:blipFill>
          <a:blip r:embed="rId3"/>
          <a:stretch>
            <a:fillRect/>
          </a:stretch>
        </p:blipFill>
        <p:spPr>
          <a:xfrm>
            <a:off x="251520" y="2739104"/>
            <a:ext cx="3744416" cy="2420100"/>
          </a:xfrm>
          <a:prstGeom prst="rect">
            <a:avLst/>
          </a:prstGeom>
          <a:ln w="25400">
            <a:solidFill>
              <a:schemeClr val="accent1"/>
            </a:solidFill>
          </a:ln>
        </p:spPr>
      </p:pic>
      <p:pic>
        <p:nvPicPr>
          <p:cNvPr id="12" name="Image 11">
            <a:extLst>
              <a:ext uri="{FF2B5EF4-FFF2-40B4-BE49-F238E27FC236}">
                <a16:creationId xmlns:a16="http://schemas.microsoft.com/office/drawing/2014/main" id="{FF942E6A-ED16-39E2-AAAF-D706A498F850}"/>
              </a:ext>
            </a:extLst>
          </p:cNvPr>
          <p:cNvPicPr>
            <a:picLocks noChangeAspect="1"/>
          </p:cNvPicPr>
          <p:nvPr/>
        </p:nvPicPr>
        <p:blipFill>
          <a:blip r:embed="rId4"/>
          <a:stretch>
            <a:fillRect/>
          </a:stretch>
        </p:blipFill>
        <p:spPr>
          <a:xfrm>
            <a:off x="5263911" y="2924944"/>
            <a:ext cx="3602721" cy="3804598"/>
          </a:xfrm>
          <a:prstGeom prst="rect">
            <a:avLst/>
          </a:prstGeom>
          <a:ln w="25400">
            <a:solidFill>
              <a:schemeClr val="accent1"/>
            </a:solidFill>
          </a:ln>
        </p:spPr>
      </p:pic>
      <p:pic>
        <p:nvPicPr>
          <p:cNvPr id="15" name="Image 14">
            <a:extLst>
              <a:ext uri="{FF2B5EF4-FFF2-40B4-BE49-F238E27FC236}">
                <a16:creationId xmlns:a16="http://schemas.microsoft.com/office/drawing/2014/main" id="{1435ECF1-49CF-1EC2-5491-CC80F8354B39}"/>
              </a:ext>
            </a:extLst>
          </p:cNvPr>
          <p:cNvPicPr>
            <a:picLocks noChangeAspect="1"/>
          </p:cNvPicPr>
          <p:nvPr/>
        </p:nvPicPr>
        <p:blipFill>
          <a:blip r:embed="rId5"/>
          <a:stretch>
            <a:fillRect/>
          </a:stretch>
        </p:blipFill>
        <p:spPr>
          <a:xfrm>
            <a:off x="777616" y="5301208"/>
            <a:ext cx="4006588" cy="1481242"/>
          </a:xfrm>
          <a:prstGeom prst="rect">
            <a:avLst/>
          </a:prstGeom>
          <a:ln w="25400">
            <a:solidFill>
              <a:schemeClr val="accent1"/>
            </a:solidFill>
          </a:ln>
        </p:spPr>
      </p:pic>
      <p:sp>
        <p:nvSpPr>
          <p:cNvPr id="16" name="ZoneTexte 15">
            <a:extLst>
              <a:ext uri="{FF2B5EF4-FFF2-40B4-BE49-F238E27FC236}">
                <a16:creationId xmlns:a16="http://schemas.microsoft.com/office/drawing/2014/main" id="{17E54588-CB4C-1F99-37BB-CF50C6EF2DBA}"/>
              </a:ext>
            </a:extLst>
          </p:cNvPr>
          <p:cNvSpPr txBox="1"/>
          <p:nvPr/>
        </p:nvSpPr>
        <p:spPr>
          <a:xfrm>
            <a:off x="2555776" y="4672861"/>
            <a:ext cx="1095364" cy="369332"/>
          </a:xfrm>
          <a:prstGeom prst="rect">
            <a:avLst/>
          </a:prstGeom>
          <a:noFill/>
        </p:spPr>
        <p:txBody>
          <a:bodyPr wrap="none" rtlCol="0">
            <a:spAutoFit/>
          </a:bodyPr>
          <a:lstStyle/>
          <a:p>
            <a:r>
              <a:rPr lang="fr-FR" dirty="0">
                <a:solidFill>
                  <a:schemeClr val="tx2"/>
                </a:solidFill>
              </a:rPr>
              <a:t>Premium</a:t>
            </a:r>
          </a:p>
        </p:txBody>
      </p:sp>
      <p:sp>
        <p:nvSpPr>
          <p:cNvPr id="17" name="ZoneTexte 16">
            <a:extLst>
              <a:ext uri="{FF2B5EF4-FFF2-40B4-BE49-F238E27FC236}">
                <a16:creationId xmlns:a16="http://schemas.microsoft.com/office/drawing/2014/main" id="{0FB0B4FD-96F6-8C62-B1A5-8138F637512A}"/>
              </a:ext>
            </a:extLst>
          </p:cNvPr>
          <p:cNvSpPr txBox="1"/>
          <p:nvPr/>
        </p:nvSpPr>
        <p:spPr>
          <a:xfrm>
            <a:off x="7236296" y="3645024"/>
            <a:ext cx="1396151" cy="369332"/>
          </a:xfrm>
          <a:prstGeom prst="rect">
            <a:avLst/>
          </a:prstGeom>
          <a:noFill/>
        </p:spPr>
        <p:txBody>
          <a:bodyPr wrap="none" rtlCol="0">
            <a:spAutoFit/>
          </a:bodyPr>
          <a:lstStyle/>
          <a:p>
            <a:r>
              <a:rPr lang="fr-FR" dirty="0">
                <a:solidFill>
                  <a:schemeClr val="tx2"/>
                </a:solidFill>
              </a:rPr>
              <a:t>App Service</a:t>
            </a:r>
          </a:p>
        </p:txBody>
      </p:sp>
      <p:sp>
        <p:nvSpPr>
          <p:cNvPr id="18" name="ZoneTexte 17">
            <a:extLst>
              <a:ext uri="{FF2B5EF4-FFF2-40B4-BE49-F238E27FC236}">
                <a16:creationId xmlns:a16="http://schemas.microsoft.com/office/drawing/2014/main" id="{19A68332-44CE-4964-8119-03BBF529798F}"/>
              </a:ext>
            </a:extLst>
          </p:cNvPr>
          <p:cNvSpPr txBox="1"/>
          <p:nvPr/>
        </p:nvSpPr>
        <p:spPr>
          <a:xfrm>
            <a:off x="3219121" y="5373216"/>
            <a:ext cx="1553630" cy="369332"/>
          </a:xfrm>
          <a:prstGeom prst="rect">
            <a:avLst/>
          </a:prstGeom>
          <a:noFill/>
        </p:spPr>
        <p:txBody>
          <a:bodyPr wrap="none" rtlCol="0">
            <a:spAutoFit/>
          </a:bodyPr>
          <a:lstStyle/>
          <a:p>
            <a:r>
              <a:rPr lang="fr-FR" dirty="0" err="1">
                <a:solidFill>
                  <a:schemeClr val="tx2"/>
                </a:solidFill>
              </a:rPr>
              <a:t>Consumption</a:t>
            </a:r>
            <a:endParaRPr lang="fr-FR" dirty="0">
              <a:solidFill>
                <a:schemeClr val="tx2"/>
              </a:solidFill>
            </a:endParaRPr>
          </a:p>
        </p:txBody>
      </p:sp>
      <p:sp>
        <p:nvSpPr>
          <p:cNvPr id="19" name="Rectangle 18">
            <a:extLst>
              <a:ext uri="{FF2B5EF4-FFF2-40B4-BE49-F238E27FC236}">
                <a16:creationId xmlns:a16="http://schemas.microsoft.com/office/drawing/2014/main" id="{26B482B9-D153-5850-3660-F4C980398DD0}"/>
              </a:ext>
            </a:extLst>
          </p:cNvPr>
          <p:cNvSpPr/>
          <p:nvPr/>
        </p:nvSpPr>
        <p:spPr>
          <a:xfrm>
            <a:off x="2256349" y="2150686"/>
            <a:ext cx="6610283" cy="5760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10</a:t>
            </a:r>
            <a:endParaRPr sz="3200" dirty="0"/>
          </a:p>
        </p:txBody>
      </p:sp>
      <p:sp>
        <p:nvSpPr>
          <p:cNvPr id="3" name="TextBox 2"/>
          <p:cNvSpPr txBox="1"/>
          <p:nvPr/>
        </p:nvSpPr>
        <p:spPr>
          <a:xfrm>
            <a:off x="467096" y="1324006"/>
            <a:ext cx="8431481" cy="1631216"/>
          </a:xfrm>
          <a:prstGeom prst="rect">
            <a:avLst/>
          </a:prstGeom>
          <a:noFill/>
        </p:spPr>
        <p:txBody>
          <a:bodyPr wrap="square">
            <a:spAutoFit/>
          </a:bodyPr>
          <a:lstStyle/>
          <a:p>
            <a:pPr>
              <a:defRPr sz="2400"/>
            </a:pPr>
            <a:r>
              <a:rPr sz="2000" dirty="0"/>
              <a:t>Quelle est la limite du plan Consumption ?</a:t>
            </a:r>
            <a:endParaRPr lang="fr-FR" sz="2000" dirty="0"/>
          </a:p>
          <a:p>
            <a:pPr marL="457200" indent="-457200">
              <a:buFont typeface="+mj-lt"/>
              <a:buAutoNum type="arabicPeriod"/>
              <a:defRPr sz="2400"/>
            </a:pPr>
            <a:r>
              <a:rPr lang="fr-FR" sz="2000" dirty="0"/>
              <a:t>Pas de scaling</a:t>
            </a:r>
          </a:p>
          <a:p>
            <a:pPr marL="457200" indent="-457200">
              <a:buFont typeface="+mj-lt"/>
              <a:buAutoNum type="arabicPeriod"/>
              <a:defRPr sz="2400"/>
            </a:pPr>
            <a:r>
              <a:rPr lang="fr-FR" sz="2000" dirty="0"/>
              <a:t>Pas de logs</a:t>
            </a:r>
          </a:p>
          <a:p>
            <a:pPr marL="457200" indent="-457200">
              <a:buFont typeface="+mj-lt"/>
              <a:buAutoNum type="arabicPeriod"/>
              <a:defRPr sz="2400"/>
            </a:pPr>
            <a:r>
              <a:rPr lang="fr-FR" sz="2000" dirty="0"/>
              <a:t>Pas de trigger HTTP</a:t>
            </a:r>
          </a:p>
          <a:p>
            <a:pPr marL="457200" indent="-457200">
              <a:buFont typeface="+mj-lt"/>
              <a:buAutoNum type="arabicPeriod"/>
              <a:defRPr sz="2400"/>
            </a:pPr>
            <a:r>
              <a:rPr lang="fr-FR" sz="2000" dirty="0"/>
              <a:t>Temps d’exécution limité</a:t>
            </a:r>
          </a:p>
        </p:txBody>
      </p:sp>
      <p:sp>
        <p:nvSpPr>
          <p:cNvPr id="8" name="TextBox 7"/>
          <p:cNvSpPr txBox="1"/>
          <p:nvPr/>
        </p:nvSpPr>
        <p:spPr>
          <a:xfrm>
            <a:off x="6343703" y="2564904"/>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187624" y="3429000"/>
            <a:ext cx="3716082" cy="2308324"/>
          </a:xfrm>
          <a:prstGeom prst="rect">
            <a:avLst/>
          </a:prstGeom>
          <a:noFill/>
        </p:spPr>
        <p:txBody>
          <a:bodyPr wrap="none">
            <a:spAutoFit/>
          </a:bodyPr>
          <a:lstStyle/>
          <a:p>
            <a:pPr>
              <a:defRPr sz="1600"/>
            </a:pPr>
            <a:r>
              <a:rPr dirty="0"/>
              <a:t>Le temps d’exécution </a:t>
            </a:r>
            <a:r>
              <a:rPr dirty="0" err="1"/>
              <a:t>est</a:t>
            </a:r>
            <a:r>
              <a:rPr dirty="0"/>
              <a:t> </a:t>
            </a:r>
            <a:r>
              <a:rPr dirty="0" err="1"/>
              <a:t>limité</a:t>
            </a:r>
            <a:endParaRPr lang="fr-FR" dirty="0"/>
          </a:p>
          <a:p>
            <a:pPr marL="285750" indent="-285750">
              <a:buFont typeface="Arial" panose="020B0604020202020204" pitchFamily="34" charset="0"/>
              <a:buChar char="•"/>
              <a:defRPr sz="1600"/>
            </a:pPr>
            <a:r>
              <a:rPr lang="fr-FR" dirty="0"/>
              <a:t>Par défaut : 5 minutes</a:t>
            </a:r>
          </a:p>
          <a:p>
            <a:pPr marL="285750" indent="-285750">
              <a:buFont typeface="Arial" panose="020B0604020202020204" pitchFamily="34" charset="0"/>
              <a:buChar char="•"/>
              <a:defRPr sz="1600"/>
            </a:pPr>
            <a:r>
              <a:rPr lang="fr-FR" dirty="0"/>
              <a:t>Maximum configurable : 10 minutes</a:t>
            </a:r>
          </a:p>
          <a:p>
            <a:pPr marL="285750" indent="-285750">
              <a:buFont typeface="Arial" panose="020B0604020202020204" pitchFamily="34" charset="0"/>
              <a:buChar char="•"/>
              <a:defRPr sz="1600"/>
            </a:pPr>
            <a:endParaRPr lang="fr-FR" dirty="0"/>
          </a:p>
          <a:p>
            <a:pPr>
              <a:defRPr sz="1600"/>
            </a:pPr>
            <a:r>
              <a:rPr lang="fr-FR" dirty="0"/>
              <a:t>Autres plans :</a:t>
            </a:r>
          </a:p>
          <a:p>
            <a:pPr marL="285750" indent="-285750">
              <a:buFont typeface="Arial" panose="020B0604020202020204" pitchFamily="34" charset="0"/>
              <a:buChar char="•"/>
              <a:defRPr sz="1600"/>
            </a:pPr>
            <a:r>
              <a:rPr lang="fr-FR" dirty="0"/>
              <a:t>Par défaut : 30 minutes</a:t>
            </a:r>
          </a:p>
          <a:p>
            <a:pPr marL="285750" indent="-285750">
              <a:buFont typeface="Arial" panose="020B0604020202020204" pitchFamily="34" charset="0"/>
              <a:buChar char="•"/>
              <a:defRPr sz="1600"/>
            </a:pPr>
            <a:r>
              <a:rPr lang="fr-FR" dirty="0"/>
              <a:t>Maximum configurable : C.F. </a:t>
            </a:r>
            <a:r>
              <a:rPr lang="fr-FR" dirty="0">
                <a:hlinkClick r:id="rId3"/>
              </a:rPr>
              <a:t>doc</a:t>
            </a:r>
            <a:endParaRPr lang="fr-FR" dirty="0"/>
          </a:p>
          <a:p>
            <a:pPr>
              <a:defRPr sz="1600"/>
            </a:pPr>
            <a:endParaRPr lang="fr-FR" dirty="0"/>
          </a:p>
          <a:p>
            <a:pPr marL="285750" indent="-285750">
              <a:buFontTx/>
              <a:buChar cha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11</a:t>
            </a:r>
            <a:endParaRPr sz="3200" dirty="0"/>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Quel fichier permet de configurer les bindings dans une Azure Function (modèle classique) ?</a:t>
            </a:r>
            <a:endParaRPr lang="fr-FR" sz="2000" dirty="0"/>
          </a:p>
          <a:p>
            <a:pPr marL="457200" indent="-457200">
              <a:buFont typeface="+mj-lt"/>
              <a:buAutoNum type="arabicPeriod"/>
              <a:defRPr sz="2400"/>
            </a:pPr>
            <a:r>
              <a:rPr lang="fr-FR" sz="2000" dirty="0"/>
              <a:t>appsettings.json</a:t>
            </a:r>
          </a:p>
          <a:p>
            <a:pPr marL="457200" indent="-457200">
              <a:buFont typeface="+mj-lt"/>
              <a:buAutoNum type="arabicPeriod"/>
              <a:defRPr sz="2400"/>
            </a:pPr>
            <a:r>
              <a:rPr lang="fr-FR" sz="2000" dirty="0" err="1"/>
              <a:t>host.json</a:t>
            </a:r>
            <a:endParaRPr lang="fr-FR" sz="2000" dirty="0"/>
          </a:p>
          <a:p>
            <a:pPr marL="457200" indent="-457200">
              <a:buFont typeface="+mj-lt"/>
              <a:buAutoNum type="arabicPeriod"/>
              <a:defRPr sz="2400"/>
            </a:pPr>
            <a:r>
              <a:rPr lang="fr-FR" sz="2000" dirty="0" err="1"/>
              <a:t>function.json</a:t>
            </a:r>
            <a:endParaRPr lang="fr-FR" sz="2000" dirty="0"/>
          </a:p>
          <a:p>
            <a:pPr marL="457200" indent="-457200">
              <a:buFont typeface="+mj-lt"/>
              <a:buAutoNum type="arabicPeriod"/>
              <a:defRPr sz="2400"/>
            </a:pPr>
            <a:r>
              <a:rPr lang="fr-FR" sz="2000" dirty="0" err="1"/>
              <a:t>bindings.json</a:t>
            </a:r>
            <a:endParaRPr lang="fr-FR" sz="2000" dirty="0"/>
          </a:p>
          <a:p>
            <a:pPr>
              <a:defRPr sz="2400"/>
            </a:pPr>
            <a:endParaRPr dirty="0"/>
          </a:p>
        </p:txBody>
      </p:sp>
      <p:sp>
        <p:nvSpPr>
          <p:cNvPr id="8" name="TextBox 7"/>
          <p:cNvSpPr txBox="1"/>
          <p:nvPr/>
        </p:nvSpPr>
        <p:spPr>
          <a:xfrm>
            <a:off x="7092280" y="1844824"/>
            <a:ext cx="1427635" cy="369332"/>
          </a:xfrm>
          <a:prstGeom prst="rect">
            <a:avLst/>
          </a:prstGeom>
          <a:noFill/>
        </p:spPr>
        <p:txBody>
          <a:bodyPr wrap="none">
            <a:spAutoFit/>
          </a:bodyPr>
          <a:lstStyle/>
          <a:p>
            <a:pPr>
              <a:defRPr sz="1800" b="1"/>
            </a:pPr>
            <a:r>
              <a:rPr u="sng" dirty="0" err="1"/>
              <a:t>Réponse</a:t>
            </a:r>
            <a:r>
              <a:rPr u="sng" dirty="0"/>
              <a:t> : </a:t>
            </a:r>
            <a:r>
              <a:rPr lang="fr-FR" u="sng" dirty="0"/>
              <a:t>3</a:t>
            </a:r>
            <a:endParaRPr u="sng" dirty="0" err="1"/>
          </a:p>
        </p:txBody>
      </p:sp>
      <p:sp>
        <p:nvSpPr>
          <p:cNvPr id="9" name="TextBox 8"/>
          <p:cNvSpPr txBox="1"/>
          <p:nvPr/>
        </p:nvSpPr>
        <p:spPr>
          <a:xfrm>
            <a:off x="245423" y="3379215"/>
            <a:ext cx="3320140" cy="1077218"/>
          </a:xfrm>
          <a:prstGeom prst="rect">
            <a:avLst/>
          </a:prstGeom>
          <a:noFill/>
        </p:spPr>
        <p:txBody>
          <a:bodyPr wrap="none">
            <a:spAutoFit/>
          </a:bodyPr>
          <a:lstStyle/>
          <a:p>
            <a:pPr>
              <a:defRPr sz="1600"/>
            </a:pPr>
            <a:r>
              <a:rPr dirty="0"/>
              <a:t>function.json contient les bindings.</a:t>
            </a:r>
            <a:endParaRPr lang="fr-FR" dirty="0"/>
          </a:p>
          <a:p>
            <a:pPr>
              <a:defRPr sz="1600"/>
            </a:pPr>
            <a:r>
              <a:rPr lang="fr-FR" dirty="0"/>
              <a:t>Exemple :</a:t>
            </a:r>
          </a:p>
          <a:p>
            <a:pPr>
              <a:defRPr sz="1600"/>
            </a:pPr>
            <a:endParaRPr lang="fr-FR" dirty="0"/>
          </a:p>
          <a:p>
            <a:pP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77356" y="2578453"/>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34FA31BD-0E11-2782-1439-1B37E15C8179}"/>
              </a:ext>
            </a:extLst>
          </p:cNvPr>
          <p:cNvSpPr txBox="1"/>
          <p:nvPr/>
        </p:nvSpPr>
        <p:spPr>
          <a:xfrm>
            <a:off x="299441" y="4077072"/>
            <a:ext cx="2952328" cy="2308324"/>
          </a:xfrm>
          <a:prstGeom prst="rect">
            <a:avLst/>
          </a:prstGeom>
          <a:noFill/>
        </p:spPr>
        <p:txBody>
          <a:bodyPr wrap="square">
            <a:spAutoFit/>
          </a:bodyPr>
          <a:lstStyle/>
          <a:p>
            <a:pPr>
              <a:buNone/>
            </a:pP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"bindings"</a:t>
            </a: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"type"</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queueTrigger</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name</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myQueueItem</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queueName</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orders</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connection</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AzureWebJobsStorage</a:t>
            </a:r>
            <a:r>
              <a:rPr lang="fr-FR" sz="900" dirty="0">
                <a:solidFill>
                  <a:srgbClr val="A31515"/>
                </a:solidFill>
                <a:effectLst/>
                <a:latin typeface="Cascadia Mono" panose="020B0609020000020004" pitchFamily="49" charset="0"/>
              </a:rPr>
              <a:t>"</a:t>
            </a:r>
            <a:endParaRPr lang="fr-FR" sz="900" dirty="0">
              <a:solidFill>
                <a:srgbClr val="000000"/>
              </a:solidFill>
              <a:effectLst/>
              <a:latin typeface="Cascadia Mono" panose="020B0609020000020004" pitchFamily="49" charset="0"/>
            </a:endParaRPr>
          </a:p>
          <a:p>
            <a:pPr>
              <a:buNone/>
            </a:pP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"type"</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"queue"</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name</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outputQueueItem</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queueName</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processed-orders</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"direction"</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"out"</a:t>
            </a:r>
            <a:endParaRPr lang="fr-FR" sz="900" dirty="0">
              <a:solidFill>
                <a:srgbClr val="000000"/>
              </a:solidFill>
              <a:effectLst/>
              <a:latin typeface="Cascadia Mono" panose="020B0609020000020004" pitchFamily="49" charset="0"/>
            </a:endParaRPr>
          </a:p>
          <a:p>
            <a:pPr>
              <a:buNone/>
            </a:pP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a:t>
            </a:r>
          </a:p>
        </p:txBody>
      </p:sp>
      <p:sp>
        <p:nvSpPr>
          <p:cNvPr id="6" name="TextBox 8">
            <a:extLst>
              <a:ext uri="{FF2B5EF4-FFF2-40B4-BE49-F238E27FC236}">
                <a16:creationId xmlns:a16="http://schemas.microsoft.com/office/drawing/2014/main" id="{050BE510-94D3-07C8-F724-015885C57E1F}"/>
              </a:ext>
            </a:extLst>
          </p:cNvPr>
          <p:cNvSpPr txBox="1"/>
          <p:nvPr/>
        </p:nvSpPr>
        <p:spPr>
          <a:xfrm>
            <a:off x="4932040" y="3408810"/>
            <a:ext cx="2412135" cy="830997"/>
          </a:xfrm>
          <a:prstGeom prst="rect">
            <a:avLst/>
          </a:prstGeom>
          <a:noFill/>
        </p:spPr>
        <p:txBody>
          <a:bodyPr wrap="none">
            <a:spAutoFit/>
          </a:bodyPr>
          <a:lstStyle/>
          <a:p>
            <a:pPr>
              <a:defRPr sz="1600"/>
            </a:pPr>
            <a:r>
              <a:rPr lang="fr-FR" dirty="0"/>
              <a:t>Version moderne en C# :</a:t>
            </a:r>
          </a:p>
          <a:p>
            <a:pPr>
              <a:defRPr sz="1600"/>
            </a:pPr>
            <a:endParaRPr lang="fr-FR" dirty="0"/>
          </a:p>
          <a:p>
            <a:pPr>
              <a:defRPr sz="1600"/>
            </a:pPr>
            <a:endParaRPr dirty="0"/>
          </a:p>
        </p:txBody>
      </p:sp>
      <p:sp>
        <p:nvSpPr>
          <p:cNvPr id="14" name="ZoneTexte 13">
            <a:extLst>
              <a:ext uri="{FF2B5EF4-FFF2-40B4-BE49-F238E27FC236}">
                <a16:creationId xmlns:a16="http://schemas.microsoft.com/office/drawing/2014/main" id="{94267611-22FC-F80B-4C79-7EEBF1D58F74}"/>
              </a:ext>
            </a:extLst>
          </p:cNvPr>
          <p:cNvSpPr txBox="1"/>
          <p:nvPr/>
        </p:nvSpPr>
        <p:spPr>
          <a:xfrm>
            <a:off x="4211960" y="4298960"/>
            <a:ext cx="4824536" cy="1477328"/>
          </a:xfrm>
          <a:prstGeom prst="rect">
            <a:avLst/>
          </a:prstGeom>
          <a:noFill/>
        </p:spPr>
        <p:txBody>
          <a:bodyPr wrap="square">
            <a:spAutoFit/>
          </a:bodyPr>
          <a:lstStyle/>
          <a:p>
            <a:pPr>
              <a:buNone/>
            </a:pPr>
            <a:r>
              <a:rPr lang="fr-FR" sz="900" dirty="0">
                <a:solidFill>
                  <a:srgbClr val="000000"/>
                </a:solidFill>
                <a:effectLst/>
                <a:latin typeface="Cascadia Mono" panose="020B0609020000020004" pitchFamily="49" charset="0"/>
              </a:rPr>
              <a:t>[</a:t>
            </a:r>
            <a:r>
              <a:rPr lang="fr-FR" sz="900" dirty="0" err="1">
                <a:solidFill>
                  <a:srgbClr val="2B91AF"/>
                </a:solidFill>
                <a:effectLst/>
                <a:latin typeface="Cascadia Mono" panose="020B0609020000020004" pitchFamily="49" charset="0"/>
              </a:rPr>
              <a:t>Function</a:t>
            </a:r>
            <a:r>
              <a:rPr lang="fr-FR" sz="900" dirty="0">
                <a:solidFill>
                  <a:srgbClr val="000000"/>
                </a:solidFill>
                <a:effectLst/>
                <a:latin typeface="Cascadia Mono" panose="020B0609020000020004" pitchFamily="49" charset="0"/>
              </a:rPr>
              <a:t>(</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ProcessOrder</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a:t>
            </a:r>
          </a:p>
          <a:p>
            <a:pPr>
              <a:buNone/>
            </a:pPr>
            <a:r>
              <a:rPr lang="fr-FR" sz="900" dirty="0">
                <a:solidFill>
                  <a:srgbClr val="0000FF"/>
                </a:solidFill>
                <a:effectLst/>
                <a:latin typeface="Cascadia Mono" panose="020B0609020000020004" pitchFamily="49" charset="0"/>
              </a:rPr>
              <a:t>public</a:t>
            </a:r>
            <a:r>
              <a:rPr lang="fr-FR" sz="900" dirty="0">
                <a:solidFill>
                  <a:srgbClr val="000000"/>
                </a:solidFill>
                <a:effectLst/>
                <a:latin typeface="Cascadia Mono" panose="020B0609020000020004" pitchFamily="49" charset="0"/>
              </a:rPr>
              <a:t> </a:t>
            </a:r>
            <a:r>
              <a:rPr lang="fr-FR" sz="900" dirty="0" err="1">
                <a:solidFill>
                  <a:srgbClr val="0000FF"/>
                </a:solidFill>
                <a:effectLst/>
                <a:latin typeface="Cascadia Mono" panose="020B0609020000020004" pitchFamily="49" charset="0"/>
              </a:rPr>
              <a:t>static</a:t>
            </a:r>
            <a:r>
              <a:rPr lang="fr-FR" sz="900" dirty="0">
                <a:solidFill>
                  <a:srgbClr val="000000"/>
                </a:solidFill>
                <a:effectLst/>
                <a:latin typeface="Cascadia Mono" panose="020B0609020000020004" pitchFamily="49" charset="0"/>
              </a:rPr>
              <a:t> </a:t>
            </a:r>
            <a:r>
              <a:rPr lang="fr-FR" sz="900" dirty="0" err="1">
                <a:solidFill>
                  <a:srgbClr val="0000FF"/>
                </a:solidFill>
                <a:effectLst/>
                <a:latin typeface="Cascadia Mono" panose="020B0609020000020004" pitchFamily="49" charset="0"/>
              </a:rPr>
              <a:t>void</a:t>
            </a:r>
            <a:r>
              <a:rPr lang="fr-FR" sz="900" dirty="0">
                <a:solidFill>
                  <a:srgbClr val="000000"/>
                </a:solidFill>
                <a:effectLst/>
                <a:latin typeface="Cascadia Mono" panose="020B0609020000020004" pitchFamily="49" charset="0"/>
              </a:rPr>
              <a:t> </a:t>
            </a:r>
            <a:r>
              <a:rPr lang="fr-FR" sz="900" dirty="0">
                <a:solidFill>
                  <a:srgbClr val="74531F"/>
                </a:solidFill>
                <a:effectLst/>
                <a:latin typeface="Cascadia Mono" panose="020B0609020000020004" pitchFamily="49" charset="0"/>
              </a:rPr>
              <a:t>Run</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err="1">
                <a:solidFill>
                  <a:srgbClr val="2B91AF"/>
                </a:solidFill>
                <a:effectLst/>
                <a:latin typeface="Cascadia Mono" panose="020B0609020000020004" pitchFamily="49" charset="0"/>
              </a:rPr>
              <a:t>QueueTrigger</a:t>
            </a:r>
            <a:r>
              <a:rPr lang="fr-FR" sz="900" dirty="0">
                <a:solidFill>
                  <a:srgbClr val="000000"/>
                </a:solidFill>
                <a:effectLst/>
                <a:latin typeface="Cascadia Mono" panose="020B0609020000020004" pitchFamily="49" charset="0"/>
              </a:rPr>
              <a:t>(</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orders</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Connection = </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AzureWebJobsStorage</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p>
          <a:p>
            <a:pPr>
              <a:buNone/>
            </a:pPr>
            <a:r>
              <a:rPr lang="fr-FR" sz="900" dirty="0">
                <a:solidFill>
                  <a:srgbClr val="000000"/>
                </a:solidFill>
                <a:latin typeface="Cascadia Mono" panose="020B0609020000020004" pitchFamily="49" charset="0"/>
              </a:rPr>
              <a:t>      </a:t>
            </a:r>
            <a:r>
              <a:rPr lang="fr-FR" sz="900" dirty="0">
                <a:solidFill>
                  <a:srgbClr val="0000FF"/>
                </a:solidFill>
                <a:effectLst/>
                <a:latin typeface="Cascadia Mono" panose="020B0609020000020004" pitchFamily="49" charset="0"/>
              </a:rPr>
              <a:t>string</a:t>
            </a:r>
            <a:r>
              <a:rPr lang="fr-FR" sz="900" dirty="0">
                <a:solidFill>
                  <a:srgbClr val="000000"/>
                </a:solidFill>
                <a:effectLst/>
                <a:latin typeface="Cascadia Mono" panose="020B0609020000020004" pitchFamily="49" charset="0"/>
              </a:rPr>
              <a:t> </a:t>
            </a:r>
            <a:r>
              <a:rPr lang="fr-FR" sz="900" dirty="0" err="1">
                <a:solidFill>
                  <a:srgbClr val="1F377F"/>
                </a:solidFill>
                <a:effectLst/>
                <a:latin typeface="Cascadia Mono" panose="020B0609020000020004" pitchFamily="49" charset="0"/>
              </a:rPr>
              <a:t>myQueueItem</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B91AF"/>
                </a:solidFill>
                <a:effectLst/>
                <a:latin typeface="Cascadia Mono" panose="020B0609020000020004" pitchFamily="49" charset="0"/>
              </a:rPr>
              <a:t>Queue</a:t>
            </a:r>
            <a:r>
              <a:rPr lang="fr-FR" sz="900" dirty="0">
                <a:solidFill>
                  <a:srgbClr val="000000"/>
                </a:solidFill>
                <a:effectLst/>
                <a:latin typeface="Cascadia Mono" panose="020B0609020000020004" pitchFamily="49" charset="0"/>
              </a:rPr>
              <a:t>(</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processed-orders</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p>
          <a:p>
            <a:pPr>
              <a:buNone/>
            </a:pPr>
            <a:r>
              <a:rPr lang="fr-FR" sz="900" dirty="0">
                <a:solidFill>
                  <a:srgbClr val="000000"/>
                </a:solidFill>
                <a:latin typeface="Cascadia Mono" panose="020B0609020000020004" pitchFamily="49" charset="0"/>
              </a:rPr>
              <a:t>      </a:t>
            </a:r>
            <a:r>
              <a:rPr lang="fr-FR" sz="900" dirty="0">
                <a:solidFill>
                  <a:srgbClr val="0000FF"/>
                </a:solidFill>
                <a:effectLst/>
                <a:latin typeface="Cascadia Mono" panose="020B0609020000020004" pitchFamily="49" charset="0"/>
              </a:rPr>
              <a:t>out</a:t>
            </a:r>
            <a:r>
              <a:rPr lang="fr-FR" sz="900" dirty="0">
                <a:solidFill>
                  <a:srgbClr val="000000"/>
                </a:solidFill>
                <a:effectLst/>
                <a:latin typeface="Cascadia Mono" panose="020B0609020000020004" pitchFamily="49" charset="0"/>
              </a:rPr>
              <a:t> </a:t>
            </a:r>
            <a:r>
              <a:rPr lang="fr-FR" sz="900" dirty="0">
                <a:solidFill>
                  <a:srgbClr val="0000FF"/>
                </a:solidFill>
                <a:effectLst/>
                <a:latin typeface="Cascadia Mono" panose="020B0609020000020004" pitchFamily="49" charset="0"/>
              </a:rPr>
              <a:t>string</a:t>
            </a:r>
            <a:r>
              <a:rPr lang="fr-FR" sz="900" dirty="0">
                <a:solidFill>
                  <a:srgbClr val="000000"/>
                </a:solidFill>
                <a:latin typeface="Cascadia Mono" panose="020B0609020000020004" pitchFamily="49" charset="0"/>
              </a:rPr>
              <a:t> </a:t>
            </a:r>
            <a:r>
              <a:rPr lang="fr-FR" sz="900" dirty="0" err="1">
                <a:solidFill>
                  <a:srgbClr val="1F377F"/>
                </a:solidFill>
                <a:effectLst/>
                <a:latin typeface="Cascadia Mono" panose="020B0609020000020004" pitchFamily="49" charset="0"/>
              </a:rPr>
              <a:t>outputQueueItem</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err="1">
                <a:solidFill>
                  <a:srgbClr val="2B91AF"/>
                </a:solidFill>
                <a:effectLst/>
                <a:latin typeface="Cascadia Mono" panose="020B0609020000020004" pitchFamily="49" charset="0"/>
              </a:rPr>
              <a:t>ILogger</a:t>
            </a:r>
            <a:r>
              <a:rPr lang="fr-FR" sz="900" dirty="0">
                <a:solidFill>
                  <a:srgbClr val="000000"/>
                </a:solidFill>
                <a:effectLst/>
                <a:latin typeface="Cascadia Mono" panose="020B0609020000020004" pitchFamily="49" charset="0"/>
              </a:rPr>
              <a:t> </a:t>
            </a:r>
            <a:r>
              <a:rPr lang="fr-FR" sz="900" dirty="0">
                <a:solidFill>
                  <a:srgbClr val="1F377F"/>
                </a:solidFill>
                <a:effectLst/>
                <a:latin typeface="Cascadia Mono" panose="020B0609020000020004" pitchFamily="49" charset="0"/>
              </a:rPr>
              <a:t>log</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a:t>
            </a:r>
          </a:p>
          <a:p>
            <a:pPr>
              <a:buNone/>
            </a:pPr>
            <a:endParaRPr lang="fr-FR" sz="900" dirty="0">
              <a:solidFill>
                <a:srgbClr val="000000"/>
              </a:solidFill>
              <a:effectLst/>
              <a:latin typeface="Cascadia Mono" panose="020B0609020000020004" pitchFamily="49" charset="0"/>
            </a:endParaRPr>
          </a:p>
          <a:p>
            <a:pPr>
              <a:buNone/>
            </a:pPr>
            <a:r>
              <a:rPr lang="fr-FR" sz="900" dirty="0">
                <a:solidFill>
                  <a:srgbClr val="000000"/>
                </a:solidFill>
                <a:effectLst/>
                <a:latin typeface="Cascadia Mono" panose="020B0609020000020004" pitchFamily="49" charset="0"/>
              </a:rPr>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5" grpId="0"/>
      <p:bldP spid="6" grpId="0"/>
      <p:bldP spid="14"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2</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rôle du fichier host.json ?</a:t>
            </a:r>
            <a:endParaRPr lang="fr-FR" sz="2000" dirty="0"/>
          </a:p>
          <a:p>
            <a:pPr marL="457200" indent="-457200">
              <a:buFont typeface="+mj-lt"/>
              <a:buAutoNum type="arabicPeriod"/>
              <a:defRPr sz="2400"/>
            </a:pPr>
            <a:r>
              <a:rPr lang="fr-FR" sz="2000" dirty="0"/>
              <a:t>Configurer le runtime global</a:t>
            </a:r>
          </a:p>
          <a:p>
            <a:pPr marL="457200" indent="-457200">
              <a:buFont typeface="+mj-lt"/>
              <a:buAutoNum type="arabicPeriod"/>
              <a:defRPr sz="2400"/>
            </a:pPr>
            <a:r>
              <a:rPr lang="fr-FR" sz="2000" dirty="0"/>
              <a:t>Définir les routes HTTP</a:t>
            </a:r>
          </a:p>
          <a:p>
            <a:pPr marL="457200" indent="-457200">
              <a:buFont typeface="+mj-lt"/>
              <a:buAutoNum type="arabicPeriod"/>
              <a:defRPr sz="2400"/>
            </a:pPr>
            <a:r>
              <a:rPr lang="fr-FR" sz="2000" dirty="0"/>
              <a:t>Définir les variables d’environnement</a:t>
            </a:r>
          </a:p>
          <a:p>
            <a:pPr marL="457200" indent="-457200">
              <a:buFont typeface="+mj-lt"/>
              <a:buAutoNum type="arabicPeriod"/>
              <a:defRPr sz="2400"/>
            </a:pPr>
            <a:r>
              <a:rPr lang="fr-FR" sz="2000" dirty="0"/>
              <a:t>Configurer la CI/CD</a:t>
            </a:r>
          </a:p>
          <a:p>
            <a:pPr>
              <a:defRPr sz="2400"/>
            </a:pPr>
            <a:endParaRPr dirty="0"/>
          </a:p>
        </p:txBody>
      </p:sp>
      <p:sp>
        <p:nvSpPr>
          <p:cNvPr id="8" name="TextBox 7"/>
          <p:cNvSpPr txBox="1"/>
          <p:nvPr/>
        </p:nvSpPr>
        <p:spPr>
          <a:xfrm>
            <a:off x="6151418" y="5029200"/>
            <a:ext cx="1427635" cy="369332"/>
          </a:xfrm>
          <a:prstGeom prst="rect">
            <a:avLst/>
          </a:prstGeom>
          <a:noFill/>
        </p:spPr>
        <p:txBody>
          <a:bodyPr wrap="none">
            <a:spAutoFit/>
          </a:bodyPr>
          <a:lstStyle/>
          <a:p>
            <a:pPr>
              <a:defRPr sz="1800" b="1"/>
            </a:pPr>
            <a:r>
              <a:rPr u="sng" dirty="0" err="1"/>
              <a:t>Réponse</a:t>
            </a:r>
            <a:r>
              <a:rPr u="sng" dirty="0"/>
              <a:t> : </a:t>
            </a:r>
            <a:r>
              <a:rPr lang="fr-FR" u="sng" dirty="0"/>
              <a:t>1</a:t>
            </a:r>
            <a:endParaRPr u="sng" dirty="0" err="1"/>
          </a:p>
        </p:txBody>
      </p:sp>
      <p:sp>
        <p:nvSpPr>
          <p:cNvPr id="9" name="TextBox 8"/>
          <p:cNvSpPr txBox="1"/>
          <p:nvPr/>
        </p:nvSpPr>
        <p:spPr>
          <a:xfrm>
            <a:off x="827584" y="3140968"/>
            <a:ext cx="4189480" cy="584775"/>
          </a:xfrm>
          <a:prstGeom prst="rect">
            <a:avLst/>
          </a:prstGeom>
          <a:noFill/>
        </p:spPr>
        <p:txBody>
          <a:bodyPr wrap="none">
            <a:spAutoFit/>
          </a:bodyPr>
          <a:lstStyle/>
          <a:p>
            <a:pPr>
              <a:defRPr sz="1600"/>
            </a:pPr>
            <a:r>
              <a:rPr dirty="0"/>
              <a:t>host.json configure le comportement global.</a:t>
            </a:r>
            <a:br>
              <a:rPr lang="fr-FR" dirty="0"/>
            </a:br>
            <a:r>
              <a:rPr lang="fr-FR" dirty="0"/>
              <a:t>Exemple : </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23021" y="1628800"/>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65EBF0D6-D545-EFC0-5ADF-A79CCD0A14F3}"/>
              </a:ext>
            </a:extLst>
          </p:cNvPr>
          <p:cNvSpPr txBox="1"/>
          <p:nvPr/>
        </p:nvSpPr>
        <p:spPr>
          <a:xfrm>
            <a:off x="899592" y="3861048"/>
            <a:ext cx="4720106" cy="2446824"/>
          </a:xfrm>
          <a:prstGeom prst="rect">
            <a:avLst/>
          </a:prstGeom>
          <a:noFill/>
        </p:spPr>
        <p:txBody>
          <a:bodyPr wrap="square">
            <a:spAutoFit/>
          </a:bodyPr>
          <a:lstStyle/>
          <a:p>
            <a:pPr>
              <a:buNone/>
            </a:pP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"version"</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"2.0"</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functionTimeout</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"00:10:00"</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logging</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logLevel</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"default"</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"Information"</a:t>
            </a:r>
            <a:r>
              <a:rPr lang="fr-FR" sz="900" dirty="0">
                <a:solidFill>
                  <a:srgbClr val="000000"/>
                </a:solidFill>
                <a:effectLst/>
                <a:latin typeface="Cascadia Mono" panose="020B0609020000020004" pitchFamily="49" charset="0"/>
              </a:rPr>
              <a:t>,</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Function</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Error</a:t>
            </a:r>
            <a:r>
              <a:rPr lang="fr-FR" sz="900" dirty="0">
                <a:solidFill>
                  <a:srgbClr val="A31515"/>
                </a:solidFill>
                <a:effectLst/>
                <a:latin typeface="Cascadia Mono" panose="020B0609020000020004" pitchFamily="49" charset="0"/>
              </a:rPr>
              <a:t>"</a:t>
            </a:r>
            <a:endParaRPr lang="fr-FR" sz="900" dirty="0">
              <a:solidFill>
                <a:srgbClr val="000000"/>
              </a:solidFill>
              <a:effectLst/>
              <a:latin typeface="Cascadia Mono" panose="020B0609020000020004" pitchFamily="49" charset="0"/>
            </a:endParaRPr>
          </a:p>
          <a:p>
            <a:pPr>
              <a:buNone/>
            </a:pP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"extensions"</a:t>
            </a: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"queues"</a:t>
            </a: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batchSize</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16,</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maxDequeueCount</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5,</a:t>
            </a:r>
          </a:p>
          <a:p>
            <a:pPr>
              <a:buNone/>
            </a:pPr>
            <a:r>
              <a:rPr lang="fr-FR" sz="900" dirty="0">
                <a:solidFill>
                  <a:srgbClr val="000000"/>
                </a:solidFill>
                <a:effectLst/>
                <a:latin typeface="Cascadia Mono" panose="020B0609020000020004" pitchFamily="49" charset="0"/>
              </a:rPr>
              <a:t>      </a:t>
            </a:r>
            <a:r>
              <a:rPr lang="fr-FR" sz="900" dirty="0">
                <a:solidFill>
                  <a:srgbClr val="2E75B6"/>
                </a:solidFill>
                <a:effectLst/>
                <a:latin typeface="Cascadia Mono" panose="020B0609020000020004" pitchFamily="49" charset="0"/>
              </a:rPr>
              <a:t>"</a:t>
            </a:r>
            <a:r>
              <a:rPr lang="fr-FR" sz="900" dirty="0" err="1">
                <a:solidFill>
                  <a:srgbClr val="2E75B6"/>
                </a:solidFill>
                <a:effectLst/>
                <a:latin typeface="Cascadia Mono" panose="020B0609020000020004" pitchFamily="49" charset="0"/>
              </a:rPr>
              <a:t>visibilityTimeout</a:t>
            </a:r>
            <a:r>
              <a:rPr lang="fr-FR" sz="900" dirty="0">
                <a:solidFill>
                  <a:srgbClr val="2E75B6"/>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"00:01:00"</a:t>
            </a:r>
            <a:endParaRPr lang="fr-FR" sz="900" dirty="0">
              <a:solidFill>
                <a:srgbClr val="000000"/>
              </a:solidFill>
              <a:effectLst/>
              <a:latin typeface="Cascadia Mono" panose="020B0609020000020004" pitchFamily="49" charset="0"/>
            </a:endParaRPr>
          </a:p>
          <a:p>
            <a:pPr>
              <a:buNone/>
            </a:pP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  }</a:t>
            </a:r>
          </a:p>
          <a:p>
            <a:pPr>
              <a:buNone/>
            </a:pPr>
            <a:r>
              <a:rPr lang="fr-FR" sz="900" dirty="0">
                <a:solidFill>
                  <a:srgbClr val="000000"/>
                </a:solidFill>
                <a:effectLst/>
                <a:latin typeface="Cascadia Mono" panose="020B0609020000020004"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3</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option permet de sécuriser une Azure Function HTTP ?</a:t>
            </a:r>
            <a:endParaRPr lang="fr-FR" sz="2000" dirty="0"/>
          </a:p>
          <a:p>
            <a:pPr marL="457200" indent="-457200">
              <a:buFont typeface="+mj-lt"/>
              <a:buAutoNum type="arabicPeriod"/>
              <a:defRPr sz="2400"/>
            </a:pPr>
            <a:r>
              <a:rPr lang="fr-FR" sz="2000" dirty="0"/>
              <a:t>HTTPS uniquement</a:t>
            </a:r>
          </a:p>
          <a:p>
            <a:pPr marL="457200" indent="-457200">
              <a:buFont typeface="+mj-lt"/>
              <a:buAutoNum type="arabicPeriod"/>
              <a:defRPr sz="2400"/>
            </a:pPr>
            <a:r>
              <a:rPr lang="fr-FR" sz="2000" dirty="0"/>
              <a:t>Firewall Azure SQL</a:t>
            </a:r>
          </a:p>
          <a:p>
            <a:pPr marL="457200" indent="-457200">
              <a:buFont typeface="+mj-lt"/>
              <a:buAutoNum type="arabicPeriod"/>
              <a:defRPr sz="2400"/>
            </a:pPr>
            <a:r>
              <a:rPr lang="fr-FR" sz="2000" dirty="0"/>
              <a:t>NSG (Network Security Group)</a:t>
            </a:r>
          </a:p>
          <a:p>
            <a:pPr marL="457200" indent="-457200">
              <a:buFont typeface="+mj-lt"/>
              <a:buAutoNum type="arabicPeriod"/>
              <a:defRPr sz="2400"/>
            </a:pPr>
            <a:r>
              <a:rPr lang="fr-FR" sz="2000" dirty="0" err="1"/>
              <a:t>Function</a:t>
            </a:r>
            <a:r>
              <a:rPr lang="fr-FR" sz="2000" dirty="0"/>
              <a:t> Key / </a:t>
            </a:r>
            <a:r>
              <a:rPr lang="fr-FR" sz="2000" dirty="0" err="1"/>
              <a:t>Auth</a:t>
            </a:r>
            <a:r>
              <a:rPr lang="fr-FR" sz="2000" dirty="0"/>
              <a:t> </a:t>
            </a:r>
            <a:r>
              <a:rPr lang="fr-FR" sz="2000" dirty="0" err="1"/>
              <a:t>Level</a:t>
            </a:r>
            <a:endParaRPr lang="fr-FR" sz="2000" dirty="0"/>
          </a:p>
          <a:p>
            <a:pPr>
              <a:defRPr sz="2400"/>
            </a:pPr>
            <a:endParaRPr dirty="0"/>
          </a:p>
        </p:txBody>
      </p:sp>
      <p:sp>
        <p:nvSpPr>
          <p:cNvPr id="8" name="TextBox 7"/>
          <p:cNvSpPr txBox="1"/>
          <p:nvPr/>
        </p:nvSpPr>
        <p:spPr>
          <a:xfrm>
            <a:off x="6151418" y="5029200"/>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187624" y="2996952"/>
            <a:ext cx="3437351" cy="830997"/>
          </a:xfrm>
          <a:prstGeom prst="rect">
            <a:avLst/>
          </a:prstGeom>
          <a:noFill/>
        </p:spPr>
        <p:txBody>
          <a:bodyPr wrap="none">
            <a:spAutoFit/>
          </a:bodyPr>
          <a:lstStyle/>
          <a:p>
            <a:pPr>
              <a:defRPr sz="1600"/>
            </a:pPr>
            <a:r>
              <a:rPr dirty="0"/>
              <a:t>Les Function Keys contrôlent </a:t>
            </a:r>
            <a:r>
              <a:rPr dirty="0" err="1"/>
              <a:t>l’accès</a:t>
            </a:r>
            <a:r>
              <a:rPr dirty="0"/>
              <a:t>.</a:t>
            </a:r>
            <a:endParaRPr lang="fr-FR" dirty="0"/>
          </a:p>
          <a:p>
            <a:pPr>
              <a:defRPr sz="1600"/>
            </a:pPr>
            <a:endParaRPr lang="fr-FR" dirty="0"/>
          </a:p>
          <a:p>
            <a:pP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107504" y="2564904"/>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0028436B-3115-7281-BDBC-414BF08CF1AB}"/>
              </a:ext>
            </a:extLst>
          </p:cNvPr>
          <p:cNvSpPr txBox="1"/>
          <p:nvPr/>
        </p:nvSpPr>
        <p:spPr>
          <a:xfrm>
            <a:off x="755576" y="3579160"/>
            <a:ext cx="7992888" cy="646331"/>
          </a:xfrm>
          <a:prstGeom prst="rect">
            <a:avLst/>
          </a:prstGeom>
          <a:noFill/>
        </p:spPr>
        <p:txBody>
          <a:bodyPr wrap="square">
            <a:spAutoFit/>
          </a:bodyPr>
          <a:lstStyle/>
          <a:p>
            <a:pPr>
              <a:buNone/>
            </a:pPr>
            <a:r>
              <a:rPr lang="fr-FR" sz="900" dirty="0">
                <a:solidFill>
                  <a:srgbClr val="000000"/>
                </a:solidFill>
                <a:effectLst/>
                <a:latin typeface="Cascadia Mono" panose="020B0609020000020004" pitchFamily="49" charset="0"/>
              </a:rPr>
              <a:t> [</a:t>
            </a:r>
            <a:r>
              <a:rPr lang="fr-FR" sz="900" dirty="0" err="1">
                <a:solidFill>
                  <a:srgbClr val="2B91AF"/>
                </a:solidFill>
                <a:effectLst/>
                <a:latin typeface="Cascadia Mono" panose="020B0609020000020004" pitchFamily="49" charset="0"/>
              </a:rPr>
              <a:t>HttpTrigger</a:t>
            </a:r>
            <a:r>
              <a:rPr lang="fr-FR" sz="900" dirty="0">
                <a:solidFill>
                  <a:srgbClr val="000000"/>
                </a:solidFill>
                <a:effectLst/>
                <a:latin typeface="Cascadia Mono" panose="020B0609020000020004" pitchFamily="49" charset="0"/>
              </a:rPr>
              <a:t>(</a:t>
            </a:r>
            <a:r>
              <a:rPr lang="fr-FR" sz="900" dirty="0" err="1">
                <a:solidFill>
                  <a:srgbClr val="2B91AF"/>
                </a:solidFill>
                <a:effectLst/>
                <a:latin typeface="Cascadia Mono" panose="020B0609020000020004" pitchFamily="49" charset="0"/>
              </a:rPr>
              <a:t>AuthorizationLevel</a:t>
            </a:r>
            <a:r>
              <a:rPr lang="fr-FR" sz="900" dirty="0" err="1">
                <a:solidFill>
                  <a:srgbClr val="000000"/>
                </a:solidFill>
                <a:effectLst/>
                <a:latin typeface="Cascadia Mono" panose="020B0609020000020004" pitchFamily="49" charset="0"/>
              </a:rPr>
              <a:t>.Anonymous</a:t>
            </a:r>
            <a:r>
              <a:rPr lang="fr-FR" sz="900" dirty="0">
                <a:solidFill>
                  <a:srgbClr val="000000"/>
                </a:solidFill>
                <a:effectLst/>
                <a:latin typeface="Cascadia Mono" panose="020B0609020000020004" pitchFamily="49" charset="0"/>
              </a:rPr>
              <a:t>, </a:t>
            </a:r>
            <a:r>
              <a:rPr lang="fr-FR" sz="900" dirty="0">
                <a:solidFill>
                  <a:srgbClr val="A31515"/>
                </a:solidFill>
                <a:effectLst/>
                <a:latin typeface="Cascadia Mono" panose="020B0609020000020004" pitchFamily="49" charset="0"/>
              </a:rPr>
              <a:t>"</a:t>
            </a:r>
            <a:r>
              <a:rPr lang="fr-FR" sz="900" dirty="0" err="1">
                <a:solidFill>
                  <a:srgbClr val="A31515"/>
                </a:solidFill>
                <a:effectLst/>
                <a:latin typeface="Cascadia Mono" panose="020B0609020000020004" pitchFamily="49" charset="0"/>
              </a:rPr>
              <a:t>get</a:t>
            </a:r>
            <a:r>
              <a:rPr lang="fr-FR" sz="900" dirty="0">
                <a:solidFill>
                  <a:srgbClr val="A31515"/>
                </a:solidFill>
                <a:effectLst/>
                <a:latin typeface="Cascadia Mono" panose="020B0609020000020004" pitchFamily="49" charset="0"/>
              </a:rPr>
              <a:t>"</a:t>
            </a:r>
            <a:r>
              <a:rPr lang="fr-FR" sz="900" dirty="0">
                <a:solidFill>
                  <a:srgbClr val="000000"/>
                </a:solidFill>
                <a:effectLst/>
                <a:latin typeface="Cascadia Mono" panose="020B0609020000020004" pitchFamily="49" charset="0"/>
              </a:rPr>
              <a:t>)] // Aucune clé requise</a:t>
            </a:r>
          </a:p>
          <a:p>
            <a:r>
              <a:rPr lang="fr-FR" sz="900" dirty="0">
                <a:solidFill>
                  <a:srgbClr val="000000"/>
                </a:solidFill>
                <a:latin typeface="Cascadia Mono" panose="020B0609020000020004" pitchFamily="49" charset="0"/>
              </a:rPr>
              <a:t> [</a:t>
            </a:r>
            <a:r>
              <a:rPr lang="fr-FR" sz="900" dirty="0" err="1">
                <a:solidFill>
                  <a:srgbClr val="2B91AF"/>
                </a:solidFill>
                <a:latin typeface="Cascadia Mono" panose="020B0609020000020004" pitchFamily="49" charset="0"/>
              </a:rPr>
              <a:t>HttpTrigger</a:t>
            </a:r>
            <a:r>
              <a:rPr lang="fr-FR" sz="900" dirty="0">
                <a:solidFill>
                  <a:srgbClr val="000000"/>
                </a:solidFill>
                <a:latin typeface="Cascadia Mono" panose="020B0609020000020004" pitchFamily="49" charset="0"/>
              </a:rPr>
              <a:t>(</a:t>
            </a:r>
            <a:r>
              <a:rPr lang="fr-FR" sz="900" dirty="0" err="1">
                <a:solidFill>
                  <a:srgbClr val="2B91AF"/>
                </a:solidFill>
                <a:latin typeface="Cascadia Mono" panose="020B0609020000020004" pitchFamily="49" charset="0"/>
              </a:rPr>
              <a:t>AuthorizationLevel</a:t>
            </a:r>
            <a:r>
              <a:rPr lang="fr-FR" sz="900" dirty="0" err="1">
                <a:solidFill>
                  <a:srgbClr val="000000"/>
                </a:solidFill>
                <a:latin typeface="Cascadia Mono" panose="020B0609020000020004" pitchFamily="49" charset="0"/>
              </a:rPr>
              <a:t>.Function</a:t>
            </a:r>
            <a:r>
              <a:rPr lang="fr-FR" sz="900" dirty="0">
                <a:solidFill>
                  <a:srgbClr val="000000"/>
                </a:solidFill>
                <a:latin typeface="Cascadia Mono" panose="020B0609020000020004" pitchFamily="49" charset="0"/>
              </a:rPr>
              <a:t>, </a:t>
            </a:r>
            <a:r>
              <a:rPr lang="fr-FR" sz="900" dirty="0">
                <a:solidFill>
                  <a:srgbClr val="A31515"/>
                </a:solidFill>
                <a:latin typeface="Cascadia Mono" panose="020B0609020000020004" pitchFamily="49" charset="0"/>
              </a:rPr>
              <a:t>"</a:t>
            </a:r>
            <a:r>
              <a:rPr lang="fr-FR" sz="900" dirty="0" err="1">
                <a:solidFill>
                  <a:srgbClr val="A31515"/>
                </a:solidFill>
                <a:latin typeface="Cascadia Mono" panose="020B0609020000020004" pitchFamily="49" charset="0"/>
              </a:rPr>
              <a:t>get</a:t>
            </a:r>
            <a:r>
              <a:rPr lang="fr-FR" sz="900" dirty="0">
                <a:solidFill>
                  <a:srgbClr val="A31515"/>
                </a:solidFill>
                <a:latin typeface="Cascadia Mono" panose="020B0609020000020004" pitchFamily="49" charset="0"/>
              </a:rPr>
              <a:t>"</a:t>
            </a:r>
            <a:r>
              <a:rPr lang="fr-FR" sz="900" dirty="0">
                <a:solidFill>
                  <a:srgbClr val="000000"/>
                </a:solidFill>
                <a:latin typeface="Cascadia Mono" panose="020B0609020000020004" pitchFamily="49" charset="0"/>
              </a:rPr>
              <a:t>)]  // Clé passée en </a:t>
            </a:r>
            <a:r>
              <a:rPr lang="fr-FR" sz="900" dirty="0" err="1">
                <a:solidFill>
                  <a:srgbClr val="000000"/>
                </a:solidFill>
                <a:latin typeface="Cascadia Mono" panose="020B0609020000020004" pitchFamily="49" charset="0"/>
              </a:rPr>
              <a:t>query</a:t>
            </a:r>
            <a:r>
              <a:rPr lang="fr-FR" sz="900" dirty="0">
                <a:solidFill>
                  <a:srgbClr val="000000"/>
                </a:solidFill>
                <a:latin typeface="Cascadia Mono" panose="020B0609020000020004" pitchFamily="49" charset="0"/>
              </a:rPr>
              <a:t> string</a:t>
            </a:r>
          </a:p>
          <a:p>
            <a:r>
              <a:rPr lang="fr-FR" sz="900" dirty="0">
                <a:solidFill>
                  <a:srgbClr val="000000"/>
                </a:solidFill>
                <a:latin typeface="Cascadia Mono" panose="020B0609020000020004" pitchFamily="49" charset="0"/>
              </a:rPr>
              <a:t> [</a:t>
            </a:r>
            <a:r>
              <a:rPr lang="fr-FR" sz="900" dirty="0" err="1">
                <a:solidFill>
                  <a:srgbClr val="2B91AF"/>
                </a:solidFill>
                <a:latin typeface="Cascadia Mono" panose="020B0609020000020004" pitchFamily="49" charset="0"/>
              </a:rPr>
              <a:t>HttpTrigger</a:t>
            </a:r>
            <a:r>
              <a:rPr lang="fr-FR" sz="900" dirty="0">
                <a:solidFill>
                  <a:srgbClr val="000000"/>
                </a:solidFill>
                <a:latin typeface="Cascadia Mono" panose="020B0609020000020004" pitchFamily="49" charset="0"/>
              </a:rPr>
              <a:t>(</a:t>
            </a:r>
            <a:r>
              <a:rPr lang="fr-FR" sz="900" dirty="0" err="1">
                <a:solidFill>
                  <a:srgbClr val="2B91AF"/>
                </a:solidFill>
                <a:latin typeface="Cascadia Mono" panose="020B0609020000020004" pitchFamily="49" charset="0"/>
              </a:rPr>
              <a:t>AuthorizationLevel</a:t>
            </a:r>
            <a:r>
              <a:rPr lang="fr-FR" sz="900" dirty="0" err="1">
                <a:solidFill>
                  <a:srgbClr val="000000"/>
                </a:solidFill>
                <a:latin typeface="Cascadia Mono" panose="020B0609020000020004" pitchFamily="49" charset="0"/>
              </a:rPr>
              <a:t>.Admin</a:t>
            </a:r>
            <a:r>
              <a:rPr lang="fr-FR" sz="900" dirty="0">
                <a:solidFill>
                  <a:srgbClr val="000000"/>
                </a:solidFill>
                <a:latin typeface="Cascadia Mono" panose="020B0609020000020004" pitchFamily="49" charset="0"/>
              </a:rPr>
              <a:t>, </a:t>
            </a:r>
            <a:r>
              <a:rPr lang="fr-FR" sz="900" dirty="0">
                <a:solidFill>
                  <a:srgbClr val="A31515"/>
                </a:solidFill>
                <a:latin typeface="Cascadia Mono" panose="020B0609020000020004" pitchFamily="49" charset="0"/>
              </a:rPr>
              <a:t>"</a:t>
            </a:r>
            <a:r>
              <a:rPr lang="fr-FR" sz="900" dirty="0" err="1">
                <a:solidFill>
                  <a:srgbClr val="A31515"/>
                </a:solidFill>
                <a:latin typeface="Cascadia Mono" panose="020B0609020000020004" pitchFamily="49" charset="0"/>
              </a:rPr>
              <a:t>get</a:t>
            </a:r>
            <a:r>
              <a:rPr lang="fr-FR" sz="900" dirty="0">
                <a:solidFill>
                  <a:srgbClr val="A31515"/>
                </a:solidFill>
                <a:latin typeface="Cascadia Mono" panose="020B0609020000020004" pitchFamily="49" charset="0"/>
              </a:rPr>
              <a:t>"</a:t>
            </a:r>
            <a:r>
              <a:rPr lang="fr-FR" sz="900" dirty="0">
                <a:solidFill>
                  <a:srgbClr val="000000"/>
                </a:solidFill>
                <a:latin typeface="Cascadia Mono" panose="020B0609020000020004" pitchFamily="49" charset="0"/>
              </a:rPr>
              <a:t>)]     // Clé master</a:t>
            </a:r>
          </a:p>
          <a:p>
            <a:pPr>
              <a:buNone/>
            </a:pPr>
            <a:endParaRPr lang="fr-FR" sz="900" dirty="0">
              <a:solidFill>
                <a:srgbClr val="000000"/>
              </a:solidFill>
              <a:effectLst/>
              <a:latin typeface="Cascadia Mono" panose="020B06090200000200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4</a:t>
            </a:r>
            <a:endParaRPr sz="3200" dirty="0"/>
          </a:p>
        </p:txBody>
      </p:sp>
      <p:sp>
        <p:nvSpPr>
          <p:cNvPr id="3" name="TextBox 2"/>
          <p:cNvSpPr txBox="1"/>
          <p:nvPr/>
        </p:nvSpPr>
        <p:spPr>
          <a:xfrm>
            <a:off x="467096" y="1324006"/>
            <a:ext cx="8431481" cy="3908762"/>
          </a:xfrm>
          <a:prstGeom prst="rect">
            <a:avLst/>
          </a:prstGeom>
          <a:noFill/>
        </p:spPr>
        <p:txBody>
          <a:bodyPr wrap="square">
            <a:spAutoFit/>
          </a:bodyPr>
          <a:lstStyle/>
          <a:p>
            <a:pPr>
              <a:defRPr sz="2400"/>
            </a:pPr>
            <a:r>
              <a:rPr lang="fr-FR" sz="2000" dirty="0"/>
              <a:t>Considérez la fonction Azure suivante :</a:t>
            </a:r>
            <a:br>
              <a:rPr lang="fr-FR" sz="2000" dirty="0"/>
            </a:br>
            <a:r>
              <a:rPr lang="fr-FR" sz="2000" dirty="0"/>
              <a:t>À quelle fréquence cette fonction est-elle exécutée ?</a:t>
            </a:r>
          </a:p>
          <a:p>
            <a:pPr>
              <a:defRPr sz="2400"/>
            </a:pPr>
            <a:endParaRPr lang="fr-FR" sz="2000" dirty="0"/>
          </a:p>
          <a:p>
            <a:pPr>
              <a:defRPr sz="2400"/>
            </a:pPr>
            <a:endParaRPr lang="fr-FR" sz="2000" dirty="0"/>
          </a:p>
          <a:p>
            <a:pPr>
              <a:defRPr sz="2400"/>
            </a:pPr>
            <a:endParaRPr lang="fr-FR" sz="2000" dirty="0"/>
          </a:p>
          <a:p>
            <a:pPr>
              <a:defRPr sz="2400"/>
            </a:pPr>
            <a:endParaRPr lang="fr-FR" sz="2000" dirty="0"/>
          </a:p>
          <a:p>
            <a:pPr>
              <a:defRPr sz="2400"/>
            </a:pPr>
            <a:endParaRPr lang="fr-FR" sz="2000" dirty="0"/>
          </a:p>
          <a:p>
            <a:pPr marL="457200" indent="-457200">
              <a:buFont typeface="+mj-lt"/>
              <a:buAutoNum type="arabicPeriod"/>
              <a:defRPr sz="2400"/>
            </a:pPr>
            <a:r>
              <a:rPr lang="fr-FR" sz="2000" dirty="0"/>
              <a:t>Toutes les 5 minutes</a:t>
            </a:r>
          </a:p>
          <a:p>
            <a:pPr marL="457200" indent="-457200">
              <a:buFont typeface="+mj-lt"/>
              <a:buAutoNum type="arabicPeriod"/>
              <a:defRPr sz="2400"/>
            </a:pPr>
            <a:r>
              <a:rPr lang="fr-FR" sz="2000" dirty="0"/>
              <a:t>Toutes les 5 secondes</a:t>
            </a:r>
          </a:p>
          <a:p>
            <a:pPr marL="457200" indent="-457200">
              <a:buFont typeface="+mj-lt"/>
              <a:buAutoNum type="arabicPeriod"/>
              <a:defRPr sz="2400"/>
            </a:pPr>
            <a:r>
              <a:rPr lang="fr-FR" sz="2000" dirty="0"/>
              <a:t>Toutes les heures à la 5ème minute</a:t>
            </a:r>
          </a:p>
          <a:p>
            <a:pPr marL="457200" indent="-457200">
              <a:buFont typeface="+mj-lt"/>
              <a:buAutoNum type="arabicPeriod"/>
              <a:defRPr sz="2400"/>
            </a:pPr>
            <a:r>
              <a:rPr lang="fr-FR" sz="2000" dirty="0"/>
              <a:t>Toutes les 5 minutes uniquement entre minuit et 1h</a:t>
            </a:r>
          </a:p>
          <a:p>
            <a:pPr>
              <a:defRPr sz="2400"/>
            </a:pPr>
            <a:endParaRPr dirty="0"/>
          </a:p>
        </p:txBody>
      </p:sp>
      <p:sp>
        <p:nvSpPr>
          <p:cNvPr id="8" name="TextBox 7"/>
          <p:cNvSpPr txBox="1"/>
          <p:nvPr/>
        </p:nvSpPr>
        <p:spPr>
          <a:xfrm>
            <a:off x="6948264" y="2559896"/>
            <a:ext cx="1427635" cy="369332"/>
          </a:xfrm>
          <a:prstGeom prst="rect">
            <a:avLst/>
          </a:prstGeom>
          <a:noFill/>
        </p:spPr>
        <p:txBody>
          <a:bodyPr wrap="none">
            <a:spAutoFit/>
          </a:bodyPr>
          <a:lstStyle/>
          <a:p>
            <a:pPr>
              <a:defRPr sz="1800" b="1"/>
            </a:pPr>
            <a:r>
              <a:rPr u="sng" dirty="0" err="1"/>
              <a:t>Réponse</a:t>
            </a:r>
            <a:r>
              <a:rPr u="sng" dirty="0"/>
              <a:t> : </a:t>
            </a:r>
            <a:r>
              <a:rPr lang="fr-FR" u="sng" dirty="0"/>
              <a:t>1</a:t>
            </a:r>
            <a:endParaRPr u="sng" dirty="0" err="1"/>
          </a:p>
        </p:txBody>
      </p:sp>
      <p:sp>
        <p:nvSpPr>
          <p:cNvPr id="9" name="TextBox 8"/>
          <p:cNvSpPr txBox="1"/>
          <p:nvPr/>
        </p:nvSpPr>
        <p:spPr>
          <a:xfrm>
            <a:off x="1025237" y="4930239"/>
            <a:ext cx="7343677" cy="1323439"/>
          </a:xfrm>
          <a:prstGeom prst="rect">
            <a:avLst/>
          </a:prstGeom>
          <a:noFill/>
        </p:spPr>
        <p:txBody>
          <a:bodyPr wrap="none">
            <a:spAutoFit/>
          </a:bodyPr>
          <a:lstStyle/>
          <a:p>
            <a:pPr>
              <a:defRPr sz="1600"/>
            </a:pPr>
            <a:r>
              <a:rPr dirty="0"/>
              <a:t>Timer Trigger utilise CRON.</a:t>
            </a:r>
            <a:endParaRPr lang="fr-FR" dirty="0"/>
          </a:p>
          <a:p>
            <a:pPr>
              <a:defRPr sz="1600"/>
            </a:pPr>
            <a:r>
              <a:rPr lang="fr-FR" dirty="0">
                <a:latin typeface="Courier New" panose="02070309020205020404" pitchFamily="49" charset="0"/>
                <a:cs typeface="Courier New" panose="02070309020205020404" pitchFamily="49" charset="0"/>
              </a:rPr>
              <a:t>{secondes} {minutes} {heures} {jour} {mois} {jour-semaine}</a:t>
            </a:r>
          </a:p>
          <a:p>
            <a:pPr marL="285750" indent="-285750">
              <a:buFont typeface="Arial" panose="020B0604020202020204" pitchFamily="34" charset="0"/>
              <a:buChar char="•"/>
              <a:defRPr sz="1600"/>
            </a:pPr>
            <a:r>
              <a:rPr lang="fr-FR" dirty="0">
                <a:latin typeface="Courier New" panose="02070309020205020404" pitchFamily="49" charset="0"/>
                <a:cs typeface="Courier New" panose="02070309020205020404" pitchFamily="49" charset="0"/>
              </a:rPr>
              <a:t>0 ? à la seconde 0</a:t>
            </a:r>
          </a:p>
          <a:p>
            <a:pPr marL="285750" indent="-285750">
              <a:buFont typeface="Arial" panose="020B0604020202020204" pitchFamily="34" charset="0"/>
              <a:buChar char="•"/>
              <a:defRPr sz="1600"/>
            </a:pPr>
            <a:r>
              <a:rPr lang="fr-FR" dirty="0">
                <a:latin typeface="Courier New" panose="02070309020205020404" pitchFamily="49" charset="0"/>
                <a:cs typeface="Courier New" panose="02070309020205020404" pitchFamily="49" charset="0"/>
              </a:rPr>
              <a:t>*/5 ? toutes les 5 minutes</a:t>
            </a:r>
          </a:p>
          <a:p>
            <a:pPr marL="285750" indent="-285750">
              <a:buFont typeface="Arial" panose="020B0604020202020204" pitchFamily="34" charset="0"/>
              <a:buChar char="•"/>
              <a:defRPr sz="1600"/>
            </a:pPr>
            <a:r>
              <a:rPr lang="fr-FR" dirty="0">
                <a:latin typeface="Courier New" panose="02070309020205020404" pitchFamily="49" charset="0"/>
                <a:cs typeface="Courier New" panose="02070309020205020404" pitchFamily="49" charset="0"/>
              </a:rPr>
              <a:t>* ? toutes les heures</a:t>
            </a:r>
            <a:endParaRPr dirty="0">
              <a:latin typeface="Courier New" panose="02070309020205020404" pitchFamily="49" charset="0"/>
              <a:cs typeface="Courier New" panose="02070309020205020404" pitchFamily="49" charset="0"/>
            </a:endParaRP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3470630"/>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2272A708-1566-FD29-0B08-574D6ABC2D87}"/>
              </a:ext>
            </a:extLst>
          </p:cNvPr>
          <p:cNvSpPr txBox="1"/>
          <p:nvPr/>
        </p:nvSpPr>
        <p:spPr>
          <a:xfrm>
            <a:off x="509654" y="2132856"/>
            <a:ext cx="4720106" cy="1223412"/>
          </a:xfrm>
          <a:prstGeom prst="rect">
            <a:avLst/>
          </a:prstGeom>
          <a:noFill/>
        </p:spPr>
        <p:txBody>
          <a:bodyPr wrap="square">
            <a:spAutoFit/>
          </a:bodyPr>
          <a:lstStyle/>
          <a:p>
            <a:pPr>
              <a:buNone/>
            </a:pPr>
            <a:r>
              <a:rPr lang="fr-FR" sz="1050" dirty="0">
                <a:solidFill>
                  <a:srgbClr val="000000"/>
                </a:solidFill>
                <a:effectLst/>
                <a:latin typeface="Cascadia Mono" panose="020B0609020000020004" pitchFamily="49" charset="0"/>
              </a:rPr>
              <a:t>    [</a:t>
            </a:r>
            <a:r>
              <a:rPr lang="fr-FR" sz="1050" dirty="0" err="1">
                <a:solidFill>
                  <a:srgbClr val="2B91AF"/>
                </a:solidFill>
                <a:effectLst/>
                <a:latin typeface="Cascadia Mono" panose="020B0609020000020004" pitchFamily="49" charset="0"/>
              </a:rPr>
              <a:t>Function</a:t>
            </a:r>
            <a:r>
              <a:rPr lang="fr-FR" sz="1050" dirty="0">
                <a:solidFill>
                  <a:srgbClr val="000000"/>
                </a:solidFill>
                <a:effectLst/>
                <a:latin typeface="Cascadia Mono" panose="020B0609020000020004" pitchFamily="49" charset="0"/>
              </a:rPr>
              <a:t>(</a:t>
            </a:r>
            <a:r>
              <a:rPr lang="fr-FR" sz="1050" dirty="0">
                <a:solidFill>
                  <a:srgbClr val="A31515"/>
                </a:solidFill>
                <a:effectLst/>
                <a:latin typeface="Cascadia Mono" panose="020B0609020000020004" pitchFamily="49" charset="0"/>
              </a:rPr>
              <a:t>"</a:t>
            </a:r>
            <a:r>
              <a:rPr lang="fr-FR" sz="1050" dirty="0" err="1">
                <a:solidFill>
                  <a:srgbClr val="A31515"/>
                </a:solidFill>
                <a:effectLst/>
                <a:latin typeface="Cascadia Mono" panose="020B0609020000020004" pitchFamily="49" charset="0"/>
              </a:rPr>
              <a:t>CleanupJob</a:t>
            </a:r>
            <a:r>
              <a:rPr lang="fr-FR" sz="1050" dirty="0">
                <a:solidFill>
                  <a:srgbClr val="A31515"/>
                </a:solidFill>
                <a:effectLst/>
                <a:latin typeface="Cascadia Mono" panose="020B0609020000020004" pitchFamily="49" charset="0"/>
              </a:rPr>
              <a:t>"</a:t>
            </a:r>
            <a:r>
              <a:rPr lang="fr-FR" sz="1050" dirty="0">
                <a:solidFill>
                  <a:srgbClr val="000000"/>
                </a:solidFill>
                <a:effectLst/>
                <a:latin typeface="Cascadia Mono" panose="020B0609020000020004" pitchFamily="49" charset="0"/>
              </a:rPr>
              <a:t>)]</a:t>
            </a:r>
          </a:p>
          <a:p>
            <a:pPr>
              <a:buNone/>
            </a:pPr>
            <a:r>
              <a:rPr lang="fr-FR" sz="1050" dirty="0">
                <a:solidFill>
                  <a:srgbClr val="000000"/>
                </a:solidFill>
                <a:effectLst/>
                <a:latin typeface="Cascadia Mono" panose="020B0609020000020004" pitchFamily="49" charset="0"/>
              </a:rPr>
              <a:t>    </a:t>
            </a:r>
            <a:r>
              <a:rPr lang="fr-FR" sz="1050" dirty="0">
                <a:solidFill>
                  <a:srgbClr val="0000FF"/>
                </a:solidFill>
                <a:effectLst/>
                <a:latin typeface="Cascadia Mono" panose="020B0609020000020004" pitchFamily="49" charset="0"/>
              </a:rPr>
              <a:t>public</a:t>
            </a:r>
            <a:r>
              <a:rPr lang="fr-FR" sz="1050" dirty="0">
                <a:solidFill>
                  <a:srgbClr val="000000"/>
                </a:solidFill>
                <a:effectLst/>
                <a:latin typeface="Cascadia Mono" panose="020B0609020000020004" pitchFamily="49" charset="0"/>
              </a:rPr>
              <a:t> </a:t>
            </a:r>
            <a:r>
              <a:rPr lang="fr-FR" sz="1050" dirty="0" err="1">
                <a:solidFill>
                  <a:srgbClr val="0000FF"/>
                </a:solidFill>
                <a:effectLst/>
                <a:latin typeface="Cascadia Mono" panose="020B0609020000020004" pitchFamily="49" charset="0"/>
              </a:rPr>
              <a:t>static</a:t>
            </a:r>
            <a:r>
              <a:rPr lang="fr-FR" sz="1050" dirty="0">
                <a:solidFill>
                  <a:srgbClr val="000000"/>
                </a:solidFill>
                <a:effectLst/>
                <a:latin typeface="Cascadia Mono" panose="020B0609020000020004" pitchFamily="49" charset="0"/>
              </a:rPr>
              <a:t> </a:t>
            </a:r>
            <a:r>
              <a:rPr lang="fr-FR" sz="1050" dirty="0" err="1">
                <a:solidFill>
                  <a:srgbClr val="0000FF"/>
                </a:solidFill>
                <a:effectLst/>
                <a:latin typeface="Cascadia Mono" panose="020B0609020000020004" pitchFamily="49" charset="0"/>
              </a:rPr>
              <a:t>void</a:t>
            </a:r>
            <a:r>
              <a:rPr lang="fr-FR" sz="1050" dirty="0">
                <a:solidFill>
                  <a:srgbClr val="000000"/>
                </a:solidFill>
                <a:effectLst/>
                <a:latin typeface="Cascadia Mono" panose="020B0609020000020004" pitchFamily="49" charset="0"/>
              </a:rPr>
              <a:t> </a:t>
            </a:r>
            <a:r>
              <a:rPr lang="fr-FR" sz="1050" dirty="0">
                <a:solidFill>
                  <a:srgbClr val="74531F"/>
                </a:solidFill>
                <a:effectLst/>
                <a:latin typeface="Cascadia Mono" panose="020B0609020000020004" pitchFamily="49" charset="0"/>
              </a:rPr>
              <a:t>Run</a:t>
            </a:r>
            <a:r>
              <a:rPr lang="fr-FR" sz="1050" dirty="0">
                <a:solidFill>
                  <a:srgbClr val="000000"/>
                </a:solidFill>
                <a:effectLst/>
                <a:latin typeface="Cascadia Mono" panose="020B0609020000020004" pitchFamily="49" charset="0"/>
              </a:rPr>
              <a:t>(</a:t>
            </a:r>
          </a:p>
          <a:p>
            <a:pPr>
              <a:buNone/>
            </a:pPr>
            <a:r>
              <a:rPr lang="fr-FR" sz="1050" dirty="0">
                <a:solidFill>
                  <a:srgbClr val="000000"/>
                </a:solidFill>
                <a:effectLst/>
                <a:latin typeface="Cascadia Mono" panose="020B0609020000020004" pitchFamily="49" charset="0"/>
              </a:rPr>
              <a:t>    [</a:t>
            </a:r>
            <a:r>
              <a:rPr lang="fr-FR" sz="1050" dirty="0" err="1">
                <a:solidFill>
                  <a:srgbClr val="2B91AF"/>
                </a:solidFill>
                <a:effectLst/>
                <a:latin typeface="Cascadia Mono" panose="020B0609020000020004" pitchFamily="49" charset="0"/>
              </a:rPr>
              <a:t>TimerTrigger</a:t>
            </a:r>
            <a:r>
              <a:rPr lang="fr-FR" sz="1050" dirty="0">
                <a:solidFill>
                  <a:srgbClr val="000000"/>
                </a:solidFill>
                <a:effectLst/>
                <a:latin typeface="Cascadia Mono" panose="020B0609020000020004" pitchFamily="49" charset="0"/>
              </a:rPr>
              <a:t>(</a:t>
            </a:r>
            <a:r>
              <a:rPr lang="fr-FR" sz="1050" dirty="0">
                <a:solidFill>
                  <a:srgbClr val="A31515"/>
                </a:solidFill>
                <a:effectLst/>
                <a:latin typeface="Cascadia Mono" panose="020B0609020000020004" pitchFamily="49" charset="0"/>
              </a:rPr>
              <a:t>"0 */5 * * * *"</a:t>
            </a:r>
            <a:r>
              <a:rPr lang="fr-FR" sz="1050" dirty="0">
                <a:solidFill>
                  <a:srgbClr val="000000"/>
                </a:solidFill>
                <a:effectLst/>
                <a:latin typeface="Cascadia Mono" panose="020B0609020000020004" pitchFamily="49" charset="0"/>
              </a:rPr>
              <a:t>)] </a:t>
            </a:r>
            <a:r>
              <a:rPr lang="fr-FR" sz="1050" dirty="0" err="1">
                <a:solidFill>
                  <a:srgbClr val="2B91AF"/>
                </a:solidFill>
                <a:effectLst/>
                <a:latin typeface="Cascadia Mono" panose="020B0609020000020004" pitchFamily="49" charset="0"/>
              </a:rPr>
              <a:t>TimerInfo</a:t>
            </a:r>
            <a:r>
              <a:rPr lang="fr-FR" sz="1050" dirty="0">
                <a:solidFill>
                  <a:srgbClr val="000000"/>
                </a:solidFill>
                <a:effectLst/>
                <a:latin typeface="Cascadia Mono" panose="020B0609020000020004" pitchFamily="49" charset="0"/>
              </a:rPr>
              <a:t> </a:t>
            </a:r>
            <a:r>
              <a:rPr lang="fr-FR" sz="1050" dirty="0" err="1">
                <a:solidFill>
                  <a:srgbClr val="1F377F"/>
                </a:solidFill>
                <a:effectLst/>
                <a:latin typeface="Cascadia Mono" panose="020B0609020000020004" pitchFamily="49" charset="0"/>
              </a:rPr>
              <a:t>myTimer</a:t>
            </a:r>
            <a:r>
              <a:rPr lang="fr-FR" sz="1050" dirty="0">
                <a:solidFill>
                  <a:srgbClr val="000000"/>
                </a:solidFill>
                <a:effectLst/>
                <a:latin typeface="Cascadia Mono" panose="020B0609020000020004" pitchFamily="49" charset="0"/>
              </a:rPr>
              <a:t>,</a:t>
            </a:r>
          </a:p>
          <a:p>
            <a:pPr>
              <a:buNone/>
            </a:pPr>
            <a:r>
              <a:rPr lang="fr-FR" sz="1050" dirty="0">
                <a:solidFill>
                  <a:srgbClr val="000000"/>
                </a:solidFill>
                <a:effectLst/>
                <a:latin typeface="Cascadia Mono" panose="020B0609020000020004" pitchFamily="49" charset="0"/>
              </a:rPr>
              <a:t>    </a:t>
            </a:r>
            <a:r>
              <a:rPr lang="fr-FR" sz="1050" dirty="0" err="1">
                <a:solidFill>
                  <a:srgbClr val="2B91AF"/>
                </a:solidFill>
                <a:effectLst/>
                <a:latin typeface="Cascadia Mono" panose="020B0609020000020004" pitchFamily="49" charset="0"/>
              </a:rPr>
              <a:t>ILogger</a:t>
            </a:r>
            <a:r>
              <a:rPr lang="fr-FR" sz="1050" dirty="0">
                <a:solidFill>
                  <a:srgbClr val="000000"/>
                </a:solidFill>
                <a:effectLst/>
                <a:latin typeface="Cascadia Mono" panose="020B0609020000020004" pitchFamily="49" charset="0"/>
              </a:rPr>
              <a:t> </a:t>
            </a:r>
            <a:r>
              <a:rPr lang="fr-FR" sz="1050" dirty="0">
                <a:solidFill>
                  <a:srgbClr val="1F377F"/>
                </a:solidFill>
                <a:effectLst/>
                <a:latin typeface="Cascadia Mono" panose="020B0609020000020004" pitchFamily="49" charset="0"/>
              </a:rPr>
              <a:t>log</a:t>
            </a:r>
            <a:r>
              <a:rPr lang="fr-FR" sz="1050" dirty="0">
                <a:solidFill>
                  <a:srgbClr val="000000"/>
                </a:solidFill>
                <a:effectLst/>
                <a:latin typeface="Cascadia Mono" panose="020B0609020000020004" pitchFamily="49" charset="0"/>
              </a:rPr>
              <a:t>)</a:t>
            </a:r>
          </a:p>
          <a:p>
            <a:pPr>
              <a:buNone/>
            </a:pPr>
            <a:r>
              <a:rPr lang="fr-FR" sz="1050" dirty="0">
                <a:solidFill>
                  <a:srgbClr val="000000"/>
                </a:solidFill>
                <a:effectLst/>
                <a:latin typeface="Cascadia Mono" panose="020B0609020000020004" pitchFamily="49" charset="0"/>
              </a:rPr>
              <a:t>    {</a:t>
            </a:r>
          </a:p>
          <a:p>
            <a:pPr>
              <a:buNone/>
            </a:pPr>
            <a:r>
              <a:rPr lang="fr-FR" sz="1050" dirty="0">
                <a:solidFill>
                  <a:srgbClr val="000000"/>
                </a:solidFill>
                <a:effectLst/>
                <a:latin typeface="Cascadia Mono" panose="020B0609020000020004" pitchFamily="49" charset="0"/>
              </a:rPr>
              <a:t>        </a:t>
            </a:r>
            <a:r>
              <a:rPr lang="fr-FR" sz="1050" dirty="0" err="1">
                <a:solidFill>
                  <a:srgbClr val="1F377F"/>
                </a:solidFill>
                <a:effectLst/>
                <a:latin typeface="Cascadia Mono" panose="020B0609020000020004" pitchFamily="49" charset="0"/>
              </a:rPr>
              <a:t>log</a:t>
            </a:r>
            <a:r>
              <a:rPr lang="fr-FR" sz="1050" dirty="0" err="1">
                <a:solidFill>
                  <a:srgbClr val="000000"/>
                </a:solidFill>
                <a:effectLst/>
                <a:latin typeface="Cascadia Mono" panose="020B0609020000020004" pitchFamily="49" charset="0"/>
              </a:rPr>
              <a:t>.</a:t>
            </a:r>
            <a:r>
              <a:rPr lang="fr-FR" sz="1050" dirty="0" err="1">
                <a:solidFill>
                  <a:srgbClr val="74531F"/>
                </a:solidFill>
                <a:effectLst/>
                <a:latin typeface="Cascadia Mono" panose="020B0609020000020004" pitchFamily="49" charset="0"/>
              </a:rPr>
              <a:t>LogInformation</a:t>
            </a:r>
            <a:r>
              <a:rPr lang="fr-FR" sz="1050" dirty="0">
                <a:solidFill>
                  <a:srgbClr val="000000"/>
                </a:solidFill>
                <a:effectLst/>
                <a:latin typeface="Cascadia Mono" panose="020B0609020000020004" pitchFamily="49" charset="0"/>
              </a:rPr>
              <a:t>(</a:t>
            </a:r>
            <a:r>
              <a:rPr lang="fr-FR" sz="1050" dirty="0">
                <a:solidFill>
                  <a:srgbClr val="A31515"/>
                </a:solidFill>
                <a:effectLst/>
                <a:latin typeface="Cascadia Mono" panose="020B0609020000020004" pitchFamily="49" charset="0"/>
              </a:rPr>
              <a:t>"</a:t>
            </a:r>
            <a:r>
              <a:rPr lang="fr-FR" sz="1050" dirty="0" err="1">
                <a:solidFill>
                  <a:srgbClr val="A31515"/>
                </a:solidFill>
                <a:effectLst/>
                <a:latin typeface="Cascadia Mono" panose="020B0609020000020004" pitchFamily="49" charset="0"/>
              </a:rPr>
              <a:t>Cleanup</a:t>
            </a:r>
            <a:r>
              <a:rPr lang="fr-FR" sz="1050" dirty="0">
                <a:solidFill>
                  <a:srgbClr val="A31515"/>
                </a:solidFill>
                <a:effectLst/>
                <a:latin typeface="Cascadia Mono" panose="020B0609020000020004" pitchFamily="49" charset="0"/>
              </a:rPr>
              <a:t> exécuté"</a:t>
            </a:r>
            <a:r>
              <a:rPr lang="fr-FR" sz="1050" dirty="0">
                <a:solidFill>
                  <a:srgbClr val="000000"/>
                </a:solidFill>
                <a:effectLst/>
                <a:latin typeface="Cascadia Mono" panose="020B0609020000020004" pitchFamily="49" charset="0"/>
              </a:rPr>
              <a:t>);</a:t>
            </a:r>
          </a:p>
          <a:p>
            <a:pPr>
              <a:buNone/>
            </a:pPr>
            <a:r>
              <a:rPr lang="fr-FR" sz="1050" dirty="0">
                <a:solidFill>
                  <a:srgbClr val="000000"/>
                </a:solidFill>
                <a:effectLst/>
                <a:latin typeface="Cascadia Mono" panose="020B0609020000020004" pitchFamily="49" charset="0"/>
              </a:rPr>
              <a:t>    }</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5</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Qui envoie un message dans une queue dans un scénario classique ?</a:t>
            </a:r>
            <a:endParaRPr lang="fr-FR" sz="2000" dirty="0"/>
          </a:p>
          <a:p>
            <a:pPr marL="457200" indent="-457200">
              <a:buFont typeface="+mj-lt"/>
              <a:buAutoNum type="arabicPeriod"/>
              <a:defRPr sz="2400"/>
            </a:pPr>
            <a:r>
              <a:rPr lang="fr-FR" sz="2000" dirty="0"/>
              <a:t>Azure Function uniquement</a:t>
            </a:r>
          </a:p>
          <a:p>
            <a:pPr marL="457200" indent="-457200">
              <a:buFont typeface="+mj-lt"/>
              <a:buAutoNum type="arabicPeriod"/>
              <a:defRPr sz="2400"/>
            </a:pPr>
            <a:r>
              <a:rPr lang="fr-FR" sz="2000" dirty="0"/>
              <a:t>Une application (ex: Web App)</a:t>
            </a:r>
          </a:p>
          <a:p>
            <a:pPr marL="457200" indent="-457200">
              <a:buFont typeface="+mj-lt"/>
              <a:buAutoNum type="arabicPeriod"/>
              <a:defRPr sz="2400"/>
            </a:pPr>
            <a:r>
              <a:rPr lang="fr-FR" sz="2000" dirty="0"/>
              <a:t>Azure Monitor</a:t>
            </a:r>
          </a:p>
          <a:p>
            <a:pPr marL="457200" indent="-457200">
              <a:buFont typeface="+mj-lt"/>
              <a:buAutoNum type="arabicPeriod"/>
              <a:defRPr sz="2400"/>
            </a:pPr>
            <a:r>
              <a:rPr lang="fr-FR" sz="2000" dirty="0"/>
              <a:t>Azure SQL</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Une application envoie le message.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5496" y="193914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6</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est la différence entre in-process et isolated worker ?</a:t>
            </a:r>
            <a:endParaRPr lang="fr-FR" sz="2000" dirty="0"/>
          </a:p>
          <a:p>
            <a:pPr marL="457200" indent="-457200">
              <a:buFont typeface="+mj-lt"/>
              <a:buAutoNum type="arabicPeriod"/>
              <a:defRPr sz="2400"/>
            </a:pPr>
            <a:r>
              <a:rPr lang="fr-FR" sz="2000" dirty="0"/>
              <a:t>Langage différent</a:t>
            </a:r>
          </a:p>
          <a:p>
            <a:pPr marL="457200" indent="-457200">
              <a:buFont typeface="+mj-lt"/>
              <a:buAutoNum type="arabicPeriod"/>
              <a:defRPr sz="2400"/>
            </a:pPr>
            <a:r>
              <a:rPr lang="fr-FR" sz="2000" dirty="0"/>
              <a:t>Runtime séparé en isolated</a:t>
            </a:r>
          </a:p>
          <a:p>
            <a:pPr marL="457200" indent="-457200">
              <a:buFont typeface="+mj-lt"/>
              <a:buAutoNum type="arabicPeriod"/>
              <a:defRPr sz="2400"/>
            </a:pPr>
            <a:r>
              <a:rPr lang="fr-FR" sz="2000" dirty="0"/>
              <a:t>Pas de trigger en isolated</a:t>
            </a:r>
          </a:p>
          <a:p>
            <a:pPr marL="457200" indent="-457200">
              <a:buFont typeface="+mj-lt"/>
              <a:buAutoNum type="arabicPeriod"/>
              <a:defRPr sz="2400"/>
            </a:pPr>
            <a:r>
              <a:rPr lang="fr-FR" sz="2000" dirty="0"/>
              <a:t>Pas de scaling en isolated</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611560" y="3324554"/>
            <a:ext cx="5460597" cy="584775"/>
          </a:xfrm>
          <a:prstGeom prst="rect">
            <a:avLst/>
          </a:prstGeom>
          <a:noFill/>
        </p:spPr>
        <p:txBody>
          <a:bodyPr wrap="none">
            <a:spAutoFit/>
          </a:bodyPr>
          <a:lstStyle/>
          <a:p>
            <a:pPr>
              <a:defRPr sz="1600"/>
            </a:pPr>
            <a:r>
              <a:rPr dirty="0"/>
              <a:t>Isolated = runtime </a:t>
            </a:r>
            <a:r>
              <a:rPr dirty="0" err="1"/>
              <a:t>séparé</a:t>
            </a:r>
            <a:r>
              <a:rPr dirty="0"/>
              <a:t>.</a:t>
            </a:r>
            <a:r>
              <a:rPr lang="fr-FR" dirty="0"/>
              <a:t> Mode recommandé aujourd’hui</a:t>
            </a:r>
          </a:p>
          <a:p>
            <a:pPr>
              <a:defRPr sz="1600"/>
            </a:pPr>
            <a:r>
              <a:rPr lang="fr-FR" dirty="0"/>
              <a:t>In process = le code tourne dans le</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84387" y="1954948"/>
            <a:ext cx="557808" cy="369332"/>
          </a:xfrm>
          <a:prstGeom prst="rect">
            <a:avLst/>
          </a:prstGeom>
          <a:noFill/>
        </p:spPr>
        <p:txBody>
          <a:bodyPr wrap="square">
            <a:spAutoFit/>
          </a:bodyPr>
          <a:lstStyle/>
          <a:p>
            <a:r>
              <a:rPr lang="fr-FR" b="1" dirty="0"/>
              <a:t>✅</a:t>
            </a:r>
            <a:endParaRPr lang="fr-FR" dirty="0"/>
          </a:p>
        </p:txBody>
      </p:sp>
      <p:graphicFrame>
        <p:nvGraphicFramePr>
          <p:cNvPr id="4" name="Tableau 3">
            <a:extLst>
              <a:ext uri="{FF2B5EF4-FFF2-40B4-BE49-F238E27FC236}">
                <a16:creationId xmlns:a16="http://schemas.microsoft.com/office/drawing/2014/main" id="{8D0F096C-B333-2614-3472-C50676CCF927}"/>
              </a:ext>
            </a:extLst>
          </p:cNvPr>
          <p:cNvGraphicFramePr>
            <a:graphicFrameLocks noGrp="1"/>
          </p:cNvGraphicFramePr>
          <p:nvPr>
            <p:extLst>
              <p:ext uri="{D42A27DB-BD31-4B8C-83A1-F6EECF244321}">
                <p14:modId xmlns:p14="http://schemas.microsoft.com/office/powerpoint/2010/main" val="1634882614"/>
              </p:ext>
            </p:extLst>
          </p:nvPr>
        </p:nvGraphicFramePr>
        <p:xfrm>
          <a:off x="899592" y="4005064"/>
          <a:ext cx="6336704" cy="709930"/>
        </p:xfrm>
        <a:graphic>
          <a:graphicData uri="http://schemas.openxmlformats.org/drawingml/2006/table">
            <a:tbl>
              <a:tblPr>
                <a:tableStyleId>{BC89EF96-8CEA-46FF-86C4-4CE0E7609802}</a:tableStyleId>
              </a:tblPr>
              <a:tblGrid>
                <a:gridCol w="2184140">
                  <a:extLst>
                    <a:ext uri="{9D8B030D-6E8A-4147-A177-3AD203B41FA5}">
                      <a16:colId xmlns:a16="http://schemas.microsoft.com/office/drawing/2014/main" val="750286432"/>
                    </a:ext>
                  </a:extLst>
                </a:gridCol>
                <a:gridCol w="4152564">
                  <a:extLst>
                    <a:ext uri="{9D8B030D-6E8A-4147-A177-3AD203B41FA5}">
                      <a16:colId xmlns:a16="http://schemas.microsoft.com/office/drawing/2014/main" val="3237237841"/>
                    </a:ext>
                  </a:extLst>
                </a:gridCol>
              </a:tblGrid>
              <a:tr h="184150">
                <a:tc>
                  <a:txBody>
                    <a:bodyPr/>
                    <a:lstStyle/>
                    <a:p>
                      <a:pPr algn="ctr" fontAlgn="ctr">
                        <a:buNone/>
                      </a:pPr>
                      <a:r>
                        <a:rPr lang="fr-FR" sz="1100" u="none" strike="noStrike">
                          <a:effectLst/>
                        </a:rPr>
                        <a:t>Modèle</a:t>
                      </a:r>
                      <a:endParaRPr lang="fr-FR" sz="11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buNone/>
                      </a:pPr>
                      <a:r>
                        <a:rPr lang="fr-FR" sz="1100" u="none" strike="noStrike">
                          <a:effectLst/>
                        </a:rPr>
                        <a:t>Où tourne ton code ?</a:t>
                      </a:r>
                      <a:endParaRPr lang="fr-FR" sz="1100" b="1" i="0" u="none" strike="noStrike">
                        <a:solidFill>
                          <a:srgbClr val="FFFFFF"/>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65225585"/>
                  </a:ext>
                </a:extLst>
              </a:tr>
              <a:tr h="184150">
                <a:tc>
                  <a:txBody>
                    <a:bodyPr/>
                    <a:lstStyle/>
                    <a:p>
                      <a:pPr algn="l" fontAlgn="ctr">
                        <a:buNone/>
                      </a:pPr>
                      <a:r>
                        <a:rPr lang="fr-FR" sz="1100" u="none" strike="noStrike" dirty="0">
                          <a:effectLst/>
                        </a:rPr>
                        <a:t>In-process</a:t>
                      </a:r>
                      <a:endParaRPr lang="fr-FR"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fr-FR" sz="1100" u="none" strike="noStrike" dirty="0">
                          <a:effectLst/>
                        </a:rPr>
                        <a:t>Dans le runtime Azure </a:t>
                      </a:r>
                      <a:r>
                        <a:rPr lang="fr-FR" sz="1100" u="none" strike="noStrike" dirty="0" err="1">
                          <a:effectLst/>
                        </a:rPr>
                        <a:t>Functions</a:t>
                      </a:r>
                      <a:r>
                        <a:rPr lang="fr-FR" sz="1100" u="none" strike="noStrike" dirty="0">
                          <a:effectLst/>
                        </a:rPr>
                        <a:t> </a:t>
                      </a:r>
                      <a:r>
                        <a:rPr lang="fr-FR" sz="1100" u="none" strike="noStrike" dirty="0">
                          <a:effectLst/>
                          <a:sym typeface="Wingdings" panose="05000000000000000000" pitchFamily="2" charset="2"/>
                        </a:rPr>
                        <a:t> Bientôt </a:t>
                      </a:r>
                      <a:r>
                        <a:rPr lang="fr-FR" sz="1100" u="none" strike="noStrike" dirty="0" err="1">
                          <a:effectLst/>
                          <a:sym typeface="Wingdings" panose="05000000000000000000" pitchFamily="2" charset="2"/>
                        </a:rPr>
                        <a:t>depreacted</a:t>
                      </a:r>
                      <a:endParaRPr lang="fr-FR"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845222785"/>
                  </a:ext>
                </a:extLst>
              </a:tr>
              <a:tr h="184150">
                <a:tc>
                  <a:txBody>
                    <a:bodyPr/>
                    <a:lstStyle/>
                    <a:p>
                      <a:pPr algn="l" fontAlgn="ctr">
                        <a:buNone/>
                      </a:pPr>
                      <a:r>
                        <a:rPr lang="fr-FR" sz="1100" u="none" strike="noStrike">
                          <a:effectLst/>
                        </a:rPr>
                        <a:t>Isolated worker</a:t>
                      </a:r>
                      <a:endParaRPr lang="fr-FR" sz="1100" b="1"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fr-FR" sz="1100" u="none" strike="noStrike" dirty="0">
                          <a:effectLst/>
                        </a:rPr>
                        <a:t>Dans un process séparé (2 process : celui du runtime Azure </a:t>
                      </a:r>
                      <a:r>
                        <a:rPr lang="fr-FR" sz="1100" u="none" strike="noStrike" dirty="0" err="1">
                          <a:effectLst/>
                        </a:rPr>
                        <a:t>Functions</a:t>
                      </a:r>
                      <a:r>
                        <a:rPr lang="fr-FR" sz="1100" u="none" strike="noStrike" dirty="0">
                          <a:effectLst/>
                        </a:rPr>
                        <a:t> &amp; le process des Azure </a:t>
                      </a:r>
                      <a:r>
                        <a:rPr lang="fr-FR" sz="1100" u="none" strike="noStrike" dirty="0" err="1">
                          <a:effectLst/>
                        </a:rPr>
                        <a:t>Functions</a:t>
                      </a:r>
                      <a:r>
                        <a:rPr lang="fr-FR" sz="1100" u="none" strike="noStrike" dirty="0">
                          <a:effectLst/>
                        </a:rPr>
                        <a:t> (ton code))</a:t>
                      </a:r>
                      <a:endParaRPr lang="fr-FR"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11433305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a:t>7</a:t>
            </a:r>
            <a:endParaRPr sz="3200" dirty="0"/>
          </a:p>
        </p:txBody>
      </p:sp>
      <p:sp>
        <p:nvSpPr>
          <p:cNvPr id="3" name="TextBox 2"/>
          <p:cNvSpPr txBox="1"/>
          <p:nvPr/>
        </p:nvSpPr>
        <p:spPr>
          <a:xfrm>
            <a:off x="467096" y="1324006"/>
            <a:ext cx="8431481" cy="1938992"/>
          </a:xfrm>
          <a:prstGeom prst="rect">
            <a:avLst/>
          </a:prstGeom>
          <a:noFill/>
        </p:spPr>
        <p:txBody>
          <a:bodyPr wrap="square">
            <a:spAutoFit/>
          </a:bodyPr>
          <a:lstStyle/>
          <a:p>
            <a:pPr>
              <a:defRPr sz="2400"/>
            </a:pPr>
            <a:r>
              <a:rPr lang="fr-FR" sz="2000" dirty="0"/>
              <a:t>Considérez une Azure </a:t>
            </a:r>
            <a:r>
              <a:rPr lang="fr-FR" sz="2000" dirty="0" err="1"/>
              <a:t>Function</a:t>
            </a:r>
            <a:r>
              <a:rPr lang="fr-FR" sz="2000" dirty="0"/>
              <a:t> déclenchée par une queue.</a:t>
            </a:r>
          </a:p>
          <a:p>
            <a:pPr>
              <a:defRPr sz="2400"/>
            </a:pPr>
            <a:r>
              <a:rPr lang="fr-FR" sz="2000" dirty="0"/>
              <a:t>Que se passe-t-il si une exception est levée pendant l’exécution ?</a:t>
            </a:r>
          </a:p>
          <a:p>
            <a:pPr marL="457200" indent="-457200">
              <a:buFont typeface="+mj-lt"/>
              <a:buAutoNum type="arabicPeriod"/>
              <a:defRPr sz="2400"/>
            </a:pPr>
            <a:r>
              <a:rPr lang="fr-FR" sz="2000" dirty="0"/>
              <a:t>Le message est perdu</a:t>
            </a:r>
          </a:p>
          <a:p>
            <a:pPr marL="457200" indent="-457200">
              <a:buFont typeface="+mj-lt"/>
              <a:buAutoNum type="arabicPeriod"/>
              <a:defRPr sz="2400"/>
            </a:pPr>
            <a:r>
              <a:rPr lang="fr-FR" sz="2000" dirty="0"/>
              <a:t>La fonction est arrêtée définitivement</a:t>
            </a:r>
          </a:p>
          <a:p>
            <a:pPr marL="457200" indent="-457200">
              <a:buFont typeface="+mj-lt"/>
              <a:buAutoNum type="arabicPeriod"/>
              <a:defRPr sz="2400"/>
            </a:pPr>
            <a:r>
              <a:rPr lang="fr-FR" sz="2000" dirty="0"/>
              <a:t>Le message est automatiquement réessayé (</a:t>
            </a:r>
            <a:r>
              <a:rPr lang="fr-FR" sz="2000" dirty="0" err="1"/>
              <a:t>retry</a:t>
            </a:r>
            <a:r>
              <a:rPr lang="fr-FR" sz="2000" dirty="0"/>
              <a:t>)</a:t>
            </a:r>
          </a:p>
          <a:p>
            <a:pPr marL="457200" indent="-457200">
              <a:buFont typeface="+mj-lt"/>
              <a:buAutoNum type="arabicPeriod"/>
              <a:defRPr sz="2400"/>
            </a:pPr>
            <a:r>
              <a:rPr lang="fr-FR" sz="2000" dirty="0"/>
              <a:t>La queue est bloquée</a:t>
            </a: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683568" y="3505817"/>
            <a:ext cx="5453224" cy="2308324"/>
          </a:xfrm>
          <a:prstGeom prst="rect">
            <a:avLst/>
          </a:prstGeom>
          <a:noFill/>
        </p:spPr>
        <p:txBody>
          <a:bodyPr wrap="none">
            <a:spAutoFit/>
          </a:bodyPr>
          <a:lstStyle/>
          <a:p>
            <a:pPr>
              <a:defRPr sz="1600"/>
            </a:pPr>
            <a:r>
              <a:rPr lang="fr-FR" dirty="0"/>
              <a:t>Le </a:t>
            </a:r>
            <a:r>
              <a:rPr lang="fr-FR" dirty="0" err="1"/>
              <a:t>retry</a:t>
            </a:r>
            <a:r>
              <a:rPr lang="fr-FR" dirty="0"/>
              <a:t> fonctionne uniquement si une exception est levée.</a:t>
            </a:r>
          </a:p>
          <a:p>
            <a:pPr>
              <a:defRPr sz="1600"/>
            </a:pPr>
            <a:endParaRPr lang="fr-FR" dirty="0"/>
          </a:p>
          <a:p>
            <a:pPr>
              <a:defRPr sz="1600"/>
            </a:pPr>
            <a:r>
              <a:rPr lang="fr-FR" dirty="0"/>
              <a:t>Azure considère que le traitement a échoué</a:t>
            </a:r>
          </a:p>
          <a:p>
            <a:pPr>
              <a:defRPr sz="1600"/>
            </a:pPr>
            <a:r>
              <a:rPr lang="fr-FR" dirty="0"/>
              <a:t>- le message est remis dans la queue</a:t>
            </a:r>
          </a:p>
          <a:p>
            <a:pPr>
              <a:defRPr sz="1600"/>
            </a:pPr>
            <a:r>
              <a:rPr lang="fr-FR" dirty="0"/>
              <a:t>- il sera réessayé automatiquement</a:t>
            </a:r>
          </a:p>
          <a:p>
            <a:pPr>
              <a:defRPr sz="1600"/>
            </a:pPr>
            <a:endParaRPr lang="fr-FR" dirty="0"/>
          </a:p>
          <a:p>
            <a:pPr>
              <a:defRPr sz="1600"/>
            </a:pPr>
            <a:r>
              <a:rPr lang="fr-FR" dirty="0" err="1"/>
              <a:t>QueueTrigger</a:t>
            </a:r>
            <a:r>
              <a:rPr lang="fr-FR" dirty="0"/>
              <a:t> : Par défaut 5 tentatives</a:t>
            </a:r>
          </a:p>
          <a:p>
            <a:pPr>
              <a:defRPr sz="1600"/>
            </a:pPr>
            <a:r>
              <a:rPr lang="fr-FR" dirty="0" err="1"/>
              <a:t>ServiceBusTrigger</a:t>
            </a:r>
            <a:r>
              <a:rPr lang="fr-FR" dirty="0"/>
              <a:t> : Par défaut 10 tentatives</a:t>
            </a:r>
          </a:p>
          <a:p>
            <a:pPr>
              <a:defRPr sz="1600"/>
            </a:pPr>
            <a:endParaRPr lang="fr-F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35496"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18</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devient un message en échec répété dans une queue ?</a:t>
            </a:r>
            <a:endParaRPr lang="fr-FR" sz="2000" dirty="0"/>
          </a:p>
          <a:p>
            <a:pPr marL="457200" indent="-457200">
              <a:buFont typeface="+mj-lt"/>
              <a:buAutoNum type="arabicPeriod"/>
              <a:defRPr sz="2400"/>
            </a:pPr>
            <a:r>
              <a:rPr lang="fr-FR" sz="2000" dirty="0"/>
              <a:t>Supprimé</a:t>
            </a:r>
          </a:p>
          <a:p>
            <a:pPr marL="457200" indent="-457200">
              <a:buFont typeface="+mj-lt"/>
              <a:buAutoNum type="arabicPeriod"/>
              <a:defRPr sz="2400"/>
            </a:pPr>
            <a:r>
              <a:rPr lang="fr-FR" sz="2000" dirty="0"/>
              <a:t>Ignoré</a:t>
            </a:r>
          </a:p>
          <a:p>
            <a:pPr marL="457200" indent="-457200">
              <a:buFont typeface="+mj-lt"/>
              <a:buAutoNum type="arabicPeriod"/>
              <a:defRPr sz="2400"/>
            </a:pPr>
            <a:r>
              <a:rPr lang="fr-FR" sz="2000" dirty="0"/>
              <a:t>Envoyé en Dead Letter Queue</a:t>
            </a:r>
          </a:p>
          <a:p>
            <a:pPr marL="457200" indent="-457200">
              <a:buFont typeface="+mj-lt"/>
              <a:buAutoNum type="arabicPeriod"/>
              <a:defRPr sz="2400"/>
            </a:pPr>
            <a:r>
              <a:rPr lang="fr-FR" sz="2000" dirty="0"/>
              <a:t>Relancé indéfiniment</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Les messages échoués vont en DLQ.</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0635" y="227687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19</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éviter d’appeler directement une API externe depuis une Web App ?</a:t>
            </a:r>
            <a:endParaRPr lang="fr-FR" sz="2000" dirty="0"/>
          </a:p>
          <a:p>
            <a:pPr marL="457200" indent="-457200">
              <a:buFont typeface="+mj-lt"/>
              <a:buAutoNum type="arabicPeriod"/>
              <a:defRPr sz="2400"/>
            </a:pPr>
            <a:r>
              <a:rPr lang="fr-FR" sz="2000" dirty="0"/>
              <a:t>Trop lent</a:t>
            </a:r>
          </a:p>
          <a:p>
            <a:pPr marL="457200" indent="-457200">
              <a:buFont typeface="+mj-lt"/>
              <a:buAutoNum type="arabicPeriod"/>
              <a:defRPr sz="2400"/>
            </a:pPr>
            <a:r>
              <a:rPr lang="fr-FR" sz="2000" dirty="0"/>
              <a:t>Pas sécurisé</a:t>
            </a:r>
          </a:p>
          <a:p>
            <a:pPr marL="457200" indent="-457200">
              <a:buFont typeface="+mj-lt"/>
              <a:buAutoNum type="arabicPeriod"/>
              <a:defRPr sz="2400"/>
            </a:pPr>
            <a:r>
              <a:rPr lang="fr-FR" sz="2000" dirty="0"/>
              <a:t>Risque de blocage utilisateur</a:t>
            </a:r>
          </a:p>
          <a:p>
            <a:pPr marL="457200" indent="-457200">
              <a:buFont typeface="+mj-lt"/>
              <a:buAutoNum type="arabicPeriod"/>
              <a:defRPr sz="2400"/>
            </a:pPr>
            <a:r>
              <a:rPr lang="fr-FR" sz="2000" dirty="0"/>
              <a:t>Pas compatible Azure</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Peut bloquer l’utilisateur.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07504"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0A68D-B939-4CF7-9187-0095C6C5244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10BCEC2-F570-9030-5C53-2CFBC1AD7A20}"/>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028ED11D-4DD0-35F9-30B3-F915DF474E12}"/>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20</a:t>
            </a:r>
            <a:endParaRPr sz="3200" dirty="0"/>
          </a:p>
        </p:txBody>
      </p:sp>
      <p:sp>
        <p:nvSpPr>
          <p:cNvPr id="3" name="TextBox 2">
            <a:extLst>
              <a:ext uri="{FF2B5EF4-FFF2-40B4-BE49-F238E27FC236}">
                <a16:creationId xmlns:a16="http://schemas.microsoft.com/office/drawing/2014/main" id="{F8CE90EC-B758-D47A-36C4-B99AD20CF04C}"/>
              </a:ext>
            </a:extLst>
          </p:cNvPr>
          <p:cNvSpPr txBox="1"/>
          <p:nvPr/>
        </p:nvSpPr>
        <p:spPr>
          <a:xfrm>
            <a:off x="467096" y="1324006"/>
            <a:ext cx="8431481" cy="707886"/>
          </a:xfrm>
          <a:prstGeom prst="rect">
            <a:avLst/>
          </a:prstGeom>
          <a:noFill/>
        </p:spPr>
        <p:txBody>
          <a:bodyPr wrap="square">
            <a:spAutoFit/>
          </a:bodyPr>
          <a:lstStyle/>
          <a:p>
            <a:pPr>
              <a:defRPr sz="2400"/>
            </a:pPr>
            <a:r>
              <a:rPr lang="fr-FR" sz="2000" dirty="0"/>
              <a:t>Associez chaque service Azure à sa description.</a:t>
            </a:r>
          </a:p>
          <a:p>
            <a:pPr>
              <a:defRPr sz="2400"/>
            </a:pPr>
            <a:endParaRPr lang="fr-FR" sz="2000" dirty="0"/>
          </a:p>
        </p:txBody>
      </p:sp>
      <p:sp>
        <p:nvSpPr>
          <p:cNvPr id="8" name="TextBox 7">
            <a:extLst>
              <a:ext uri="{FF2B5EF4-FFF2-40B4-BE49-F238E27FC236}">
                <a16:creationId xmlns:a16="http://schemas.microsoft.com/office/drawing/2014/main" id="{1F684D0F-E20D-D2C8-DB82-BF046D1299AF}"/>
              </a:ext>
            </a:extLst>
          </p:cNvPr>
          <p:cNvSpPr txBox="1"/>
          <p:nvPr/>
        </p:nvSpPr>
        <p:spPr>
          <a:xfrm>
            <a:off x="7713799" y="5373216"/>
            <a:ext cx="1236236" cy="1200329"/>
          </a:xfrm>
          <a:prstGeom prst="rect">
            <a:avLst/>
          </a:prstGeom>
          <a:noFill/>
        </p:spPr>
        <p:txBody>
          <a:bodyPr wrap="none">
            <a:spAutoFit/>
          </a:bodyPr>
          <a:lstStyle/>
          <a:p>
            <a:pPr>
              <a:defRPr sz="1800" b="1"/>
            </a:pPr>
            <a:r>
              <a:rPr u="sng" dirty="0" err="1"/>
              <a:t>Réponse</a:t>
            </a:r>
            <a:r>
              <a:rPr u="sng" dirty="0"/>
              <a:t> :</a:t>
            </a:r>
            <a:br>
              <a:rPr lang="fr-FR" u="sng" dirty="0"/>
            </a:br>
            <a:r>
              <a:rPr lang="pt-BR" dirty="0"/>
              <a:t>1 → B</a:t>
            </a:r>
            <a:br>
              <a:rPr lang="pt-BR" dirty="0"/>
            </a:br>
            <a:r>
              <a:rPr lang="pt-BR" dirty="0"/>
              <a:t>2 → A</a:t>
            </a:r>
            <a:br>
              <a:rPr lang="pt-BR" dirty="0"/>
            </a:br>
            <a:r>
              <a:rPr lang="pt-BR" dirty="0"/>
              <a:t>3 → C</a:t>
            </a:r>
            <a:endParaRPr u="sng" dirty="0" err="1"/>
          </a:p>
        </p:txBody>
      </p:sp>
      <p:sp>
        <p:nvSpPr>
          <p:cNvPr id="9" name="TextBox 8">
            <a:extLst>
              <a:ext uri="{FF2B5EF4-FFF2-40B4-BE49-F238E27FC236}">
                <a16:creationId xmlns:a16="http://schemas.microsoft.com/office/drawing/2014/main" id="{DBA387D2-1EA2-B9AC-A7A2-1CA113448B32}"/>
              </a:ext>
            </a:extLst>
          </p:cNvPr>
          <p:cNvSpPr txBox="1"/>
          <p:nvPr/>
        </p:nvSpPr>
        <p:spPr>
          <a:xfrm>
            <a:off x="323528" y="5596418"/>
            <a:ext cx="7146508" cy="830997"/>
          </a:xfrm>
          <a:prstGeom prst="rect">
            <a:avLst/>
          </a:prstGeom>
          <a:noFill/>
        </p:spPr>
        <p:txBody>
          <a:bodyPr wrap="none">
            <a:spAutoFit/>
          </a:bodyPr>
          <a:lstStyle/>
          <a:p>
            <a:pPr marL="285750" indent="-285750">
              <a:buFont typeface="Arial" panose="020B0604020202020204" pitchFamily="34" charset="0"/>
              <a:buChar char="•"/>
              <a:defRPr sz="1600"/>
            </a:pPr>
            <a:r>
              <a:rPr lang="en-US" dirty="0"/>
              <a:t>Azure Functions </a:t>
            </a:r>
            <a:r>
              <a:rPr lang="fr-FR" dirty="0"/>
              <a:t>→</a:t>
            </a:r>
            <a:r>
              <a:rPr lang="en-US" dirty="0"/>
              <a:t> event-driven + code-first + court</a:t>
            </a:r>
          </a:p>
          <a:p>
            <a:pPr marL="285750" indent="-285750">
              <a:buFont typeface="Arial" panose="020B0604020202020204" pitchFamily="34" charset="0"/>
              <a:buChar char="•"/>
              <a:defRPr sz="1600"/>
            </a:pPr>
            <a:r>
              <a:rPr lang="en-US" dirty="0"/>
              <a:t>Logic Apps </a:t>
            </a:r>
            <a:r>
              <a:rPr lang="fr-FR" dirty="0"/>
              <a:t>→</a:t>
            </a:r>
            <a:r>
              <a:rPr lang="en-US" dirty="0"/>
              <a:t> event-driven + orchestration + low-code</a:t>
            </a:r>
          </a:p>
          <a:p>
            <a:pPr marL="285750" indent="-285750">
              <a:buFont typeface="Arial" panose="020B0604020202020204" pitchFamily="34" charset="0"/>
              <a:buChar char="•"/>
              <a:defRPr sz="1600"/>
            </a:pPr>
            <a:r>
              <a:rPr lang="en-US" dirty="0" err="1"/>
              <a:t>WebJobs</a:t>
            </a:r>
            <a:r>
              <a:rPr lang="en-US" dirty="0"/>
              <a:t> </a:t>
            </a:r>
            <a:r>
              <a:rPr lang="fr-FR" dirty="0"/>
              <a:t>→</a:t>
            </a:r>
            <a:r>
              <a:rPr lang="en-US" dirty="0"/>
              <a:t> long-running + App Service (+ event-driven possible via SDK)</a:t>
            </a:r>
            <a:endParaRPr dirty="0"/>
          </a:p>
        </p:txBody>
      </p:sp>
      <p:sp>
        <p:nvSpPr>
          <p:cNvPr id="4" name="ZoneTexte 3">
            <a:extLst>
              <a:ext uri="{FF2B5EF4-FFF2-40B4-BE49-F238E27FC236}">
                <a16:creationId xmlns:a16="http://schemas.microsoft.com/office/drawing/2014/main" id="{8EC41EB6-018E-5575-3E18-601157427A58}"/>
              </a:ext>
            </a:extLst>
          </p:cNvPr>
          <p:cNvSpPr txBox="1"/>
          <p:nvPr/>
        </p:nvSpPr>
        <p:spPr>
          <a:xfrm>
            <a:off x="2887918" y="1835428"/>
            <a:ext cx="6010659" cy="3416320"/>
          </a:xfrm>
          <a:prstGeom prst="rect">
            <a:avLst/>
          </a:prstGeom>
          <a:noFill/>
        </p:spPr>
        <p:txBody>
          <a:bodyPr wrap="square" rtlCol="0">
            <a:spAutoFit/>
          </a:bodyPr>
          <a:lstStyle/>
          <a:p>
            <a:r>
              <a:rPr lang="fr-FR" dirty="0"/>
              <a:t>🅱️ Descriptions</a:t>
            </a:r>
          </a:p>
          <a:p>
            <a:br>
              <a:rPr lang="fr-FR" dirty="0"/>
            </a:br>
            <a:r>
              <a:rPr lang="fr-FR" dirty="0"/>
              <a:t>A. Service </a:t>
            </a:r>
            <a:r>
              <a:rPr lang="fr-FR" dirty="0" err="1"/>
              <a:t>low</a:t>
            </a:r>
            <a:r>
              <a:rPr lang="fr-FR" dirty="0"/>
              <a:t>-code orienté workflows, avec designer visuel et connecteurs pour orchestrer des processus </a:t>
            </a:r>
            <a:r>
              <a:rPr lang="fr-FR" dirty="0" err="1"/>
              <a:t>event-driven</a:t>
            </a:r>
            <a:r>
              <a:rPr lang="fr-FR" dirty="0"/>
              <a:t> et intégrer des systèmes</a:t>
            </a:r>
          </a:p>
          <a:p>
            <a:endParaRPr lang="fr-FR" dirty="0"/>
          </a:p>
          <a:p>
            <a:r>
              <a:rPr lang="fr-FR" dirty="0"/>
              <a:t>B. Plateforme </a:t>
            </a:r>
            <a:r>
              <a:rPr lang="fr-FR" dirty="0" err="1"/>
              <a:t>serverless</a:t>
            </a:r>
            <a:r>
              <a:rPr lang="fr-FR" dirty="0"/>
              <a:t> code-first, adaptée aux traitements courts </a:t>
            </a:r>
            <a:r>
              <a:rPr lang="fr-FR" dirty="0" err="1"/>
              <a:t>event-driven</a:t>
            </a:r>
            <a:r>
              <a:rPr lang="fr-FR" dirty="0"/>
              <a:t> avec </a:t>
            </a:r>
            <a:r>
              <a:rPr lang="fr-FR" dirty="0" err="1"/>
              <a:t>scaling</a:t>
            </a:r>
            <a:r>
              <a:rPr lang="fr-FR" dirty="0"/>
              <a:t> automatique</a:t>
            </a:r>
          </a:p>
          <a:p>
            <a:endParaRPr lang="fr-FR" dirty="0"/>
          </a:p>
          <a:p>
            <a:r>
              <a:rPr lang="fr-FR" dirty="0"/>
              <a:t>C. Tâches de fond longues ou planifiées, exécutées dans un App Service avec un </a:t>
            </a:r>
            <a:r>
              <a:rPr lang="fr-FR" dirty="0" err="1"/>
              <a:t>scaling</a:t>
            </a:r>
            <a:r>
              <a:rPr lang="fr-FR" dirty="0"/>
              <a:t> dépendant du plan, pouvant aussi gérer des traitements </a:t>
            </a:r>
            <a:r>
              <a:rPr lang="fr-FR" dirty="0" err="1"/>
              <a:t>event-driven</a:t>
            </a:r>
            <a:r>
              <a:rPr lang="fr-FR" dirty="0"/>
              <a:t> via SDK</a:t>
            </a:r>
          </a:p>
        </p:txBody>
      </p:sp>
      <p:sp>
        <p:nvSpPr>
          <p:cNvPr id="5" name="ZoneTexte 4">
            <a:extLst>
              <a:ext uri="{FF2B5EF4-FFF2-40B4-BE49-F238E27FC236}">
                <a16:creationId xmlns:a16="http://schemas.microsoft.com/office/drawing/2014/main" id="{7E9B68D4-748F-70DF-B513-C3A50868CC21}"/>
              </a:ext>
            </a:extLst>
          </p:cNvPr>
          <p:cNvSpPr txBox="1"/>
          <p:nvPr/>
        </p:nvSpPr>
        <p:spPr>
          <a:xfrm>
            <a:off x="539552" y="1851680"/>
            <a:ext cx="2113079" cy="2031325"/>
          </a:xfrm>
          <a:prstGeom prst="rect">
            <a:avLst/>
          </a:prstGeom>
          <a:noFill/>
        </p:spPr>
        <p:txBody>
          <a:bodyPr wrap="none" rtlCol="0">
            <a:spAutoFit/>
          </a:bodyPr>
          <a:lstStyle/>
          <a:p>
            <a:r>
              <a:rPr lang="fr-FR" dirty="0"/>
              <a:t>🅰️ Services</a:t>
            </a:r>
          </a:p>
          <a:p>
            <a:endParaRPr lang="fr-FR" dirty="0"/>
          </a:p>
          <a:p>
            <a:pPr marL="342900" indent="-342900">
              <a:buFont typeface="+mj-lt"/>
              <a:buAutoNum type="arabicPeriod"/>
            </a:pPr>
            <a:r>
              <a:rPr lang="fr-FR" dirty="0"/>
              <a:t>Azure </a:t>
            </a:r>
            <a:r>
              <a:rPr lang="fr-FR" dirty="0" err="1"/>
              <a:t>functions</a:t>
            </a:r>
            <a:endParaRPr lang="fr-FR" dirty="0"/>
          </a:p>
          <a:p>
            <a:pPr marL="342900" indent="-342900">
              <a:buFont typeface="+mj-lt"/>
              <a:buAutoNum type="arabicPeriod"/>
            </a:pPr>
            <a:endParaRPr lang="fr-FR" dirty="0"/>
          </a:p>
          <a:p>
            <a:pPr marL="342900" indent="-342900">
              <a:buFont typeface="+mj-lt"/>
              <a:buAutoNum type="arabicPeriod"/>
            </a:pPr>
            <a:r>
              <a:rPr lang="fr-FR" dirty="0"/>
              <a:t>Logic Apps</a:t>
            </a:r>
          </a:p>
          <a:p>
            <a:pPr marL="342900" indent="-342900">
              <a:buFont typeface="+mj-lt"/>
              <a:buAutoNum type="arabicPeriod"/>
            </a:pPr>
            <a:endParaRPr lang="fr-FR" dirty="0"/>
          </a:p>
          <a:p>
            <a:pPr marL="342900" indent="-342900">
              <a:buFont typeface="+mj-lt"/>
              <a:buAutoNum type="arabicPeriod"/>
            </a:pPr>
            <a:r>
              <a:rPr lang="fr-FR" dirty="0" err="1"/>
              <a:t>WebJobs</a:t>
            </a:r>
            <a:endParaRPr lang="fr-FR" dirty="0"/>
          </a:p>
        </p:txBody>
      </p:sp>
      <p:cxnSp>
        <p:nvCxnSpPr>
          <p:cNvPr id="7" name="Connecteur droit avec flèche 6">
            <a:extLst>
              <a:ext uri="{FF2B5EF4-FFF2-40B4-BE49-F238E27FC236}">
                <a16:creationId xmlns:a16="http://schemas.microsoft.com/office/drawing/2014/main" id="{C10A0588-EA2C-4F59-A8D3-1D9031B90835}"/>
              </a:ext>
            </a:extLst>
          </p:cNvPr>
          <p:cNvCxnSpPr/>
          <p:nvPr/>
        </p:nvCxnSpPr>
        <p:spPr>
          <a:xfrm>
            <a:off x="2555776" y="2780928"/>
            <a:ext cx="332142" cy="936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A2CD1CDA-9A91-24EB-645B-8A6DF32E68AA}"/>
              </a:ext>
            </a:extLst>
          </p:cNvPr>
          <p:cNvCxnSpPr>
            <a:cxnSpLocks/>
          </p:cNvCxnSpPr>
          <p:nvPr/>
        </p:nvCxnSpPr>
        <p:spPr>
          <a:xfrm flipV="1">
            <a:off x="2195736" y="2614955"/>
            <a:ext cx="748680" cy="526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A10F3FFF-C52D-EF34-264A-53CBE48D2C58}"/>
              </a:ext>
            </a:extLst>
          </p:cNvPr>
          <p:cNvCxnSpPr>
            <a:cxnSpLocks/>
          </p:cNvCxnSpPr>
          <p:nvPr/>
        </p:nvCxnSpPr>
        <p:spPr>
          <a:xfrm>
            <a:off x="1979712" y="3724031"/>
            <a:ext cx="908206" cy="1053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095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939D7-1407-4E55-6089-24F4EB9078E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43900B2-5914-ACBF-F299-A5432BF6C88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15E7626B-81AE-EA32-5B2A-9B76D8B57F5E}"/>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21</a:t>
            </a:r>
            <a:endParaRPr sz="3200" dirty="0"/>
          </a:p>
        </p:txBody>
      </p:sp>
      <p:sp>
        <p:nvSpPr>
          <p:cNvPr id="3" name="TextBox 2">
            <a:extLst>
              <a:ext uri="{FF2B5EF4-FFF2-40B4-BE49-F238E27FC236}">
                <a16:creationId xmlns:a16="http://schemas.microsoft.com/office/drawing/2014/main" id="{1C2AAE27-62EB-C967-C1B1-8B2B43CA6D27}"/>
              </a:ext>
            </a:extLst>
          </p:cNvPr>
          <p:cNvSpPr txBox="1"/>
          <p:nvPr/>
        </p:nvSpPr>
        <p:spPr>
          <a:xfrm>
            <a:off x="467096" y="1324006"/>
            <a:ext cx="8431481" cy="2554545"/>
          </a:xfrm>
          <a:prstGeom prst="rect">
            <a:avLst/>
          </a:prstGeom>
          <a:noFill/>
        </p:spPr>
        <p:txBody>
          <a:bodyPr wrap="square">
            <a:spAutoFit/>
          </a:bodyPr>
          <a:lstStyle/>
          <a:p>
            <a:pPr>
              <a:defRPr sz="2400"/>
            </a:pPr>
            <a:r>
              <a:rPr lang="fr-FR" sz="2000" dirty="0"/>
              <a:t>Quel est le rôle principal d’Azurite dans le développement Azure ?</a:t>
            </a:r>
          </a:p>
          <a:p>
            <a:pPr marL="457200" indent="-457200">
              <a:buFont typeface="+mj-lt"/>
              <a:buAutoNum type="arabicPeriod"/>
              <a:defRPr sz="2400"/>
            </a:pPr>
            <a:r>
              <a:rPr lang="fr-FR" sz="2000" dirty="0"/>
              <a:t>Fournir un service de stockage Azure hautement disponible en production</a:t>
            </a:r>
          </a:p>
          <a:p>
            <a:pPr marL="457200" indent="-457200">
              <a:buFont typeface="+mj-lt"/>
              <a:buAutoNum type="arabicPeriod"/>
              <a:defRPr sz="2400"/>
            </a:pPr>
            <a:r>
              <a:rPr lang="fr-FR" sz="2000" dirty="0"/>
              <a:t>Remplacer Azure Service Bus pour les tests unitaires</a:t>
            </a:r>
          </a:p>
          <a:p>
            <a:pPr marL="457200" indent="-457200">
              <a:buFont typeface="+mj-lt"/>
              <a:buAutoNum type="arabicPeriod"/>
              <a:defRPr sz="2400"/>
            </a:pPr>
            <a:r>
              <a:rPr lang="fr-FR" sz="2000" dirty="0"/>
              <a:t>Permettre le déploiement automatique sur Azure</a:t>
            </a:r>
          </a:p>
          <a:p>
            <a:pPr marL="457200" indent="-457200">
              <a:buFont typeface="+mj-lt"/>
              <a:buAutoNum type="arabicPeriod"/>
              <a:defRPr sz="2400"/>
            </a:pPr>
            <a:r>
              <a:rPr lang="fr-FR" sz="2000" dirty="0"/>
              <a:t>Simuler les services Azure Storage en local pour le développement et les tests</a:t>
            </a:r>
          </a:p>
          <a:p>
            <a:pPr marL="457200" indent="-457200">
              <a:buFont typeface="+mj-lt"/>
              <a:buAutoNum type="arabicPeriod"/>
              <a:defRPr sz="2400"/>
            </a:pPr>
            <a:endParaRPr sz="2000" dirty="0"/>
          </a:p>
        </p:txBody>
      </p:sp>
      <p:sp>
        <p:nvSpPr>
          <p:cNvPr id="8" name="TextBox 7">
            <a:extLst>
              <a:ext uri="{FF2B5EF4-FFF2-40B4-BE49-F238E27FC236}">
                <a16:creationId xmlns:a16="http://schemas.microsoft.com/office/drawing/2014/main" id="{2B4D59F8-471D-D7B6-DC23-748FED028CC5}"/>
              </a:ext>
            </a:extLst>
          </p:cNvPr>
          <p:cNvSpPr txBox="1"/>
          <p:nvPr/>
        </p:nvSpPr>
        <p:spPr>
          <a:xfrm>
            <a:off x="7380312" y="3429000"/>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a:extLst>
              <a:ext uri="{FF2B5EF4-FFF2-40B4-BE49-F238E27FC236}">
                <a16:creationId xmlns:a16="http://schemas.microsoft.com/office/drawing/2014/main" id="{D0C2E7E6-92C3-B36A-07CE-DA4D7DBAC6C4}"/>
              </a:ext>
            </a:extLst>
          </p:cNvPr>
          <p:cNvSpPr txBox="1"/>
          <p:nvPr/>
        </p:nvSpPr>
        <p:spPr>
          <a:xfrm>
            <a:off x="500632" y="3717032"/>
            <a:ext cx="4402167" cy="2462213"/>
          </a:xfrm>
          <a:prstGeom prst="rect">
            <a:avLst/>
          </a:prstGeom>
          <a:noFill/>
        </p:spPr>
        <p:txBody>
          <a:bodyPr wrap="none">
            <a:spAutoFit/>
          </a:bodyPr>
          <a:lstStyle/>
          <a:p>
            <a:r>
              <a:rPr lang="fr-FR" sz="1400" dirty="0"/>
              <a:t>👉 </a:t>
            </a:r>
            <a:r>
              <a:rPr lang="fr-FR" sz="1400" b="1" dirty="0"/>
              <a:t>Azurite</a:t>
            </a:r>
            <a:r>
              <a:rPr lang="fr-FR" sz="1400" dirty="0"/>
              <a:t> est un </a:t>
            </a:r>
            <a:r>
              <a:rPr lang="fr-FR" sz="1400" b="1" dirty="0"/>
              <a:t>émulateur local d’Azure Storage</a:t>
            </a:r>
            <a:endParaRPr lang="fr-FR" sz="1400" dirty="0"/>
          </a:p>
          <a:p>
            <a:r>
              <a:rPr lang="fr-FR" sz="1400" dirty="0"/>
              <a:t>Il permet de simuler :</a:t>
            </a:r>
          </a:p>
          <a:p>
            <a:pPr marL="285750" indent="-285750">
              <a:buFont typeface="Arial" panose="020B0604020202020204" pitchFamily="34" charset="0"/>
              <a:buChar char="•"/>
            </a:pPr>
            <a:r>
              <a:rPr lang="fr-FR" sz="1400" dirty="0"/>
              <a:t>Blob Storage </a:t>
            </a:r>
          </a:p>
          <a:p>
            <a:pPr marL="285750" indent="-285750">
              <a:buFont typeface="Arial" panose="020B0604020202020204" pitchFamily="34" charset="0"/>
              <a:buChar char="•"/>
            </a:pPr>
            <a:r>
              <a:rPr lang="fr-FR" sz="1400" dirty="0"/>
              <a:t>Queue Storage </a:t>
            </a:r>
          </a:p>
          <a:p>
            <a:pPr marL="285750" indent="-285750">
              <a:buFont typeface="Arial" panose="020B0604020202020204" pitchFamily="34" charset="0"/>
              <a:buChar char="•"/>
            </a:pPr>
            <a:r>
              <a:rPr lang="fr-FR" sz="1400" dirty="0"/>
              <a:t>Table Storage </a:t>
            </a:r>
          </a:p>
          <a:p>
            <a:r>
              <a:rPr lang="fr-FR" sz="1400" dirty="0"/>
              <a:t>👉 sans connexion à Azure</a:t>
            </a:r>
          </a:p>
          <a:p>
            <a:br>
              <a:rPr lang="fr-FR" sz="1400" dirty="0"/>
            </a:br>
            <a:endParaRPr lang="fr-FR" sz="1400" dirty="0"/>
          </a:p>
          <a:p>
            <a:r>
              <a:rPr lang="fr-FR" sz="1400" b="1" dirty="0"/>
              <a:t>🧠 Exemple concret</a:t>
            </a:r>
          </a:p>
          <a:p>
            <a:r>
              <a:rPr lang="fr-FR" sz="1400" dirty="0"/>
              <a:t>👉 En local : </a:t>
            </a:r>
            <a:r>
              <a:rPr lang="fr-FR" sz="1400" dirty="0" err="1">
                <a:highlight>
                  <a:srgbClr val="FFFF00"/>
                </a:highlight>
                <a:latin typeface="Courier New" panose="02070309020205020404" pitchFamily="49" charset="0"/>
                <a:cs typeface="Courier New" panose="02070309020205020404" pitchFamily="49" charset="0"/>
              </a:rPr>
              <a:t>UseDevelopmentStorage</a:t>
            </a:r>
            <a:r>
              <a:rPr lang="fr-FR" sz="1400" dirty="0">
                <a:highlight>
                  <a:srgbClr val="FFFF00"/>
                </a:highlight>
                <a:latin typeface="Courier New" panose="02070309020205020404" pitchFamily="49" charset="0"/>
                <a:cs typeface="Courier New" panose="02070309020205020404" pitchFamily="49" charset="0"/>
              </a:rPr>
              <a:t>=</a:t>
            </a:r>
            <a:r>
              <a:rPr lang="fr-FR" sz="1400" dirty="0" err="1">
                <a:highlight>
                  <a:srgbClr val="FFFF00"/>
                </a:highlight>
                <a:latin typeface="Courier New" panose="02070309020205020404" pitchFamily="49" charset="0"/>
                <a:cs typeface="Courier New" panose="02070309020205020404" pitchFamily="49" charset="0"/>
              </a:rPr>
              <a:t>true</a:t>
            </a:r>
            <a:endParaRPr lang="fr-FR" sz="1400" dirty="0">
              <a:highlight>
                <a:srgbClr val="FFFF00"/>
              </a:highlight>
              <a:latin typeface="Courier New" panose="02070309020205020404" pitchFamily="49" charset="0"/>
              <a:cs typeface="Courier New" panose="02070309020205020404" pitchFamily="49" charset="0"/>
            </a:endParaRPr>
          </a:p>
          <a:p>
            <a:r>
              <a:rPr lang="fr-FR" sz="1400" dirty="0"/>
              <a:t>👉 ta </a:t>
            </a:r>
            <a:r>
              <a:rPr lang="fr-FR" sz="1400" dirty="0" err="1"/>
              <a:t>Function</a:t>
            </a:r>
            <a:r>
              <a:rPr lang="fr-FR" sz="1400" dirty="0"/>
              <a:t> utilise Azurite au lieu d’Azure</a:t>
            </a:r>
          </a:p>
        </p:txBody>
      </p:sp>
      <p:sp>
        <p:nvSpPr>
          <p:cNvPr id="13" name="ZoneTexte 12">
            <a:extLst>
              <a:ext uri="{FF2B5EF4-FFF2-40B4-BE49-F238E27FC236}">
                <a16:creationId xmlns:a16="http://schemas.microsoft.com/office/drawing/2014/main" id="{2E96DC34-B9AE-DE8C-AD53-9EE9D0E4336E}"/>
              </a:ext>
            </a:extLst>
          </p:cNvPr>
          <p:cNvSpPr txBox="1"/>
          <p:nvPr/>
        </p:nvSpPr>
        <p:spPr>
          <a:xfrm>
            <a:off x="24397" y="2924944"/>
            <a:ext cx="557808" cy="369332"/>
          </a:xfrm>
          <a:prstGeom prst="rect">
            <a:avLst/>
          </a:prstGeom>
          <a:noFill/>
        </p:spPr>
        <p:txBody>
          <a:bodyPr wrap="square">
            <a:spAutoFit/>
          </a:bodyPr>
          <a:lstStyle/>
          <a:p>
            <a:r>
              <a:rPr lang="fr-FR" b="1" dirty="0"/>
              <a:t>✅</a:t>
            </a:r>
            <a:endParaRPr lang="fr-FR" dirty="0"/>
          </a:p>
        </p:txBody>
      </p:sp>
      <p:sp>
        <p:nvSpPr>
          <p:cNvPr id="4" name="TextBox 8">
            <a:extLst>
              <a:ext uri="{FF2B5EF4-FFF2-40B4-BE49-F238E27FC236}">
                <a16:creationId xmlns:a16="http://schemas.microsoft.com/office/drawing/2014/main" id="{1ADA9BDA-3652-70BC-74F7-C039401FB5C6}"/>
              </a:ext>
            </a:extLst>
          </p:cNvPr>
          <p:cNvSpPr txBox="1"/>
          <p:nvPr/>
        </p:nvSpPr>
        <p:spPr>
          <a:xfrm>
            <a:off x="5126408" y="3873322"/>
            <a:ext cx="3932487" cy="2893100"/>
          </a:xfrm>
          <a:prstGeom prst="rect">
            <a:avLst/>
          </a:prstGeom>
          <a:noFill/>
        </p:spPr>
        <p:txBody>
          <a:bodyPr wrap="none">
            <a:spAutoFit/>
          </a:bodyPr>
          <a:lstStyle/>
          <a:p>
            <a:r>
              <a:rPr lang="fr-FR" sz="1400" b="1" dirty="0"/>
              <a:t>⚠️ Pourquoi c’est important</a:t>
            </a:r>
          </a:p>
          <a:p>
            <a:r>
              <a:rPr lang="fr-FR" sz="1400" dirty="0"/>
              <a:t>✔ développement offline</a:t>
            </a:r>
            <a:br>
              <a:rPr lang="fr-FR" sz="1400" dirty="0"/>
            </a:br>
            <a:r>
              <a:rPr lang="fr-FR" sz="1400" dirty="0"/>
              <a:t>✔ pas de coût Azure</a:t>
            </a:r>
            <a:br>
              <a:rPr lang="fr-FR" sz="1400" dirty="0"/>
            </a:br>
            <a:r>
              <a:rPr lang="fr-FR" sz="1400" dirty="0"/>
              <a:t>✔ tests rapides</a:t>
            </a:r>
          </a:p>
          <a:p>
            <a:endParaRPr lang="fr-FR" sz="1400" dirty="0"/>
          </a:p>
          <a:p>
            <a:r>
              <a:rPr lang="fr-FR" sz="1400" dirty="0"/>
              <a:t>👉 </a:t>
            </a:r>
            <a:r>
              <a:rPr lang="fr-FR" sz="1400" b="1" dirty="0"/>
              <a:t>Comment voir son Storage avec Azurite :</a:t>
            </a:r>
          </a:p>
          <a:p>
            <a:pPr marL="285750" indent="-285750">
              <a:buFontTx/>
              <a:buChar char="-"/>
            </a:pPr>
            <a:r>
              <a:rPr lang="fr-FR" sz="1400" dirty="0"/>
              <a:t>Azure Storage Explorer </a:t>
            </a:r>
          </a:p>
          <a:p>
            <a:pPr marL="285750" indent="-285750">
              <a:buFontTx/>
              <a:buChar char="-"/>
            </a:pPr>
            <a:r>
              <a:rPr lang="fr-FR" sz="1400" dirty="0"/>
              <a:t>CLI : </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az</a:t>
            </a:r>
            <a:r>
              <a:rPr lang="en-US" sz="1400" dirty="0">
                <a:latin typeface="Courier New" panose="02070309020205020404" pitchFamily="49" charset="0"/>
                <a:cs typeface="Courier New" panose="02070309020205020404" pitchFamily="49" charset="0"/>
              </a:rPr>
              <a:t> storage queue list </a:t>
            </a:r>
          </a:p>
          <a:p>
            <a:r>
              <a:rPr lang="en-US" sz="1400" dirty="0">
                <a:latin typeface="Courier New" panose="02070309020205020404" pitchFamily="49" charset="0"/>
                <a:cs typeface="Courier New" panose="02070309020205020404" pitchFamily="49" charset="0"/>
              </a:rPr>
              <a:t>    --connection-string </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UseDevelopmentStorage</a:t>
            </a:r>
            <a:r>
              <a:rPr lang="en-US" sz="1400" dirty="0">
                <a:latin typeface="Courier New" panose="02070309020205020404" pitchFamily="49" charset="0"/>
                <a:cs typeface="Courier New" panose="02070309020205020404" pitchFamily="49" charset="0"/>
              </a:rPr>
              <a:t>=true"</a:t>
            </a:r>
            <a:endParaRPr lang="fr-FR" sz="1400" dirty="0">
              <a:latin typeface="Courier New" panose="02070309020205020404" pitchFamily="49" charset="0"/>
              <a:cs typeface="Courier New" panose="02070309020205020404" pitchFamily="49" charset="0"/>
            </a:endParaRPr>
          </a:p>
          <a:p>
            <a:pPr marL="285750" indent="-285750">
              <a:buFontTx/>
              <a:buChar char="-"/>
            </a:pPr>
            <a:r>
              <a:rPr lang="fr-FR" sz="1400" dirty="0"/>
              <a:t>Extension VS Code</a:t>
            </a:r>
          </a:p>
          <a:p>
            <a:endParaRPr lang="fr-FR" sz="1400" dirty="0"/>
          </a:p>
        </p:txBody>
      </p:sp>
    </p:spTree>
    <p:extLst>
      <p:ext uri="{BB962C8B-B14F-4D97-AF65-F5344CB8AC3E}">
        <p14:creationId xmlns:p14="http://schemas.microsoft.com/office/powerpoint/2010/main" val="289963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4"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C3D6C-B629-1A97-CDA0-4C38456D808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D9650DC-798C-89B2-DCFA-21119E4CCF9A}"/>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E4B44073-BE4A-527C-6345-F8B420C32C83}"/>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22</a:t>
            </a:r>
            <a:endParaRPr sz="3200" dirty="0"/>
          </a:p>
        </p:txBody>
      </p:sp>
      <p:sp>
        <p:nvSpPr>
          <p:cNvPr id="3" name="TextBox 2">
            <a:extLst>
              <a:ext uri="{FF2B5EF4-FFF2-40B4-BE49-F238E27FC236}">
                <a16:creationId xmlns:a16="http://schemas.microsoft.com/office/drawing/2014/main" id="{53E4B481-4188-3717-8E4D-C2A03ECBE410}"/>
              </a:ext>
            </a:extLst>
          </p:cNvPr>
          <p:cNvSpPr txBox="1"/>
          <p:nvPr/>
        </p:nvSpPr>
        <p:spPr>
          <a:xfrm>
            <a:off x="467096" y="1324006"/>
            <a:ext cx="8431481" cy="2246769"/>
          </a:xfrm>
          <a:prstGeom prst="rect">
            <a:avLst/>
          </a:prstGeom>
          <a:noFill/>
        </p:spPr>
        <p:txBody>
          <a:bodyPr wrap="square">
            <a:spAutoFit/>
          </a:bodyPr>
          <a:lstStyle/>
          <a:p>
            <a:pPr>
              <a:defRPr sz="2400"/>
            </a:pPr>
            <a:r>
              <a:rPr lang="fr-FR" sz="2000" dirty="0"/>
              <a:t>Vous souhaitez déployer votre projet Azure </a:t>
            </a:r>
            <a:r>
              <a:rPr lang="fr-FR" sz="2000" dirty="0" err="1"/>
              <a:t>Functions</a:t>
            </a:r>
            <a:r>
              <a:rPr lang="fr-FR" sz="2000" dirty="0"/>
              <a:t> local vers Azure à l’aide des Azure </a:t>
            </a:r>
            <a:r>
              <a:rPr lang="fr-FR" sz="2000" dirty="0" err="1"/>
              <a:t>Functions</a:t>
            </a:r>
            <a:r>
              <a:rPr lang="fr-FR" sz="2000" dirty="0"/>
              <a:t> </a:t>
            </a:r>
            <a:r>
              <a:rPr lang="fr-FR" sz="2000" dirty="0" err="1"/>
              <a:t>Core</a:t>
            </a:r>
            <a:r>
              <a:rPr lang="fr-FR" sz="2000" dirty="0"/>
              <a:t> Tools.</a:t>
            </a:r>
            <a:br>
              <a:rPr lang="fr-FR" sz="2000" dirty="0"/>
            </a:br>
            <a:r>
              <a:rPr lang="fr-FR" sz="2000" dirty="0"/>
              <a:t>Quelle commande devez-vous utiliser ?</a:t>
            </a:r>
          </a:p>
          <a:p>
            <a:pPr marL="457200" indent="-457200">
              <a:buFont typeface="+mj-lt"/>
              <a:buAutoNum type="arabicPeriod"/>
              <a:defRPr sz="2400"/>
            </a:pPr>
            <a:r>
              <a:rPr lang="fr-FR" sz="2000" dirty="0" err="1">
                <a:latin typeface="Courier New" panose="02070309020205020404" pitchFamily="49" charset="0"/>
                <a:cs typeface="Courier New" panose="02070309020205020404" pitchFamily="49" charset="0"/>
              </a:rPr>
              <a:t>func</a:t>
            </a:r>
            <a:r>
              <a:rPr lang="fr-FR" sz="2000" dirty="0">
                <a:latin typeface="Courier New" panose="02070309020205020404" pitchFamily="49" charset="0"/>
                <a:cs typeface="Courier New" panose="02070309020205020404" pitchFamily="49" charset="0"/>
              </a:rPr>
              <a:t> start</a:t>
            </a:r>
          </a:p>
          <a:p>
            <a:pPr marL="457200" indent="-457200">
              <a:buFont typeface="+mj-lt"/>
              <a:buAutoNum type="arabicPeriod"/>
              <a:defRPr sz="2400"/>
            </a:pPr>
            <a:r>
              <a:rPr lang="fr-FR" sz="2000" dirty="0" err="1">
                <a:latin typeface="Courier New" panose="02070309020205020404" pitchFamily="49" charset="0"/>
                <a:cs typeface="Courier New" panose="02070309020205020404" pitchFamily="49" charset="0"/>
              </a:rPr>
              <a:t>func</a:t>
            </a:r>
            <a:r>
              <a:rPr lang="fr-FR" sz="2000" dirty="0">
                <a:latin typeface="Courier New" panose="02070309020205020404" pitchFamily="49" charset="0"/>
                <a:cs typeface="Courier New" panose="02070309020205020404" pitchFamily="49" charset="0"/>
              </a:rPr>
              <a:t> azure </a:t>
            </a:r>
            <a:r>
              <a:rPr lang="fr-FR" sz="2000" dirty="0" err="1">
                <a:latin typeface="Courier New" panose="02070309020205020404" pitchFamily="49" charset="0"/>
                <a:cs typeface="Courier New" panose="02070309020205020404" pitchFamily="49" charset="0"/>
              </a:rPr>
              <a:t>functionapp</a:t>
            </a:r>
            <a:r>
              <a:rPr lang="fr-FR" sz="2000" dirty="0">
                <a:latin typeface="Courier New" panose="02070309020205020404" pitchFamily="49" charset="0"/>
                <a:cs typeface="Courier New" panose="02070309020205020404" pitchFamily="49" charset="0"/>
              </a:rPr>
              <a:t> </a:t>
            </a:r>
            <a:r>
              <a:rPr lang="fr-FR" sz="2000" dirty="0" err="1">
                <a:latin typeface="Courier New" panose="02070309020205020404" pitchFamily="49" charset="0"/>
                <a:cs typeface="Courier New" panose="02070309020205020404" pitchFamily="49" charset="0"/>
              </a:rPr>
              <a:t>publish</a:t>
            </a:r>
            <a:r>
              <a:rPr lang="fr-FR" sz="2000" dirty="0">
                <a:latin typeface="Courier New" panose="02070309020205020404" pitchFamily="49" charset="0"/>
                <a:cs typeface="Courier New" panose="02070309020205020404" pitchFamily="49" charset="0"/>
              </a:rPr>
              <a:t> &lt;</a:t>
            </a:r>
            <a:r>
              <a:rPr lang="fr-FR" sz="2000" dirty="0" err="1">
                <a:latin typeface="Courier New" panose="02070309020205020404" pitchFamily="49" charset="0"/>
                <a:cs typeface="Courier New" panose="02070309020205020404" pitchFamily="49" charset="0"/>
              </a:rPr>
              <a:t>NomFunctionApp</a:t>
            </a:r>
            <a:r>
              <a:rPr lang="fr-FR" sz="2000" dirty="0">
                <a:latin typeface="Courier New" panose="02070309020205020404" pitchFamily="49" charset="0"/>
                <a:cs typeface="Courier New" panose="02070309020205020404" pitchFamily="49" charset="0"/>
              </a:rPr>
              <a:t>&gt;</a:t>
            </a:r>
          </a:p>
          <a:p>
            <a:pPr marL="457200" indent="-457200">
              <a:buFont typeface="+mj-lt"/>
              <a:buAutoNum type="arabicPeriod"/>
              <a:defRPr sz="2400"/>
            </a:pPr>
            <a:r>
              <a:rPr lang="fr-FR" sz="2000" dirty="0" err="1">
                <a:latin typeface="Courier New" panose="02070309020205020404" pitchFamily="49" charset="0"/>
                <a:cs typeface="Courier New" panose="02070309020205020404" pitchFamily="49" charset="0"/>
              </a:rPr>
              <a:t>az</a:t>
            </a:r>
            <a:r>
              <a:rPr lang="fr-FR" sz="2000" dirty="0">
                <a:latin typeface="Courier New" panose="02070309020205020404" pitchFamily="49" charset="0"/>
                <a:cs typeface="Courier New" panose="02070309020205020404" pitchFamily="49" charset="0"/>
              </a:rPr>
              <a:t> </a:t>
            </a:r>
            <a:r>
              <a:rPr lang="fr-FR" sz="2000" dirty="0" err="1">
                <a:latin typeface="Courier New" panose="02070309020205020404" pitchFamily="49" charset="0"/>
                <a:cs typeface="Courier New" panose="02070309020205020404" pitchFamily="49" charset="0"/>
              </a:rPr>
              <a:t>webapp</a:t>
            </a:r>
            <a:r>
              <a:rPr lang="fr-FR" sz="2000" dirty="0">
                <a:latin typeface="Courier New" panose="02070309020205020404" pitchFamily="49" charset="0"/>
                <a:cs typeface="Courier New" panose="02070309020205020404" pitchFamily="49" charset="0"/>
              </a:rPr>
              <a:t> up</a:t>
            </a:r>
          </a:p>
          <a:p>
            <a:pPr marL="457200" indent="-457200">
              <a:buFont typeface="+mj-lt"/>
              <a:buAutoNum type="arabicPeriod"/>
              <a:defRPr sz="2400"/>
            </a:pPr>
            <a:r>
              <a:rPr lang="fr-FR" sz="2000" dirty="0" err="1">
                <a:latin typeface="Courier New" panose="02070309020205020404" pitchFamily="49" charset="0"/>
                <a:cs typeface="Courier New" panose="02070309020205020404" pitchFamily="49" charset="0"/>
              </a:rPr>
              <a:t>dotnet</a:t>
            </a:r>
            <a:r>
              <a:rPr lang="fr-FR" sz="2000" dirty="0">
                <a:latin typeface="Courier New" panose="02070309020205020404" pitchFamily="49" charset="0"/>
                <a:cs typeface="Courier New" panose="02070309020205020404" pitchFamily="49" charset="0"/>
              </a:rPr>
              <a:t> </a:t>
            </a:r>
            <a:r>
              <a:rPr lang="fr-FR" sz="2000" dirty="0" err="1">
                <a:latin typeface="Courier New" panose="02070309020205020404" pitchFamily="49" charset="0"/>
                <a:cs typeface="Courier New" panose="02070309020205020404" pitchFamily="49" charset="0"/>
              </a:rPr>
              <a:t>publish</a:t>
            </a:r>
            <a:endParaRPr dirty="0">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CBEAFFF1-E01D-B45A-3DA6-1EDFDD7AFC64}"/>
              </a:ext>
            </a:extLst>
          </p:cNvPr>
          <p:cNvSpPr txBox="1"/>
          <p:nvPr/>
        </p:nvSpPr>
        <p:spPr>
          <a:xfrm>
            <a:off x="6151418" y="5029200"/>
            <a:ext cx="1433406" cy="369332"/>
          </a:xfrm>
          <a:prstGeom prst="rect">
            <a:avLst/>
          </a:prstGeom>
          <a:noFill/>
        </p:spPr>
        <p:txBody>
          <a:bodyPr wrap="none">
            <a:spAutoFit/>
          </a:bodyPr>
          <a:lstStyle/>
          <a:p>
            <a:pPr>
              <a:defRPr sz="1800" b="1"/>
            </a:pPr>
            <a:r>
              <a:rPr u="sng" dirty="0" err="1"/>
              <a:t>Réponse</a:t>
            </a:r>
            <a:r>
              <a:rPr u="sng" dirty="0"/>
              <a:t> : </a:t>
            </a:r>
            <a:r>
              <a:rPr lang="fr-FR" u="sng" dirty="0"/>
              <a:t>2</a:t>
            </a:r>
            <a:endParaRPr u="sng" dirty="0" err="1"/>
          </a:p>
        </p:txBody>
      </p:sp>
      <p:sp>
        <p:nvSpPr>
          <p:cNvPr id="9" name="TextBox 8">
            <a:extLst>
              <a:ext uri="{FF2B5EF4-FFF2-40B4-BE49-F238E27FC236}">
                <a16:creationId xmlns:a16="http://schemas.microsoft.com/office/drawing/2014/main" id="{96B7EA8D-E645-B05F-704D-F0AF22FB7E91}"/>
              </a:ext>
            </a:extLst>
          </p:cNvPr>
          <p:cNvSpPr txBox="1"/>
          <p:nvPr/>
        </p:nvSpPr>
        <p:spPr>
          <a:xfrm>
            <a:off x="1025237" y="4930239"/>
            <a:ext cx="4796506" cy="1446550"/>
          </a:xfrm>
          <a:prstGeom prst="rect">
            <a:avLst/>
          </a:prstGeom>
          <a:noFill/>
        </p:spPr>
        <p:txBody>
          <a:bodyPr wrap="none">
            <a:spAutoFit/>
          </a:bodyPr>
          <a:lstStyle/>
          <a:p>
            <a:r>
              <a:rPr lang="fr-FR" dirty="0"/>
              <a:t>Permet de :</a:t>
            </a:r>
          </a:p>
          <a:p>
            <a:pPr marL="285750" indent="-285750">
              <a:buFont typeface="Arial" panose="020B0604020202020204" pitchFamily="34" charset="0"/>
              <a:buChar char="•"/>
            </a:pPr>
            <a:r>
              <a:rPr lang="fr-FR" dirty="0"/>
              <a:t>de </a:t>
            </a:r>
            <a:r>
              <a:rPr lang="fr-FR" dirty="0" err="1"/>
              <a:t>build</a:t>
            </a:r>
            <a:r>
              <a:rPr lang="fr-FR" dirty="0"/>
              <a:t> le projet </a:t>
            </a:r>
          </a:p>
          <a:p>
            <a:pPr marL="285750" indent="-285750">
              <a:buFont typeface="Arial" panose="020B0604020202020204" pitchFamily="34" charset="0"/>
              <a:buChar char="•"/>
            </a:pPr>
            <a:r>
              <a:rPr lang="fr-FR" dirty="0"/>
              <a:t>de le publier sur Azure </a:t>
            </a:r>
          </a:p>
          <a:p>
            <a:pPr marL="285750" indent="-285750">
              <a:buFont typeface="Arial" panose="020B0604020202020204" pitchFamily="34" charset="0"/>
              <a:buChar char="•"/>
            </a:pPr>
            <a:r>
              <a:rPr lang="fr-FR" dirty="0"/>
              <a:t>de mettre à jour la </a:t>
            </a:r>
            <a:r>
              <a:rPr lang="fr-FR" dirty="0" err="1"/>
              <a:t>Function</a:t>
            </a:r>
            <a:r>
              <a:rPr lang="fr-FR" dirty="0"/>
              <a:t> App existante </a:t>
            </a:r>
          </a:p>
          <a:p>
            <a:pPr>
              <a:defRPr sz="1600"/>
            </a:pPr>
            <a:endParaRPr dirty="0"/>
          </a:p>
        </p:txBody>
      </p:sp>
      <p:sp>
        <p:nvSpPr>
          <p:cNvPr id="13" name="ZoneTexte 12">
            <a:extLst>
              <a:ext uri="{FF2B5EF4-FFF2-40B4-BE49-F238E27FC236}">
                <a16:creationId xmlns:a16="http://schemas.microsoft.com/office/drawing/2014/main" id="{4D501E20-DEAD-4ACE-A47C-3A796A59D0E2}"/>
              </a:ext>
            </a:extLst>
          </p:cNvPr>
          <p:cNvSpPr txBox="1"/>
          <p:nvPr/>
        </p:nvSpPr>
        <p:spPr>
          <a:xfrm>
            <a:off x="107504" y="2564904"/>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3842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146EE-4ECA-E30F-21C7-F496EF02FA3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7ADDF56-BD54-B430-9E5D-823C7400CB2B}"/>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1E60C04E-1456-47A7-1106-D693E23A98DD}"/>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lang="fr-FR" sz="3200" dirty="0"/>
              <a:t>CLI : </a:t>
            </a:r>
            <a:r>
              <a:rPr lang="fr-FR" sz="3200" dirty="0" err="1"/>
              <a:t>func</a:t>
            </a:r>
            <a:endParaRPr sz="3200" dirty="0"/>
          </a:p>
        </p:txBody>
      </p:sp>
      <p:pic>
        <p:nvPicPr>
          <p:cNvPr id="5" name="Image 4">
            <a:extLst>
              <a:ext uri="{FF2B5EF4-FFF2-40B4-BE49-F238E27FC236}">
                <a16:creationId xmlns:a16="http://schemas.microsoft.com/office/drawing/2014/main" id="{7095D1AD-386B-03F0-7754-C38E2AC793F9}"/>
              </a:ext>
            </a:extLst>
          </p:cNvPr>
          <p:cNvPicPr>
            <a:picLocks noChangeAspect="1"/>
          </p:cNvPicPr>
          <p:nvPr/>
        </p:nvPicPr>
        <p:blipFill>
          <a:blip r:embed="rId3"/>
          <a:stretch>
            <a:fillRect/>
          </a:stretch>
        </p:blipFill>
        <p:spPr>
          <a:xfrm>
            <a:off x="0" y="1340768"/>
            <a:ext cx="9144000" cy="3537105"/>
          </a:xfrm>
          <a:prstGeom prst="rect">
            <a:avLst/>
          </a:prstGeom>
        </p:spPr>
      </p:pic>
    </p:spTree>
    <p:extLst>
      <p:ext uri="{BB962C8B-B14F-4D97-AF65-F5344CB8AC3E}">
        <p14:creationId xmlns:p14="http://schemas.microsoft.com/office/powerpoint/2010/main" val="39423892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464DE-A0CB-4E5B-4B67-ACFA4140048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5540B53-3B8E-F872-A852-E493DA0785F7}"/>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5682B207-26DA-3FB8-47C2-34113C909280}"/>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lang="fr-FR" sz="3200" dirty="0"/>
              <a:t>Azure Durable </a:t>
            </a:r>
            <a:r>
              <a:rPr lang="fr-FR" sz="3200" dirty="0" err="1"/>
              <a:t>Functions</a:t>
            </a:r>
            <a:r>
              <a:rPr lang="fr-FR" sz="3200" dirty="0"/>
              <a:t> 1/2</a:t>
            </a:r>
            <a:endParaRPr sz="3200" dirty="0"/>
          </a:p>
        </p:txBody>
      </p:sp>
      <p:pic>
        <p:nvPicPr>
          <p:cNvPr id="4" name="Image 3">
            <a:extLst>
              <a:ext uri="{FF2B5EF4-FFF2-40B4-BE49-F238E27FC236}">
                <a16:creationId xmlns:a16="http://schemas.microsoft.com/office/drawing/2014/main" id="{E83BD6DF-C213-77C9-92A1-0B025B6D10AF}"/>
              </a:ext>
            </a:extLst>
          </p:cNvPr>
          <p:cNvPicPr>
            <a:picLocks noChangeAspect="1"/>
          </p:cNvPicPr>
          <p:nvPr/>
        </p:nvPicPr>
        <p:blipFill>
          <a:blip r:embed="rId3"/>
          <a:stretch>
            <a:fillRect/>
          </a:stretch>
        </p:blipFill>
        <p:spPr>
          <a:xfrm>
            <a:off x="0" y="1340768"/>
            <a:ext cx="9144000" cy="4735573"/>
          </a:xfrm>
          <a:prstGeom prst="rect">
            <a:avLst/>
          </a:prstGeom>
        </p:spPr>
      </p:pic>
    </p:spTree>
    <p:extLst>
      <p:ext uri="{BB962C8B-B14F-4D97-AF65-F5344CB8AC3E}">
        <p14:creationId xmlns:p14="http://schemas.microsoft.com/office/powerpoint/2010/main" val="66298696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D408F-0FF7-0FD2-0E2D-2011993E59A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D59C202-C0B9-69AA-9DB0-6CC76B529ADB}"/>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1524F743-7337-EDEC-63F2-4EDE56161E72}"/>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lang="fr-FR" sz="3200" dirty="0"/>
              <a:t>Azure Durable </a:t>
            </a:r>
            <a:r>
              <a:rPr lang="fr-FR" sz="3200" dirty="0" err="1"/>
              <a:t>Functions</a:t>
            </a:r>
            <a:r>
              <a:rPr lang="fr-FR" sz="3200" dirty="0"/>
              <a:t> 2/2</a:t>
            </a:r>
            <a:endParaRPr sz="3200" dirty="0"/>
          </a:p>
        </p:txBody>
      </p:sp>
      <p:pic>
        <p:nvPicPr>
          <p:cNvPr id="1026" name="Picture 2" descr="Azure Functions – fonctions serverless dans Computing | Microsoft Azure">
            <a:extLst>
              <a:ext uri="{FF2B5EF4-FFF2-40B4-BE49-F238E27FC236}">
                <a16:creationId xmlns:a16="http://schemas.microsoft.com/office/drawing/2014/main" id="{B48015FA-0C2C-F0F6-74CE-D5643DB0A9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229" y="1196752"/>
            <a:ext cx="7049541" cy="5604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39894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0909B-4E63-F92C-E3B2-EACE821B9A2F}"/>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5F17C7A-00D7-642A-61A2-5F9E0D70C473}"/>
              </a:ext>
            </a:extLst>
          </p:cNvPr>
          <p:cNvSpPr>
            <a:spLocks noGrp="1"/>
          </p:cNvSpPr>
          <p:nvPr>
            <p:ph type="body" sz="quarter" idx="11"/>
          </p:nvPr>
        </p:nvSpPr>
        <p:spPr/>
        <p:txBody>
          <a:bodyPr/>
          <a:lstStyle/>
          <a:p>
            <a:r>
              <a:rPr lang="fr-FR" dirty="0"/>
              <a:t>Clés asymétriques</a:t>
            </a:r>
          </a:p>
        </p:txBody>
      </p:sp>
      <p:sp>
        <p:nvSpPr>
          <p:cNvPr id="3" name="Espace réservé du texte 2">
            <a:extLst>
              <a:ext uri="{FF2B5EF4-FFF2-40B4-BE49-F238E27FC236}">
                <a16:creationId xmlns:a16="http://schemas.microsoft.com/office/drawing/2014/main" id="{CFC12A6E-5074-5A02-C4C5-A6BFA689BFFF}"/>
              </a:ext>
            </a:extLst>
          </p:cNvPr>
          <p:cNvSpPr>
            <a:spLocks noGrp="1"/>
          </p:cNvSpPr>
          <p:nvPr>
            <p:ph type="body" sz="quarter" idx="12"/>
          </p:nvPr>
        </p:nvSpPr>
        <p:spPr>
          <a:xfrm>
            <a:off x="2604868" y="3501008"/>
            <a:ext cx="5624732" cy="1432560"/>
          </a:xfrm>
        </p:spPr>
        <p:txBody>
          <a:bodyPr/>
          <a:lstStyle/>
          <a:p>
            <a:endParaRPr lang="fr-FR" dirty="0"/>
          </a:p>
        </p:txBody>
      </p:sp>
    </p:spTree>
    <p:extLst>
      <p:ext uri="{BB962C8B-B14F-4D97-AF65-F5344CB8AC3E}">
        <p14:creationId xmlns:p14="http://schemas.microsoft.com/office/powerpoint/2010/main" val="130820358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54126-62A6-7BDA-9A8B-C5FD78A28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0C483-C56F-F470-902D-51F76ED13D30}"/>
              </a:ext>
            </a:extLst>
          </p:cNvPr>
          <p:cNvSpPr>
            <a:spLocks noGrp="1"/>
          </p:cNvSpPr>
          <p:nvPr>
            <p:ph type="title"/>
          </p:nvPr>
        </p:nvSpPr>
        <p:spPr/>
        <p:txBody>
          <a:bodyPr/>
          <a:lstStyle/>
          <a:p>
            <a:r>
              <a:rPr lang="en-US" dirty="0" err="1"/>
              <a:t>Chiffrement</a:t>
            </a:r>
            <a:r>
              <a:rPr lang="en-US" dirty="0"/>
              <a:t> </a:t>
            </a:r>
            <a:r>
              <a:rPr lang="en-US" dirty="0" err="1"/>
              <a:t>Symétique</a:t>
            </a:r>
            <a:r>
              <a:rPr lang="en-US" dirty="0"/>
              <a:t> et </a:t>
            </a:r>
            <a:r>
              <a:rPr lang="en-US" dirty="0" err="1"/>
              <a:t>Asymétrique</a:t>
            </a:r>
            <a:endParaRPr lang="en-US" dirty="0"/>
          </a:p>
        </p:txBody>
      </p:sp>
      <p:sp>
        <p:nvSpPr>
          <p:cNvPr id="4" name="Content Placeholder 2">
            <a:extLst>
              <a:ext uri="{FF2B5EF4-FFF2-40B4-BE49-F238E27FC236}">
                <a16:creationId xmlns:a16="http://schemas.microsoft.com/office/drawing/2014/main" id="{63130ED9-A880-BF69-435B-E56C1B166E36}"/>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pic>
        <p:nvPicPr>
          <p:cNvPr id="6" name="Image 5">
            <a:extLst>
              <a:ext uri="{FF2B5EF4-FFF2-40B4-BE49-F238E27FC236}">
                <a16:creationId xmlns:a16="http://schemas.microsoft.com/office/drawing/2014/main" id="{C64D55D7-306D-4E36-E580-D095BE26A616}"/>
              </a:ext>
            </a:extLst>
          </p:cNvPr>
          <p:cNvPicPr>
            <a:picLocks noChangeAspect="1"/>
          </p:cNvPicPr>
          <p:nvPr/>
        </p:nvPicPr>
        <p:blipFill>
          <a:blip r:embed="rId3"/>
          <a:stretch>
            <a:fillRect/>
          </a:stretch>
        </p:blipFill>
        <p:spPr>
          <a:xfrm>
            <a:off x="2411760" y="908720"/>
            <a:ext cx="3702434" cy="3168352"/>
          </a:xfrm>
          <a:prstGeom prst="rect">
            <a:avLst/>
          </a:prstGeom>
        </p:spPr>
      </p:pic>
      <p:graphicFrame>
        <p:nvGraphicFramePr>
          <p:cNvPr id="7" name="Tableau 6">
            <a:extLst>
              <a:ext uri="{FF2B5EF4-FFF2-40B4-BE49-F238E27FC236}">
                <a16:creationId xmlns:a16="http://schemas.microsoft.com/office/drawing/2014/main" id="{F220A22D-9FF0-A6CE-048D-8803B6ADADAE}"/>
              </a:ext>
            </a:extLst>
          </p:cNvPr>
          <p:cNvGraphicFramePr>
            <a:graphicFrameLocks noGrp="1"/>
          </p:cNvGraphicFramePr>
          <p:nvPr>
            <p:extLst>
              <p:ext uri="{D42A27DB-BD31-4B8C-83A1-F6EECF244321}">
                <p14:modId xmlns:p14="http://schemas.microsoft.com/office/powerpoint/2010/main" val="470476904"/>
              </p:ext>
            </p:extLst>
          </p:nvPr>
        </p:nvGraphicFramePr>
        <p:xfrm>
          <a:off x="683568" y="4235152"/>
          <a:ext cx="7886700" cy="2286000"/>
        </p:xfrm>
        <a:graphic>
          <a:graphicData uri="http://schemas.openxmlformats.org/drawingml/2006/table">
            <a:tbl>
              <a:tblPr/>
              <a:tblGrid>
                <a:gridCol w="2628900">
                  <a:extLst>
                    <a:ext uri="{9D8B030D-6E8A-4147-A177-3AD203B41FA5}">
                      <a16:colId xmlns:a16="http://schemas.microsoft.com/office/drawing/2014/main" val="1673499783"/>
                    </a:ext>
                  </a:extLst>
                </a:gridCol>
                <a:gridCol w="2628900">
                  <a:extLst>
                    <a:ext uri="{9D8B030D-6E8A-4147-A177-3AD203B41FA5}">
                      <a16:colId xmlns:a16="http://schemas.microsoft.com/office/drawing/2014/main" val="1603034358"/>
                    </a:ext>
                  </a:extLst>
                </a:gridCol>
                <a:gridCol w="2628900">
                  <a:extLst>
                    <a:ext uri="{9D8B030D-6E8A-4147-A177-3AD203B41FA5}">
                      <a16:colId xmlns:a16="http://schemas.microsoft.com/office/drawing/2014/main" val="3867945322"/>
                    </a:ext>
                  </a:extLst>
                </a:gridCol>
              </a:tblGrid>
              <a:tr h="0">
                <a:tc>
                  <a:txBody>
                    <a:bodyPr/>
                    <a:lstStyle/>
                    <a:p>
                      <a:pPr>
                        <a:buNone/>
                      </a:pPr>
                      <a:r>
                        <a:rPr lang="fr-FR" b="1"/>
                        <a:t>Critère</a:t>
                      </a:r>
                    </a:p>
                  </a:txBody>
                  <a:tcPr anchor="ctr">
                    <a:lnL>
                      <a:noFill/>
                    </a:lnL>
                    <a:lnR>
                      <a:noFill/>
                    </a:lnR>
                    <a:lnT>
                      <a:noFill/>
                    </a:lnT>
                    <a:lnB>
                      <a:noFill/>
                    </a:lnB>
                    <a:noFill/>
                  </a:tcPr>
                </a:tc>
                <a:tc>
                  <a:txBody>
                    <a:bodyPr/>
                    <a:lstStyle/>
                    <a:p>
                      <a:pPr>
                        <a:buNone/>
                      </a:pPr>
                      <a:r>
                        <a:rPr lang="fr-FR" b="1"/>
                        <a:t>Symétrique</a:t>
                      </a:r>
                    </a:p>
                  </a:txBody>
                  <a:tcPr anchor="ctr">
                    <a:lnL>
                      <a:noFill/>
                    </a:lnL>
                    <a:lnR>
                      <a:noFill/>
                    </a:lnR>
                    <a:lnT>
                      <a:noFill/>
                    </a:lnT>
                    <a:lnB>
                      <a:noFill/>
                    </a:lnB>
                    <a:noFill/>
                  </a:tcPr>
                </a:tc>
                <a:tc>
                  <a:txBody>
                    <a:bodyPr/>
                    <a:lstStyle/>
                    <a:p>
                      <a:pPr>
                        <a:buNone/>
                      </a:pPr>
                      <a:r>
                        <a:rPr lang="fr-FR" b="1" dirty="0"/>
                        <a:t>Asymétrique</a:t>
                      </a:r>
                    </a:p>
                  </a:txBody>
                  <a:tcPr anchor="ctr">
                    <a:lnL>
                      <a:noFill/>
                    </a:lnL>
                    <a:lnR>
                      <a:noFill/>
                    </a:lnR>
                    <a:lnT>
                      <a:noFill/>
                    </a:lnT>
                    <a:lnB>
                      <a:noFill/>
                    </a:lnB>
                    <a:noFill/>
                  </a:tcPr>
                </a:tc>
                <a:extLst>
                  <a:ext uri="{0D108BD9-81ED-4DB2-BD59-A6C34878D82A}">
                    <a16:rowId xmlns:a16="http://schemas.microsoft.com/office/drawing/2014/main" val="2435011330"/>
                  </a:ext>
                </a:extLst>
              </a:tr>
              <a:tr h="0">
                <a:tc>
                  <a:txBody>
                    <a:bodyPr/>
                    <a:lstStyle/>
                    <a:p>
                      <a:pPr>
                        <a:buNone/>
                      </a:pPr>
                      <a:r>
                        <a:rPr lang="fr-FR" sz="1600" dirty="0"/>
                        <a:t>Nombre de clés</a:t>
                      </a:r>
                    </a:p>
                  </a:txBody>
                  <a:tcPr anchor="ctr">
                    <a:lnL>
                      <a:noFill/>
                    </a:lnL>
                    <a:lnR>
                      <a:noFill/>
                    </a:lnR>
                    <a:lnT>
                      <a:noFill/>
                    </a:lnT>
                    <a:lnB>
                      <a:noFill/>
                    </a:lnB>
                    <a:noFill/>
                  </a:tcPr>
                </a:tc>
                <a:tc>
                  <a:txBody>
                    <a:bodyPr/>
                    <a:lstStyle/>
                    <a:p>
                      <a:pPr>
                        <a:buNone/>
                      </a:pPr>
                      <a:r>
                        <a:rPr lang="fr-FR" sz="1600"/>
                        <a:t>1</a:t>
                      </a:r>
                    </a:p>
                  </a:txBody>
                  <a:tcPr anchor="ctr">
                    <a:lnL>
                      <a:noFill/>
                    </a:lnL>
                    <a:lnR>
                      <a:noFill/>
                    </a:lnR>
                    <a:lnT>
                      <a:noFill/>
                    </a:lnT>
                    <a:lnB>
                      <a:noFill/>
                    </a:lnB>
                    <a:noFill/>
                  </a:tcPr>
                </a:tc>
                <a:tc>
                  <a:txBody>
                    <a:bodyPr/>
                    <a:lstStyle/>
                    <a:p>
                      <a:pPr>
                        <a:buNone/>
                      </a:pPr>
                      <a:r>
                        <a:rPr lang="fr-FR" sz="1600"/>
                        <a:t>2</a:t>
                      </a:r>
                    </a:p>
                  </a:txBody>
                  <a:tcPr anchor="ctr">
                    <a:lnL>
                      <a:noFill/>
                    </a:lnL>
                    <a:lnR>
                      <a:noFill/>
                    </a:lnR>
                    <a:lnT>
                      <a:noFill/>
                    </a:lnT>
                    <a:lnB>
                      <a:noFill/>
                    </a:lnB>
                    <a:noFill/>
                  </a:tcPr>
                </a:tc>
                <a:extLst>
                  <a:ext uri="{0D108BD9-81ED-4DB2-BD59-A6C34878D82A}">
                    <a16:rowId xmlns:a16="http://schemas.microsoft.com/office/drawing/2014/main" val="974473065"/>
                  </a:ext>
                </a:extLst>
              </a:tr>
              <a:tr h="0">
                <a:tc>
                  <a:txBody>
                    <a:bodyPr/>
                    <a:lstStyle/>
                    <a:p>
                      <a:pPr>
                        <a:buNone/>
                      </a:pPr>
                      <a:r>
                        <a:rPr lang="fr-FR" sz="1600"/>
                        <a:t>Performance</a:t>
                      </a:r>
                    </a:p>
                  </a:txBody>
                  <a:tcPr anchor="ctr">
                    <a:lnL>
                      <a:noFill/>
                    </a:lnL>
                    <a:lnR>
                      <a:noFill/>
                    </a:lnR>
                    <a:lnT>
                      <a:noFill/>
                    </a:lnT>
                    <a:lnB>
                      <a:noFill/>
                    </a:lnB>
                    <a:noFill/>
                  </a:tcPr>
                </a:tc>
                <a:tc>
                  <a:txBody>
                    <a:bodyPr/>
                    <a:lstStyle/>
                    <a:p>
                      <a:pPr>
                        <a:buNone/>
                      </a:pPr>
                      <a:r>
                        <a:rPr lang="fr-FR" sz="1600"/>
                        <a:t>⚡ Très rapide</a:t>
                      </a:r>
                    </a:p>
                  </a:txBody>
                  <a:tcPr anchor="ctr">
                    <a:lnL>
                      <a:noFill/>
                    </a:lnL>
                    <a:lnR>
                      <a:noFill/>
                    </a:lnR>
                    <a:lnT>
                      <a:noFill/>
                    </a:lnT>
                    <a:lnB>
                      <a:noFill/>
                    </a:lnB>
                    <a:noFill/>
                  </a:tcPr>
                </a:tc>
                <a:tc>
                  <a:txBody>
                    <a:bodyPr/>
                    <a:lstStyle/>
                    <a:p>
                      <a:pPr>
                        <a:buNone/>
                      </a:pPr>
                      <a:r>
                        <a:rPr lang="fr-FR" sz="1600" dirty="0"/>
                        <a:t>🐢 Plus lent</a:t>
                      </a:r>
                    </a:p>
                  </a:txBody>
                  <a:tcPr anchor="ctr">
                    <a:lnL>
                      <a:noFill/>
                    </a:lnL>
                    <a:lnR>
                      <a:noFill/>
                    </a:lnR>
                    <a:lnT>
                      <a:noFill/>
                    </a:lnT>
                    <a:lnB>
                      <a:noFill/>
                    </a:lnB>
                    <a:noFill/>
                  </a:tcPr>
                </a:tc>
                <a:extLst>
                  <a:ext uri="{0D108BD9-81ED-4DB2-BD59-A6C34878D82A}">
                    <a16:rowId xmlns:a16="http://schemas.microsoft.com/office/drawing/2014/main" val="1484743173"/>
                  </a:ext>
                </a:extLst>
              </a:tr>
              <a:tr h="0">
                <a:tc>
                  <a:txBody>
                    <a:bodyPr/>
                    <a:lstStyle/>
                    <a:p>
                      <a:pPr>
                        <a:buNone/>
                      </a:pPr>
                      <a:r>
                        <a:rPr lang="fr-FR" sz="1600"/>
                        <a:t>Sécurité échange</a:t>
                      </a:r>
                    </a:p>
                  </a:txBody>
                  <a:tcPr anchor="ctr">
                    <a:lnL>
                      <a:noFill/>
                    </a:lnL>
                    <a:lnR>
                      <a:noFill/>
                    </a:lnR>
                    <a:lnT>
                      <a:noFill/>
                    </a:lnT>
                    <a:lnB>
                      <a:noFill/>
                    </a:lnB>
                    <a:noFill/>
                  </a:tcPr>
                </a:tc>
                <a:tc>
                  <a:txBody>
                    <a:bodyPr/>
                    <a:lstStyle/>
                    <a:p>
                      <a:pPr>
                        <a:buNone/>
                      </a:pPr>
                      <a:r>
                        <a:rPr lang="fr-FR" sz="1600"/>
                        <a:t>❌ Difficile</a:t>
                      </a:r>
                    </a:p>
                  </a:txBody>
                  <a:tcPr anchor="ctr">
                    <a:lnL>
                      <a:noFill/>
                    </a:lnL>
                    <a:lnR>
                      <a:noFill/>
                    </a:lnR>
                    <a:lnT>
                      <a:noFill/>
                    </a:lnT>
                    <a:lnB>
                      <a:noFill/>
                    </a:lnB>
                    <a:noFill/>
                  </a:tcPr>
                </a:tc>
                <a:tc>
                  <a:txBody>
                    <a:bodyPr/>
                    <a:lstStyle/>
                    <a:p>
                      <a:pPr>
                        <a:buNone/>
                      </a:pPr>
                      <a:r>
                        <a:rPr lang="fr-FR" sz="1600"/>
                        <a:t>✅ Simple</a:t>
                      </a:r>
                    </a:p>
                  </a:txBody>
                  <a:tcPr anchor="ctr">
                    <a:lnL>
                      <a:noFill/>
                    </a:lnL>
                    <a:lnR>
                      <a:noFill/>
                    </a:lnR>
                    <a:lnT>
                      <a:noFill/>
                    </a:lnT>
                    <a:lnB>
                      <a:noFill/>
                    </a:lnB>
                    <a:noFill/>
                  </a:tcPr>
                </a:tc>
                <a:extLst>
                  <a:ext uri="{0D108BD9-81ED-4DB2-BD59-A6C34878D82A}">
                    <a16:rowId xmlns:a16="http://schemas.microsoft.com/office/drawing/2014/main" val="2828784309"/>
                  </a:ext>
                </a:extLst>
              </a:tr>
              <a:tr h="0">
                <a:tc>
                  <a:txBody>
                    <a:bodyPr/>
                    <a:lstStyle/>
                    <a:p>
                      <a:pPr>
                        <a:buNone/>
                      </a:pPr>
                      <a:r>
                        <a:rPr lang="fr-FR" sz="1600" dirty="0"/>
                        <a:t>Usage typique</a:t>
                      </a:r>
                    </a:p>
                  </a:txBody>
                  <a:tcPr anchor="ctr">
                    <a:lnL>
                      <a:noFill/>
                    </a:lnL>
                    <a:lnR>
                      <a:noFill/>
                    </a:lnR>
                    <a:lnT>
                      <a:noFill/>
                    </a:lnT>
                    <a:lnB>
                      <a:noFill/>
                    </a:lnB>
                    <a:noFill/>
                  </a:tcPr>
                </a:tc>
                <a:tc>
                  <a:txBody>
                    <a:bodyPr/>
                    <a:lstStyle/>
                    <a:p>
                      <a:pPr>
                        <a:buNone/>
                      </a:pPr>
                      <a:r>
                        <a:rPr lang="fr-FR" sz="1600" dirty="0"/>
                        <a:t>Données</a:t>
                      </a:r>
                    </a:p>
                  </a:txBody>
                  <a:tcPr anchor="ctr">
                    <a:lnL>
                      <a:noFill/>
                    </a:lnL>
                    <a:lnR>
                      <a:noFill/>
                    </a:lnR>
                    <a:lnT>
                      <a:noFill/>
                    </a:lnT>
                    <a:lnB>
                      <a:noFill/>
                    </a:lnB>
                    <a:noFill/>
                  </a:tcPr>
                </a:tc>
                <a:tc>
                  <a:txBody>
                    <a:bodyPr/>
                    <a:lstStyle/>
                    <a:p>
                      <a:pPr>
                        <a:buNone/>
                      </a:pPr>
                      <a:r>
                        <a:rPr lang="fr-FR" sz="1600" dirty="0"/>
                        <a:t>Échange de clé / identité</a:t>
                      </a:r>
                    </a:p>
                  </a:txBody>
                  <a:tcPr anchor="ctr">
                    <a:lnL>
                      <a:noFill/>
                    </a:lnL>
                    <a:lnR>
                      <a:noFill/>
                    </a:lnR>
                    <a:lnT>
                      <a:noFill/>
                    </a:lnT>
                    <a:lnB>
                      <a:noFill/>
                    </a:lnB>
                    <a:noFill/>
                  </a:tcPr>
                </a:tc>
                <a:extLst>
                  <a:ext uri="{0D108BD9-81ED-4DB2-BD59-A6C34878D82A}">
                    <a16:rowId xmlns:a16="http://schemas.microsoft.com/office/drawing/2014/main" val="2131684099"/>
                  </a:ext>
                </a:extLst>
              </a:tr>
              <a:tr h="0">
                <a:tc>
                  <a:txBody>
                    <a:bodyPr/>
                    <a:lstStyle/>
                    <a:p>
                      <a:pPr>
                        <a:buNone/>
                      </a:pPr>
                      <a:r>
                        <a:rPr lang="fr-FR" sz="1600" dirty="0"/>
                        <a:t>Exemples</a:t>
                      </a:r>
                    </a:p>
                  </a:txBody>
                  <a:tcPr anchor="ctr">
                    <a:lnL>
                      <a:noFill/>
                    </a:lnL>
                    <a:lnR>
                      <a:noFill/>
                    </a:lnR>
                    <a:lnT>
                      <a:noFill/>
                    </a:lnT>
                    <a:lnB>
                      <a:noFill/>
                    </a:lnB>
                    <a:noFill/>
                  </a:tcPr>
                </a:tc>
                <a:tc>
                  <a:txBody>
                    <a:bodyPr/>
                    <a:lstStyle/>
                    <a:p>
                      <a:pPr>
                        <a:buNone/>
                      </a:pPr>
                      <a:r>
                        <a:rPr lang="fr-FR" sz="1600" dirty="0"/>
                        <a:t>AES (standard actuel)</a:t>
                      </a:r>
                      <a:br>
                        <a:rPr lang="fr-FR" sz="1600" dirty="0"/>
                      </a:br>
                      <a:r>
                        <a:rPr lang="fr-FR" sz="1600" dirty="0"/>
                        <a:t>DES (obsolète)</a:t>
                      </a:r>
                    </a:p>
                  </a:txBody>
                  <a:tcPr anchor="ctr">
                    <a:lnL>
                      <a:noFill/>
                    </a:lnL>
                    <a:lnR>
                      <a:noFill/>
                    </a:lnR>
                    <a:lnT>
                      <a:noFill/>
                    </a:lnT>
                    <a:lnB>
                      <a:noFill/>
                    </a:lnB>
                    <a:noFill/>
                  </a:tcPr>
                </a:tc>
                <a:tc>
                  <a:txBody>
                    <a:bodyPr/>
                    <a:lstStyle/>
                    <a:p>
                      <a:pPr>
                        <a:buNone/>
                      </a:pPr>
                      <a:r>
                        <a:rPr lang="fr-FR" sz="1600" dirty="0"/>
                        <a:t>RSA</a:t>
                      </a:r>
                    </a:p>
                  </a:txBody>
                  <a:tcPr anchor="ctr">
                    <a:lnL>
                      <a:noFill/>
                    </a:lnL>
                    <a:lnR>
                      <a:noFill/>
                    </a:lnR>
                    <a:lnT>
                      <a:noFill/>
                    </a:lnT>
                    <a:lnB>
                      <a:noFill/>
                    </a:lnB>
                    <a:noFill/>
                  </a:tcPr>
                </a:tc>
                <a:extLst>
                  <a:ext uri="{0D108BD9-81ED-4DB2-BD59-A6C34878D82A}">
                    <a16:rowId xmlns:a16="http://schemas.microsoft.com/office/drawing/2014/main" val="4088143222"/>
                  </a:ext>
                </a:extLst>
              </a:tr>
            </a:tbl>
          </a:graphicData>
        </a:graphic>
      </p:graphicFrame>
    </p:spTree>
    <p:extLst>
      <p:ext uri="{BB962C8B-B14F-4D97-AF65-F5344CB8AC3E}">
        <p14:creationId xmlns:p14="http://schemas.microsoft.com/office/powerpoint/2010/main" val="378564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B91F4-930B-1A0E-F553-6AC012090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0A4EC-8C2F-A9F6-204A-09CB326D2863}"/>
              </a:ext>
            </a:extLst>
          </p:cNvPr>
          <p:cNvSpPr>
            <a:spLocks noGrp="1"/>
          </p:cNvSpPr>
          <p:nvPr>
            <p:ph type="title"/>
          </p:nvPr>
        </p:nvSpPr>
        <p:spPr/>
        <p:txBody>
          <a:bodyPr/>
          <a:lstStyle/>
          <a:p>
            <a:r>
              <a:rPr lang="en-US" dirty="0" err="1"/>
              <a:t>Utilisation</a:t>
            </a:r>
            <a:r>
              <a:rPr lang="en-US" dirty="0"/>
              <a:t> des 2 : </a:t>
            </a:r>
            <a:r>
              <a:rPr lang="en-US" dirty="0" err="1"/>
              <a:t>Symétrique</a:t>
            </a:r>
            <a:r>
              <a:rPr lang="en-US" dirty="0"/>
              <a:t> et </a:t>
            </a:r>
            <a:r>
              <a:rPr lang="en-US" dirty="0" err="1"/>
              <a:t>Asymétrique</a:t>
            </a:r>
            <a:endParaRPr lang="en-US" dirty="0"/>
          </a:p>
        </p:txBody>
      </p:sp>
      <p:sp>
        <p:nvSpPr>
          <p:cNvPr id="3" name="Content Placeholder 2">
            <a:extLst>
              <a:ext uri="{FF2B5EF4-FFF2-40B4-BE49-F238E27FC236}">
                <a16:creationId xmlns:a16="http://schemas.microsoft.com/office/drawing/2014/main" id="{8291F45C-3C7E-BC14-1A6A-80B7B2C32381}"/>
              </a:ext>
            </a:extLst>
          </p:cNvPr>
          <p:cNvSpPr>
            <a:spLocks noGrp="1"/>
          </p:cNvSpPr>
          <p:nvPr>
            <p:ph type="body" sz="quarter" idx="13"/>
          </p:nvPr>
        </p:nvSpPr>
        <p:spPr>
          <a:xfrm>
            <a:off x="539552" y="5070501"/>
            <a:ext cx="8229600" cy="1392340"/>
          </a:xfrm>
          <a:prstGeom prst="rect">
            <a:avLst/>
          </a:prstGeom>
        </p:spPr>
        <p:txBody>
          <a:bodyPr/>
          <a:lstStyle/>
          <a:p>
            <a:pPr>
              <a:buFontTx/>
              <a:buChar char="-"/>
            </a:pPr>
            <a:r>
              <a:rPr lang="fr-FR" sz="1800" dirty="0"/>
              <a:t>Exemple : HTTPS (TLS) – </a:t>
            </a:r>
            <a:r>
              <a:rPr lang="fr-FR" sz="1600" i="1" dirty="0"/>
              <a:t>Rappel : HTTPS = HTTP + TLS (Transport Layer Security)</a:t>
            </a:r>
          </a:p>
          <a:p>
            <a:pPr>
              <a:buFontTx/>
              <a:buChar char="-"/>
            </a:pPr>
            <a:r>
              <a:rPr lang="fr-FR" sz="1600" dirty="0"/>
              <a:t>TLS successeur de SSL :</a:t>
            </a:r>
            <a:endParaRPr lang="fr-FR" altLang="fr-FR" sz="1400" dirty="0">
              <a:latin typeface="Arial" panose="020B0604020202020204" pitchFamily="34" charset="0"/>
            </a:endParaRPr>
          </a:p>
          <a:p>
            <a:pPr lvl="1" eaLnBrk="0" fontAlgn="base" hangingPunct="0">
              <a:spcBef>
                <a:spcPct val="0"/>
              </a:spcBef>
              <a:spcAft>
                <a:spcPct val="0"/>
              </a:spcAft>
              <a:buClrTx/>
            </a:pPr>
            <a:r>
              <a:rPr lang="fr-FR" altLang="fr-FR" sz="900" i="1" dirty="0">
                <a:latin typeface="Arial" panose="020B0604020202020204" pitchFamily="34" charset="0"/>
              </a:rPr>
              <a:t> SSL 2.0 ❌ (cassé) </a:t>
            </a:r>
          </a:p>
          <a:p>
            <a:pPr lvl="1" eaLnBrk="0" fontAlgn="base" hangingPunct="0">
              <a:spcBef>
                <a:spcPct val="0"/>
              </a:spcBef>
              <a:spcAft>
                <a:spcPct val="0"/>
              </a:spcAft>
              <a:buClrTx/>
            </a:pPr>
            <a:r>
              <a:rPr lang="fr-FR" altLang="fr-FR" sz="900" i="1" dirty="0">
                <a:latin typeface="Arial" panose="020B0604020202020204" pitchFamily="34" charset="0"/>
              </a:rPr>
              <a:t> SSL 3.0 ❌ (cassé) </a:t>
            </a:r>
          </a:p>
          <a:p>
            <a:pPr lvl="1" eaLnBrk="0" fontAlgn="base" hangingPunct="0">
              <a:spcBef>
                <a:spcPct val="0"/>
              </a:spcBef>
              <a:spcAft>
                <a:spcPct val="0"/>
              </a:spcAft>
              <a:buClrTx/>
            </a:pPr>
            <a:r>
              <a:rPr lang="fr-FR" altLang="fr-FR" sz="900" i="1" dirty="0">
                <a:latin typeface="Arial" panose="020B0604020202020204" pitchFamily="34" charset="0"/>
              </a:rPr>
              <a:t> TLS 1.0 ❌ (obsolète) </a:t>
            </a:r>
          </a:p>
          <a:p>
            <a:pPr lvl="1" eaLnBrk="0" fontAlgn="base" hangingPunct="0">
              <a:spcBef>
                <a:spcPct val="0"/>
              </a:spcBef>
              <a:spcAft>
                <a:spcPct val="0"/>
              </a:spcAft>
              <a:buClrTx/>
            </a:pPr>
            <a:r>
              <a:rPr lang="fr-FR" altLang="fr-FR" sz="900" i="1" dirty="0">
                <a:latin typeface="Arial" panose="020B0604020202020204" pitchFamily="34" charset="0"/>
              </a:rPr>
              <a:t> TLS 1.1 ❌ (obsolète) </a:t>
            </a:r>
          </a:p>
          <a:p>
            <a:pPr lvl="1" eaLnBrk="0" fontAlgn="base" hangingPunct="0">
              <a:spcBef>
                <a:spcPct val="0"/>
              </a:spcBef>
              <a:spcAft>
                <a:spcPct val="0"/>
              </a:spcAft>
              <a:buClrTx/>
            </a:pPr>
            <a:r>
              <a:rPr lang="fr-FR" altLang="fr-FR" sz="900" i="1" dirty="0">
                <a:latin typeface="Arial" panose="020B0604020202020204" pitchFamily="34" charset="0"/>
              </a:rPr>
              <a:t> TLS 1.2 ✅ (encore utilisé) </a:t>
            </a:r>
          </a:p>
          <a:p>
            <a:pPr lvl="1" eaLnBrk="0" fontAlgn="base" hangingPunct="0">
              <a:spcBef>
                <a:spcPct val="0"/>
              </a:spcBef>
              <a:spcAft>
                <a:spcPct val="0"/>
              </a:spcAft>
              <a:buClrTx/>
            </a:pPr>
            <a:r>
              <a:rPr lang="fr-FR" altLang="fr-FR" sz="900" i="1" dirty="0">
                <a:latin typeface="Arial" panose="020B0604020202020204" pitchFamily="34" charset="0"/>
              </a:rPr>
              <a:t> TLS 1.3 ✅ (standard moderne) </a:t>
            </a:r>
          </a:p>
          <a:p>
            <a:pPr marL="0" lvl="0" indent="0" eaLnBrk="0" fontAlgn="base" hangingPunct="0">
              <a:spcBef>
                <a:spcPct val="0"/>
              </a:spcBef>
              <a:spcAft>
                <a:spcPct val="0"/>
              </a:spcAft>
              <a:buClrTx/>
              <a:buFontTx/>
              <a:buChar char="•"/>
            </a:pPr>
            <a:endParaRPr lang="fr-FR" altLang="fr-FR" sz="1600" dirty="0">
              <a:latin typeface="Arial" panose="020B0604020202020204" pitchFamily="34" charset="0"/>
            </a:endParaRPr>
          </a:p>
          <a:p>
            <a:pPr>
              <a:buFontTx/>
              <a:buChar char="-"/>
            </a:pPr>
            <a:endParaRPr lang="fr-FR" sz="1600" dirty="0"/>
          </a:p>
          <a:p>
            <a:pPr>
              <a:buFontTx/>
              <a:buChar char="-"/>
            </a:pPr>
            <a:endParaRPr lang="fr-FR" sz="1800" dirty="0"/>
          </a:p>
        </p:txBody>
      </p:sp>
      <p:sp>
        <p:nvSpPr>
          <p:cNvPr id="4" name="Content Placeholder 2">
            <a:extLst>
              <a:ext uri="{FF2B5EF4-FFF2-40B4-BE49-F238E27FC236}">
                <a16:creationId xmlns:a16="http://schemas.microsoft.com/office/drawing/2014/main" id="{9E315FE2-4C91-EA8A-3BBE-0A45838B2906}"/>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pic>
        <p:nvPicPr>
          <p:cNvPr id="2050" name="Picture 2">
            <a:extLst>
              <a:ext uri="{FF2B5EF4-FFF2-40B4-BE49-F238E27FC236}">
                <a16:creationId xmlns:a16="http://schemas.microsoft.com/office/drawing/2014/main" id="{23AAFC6D-43CD-2055-CD85-1243C4B3C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980728"/>
            <a:ext cx="4824536" cy="29115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au 4">
            <a:extLst>
              <a:ext uri="{FF2B5EF4-FFF2-40B4-BE49-F238E27FC236}">
                <a16:creationId xmlns:a16="http://schemas.microsoft.com/office/drawing/2014/main" id="{1A9A0773-E311-4F10-563E-F0D9C822211F}"/>
              </a:ext>
            </a:extLst>
          </p:cNvPr>
          <p:cNvGraphicFramePr>
            <a:graphicFrameLocks noGrp="1"/>
          </p:cNvGraphicFramePr>
          <p:nvPr>
            <p:extLst>
              <p:ext uri="{D42A27DB-BD31-4B8C-83A1-F6EECF244321}">
                <p14:modId xmlns:p14="http://schemas.microsoft.com/office/powerpoint/2010/main" val="583971492"/>
              </p:ext>
            </p:extLst>
          </p:nvPr>
        </p:nvGraphicFramePr>
        <p:xfrm>
          <a:off x="539552" y="3973781"/>
          <a:ext cx="7886700" cy="1005840"/>
        </p:xfrm>
        <a:graphic>
          <a:graphicData uri="http://schemas.openxmlformats.org/drawingml/2006/table">
            <a:tbl>
              <a:tblPr/>
              <a:tblGrid>
                <a:gridCol w="3943350">
                  <a:extLst>
                    <a:ext uri="{9D8B030D-6E8A-4147-A177-3AD203B41FA5}">
                      <a16:colId xmlns:a16="http://schemas.microsoft.com/office/drawing/2014/main" val="326523378"/>
                    </a:ext>
                  </a:extLst>
                </a:gridCol>
                <a:gridCol w="3943350">
                  <a:extLst>
                    <a:ext uri="{9D8B030D-6E8A-4147-A177-3AD203B41FA5}">
                      <a16:colId xmlns:a16="http://schemas.microsoft.com/office/drawing/2014/main" val="1038278711"/>
                    </a:ext>
                  </a:extLst>
                </a:gridCol>
              </a:tblGrid>
              <a:tr h="0">
                <a:tc>
                  <a:txBody>
                    <a:bodyPr/>
                    <a:lstStyle/>
                    <a:p>
                      <a:pPr>
                        <a:buNone/>
                      </a:pPr>
                      <a:r>
                        <a:rPr lang="fr-FR" sz="1600" b="1" dirty="0"/>
                        <a:t>Étape</a:t>
                      </a:r>
                    </a:p>
                  </a:txBody>
                  <a:tcPr anchor="ctr">
                    <a:lnL>
                      <a:noFill/>
                    </a:lnL>
                    <a:lnR>
                      <a:noFill/>
                    </a:lnR>
                    <a:lnT>
                      <a:noFill/>
                    </a:lnT>
                    <a:lnB>
                      <a:noFill/>
                    </a:lnB>
                    <a:noFill/>
                  </a:tcPr>
                </a:tc>
                <a:tc>
                  <a:txBody>
                    <a:bodyPr/>
                    <a:lstStyle/>
                    <a:p>
                      <a:pPr>
                        <a:buNone/>
                      </a:pPr>
                      <a:r>
                        <a:rPr lang="fr-FR" sz="1600" b="1" dirty="0"/>
                        <a:t>Type utilisé</a:t>
                      </a:r>
                    </a:p>
                  </a:txBody>
                  <a:tcPr anchor="ctr">
                    <a:lnL>
                      <a:noFill/>
                    </a:lnL>
                    <a:lnR>
                      <a:noFill/>
                    </a:lnR>
                    <a:lnT>
                      <a:noFill/>
                    </a:lnT>
                    <a:lnB>
                      <a:noFill/>
                    </a:lnB>
                    <a:noFill/>
                  </a:tcPr>
                </a:tc>
                <a:extLst>
                  <a:ext uri="{0D108BD9-81ED-4DB2-BD59-A6C34878D82A}">
                    <a16:rowId xmlns:a16="http://schemas.microsoft.com/office/drawing/2014/main" val="4272093175"/>
                  </a:ext>
                </a:extLst>
              </a:tr>
              <a:tr h="0">
                <a:tc>
                  <a:txBody>
                    <a:bodyPr/>
                    <a:lstStyle/>
                    <a:p>
                      <a:pPr>
                        <a:buNone/>
                      </a:pPr>
                      <a:r>
                        <a:rPr lang="fr-FR" sz="1600" dirty="0"/>
                        <a:t>Échange de clé</a:t>
                      </a:r>
                    </a:p>
                  </a:txBody>
                  <a:tcPr anchor="ctr">
                    <a:lnL>
                      <a:noFill/>
                    </a:lnL>
                    <a:lnR>
                      <a:noFill/>
                    </a:lnR>
                    <a:lnT>
                      <a:noFill/>
                    </a:lnT>
                    <a:lnB>
                      <a:noFill/>
                    </a:lnB>
                    <a:noFill/>
                  </a:tcPr>
                </a:tc>
                <a:tc>
                  <a:txBody>
                    <a:bodyPr/>
                    <a:lstStyle/>
                    <a:p>
                      <a:pPr>
                        <a:buNone/>
                      </a:pPr>
                      <a:r>
                        <a:rPr lang="fr-FR" sz="1600" dirty="0"/>
                        <a:t>Asymétrique</a:t>
                      </a:r>
                    </a:p>
                  </a:txBody>
                  <a:tcPr anchor="ctr">
                    <a:lnL>
                      <a:noFill/>
                    </a:lnL>
                    <a:lnR>
                      <a:noFill/>
                    </a:lnR>
                    <a:lnT>
                      <a:noFill/>
                    </a:lnT>
                    <a:lnB>
                      <a:noFill/>
                    </a:lnB>
                    <a:noFill/>
                  </a:tcPr>
                </a:tc>
                <a:extLst>
                  <a:ext uri="{0D108BD9-81ED-4DB2-BD59-A6C34878D82A}">
                    <a16:rowId xmlns:a16="http://schemas.microsoft.com/office/drawing/2014/main" val="2098224375"/>
                  </a:ext>
                </a:extLst>
              </a:tr>
              <a:tr h="0">
                <a:tc>
                  <a:txBody>
                    <a:bodyPr/>
                    <a:lstStyle/>
                    <a:p>
                      <a:pPr>
                        <a:buNone/>
                      </a:pPr>
                      <a:r>
                        <a:rPr lang="fr-FR" sz="1600" dirty="0"/>
                        <a:t>Échange de données</a:t>
                      </a:r>
                    </a:p>
                  </a:txBody>
                  <a:tcPr anchor="ctr">
                    <a:lnL>
                      <a:noFill/>
                    </a:lnL>
                    <a:lnR>
                      <a:noFill/>
                    </a:lnR>
                    <a:lnT>
                      <a:noFill/>
                    </a:lnT>
                    <a:lnB>
                      <a:noFill/>
                    </a:lnB>
                    <a:noFill/>
                  </a:tcPr>
                </a:tc>
                <a:tc>
                  <a:txBody>
                    <a:bodyPr/>
                    <a:lstStyle/>
                    <a:p>
                      <a:pPr>
                        <a:buNone/>
                      </a:pPr>
                      <a:r>
                        <a:rPr lang="fr-FR" sz="1600" dirty="0"/>
                        <a:t>Symétrique</a:t>
                      </a:r>
                    </a:p>
                  </a:txBody>
                  <a:tcPr anchor="ctr">
                    <a:lnL>
                      <a:noFill/>
                    </a:lnL>
                    <a:lnR>
                      <a:noFill/>
                    </a:lnR>
                    <a:lnT>
                      <a:noFill/>
                    </a:lnT>
                    <a:lnB>
                      <a:noFill/>
                    </a:lnB>
                    <a:noFill/>
                  </a:tcPr>
                </a:tc>
                <a:extLst>
                  <a:ext uri="{0D108BD9-81ED-4DB2-BD59-A6C34878D82A}">
                    <a16:rowId xmlns:a16="http://schemas.microsoft.com/office/drawing/2014/main" val="2505036070"/>
                  </a:ext>
                </a:extLst>
              </a:tr>
            </a:tbl>
          </a:graphicData>
        </a:graphic>
      </p:graphicFrame>
    </p:spTree>
    <p:extLst>
      <p:ext uri="{BB962C8B-B14F-4D97-AF65-F5344CB8AC3E}">
        <p14:creationId xmlns:p14="http://schemas.microsoft.com/office/powerpoint/2010/main" val="227384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2D5FE-0D9D-29FE-FB8E-89B61FBA09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92FA0-7CC7-8D2D-BA56-FEB75C231049}"/>
              </a:ext>
            </a:extLst>
          </p:cNvPr>
          <p:cNvSpPr>
            <a:spLocks noGrp="1"/>
          </p:cNvSpPr>
          <p:nvPr>
            <p:ph type="title"/>
          </p:nvPr>
        </p:nvSpPr>
        <p:spPr/>
        <p:txBody>
          <a:bodyPr/>
          <a:lstStyle/>
          <a:p>
            <a:r>
              <a:rPr lang="en-US" dirty="0" err="1"/>
              <a:t>Clés</a:t>
            </a:r>
            <a:r>
              <a:rPr lang="en-US" dirty="0"/>
              <a:t> </a:t>
            </a:r>
            <a:r>
              <a:rPr lang="en-US" dirty="0" err="1"/>
              <a:t>publiques</a:t>
            </a:r>
            <a:r>
              <a:rPr lang="en-US" dirty="0"/>
              <a:t> / </a:t>
            </a:r>
            <a:r>
              <a:rPr lang="en-US" dirty="0" err="1"/>
              <a:t>privées</a:t>
            </a:r>
            <a:endParaRPr lang="en-US" dirty="0"/>
          </a:p>
        </p:txBody>
      </p:sp>
      <p:sp>
        <p:nvSpPr>
          <p:cNvPr id="3" name="Content Placeholder 2">
            <a:extLst>
              <a:ext uri="{FF2B5EF4-FFF2-40B4-BE49-F238E27FC236}">
                <a16:creationId xmlns:a16="http://schemas.microsoft.com/office/drawing/2014/main" id="{8AF2DDC0-7E32-062F-B3EA-3F4F556FF323}"/>
              </a:ext>
            </a:extLst>
          </p:cNvPr>
          <p:cNvSpPr>
            <a:spLocks noGrp="1"/>
          </p:cNvSpPr>
          <p:nvPr>
            <p:ph type="body" sz="quarter" idx="13"/>
          </p:nvPr>
        </p:nvSpPr>
        <p:spPr>
          <a:xfrm>
            <a:off x="457200" y="1066800"/>
            <a:ext cx="8229600" cy="5314528"/>
          </a:xfrm>
          <a:prstGeom prst="rect">
            <a:avLst/>
          </a:prstGeom>
        </p:spPr>
        <p:txBody>
          <a:bodyPr/>
          <a:lstStyle/>
          <a:p>
            <a:pPr>
              <a:buFontTx/>
              <a:buChar char="-"/>
            </a:pPr>
            <a:r>
              <a:rPr lang="fr-FR" sz="2400" dirty="0"/>
              <a:t>Clé publique </a:t>
            </a:r>
            <a:r>
              <a:rPr lang="fr-FR" sz="2400" dirty="0">
                <a:sym typeface="Wingdings" panose="05000000000000000000" pitchFamily="2" charset="2"/>
              </a:rPr>
              <a:t> On peut donner à tout le monde</a:t>
            </a:r>
          </a:p>
          <a:p>
            <a:pPr>
              <a:buFontTx/>
              <a:buChar char="-"/>
            </a:pPr>
            <a:r>
              <a:rPr lang="fr-FR" sz="2400" dirty="0">
                <a:sym typeface="Wingdings" panose="05000000000000000000" pitchFamily="2" charset="2"/>
              </a:rPr>
              <a:t>Clé privée  On doit la garder secrète</a:t>
            </a:r>
          </a:p>
          <a:p>
            <a:pPr>
              <a:buFontTx/>
              <a:buChar char="-"/>
            </a:pPr>
            <a:endParaRPr lang="fr-FR" sz="2400" dirty="0">
              <a:sym typeface="Wingdings" panose="05000000000000000000" pitchFamily="2" charset="2"/>
            </a:endParaRPr>
          </a:p>
          <a:p>
            <a:pPr>
              <a:buFontTx/>
              <a:buChar char="-"/>
            </a:pPr>
            <a:endParaRPr lang="fr-FR" sz="2400" dirty="0">
              <a:sym typeface="Wingdings" panose="05000000000000000000" pitchFamily="2" charset="2"/>
            </a:endParaRPr>
          </a:p>
          <a:p>
            <a:pPr>
              <a:buFontTx/>
              <a:buChar char="-"/>
            </a:pPr>
            <a:endParaRPr lang="fr-FR" sz="2400" dirty="0">
              <a:sym typeface="Wingdings" panose="05000000000000000000" pitchFamily="2" charset="2"/>
            </a:endParaRPr>
          </a:p>
          <a:p>
            <a:pPr>
              <a:buFontTx/>
              <a:buChar char="-"/>
            </a:pPr>
            <a:r>
              <a:rPr lang="fr-FR" sz="2400" u="sng" dirty="0">
                <a:sym typeface="Wingdings" panose="05000000000000000000" pitchFamily="2" charset="2"/>
              </a:rPr>
              <a:t>Chiffrement :</a:t>
            </a:r>
            <a:r>
              <a:rPr lang="fr-FR" sz="2400" dirty="0">
                <a:sym typeface="Wingdings" panose="05000000000000000000" pitchFamily="2" charset="2"/>
              </a:rPr>
              <a:t> </a:t>
            </a:r>
            <a:r>
              <a:rPr lang="fr-FR" sz="1800" i="1" dirty="0">
                <a:sym typeface="Wingdings" panose="05000000000000000000" pitchFamily="2" charset="2"/>
              </a:rPr>
              <a:t>personne ne peut lire sauf le destinataire</a:t>
            </a:r>
            <a:endParaRPr lang="fr-FR" sz="2400" i="1" dirty="0">
              <a:sym typeface="Wingdings" panose="05000000000000000000" pitchFamily="2" charset="2"/>
            </a:endParaRPr>
          </a:p>
          <a:p>
            <a:pPr lvl="1">
              <a:buFontTx/>
              <a:buChar char="-"/>
            </a:pPr>
            <a:r>
              <a:rPr lang="fr-FR" sz="1800" dirty="0"/>
              <a:t>Tu prends la </a:t>
            </a:r>
            <a:r>
              <a:rPr lang="fr-FR" sz="1800" b="1" dirty="0"/>
              <a:t>clé publique du destinataire</a:t>
            </a:r>
          </a:p>
          <a:p>
            <a:pPr lvl="1">
              <a:buFontTx/>
              <a:buChar char="-"/>
            </a:pPr>
            <a:r>
              <a:rPr lang="fr-FR" sz="1800" dirty="0"/>
              <a:t>Tu chiffres le message avec</a:t>
            </a:r>
          </a:p>
          <a:p>
            <a:pPr lvl="1">
              <a:buFontTx/>
              <a:buChar char="-"/>
            </a:pPr>
            <a:r>
              <a:rPr lang="fr-FR" sz="1800" dirty="0"/>
              <a:t>Seul le destinataire peut déchiffrer avec sa </a:t>
            </a:r>
            <a:r>
              <a:rPr lang="fr-FR" sz="1800" b="1" dirty="0"/>
              <a:t>clé privée</a:t>
            </a:r>
          </a:p>
          <a:p>
            <a:pPr>
              <a:buFontTx/>
              <a:buChar char="-"/>
            </a:pPr>
            <a:r>
              <a:rPr lang="fr-FR" sz="2400" u="sng" dirty="0"/>
              <a:t>Signature :</a:t>
            </a:r>
            <a:r>
              <a:rPr lang="fr-FR" sz="2400" dirty="0"/>
              <a:t> </a:t>
            </a:r>
            <a:r>
              <a:rPr lang="fr-FR" sz="1800" i="1" dirty="0"/>
              <a:t>prouver qui a envoyé + garantir que ça n’a pas été modifié</a:t>
            </a:r>
          </a:p>
          <a:p>
            <a:pPr lvl="1">
              <a:buFontTx/>
              <a:buChar char="-"/>
            </a:pPr>
            <a:r>
              <a:rPr lang="fr-FR" sz="1800" dirty="0"/>
              <a:t>Tu signes avec ta </a:t>
            </a:r>
            <a:r>
              <a:rPr lang="fr-FR" sz="1800" b="1" dirty="0"/>
              <a:t>clé privée</a:t>
            </a:r>
          </a:p>
          <a:p>
            <a:pPr lvl="1">
              <a:buFontTx/>
              <a:buChar char="-"/>
            </a:pPr>
            <a:r>
              <a:rPr lang="fr-FR" sz="1800" dirty="0"/>
              <a:t>Les autres vérifient avec ta </a:t>
            </a:r>
            <a:r>
              <a:rPr lang="fr-FR" sz="1800" b="1" dirty="0"/>
              <a:t>clé publique</a:t>
            </a:r>
          </a:p>
        </p:txBody>
      </p:sp>
      <p:sp>
        <p:nvSpPr>
          <p:cNvPr id="4" name="Content Placeholder 2">
            <a:extLst>
              <a:ext uri="{FF2B5EF4-FFF2-40B4-BE49-F238E27FC236}">
                <a16:creationId xmlns:a16="http://schemas.microsoft.com/office/drawing/2014/main" id="{0F1A5204-3542-9020-2890-0DBC0329C475}"/>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graphicFrame>
        <p:nvGraphicFramePr>
          <p:cNvPr id="9" name="Tableau 8">
            <a:extLst>
              <a:ext uri="{FF2B5EF4-FFF2-40B4-BE49-F238E27FC236}">
                <a16:creationId xmlns:a16="http://schemas.microsoft.com/office/drawing/2014/main" id="{EB80357E-30B6-D8F0-1E11-2DEFFEE4B73E}"/>
              </a:ext>
            </a:extLst>
          </p:cNvPr>
          <p:cNvGraphicFramePr>
            <a:graphicFrameLocks noGrp="1"/>
          </p:cNvGraphicFramePr>
          <p:nvPr>
            <p:extLst>
              <p:ext uri="{D42A27DB-BD31-4B8C-83A1-F6EECF244321}">
                <p14:modId xmlns:p14="http://schemas.microsoft.com/office/powerpoint/2010/main" val="3030328351"/>
              </p:ext>
            </p:extLst>
          </p:nvPr>
        </p:nvGraphicFramePr>
        <p:xfrm>
          <a:off x="457200" y="2060848"/>
          <a:ext cx="7886700" cy="1097280"/>
        </p:xfrm>
        <a:graphic>
          <a:graphicData uri="http://schemas.openxmlformats.org/drawingml/2006/table">
            <a:tbl>
              <a:tblPr/>
              <a:tblGrid>
                <a:gridCol w="2088232">
                  <a:extLst>
                    <a:ext uri="{9D8B030D-6E8A-4147-A177-3AD203B41FA5}">
                      <a16:colId xmlns:a16="http://schemas.microsoft.com/office/drawing/2014/main" val="3815023786"/>
                    </a:ext>
                  </a:extLst>
                </a:gridCol>
                <a:gridCol w="2664296">
                  <a:extLst>
                    <a:ext uri="{9D8B030D-6E8A-4147-A177-3AD203B41FA5}">
                      <a16:colId xmlns:a16="http://schemas.microsoft.com/office/drawing/2014/main" val="3201563465"/>
                    </a:ext>
                  </a:extLst>
                </a:gridCol>
                <a:gridCol w="3134172">
                  <a:extLst>
                    <a:ext uri="{9D8B030D-6E8A-4147-A177-3AD203B41FA5}">
                      <a16:colId xmlns:a16="http://schemas.microsoft.com/office/drawing/2014/main" val="1829514187"/>
                    </a:ext>
                  </a:extLst>
                </a:gridCol>
              </a:tblGrid>
              <a:tr h="0">
                <a:tc>
                  <a:txBody>
                    <a:bodyPr/>
                    <a:lstStyle/>
                    <a:p>
                      <a:pPr>
                        <a:buNone/>
                      </a:pPr>
                      <a:r>
                        <a:rPr lang="fr-FR" b="1" dirty="0"/>
                        <a:t>Usage</a:t>
                      </a:r>
                    </a:p>
                  </a:txBody>
                  <a:tcPr anchor="ctr">
                    <a:lnL>
                      <a:noFill/>
                    </a:lnL>
                    <a:lnR>
                      <a:noFill/>
                    </a:lnR>
                    <a:lnT>
                      <a:noFill/>
                    </a:lnT>
                    <a:lnB>
                      <a:noFill/>
                    </a:lnB>
                    <a:noFill/>
                  </a:tcPr>
                </a:tc>
                <a:tc>
                  <a:txBody>
                    <a:bodyPr/>
                    <a:lstStyle/>
                    <a:p>
                      <a:pPr>
                        <a:buNone/>
                      </a:pPr>
                      <a:r>
                        <a:rPr lang="fr-FR" b="1"/>
                        <a:t>Clé utilisée pour faire</a:t>
                      </a:r>
                    </a:p>
                  </a:txBody>
                  <a:tcPr anchor="ctr">
                    <a:lnL>
                      <a:noFill/>
                    </a:lnL>
                    <a:lnR>
                      <a:noFill/>
                    </a:lnR>
                    <a:lnT>
                      <a:noFill/>
                    </a:lnT>
                    <a:lnB>
                      <a:noFill/>
                    </a:lnB>
                    <a:noFill/>
                  </a:tcPr>
                </a:tc>
                <a:tc>
                  <a:txBody>
                    <a:bodyPr/>
                    <a:lstStyle/>
                    <a:p>
                      <a:pPr>
                        <a:buNone/>
                      </a:pPr>
                      <a:r>
                        <a:rPr lang="fr-FR" b="1" dirty="0"/>
                        <a:t>Clé utilisée pour vérifier</a:t>
                      </a:r>
                    </a:p>
                  </a:txBody>
                  <a:tcPr anchor="ctr">
                    <a:lnL>
                      <a:noFill/>
                    </a:lnL>
                    <a:lnR>
                      <a:noFill/>
                    </a:lnR>
                    <a:lnT>
                      <a:noFill/>
                    </a:lnT>
                    <a:lnB>
                      <a:noFill/>
                    </a:lnB>
                    <a:noFill/>
                  </a:tcPr>
                </a:tc>
                <a:extLst>
                  <a:ext uri="{0D108BD9-81ED-4DB2-BD59-A6C34878D82A}">
                    <a16:rowId xmlns:a16="http://schemas.microsoft.com/office/drawing/2014/main" val="2740614823"/>
                  </a:ext>
                </a:extLst>
              </a:tr>
              <a:tr h="0">
                <a:tc>
                  <a:txBody>
                    <a:bodyPr/>
                    <a:lstStyle/>
                    <a:p>
                      <a:pPr>
                        <a:buNone/>
                      </a:pPr>
                      <a:r>
                        <a:rPr lang="fr-FR" dirty="0"/>
                        <a:t>🔒 Chiffrement</a:t>
                      </a:r>
                    </a:p>
                  </a:txBody>
                  <a:tcPr anchor="ctr">
                    <a:lnL>
                      <a:noFill/>
                    </a:lnL>
                    <a:lnR>
                      <a:noFill/>
                    </a:lnR>
                    <a:lnT>
                      <a:noFill/>
                    </a:lnT>
                    <a:lnB>
                      <a:noFill/>
                    </a:lnB>
                    <a:noFill/>
                  </a:tcPr>
                </a:tc>
                <a:tc>
                  <a:txBody>
                    <a:bodyPr/>
                    <a:lstStyle/>
                    <a:p>
                      <a:pPr>
                        <a:buNone/>
                      </a:pPr>
                      <a:r>
                        <a:rPr lang="fr-FR" dirty="0"/>
                        <a:t>Clé publique</a:t>
                      </a:r>
                    </a:p>
                  </a:txBody>
                  <a:tcPr anchor="ctr">
                    <a:lnL>
                      <a:noFill/>
                    </a:lnL>
                    <a:lnR>
                      <a:noFill/>
                    </a:lnR>
                    <a:lnT>
                      <a:noFill/>
                    </a:lnT>
                    <a:lnB>
                      <a:noFill/>
                    </a:lnB>
                    <a:noFill/>
                  </a:tcPr>
                </a:tc>
                <a:tc>
                  <a:txBody>
                    <a:bodyPr/>
                    <a:lstStyle/>
                    <a:p>
                      <a:pPr>
                        <a:buNone/>
                      </a:pPr>
                      <a:r>
                        <a:rPr lang="fr-FR"/>
                        <a:t>Clé privée</a:t>
                      </a:r>
                    </a:p>
                  </a:txBody>
                  <a:tcPr anchor="ctr">
                    <a:lnL>
                      <a:noFill/>
                    </a:lnL>
                    <a:lnR>
                      <a:noFill/>
                    </a:lnR>
                    <a:lnT>
                      <a:noFill/>
                    </a:lnT>
                    <a:lnB>
                      <a:noFill/>
                    </a:lnB>
                    <a:noFill/>
                  </a:tcPr>
                </a:tc>
                <a:extLst>
                  <a:ext uri="{0D108BD9-81ED-4DB2-BD59-A6C34878D82A}">
                    <a16:rowId xmlns:a16="http://schemas.microsoft.com/office/drawing/2014/main" val="3799307351"/>
                  </a:ext>
                </a:extLst>
              </a:tr>
              <a:tr h="0">
                <a:tc>
                  <a:txBody>
                    <a:bodyPr/>
                    <a:lstStyle/>
                    <a:p>
                      <a:pPr>
                        <a:buNone/>
                      </a:pPr>
                      <a:r>
                        <a:rPr lang="fr-FR"/>
                        <a:t>✍️ Signature</a:t>
                      </a:r>
                    </a:p>
                  </a:txBody>
                  <a:tcPr anchor="ctr">
                    <a:lnL>
                      <a:noFill/>
                    </a:lnL>
                    <a:lnR>
                      <a:noFill/>
                    </a:lnR>
                    <a:lnT>
                      <a:noFill/>
                    </a:lnT>
                    <a:lnB>
                      <a:noFill/>
                    </a:lnB>
                    <a:noFill/>
                  </a:tcPr>
                </a:tc>
                <a:tc>
                  <a:txBody>
                    <a:bodyPr/>
                    <a:lstStyle/>
                    <a:p>
                      <a:pPr>
                        <a:buNone/>
                      </a:pPr>
                      <a:r>
                        <a:rPr lang="fr-FR" dirty="0"/>
                        <a:t>Clé privée</a:t>
                      </a:r>
                    </a:p>
                  </a:txBody>
                  <a:tcPr anchor="ctr">
                    <a:lnL>
                      <a:noFill/>
                    </a:lnL>
                    <a:lnR>
                      <a:noFill/>
                    </a:lnR>
                    <a:lnT>
                      <a:noFill/>
                    </a:lnT>
                    <a:lnB>
                      <a:noFill/>
                    </a:lnB>
                    <a:noFill/>
                  </a:tcPr>
                </a:tc>
                <a:tc>
                  <a:txBody>
                    <a:bodyPr/>
                    <a:lstStyle/>
                    <a:p>
                      <a:pPr>
                        <a:buNone/>
                      </a:pPr>
                      <a:r>
                        <a:rPr lang="fr-FR" dirty="0"/>
                        <a:t>Clé publique</a:t>
                      </a:r>
                    </a:p>
                  </a:txBody>
                  <a:tcPr anchor="ctr">
                    <a:lnL>
                      <a:noFill/>
                    </a:lnL>
                    <a:lnR>
                      <a:noFill/>
                    </a:lnR>
                    <a:lnT>
                      <a:noFill/>
                    </a:lnT>
                    <a:lnB>
                      <a:noFill/>
                    </a:lnB>
                    <a:noFill/>
                  </a:tcPr>
                </a:tc>
                <a:extLst>
                  <a:ext uri="{0D108BD9-81ED-4DB2-BD59-A6C34878D82A}">
                    <a16:rowId xmlns:a16="http://schemas.microsoft.com/office/drawing/2014/main" val="2445612121"/>
                  </a:ext>
                </a:extLst>
              </a:tr>
            </a:tbl>
          </a:graphicData>
        </a:graphic>
      </p:graphicFrame>
    </p:spTree>
    <p:extLst>
      <p:ext uri="{BB962C8B-B14F-4D97-AF65-F5344CB8AC3E}">
        <p14:creationId xmlns:p14="http://schemas.microsoft.com/office/powerpoint/2010/main" val="32823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1F2BE-16B4-50F3-0CCB-7ABFAE03A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58A81-1336-F0CA-15B6-DB7656E91599}"/>
              </a:ext>
            </a:extLst>
          </p:cNvPr>
          <p:cNvSpPr>
            <a:spLocks noGrp="1"/>
          </p:cNvSpPr>
          <p:nvPr>
            <p:ph type="title"/>
          </p:nvPr>
        </p:nvSpPr>
        <p:spPr/>
        <p:txBody>
          <a:bodyPr/>
          <a:lstStyle/>
          <a:p>
            <a:r>
              <a:rPr lang="en-US" dirty="0" err="1"/>
              <a:t>Clés</a:t>
            </a:r>
            <a:r>
              <a:rPr lang="en-US" dirty="0"/>
              <a:t> </a:t>
            </a:r>
            <a:r>
              <a:rPr lang="en-US" dirty="0" err="1"/>
              <a:t>publiques</a:t>
            </a:r>
            <a:r>
              <a:rPr lang="en-US" dirty="0"/>
              <a:t> / </a:t>
            </a:r>
            <a:r>
              <a:rPr lang="en-US" dirty="0" err="1"/>
              <a:t>privées</a:t>
            </a:r>
            <a:r>
              <a:rPr lang="en-US" dirty="0"/>
              <a:t> - Principes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011876-1563-3807-5E38-8A0BF265C38C}"/>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1800" b="1" dirty="0"/>
                  <a:t>🧠 Principe (RSA)</a:t>
                </a:r>
              </a:p>
              <a:p>
                <a:r>
                  <a:rPr lang="fr-FR" sz="1800" dirty="0"/>
                  <a:t>Choisir 2 nombres premiers : </a:t>
                </a:r>
                <a:r>
                  <a:rPr lang="fr-FR" sz="1800" b="1" dirty="0"/>
                  <a:t>p</a:t>
                </a:r>
                <a:r>
                  <a:rPr lang="fr-FR" sz="1800" dirty="0"/>
                  <a:t> et </a:t>
                </a:r>
                <a:r>
                  <a:rPr lang="fr-FR" sz="1800" b="1" dirty="0"/>
                  <a:t>q</a:t>
                </a:r>
                <a:r>
                  <a:rPr lang="fr-FR" sz="1800" dirty="0"/>
                  <a:t> </a:t>
                </a:r>
              </a:p>
              <a:p>
                <a:r>
                  <a:rPr lang="fr-FR" sz="1800" dirty="0"/>
                  <a:t>Calculer : </a:t>
                </a:r>
                <a14:m>
                  <m:oMath xmlns:m="http://schemas.openxmlformats.org/officeDocument/2006/math">
                    <m:r>
                      <a:rPr lang="fr-FR" sz="2400" i="1">
                        <a:latin typeface="Cambria Math" panose="02040503050406030204" pitchFamily="18" charset="0"/>
                      </a:rPr>
                      <m:t>𝑛</m:t>
                    </m:r>
                    <m:r>
                      <a:rPr lang="fr-FR" sz="2400">
                        <a:latin typeface="Cambria Math" panose="02040503050406030204" pitchFamily="18" charset="0"/>
                      </a:rPr>
                      <m:t>=</m:t>
                    </m:r>
                    <m:r>
                      <a:rPr lang="fr-FR" sz="2400" i="1">
                        <a:latin typeface="Cambria Math" panose="02040503050406030204" pitchFamily="18" charset="0"/>
                      </a:rPr>
                      <m:t>𝑝</m:t>
                    </m:r>
                    <m:r>
                      <a:rPr lang="fr-FR" sz="2400">
                        <a:latin typeface="Cambria Math" panose="02040503050406030204" pitchFamily="18" charset="0"/>
                      </a:rPr>
                      <m:t>×</m:t>
                    </m:r>
                    <m:r>
                      <a:rPr lang="fr-FR" sz="2400" i="1">
                        <a:latin typeface="Cambria Math" panose="02040503050406030204" pitchFamily="18" charset="0"/>
                      </a:rPr>
                      <m:t>𝑞</m:t>
                    </m:r>
                  </m:oMath>
                </a14:m>
                <a:endParaRPr lang="fr-FR" sz="1600" dirty="0"/>
              </a:p>
              <a:p>
                <a:r>
                  <a:rPr lang="fr-FR" sz="1800" dirty="0"/>
                  <a:t>Publier </a:t>
                </a:r>
                <a:r>
                  <a:rPr lang="fr-FR" sz="1800" b="1" dirty="0"/>
                  <a:t>n</a:t>
                </a:r>
                <a:r>
                  <a:rPr lang="fr-FR" sz="1800" dirty="0"/>
                  <a:t> (clé publique) </a:t>
                </a:r>
              </a:p>
              <a:p>
                <a:pPr marL="0" indent="0">
                  <a:buNone/>
                </a:pPr>
                <a:r>
                  <a:rPr lang="fr-FR" sz="1800" b="1" dirty="0"/>
                  <a:t>🔥 Idée clé : </a:t>
                </a:r>
                <a:r>
                  <a:rPr lang="fr-FR" sz="1800" dirty="0"/>
                  <a:t>“Créer est facile, inverser est (quasi) impossible.”</a:t>
                </a:r>
                <a:endParaRPr lang="fr-FR" sz="1800" b="1" dirty="0"/>
              </a:p>
              <a:p>
                <a:r>
                  <a:rPr lang="fr-FR" sz="1800" dirty="0"/>
                  <a:t>💡 </a:t>
                </a:r>
                <a:r>
                  <a:rPr lang="fr-FR" sz="1800" b="1" dirty="0"/>
                  <a:t>Multiplier est facile</a:t>
                </a:r>
                <a:br>
                  <a:rPr lang="fr-FR" sz="1800" dirty="0"/>
                </a:br>
                <a:r>
                  <a:rPr lang="fr-FR" sz="1800" dirty="0"/>
                  <a:t>❌ </a:t>
                </a:r>
                <a:r>
                  <a:rPr lang="fr-FR" sz="1800" b="1" dirty="0"/>
                  <a:t>Factoriser est très difficile</a:t>
                </a:r>
                <a:endParaRPr lang="fr-FR" sz="1800" dirty="0"/>
              </a:p>
              <a:p>
                <a:pPr marL="0" indent="0">
                  <a:buNone/>
                </a:pPr>
                <a:r>
                  <a:rPr lang="fr-FR" sz="1800" b="1" dirty="0"/>
                  <a:t>⚡ Exemple simple</a:t>
                </a:r>
              </a:p>
              <a:p>
                <a:r>
                  <a:rPr lang="fr-FR" sz="1800" dirty="0"/>
                  <a:t>p = 3, q = 11 → n = 33 ✅ </a:t>
                </a:r>
              </a:p>
              <a:p>
                <a:r>
                  <a:rPr lang="fr-FR" sz="1800" dirty="0"/>
                  <a:t>n = 33 → retrouver p et q ❓ (plus difficile) </a:t>
                </a:r>
              </a:p>
              <a:p>
                <a:pPr marL="0" indent="0">
                  <a:buNone/>
                </a:pPr>
                <a:r>
                  <a:rPr lang="fr-FR" sz="1800" b="1" dirty="0"/>
                  <a:t>🚀 Dans la réalité</a:t>
                </a:r>
              </a:p>
              <a:p>
                <a:r>
                  <a:rPr lang="fr-FR" sz="1800" dirty="0"/>
                  <a:t>p et q = </a:t>
                </a:r>
                <a:r>
                  <a:rPr lang="fr-FR" sz="1800" b="1" dirty="0"/>
                  <a:t>très grands nombres premiers</a:t>
                </a:r>
                <a:r>
                  <a:rPr lang="fr-FR" sz="1800" dirty="0"/>
                  <a:t> </a:t>
                </a:r>
              </a:p>
              <a:p>
                <a:r>
                  <a:rPr lang="fr-FR" sz="1800" dirty="0"/>
                  <a:t>n = </a:t>
                </a:r>
                <a:r>
                  <a:rPr lang="fr-FR" sz="1800" b="1" dirty="0"/>
                  <a:t>plus de 600 chiffres</a:t>
                </a:r>
                <a:r>
                  <a:rPr lang="fr-FR" sz="1800" dirty="0"/>
                  <a:t> </a:t>
                </a:r>
              </a:p>
              <a:p>
                <a:r>
                  <a:rPr lang="fr-FR" sz="1800" dirty="0"/>
                  <a:t>👉 Factorisation = </a:t>
                </a:r>
                <a:r>
                  <a:rPr lang="fr-FR" sz="1800" b="1" dirty="0"/>
                  <a:t>impraticable</a:t>
                </a:r>
                <a:endParaRPr lang="fr-FR" sz="1800" dirty="0"/>
              </a:p>
              <a:p>
                <a:pPr marL="0" indent="0">
                  <a:buNone/>
                </a:pPr>
                <a:r>
                  <a:rPr lang="fr-FR" sz="1800" dirty="0"/>
                  <a:t>🔐 La sécurité repose sur un problème mathématique difficile :</a:t>
                </a:r>
                <a:br>
                  <a:rPr lang="fr-FR" sz="1800" dirty="0"/>
                </a:br>
                <a:r>
                  <a:rPr lang="fr-FR" sz="1800" b="1" dirty="0"/>
                  <a:t>retrouver p et q à partir de n</a:t>
                </a:r>
              </a:p>
            </p:txBody>
          </p:sp>
        </mc:Choice>
        <mc:Fallback xmlns="">
          <p:sp>
            <p:nvSpPr>
              <p:cNvPr id="3" name="Content Placeholder 2">
                <a:extLst>
                  <a:ext uri="{FF2B5EF4-FFF2-40B4-BE49-F238E27FC236}">
                    <a16:creationId xmlns:a16="http://schemas.microsoft.com/office/drawing/2014/main" id="{05011876-1563-3807-5E38-8A0BF265C38C}"/>
                  </a:ext>
                </a:extLst>
              </p:cNvPr>
              <p:cNvSpPr>
                <a:spLocks noGrp="1" noRot="1" noChangeAspect="1" noMove="1" noResize="1" noEditPoints="1" noAdjustHandles="1" noChangeArrowheads="1" noChangeShapeType="1" noTextEdit="1"/>
              </p:cNvSpPr>
              <p:nvPr>
                <p:ph type="body" sz="quarter" idx="13"/>
              </p:nvPr>
            </p:nvSpPr>
            <p:spPr>
              <a:xfrm>
                <a:off x="457200" y="1066800"/>
                <a:ext cx="8229600" cy="5314528"/>
              </a:xfrm>
              <a:prstGeom prst="rect">
                <a:avLst/>
              </a:prstGeom>
              <a:blipFill>
                <a:blip r:embed="rId3"/>
                <a:stretch>
                  <a:fillRect l="-593" t="-459" b="-1720"/>
                </a:stretch>
              </a:blipFill>
            </p:spPr>
            <p:txBody>
              <a:bodyPr/>
              <a:lstStyle/>
              <a:p>
                <a:r>
                  <a:rPr lang="fr-FR">
                    <a:noFill/>
                  </a:rPr>
                  <a:t> </a:t>
                </a:r>
              </a:p>
            </p:txBody>
          </p:sp>
        </mc:Fallback>
      </mc:AlternateContent>
      <p:sp>
        <p:nvSpPr>
          <p:cNvPr id="4" name="Content Placeholder 2">
            <a:extLst>
              <a:ext uri="{FF2B5EF4-FFF2-40B4-BE49-F238E27FC236}">
                <a16:creationId xmlns:a16="http://schemas.microsoft.com/office/drawing/2014/main" id="{692DDB19-ED4B-986A-2F0B-0CAFBEDAD4EC}"/>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Tree>
    <p:extLst>
      <p:ext uri="{BB962C8B-B14F-4D97-AF65-F5344CB8AC3E}">
        <p14:creationId xmlns:p14="http://schemas.microsoft.com/office/powerpoint/2010/main" val="3158353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5D290-4650-8EB3-A178-E2D34F9D6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754936-45BA-777E-4DE1-80E511FF89E1}"/>
              </a:ext>
            </a:extLst>
          </p:cNvPr>
          <p:cNvSpPr>
            <a:spLocks noGrp="1"/>
          </p:cNvSpPr>
          <p:nvPr>
            <p:ph type="title"/>
          </p:nvPr>
        </p:nvSpPr>
        <p:spPr/>
        <p:txBody>
          <a:bodyPr/>
          <a:lstStyle/>
          <a:p>
            <a:r>
              <a:rPr lang="en-US" dirty="0" err="1"/>
              <a:t>Chiffrement</a:t>
            </a:r>
            <a:r>
              <a:rPr lang="en-US" dirty="0"/>
              <a:t> </a:t>
            </a:r>
            <a:r>
              <a:rPr lang="en-US" dirty="0" err="1"/>
              <a:t>clé</a:t>
            </a:r>
            <a:r>
              <a:rPr lang="en-US" dirty="0"/>
              <a:t> </a:t>
            </a:r>
            <a:r>
              <a:rPr lang="en-US" dirty="0" err="1"/>
              <a:t>asymétrique</a:t>
            </a:r>
            <a:endParaRPr lang="en-US" dirty="0"/>
          </a:p>
        </p:txBody>
      </p:sp>
      <p:sp>
        <p:nvSpPr>
          <p:cNvPr id="3" name="Content Placeholder 2">
            <a:extLst>
              <a:ext uri="{FF2B5EF4-FFF2-40B4-BE49-F238E27FC236}">
                <a16:creationId xmlns:a16="http://schemas.microsoft.com/office/drawing/2014/main" id="{6887423C-D257-D44C-D6A9-1E12CD28AB9A}"/>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1800" dirty="0"/>
              <a:t>👉 </a:t>
            </a:r>
            <a:r>
              <a:rPr lang="fr-FR" sz="1800" b="1" dirty="0"/>
              <a:t>Principe</a:t>
            </a:r>
            <a:endParaRPr lang="fr-FR" sz="1800" dirty="0"/>
          </a:p>
          <a:p>
            <a:r>
              <a:rPr lang="fr-FR" sz="1800" dirty="0"/>
              <a:t>🔓 </a:t>
            </a:r>
            <a:r>
              <a:rPr lang="fr-FR" sz="1800" b="1" dirty="0"/>
              <a:t>Clé publique = cadenas ouvert</a:t>
            </a:r>
            <a:r>
              <a:rPr lang="fr-FR" sz="1800" dirty="0"/>
              <a:t> </a:t>
            </a:r>
          </a:p>
          <a:p>
            <a:r>
              <a:rPr lang="fr-FR" sz="1800" dirty="0"/>
              <a:t>🔐 </a:t>
            </a:r>
            <a:r>
              <a:rPr lang="fr-FR" sz="1800" b="1" dirty="0"/>
              <a:t>Clé privée = la seule clé qui ouvre ce cadenas</a:t>
            </a:r>
            <a:r>
              <a:rPr lang="fr-FR" sz="1800" dirty="0"/>
              <a:t> </a:t>
            </a:r>
          </a:p>
          <a:p>
            <a:pPr marL="0" indent="0">
              <a:buNone/>
            </a:pPr>
            <a:endParaRPr lang="fr-FR" sz="1800" b="1" dirty="0"/>
          </a:p>
          <a:p>
            <a:pPr marL="0" indent="0">
              <a:buNone/>
            </a:pPr>
            <a:r>
              <a:rPr lang="fr-FR" sz="1800" b="1" dirty="0"/>
              <a:t>🎯 Fonctionnement</a:t>
            </a:r>
          </a:p>
          <a:p>
            <a:r>
              <a:rPr lang="fr-FR" sz="1800" dirty="0"/>
              <a:t>Tu distribues des </a:t>
            </a:r>
            <a:r>
              <a:rPr lang="fr-FR" sz="1800" b="1" dirty="0"/>
              <a:t>cadenas ouverts</a:t>
            </a:r>
            <a:r>
              <a:rPr lang="fr-FR" sz="1800" dirty="0"/>
              <a:t> </a:t>
            </a:r>
          </a:p>
          <a:p>
            <a:r>
              <a:rPr lang="fr-FR" sz="1800" dirty="0"/>
              <a:t>N’importe qui peut : </a:t>
            </a:r>
          </a:p>
          <a:p>
            <a:pPr lvl="1"/>
            <a:r>
              <a:rPr lang="fr-FR" sz="1600" dirty="0"/>
              <a:t>🔒 mettre un message dedans et fermer </a:t>
            </a:r>
          </a:p>
          <a:p>
            <a:r>
              <a:rPr lang="fr-FR" sz="2200" dirty="0"/>
              <a:t>👉 </a:t>
            </a:r>
            <a:r>
              <a:rPr lang="fr-FR" sz="1800" dirty="0"/>
              <a:t>MAIS : Seul toi peux ouvrir avec ta </a:t>
            </a:r>
            <a:r>
              <a:rPr lang="fr-FR" sz="1800" b="1" dirty="0"/>
              <a:t>clé privée</a:t>
            </a:r>
            <a:r>
              <a:rPr lang="fr-FR" sz="1800" dirty="0"/>
              <a:t> </a:t>
            </a:r>
          </a:p>
          <a:p>
            <a:pPr marL="0" indent="0">
              <a:buNone/>
            </a:pPr>
            <a:endParaRPr lang="fr-FR" sz="1800" b="1" dirty="0"/>
          </a:p>
          <a:p>
            <a:pPr marL="0" indent="0">
              <a:buNone/>
            </a:pPr>
            <a:r>
              <a:rPr lang="fr-FR" sz="1800" b="1" dirty="0"/>
              <a:t>💡 Message clé</a:t>
            </a:r>
          </a:p>
          <a:p>
            <a:r>
              <a:rPr lang="fr-FR" sz="1800" dirty="0"/>
              <a:t>🔐 Tout le monde peut envoyer un message sécurisé</a:t>
            </a:r>
            <a:br>
              <a:rPr lang="fr-FR" sz="1800" dirty="0"/>
            </a:br>
            <a:r>
              <a:rPr lang="fr-FR" sz="1800" dirty="0"/>
              <a:t>❌ Mais seul le propriétaire peut le lire</a:t>
            </a:r>
          </a:p>
          <a:p>
            <a:pPr marL="0" indent="0">
              <a:buNone/>
            </a:pPr>
            <a:endParaRPr lang="fr-FR" sz="1800" dirty="0"/>
          </a:p>
          <a:p>
            <a:pPr marL="0" indent="0">
              <a:buNone/>
            </a:pPr>
            <a:r>
              <a:rPr lang="fr-FR" sz="1800" b="1" dirty="0"/>
              <a:t>🎤 Résumé:</a:t>
            </a:r>
          </a:p>
          <a:p>
            <a:r>
              <a:rPr lang="fr-FR" sz="1800" dirty="0"/>
              <a:t>“On partage le cadenas, jamais la clé.”</a:t>
            </a:r>
          </a:p>
          <a:p>
            <a:pPr marL="0" indent="0">
              <a:buNone/>
            </a:pPr>
            <a:endParaRPr lang="fr-FR" sz="1600" dirty="0"/>
          </a:p>
        </p:txBody>
      </p:sp>
      <p:sp>
        <p:nvSpPr>
          <p:cNvPr id="4" name="Content Placeholder 2">
            <a:extLst>
              <a:ext uri="{FF2B5EF4-FFF2-40B4-BE49-F238E27FC236}">
                <a16:creationId xmlns:a16="http://schemas.microsoft.com/office/drawing/2014/main" id="{F41F05D1-89E3-5959-40B9-30300B686ADE}"/>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Tree>
    <p:extLst>
      <p:ext uri="{BB962C8B-B14F-4D97-AF65-F5344CB8AC3E}">
        <p14:creationId xmlns:p14="http://schemas.microsoft.com/office/powerpoint/2010/main" val="497905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E733E-4363-F6D3-4FC9-E325931AD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0C44D-FE54-B26C-889D-65062CFA9144}"/>
              </a:ext>
            </a:extLst>
          </p:cNvPr>
          <p:cNvSpPr>
            <a:spLocks noGrp="1"/>
          </p:cNvSpPr>
          <p:nvPr>
            <p:ph type="title"/>
          </p:nvPr>
        </p:nvSpPr>
        <p:spPr/>
        <p:txBody>
          <a:bodyPr/>
          <a:lstStyle/>
          <a:p>
            <a:r>
              <a:rPr lang="en-US" dirty="0"/>
              <a:t>Signature </a:t>
            </a:r>
            <a:r>
              <a:rPr lang="en-US" dirty="0" err="1"/>
              <a:t>clé</a:t>
            </a:r>
            <a:r>
              <a:rPr lang="en-US" dirty="0"/>
              <a:t> </a:t>
            </a:r>
            <a:r>
              <a:rPr lang="en-US" dirty="0" err="1"/>
              <a:t>asymétrique</a:t>
            </a:r>
            <a:endParaRPr lang="en-US" dirty="0"/>
          </a:p>
        </p:txBody>
      </p:sp>
      <p:sp>
        <p:nvSpPr>
          <p:cNvPr id="3" name="Content Placeholder 2">
            <a:extLst>
              <a:ext uri="{FF2B5EF4-FFF2-40B4-BE49-F238E27FC236}">
                <a16:creationId xmlns:a16="http://schemas.microsoft.com/office/drawing/2014/main" id="{5BE8ABEF-076D-B60A-14EA-B74DC4545677}"/>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1400" dirty="0"/>
              <a:t>👉 </a:t>
            </a:r>
            <a:r>
              <a:rPr lang="fr-FR" sz="1400" b="1" dirty="0"/>
              <a:t>Signer un document</a:t>
            </a:r>
            <a:r>
              <a:rPr lang="fr-FR" sz="1400" dirty="0"/>
              <a:t>, on utilise :</a:t>
            </a:r>
          </a:p>
          <a:p>
            <a:r>
              <a:rPr lang="fr-FR" sz="1400" dirty="0"/>
              <a:t>🔐 </a:t>
            </a:r>
            <a:r>
              <a:rPr lang="fr-FR" sz="1400" b="1" dirty="0"/>
              <a:t>la clé privée</a:t>
            </a:r>
            <a:endParaRPr lang="fr-FR" sz="1400" dirty="0"/>
          </a:p>
          <a:p>
            <a:pPr marL="0" indent="0">
              <a:buNone/>
            </a:pPr>
            <a:r>
              <a:rPr lang="fr-FR" sz="1400" b="1" dirty="0"/>
              <a:t>🎯 Étapes</a:t>
            </a:r>
          </a:p>
          <a:p>
            <a:r>
              <a:rPr lang="fr-FR" sz="1400" dirty="0"/>
              <a:t>📄 On prend le document </a:t>
            </a:r>
          </a:p>
          <a:p>
            <a:r>
              <a:rPr lang="fr-FR" sz="1400" dirty="0"/>
              <a:t>🧮 On calcule une </a:t>
            </a:r>
            <a:r>
              <a:rPr lang="fr-FR" sz="1400" b="1" dirty="0"/>
              <a:t>empreinte (hash/</a:t>
            </a:r>
            <a:r>
              <a:rPr lang="fr-FR" sz="1400" b="1" dirty="0" err="1"/>
              <a:t>crc</a:t>
            </a:r>
            <a:r>
              <a:rPr lang="fr-FR" sz="1400" b="1" dirty="0"/>
              <a:t>)</a:t>
            </a:r>
            <a:r>
              <a:rPr lang="fr-FR" sz="1400" dirty="0"/>
              <a:t> - </a:t>
            </a:r>
            <a:r>
              <a:rPr lang="fr-FR" sz="1200" i="1" dirty="0"/>
              <a:t>“On ne signe pas le document, on signe son empreinte.”</a:t>
            </a:r>
          </a:p>
          <a:p>
            <a:r>
              <a:rPr lang="fr-FR" sz="1400" dirty="0"/>
              <a:t>🔐 On chiffre cette empreinte avec la </a:t>
            </a:r>
            <a:r>
              <a:rPr lang="fr-FR" sz="1400" b="1" dirty="0"/>
              <a:t>clé privée</a:t>
            </a:r>
            <a:r>
              <a:rPr lang="fr-FR" sz="1400" dirty="0"/>
              <a:t> </a:t>
            </a:r>
          </a:p>
          <a:p>
            <a:r>
              <a:rPr lang="fr-FR" sz="1400" dirty="0"/>
              <a:t>✍️ Résultat : </a:t>
            </a:r>
            <a:r>
              <a:rPr lang="fr-FR" sz="1400" b="1" dirty="0"/>
              <a:t>la signature</a:t>
            </a:r>
            <a:endParaRPr lang="fr-FR" sz="1400" dirty="0"/>
          </a:p>
          <a:p>
            <a:pPr marL="0" indent="0">
              <a:buNone/>
            </a:pPr>
            <a:r>
              <a:rPr lang="fr-FR" sz="1400" b="1" dirty="0"/>
              <a:t>🔍 Vérifier la signature</a:t>
            </a:r>
            <a:r>
              <a:rPr lang="fr-FR" sz="1400" dirty="0"/>
              <a:t>, on utilise :</a:t>
            </a:r>
          </a:p>
          <a:p>
            <a:r>
              <a:rPr lang="fr-FR" sz="1400" dirty="0"/>
              <a:t>🔓 </a:t>
            </a:r>
            <a:r>
              <a:rPr lang="fr-FR" sz="1400" b="1" dirty="0"/>
              <a:t>la clé publique</a:t>
            </a:r>
            <a:endParaRPr lang="fr-FR" sz="1400" dirty="0"/>
          </a:p>
          <a:p>
            <a:pPr marL="0" indent="0">
              <a:buNone/>
            </a:pPr>
            <a:r>
              <a:rPr lang="fr-FR" sz="1400" b="1" dirty="0"/>
              <a:t>🎯 Étapes</a:t>
            </a:r>
          </a:p>
          <a:p>
            <a:r>
              <a:rPr lang="fr-FR" sz="1400" dirty="0"/>
              <a:t>📄 On reprend le document </a:t>
            </a:r>
          </a:p>
          <a:p>
            <a:r>
              <a:rPr lang="fr-FR" sz="1400" dirty="0"/>
              <a:t>🧮 On recalcule son hash/</a:t>
            </a:r>
            <a:r>
              <a:rPr lang="fr-FR" sz="1400" dirty="0" err="1"/>
              <a:t>crc</a:t>
            </a:r>
            <a:endParaRPr lang="fr-FR" sz="1400" dirty="0"/>
          </a:p>
          <a:p>
            <a:r>
              <a:rPr lang="fr-FR" sz="1400" dirty="0"/>
              <a:t>🔓 On déchiffre la signature avec la clé publique </a:t>
            </a:r>
          </a:p>
          <a:p>
            <a:r>
              <a:rPr lang="fr-FR" sz="1400" dirty="0"/>
              <a:t>🔄 On compare les deux </a:t>
            </a:r>
            <a:r>
              <a:rPr lang="fr-FR" sz="1400" dirty="0" err="1"/>
              <a:t>hashes</a:t>
            </a:r>
            <a:r>
              <a:rPr lang="fr-FR" sz="1400" dirty="0"/>
              <a:t> </a:t>
            </a:r>
          </a:p>
          <a:p>
            <a:r>
              <a:rPr lang="fr-FR" sz="1400" b="1" dirty="0"/>
              <a:t>✅ Résultat</a:t>
            </a:r>
          </a:p>
          <a:p>
            <a:pPr lvl="1"/>
            <a:r>
              <a:rPr lang="fr-FR" sz="1000" dirty="0"/>
              <a:t>✔️ Hash identique → signature valide </a:t>
            </a:r>
          </a:p>
          <a:p>
            <a:pPr lvl="1"/>
            <a:r>
              <a:rPr lang="fr-FR" sz="1000" dirty="0"/>
              <a:t>❌ Différent → document modifié ou faux</a:t>
            </a:r>
            <a:endParaRPr lang="fr-FR" sz="1400" dirty="0"/>
          </a:p>
          <a:p>
            <a:pPr marL="0" indent="0">
              <a:buNone/>
            </a:pPr>
            <a:r>
              <a:rPr lang="fr-FR" sz="1400" b="1" dirty="0"/>
              <a:t>🧠 A noter :</a:t>
            </a:r>
          </a:p>
          <a:p>
            <a:r>
              <a:rPr lang="fr-FR" sz="1400" dirty="0"/>
              <a:t>seule la </a:t>
            </a:r>
            <a:r>
              <a:rPr lang="fr-FR" sz="1400" b="1" dirty="0"/>
              <a:t>clé privée</a:t>
            </a:r>
            <a:r>
              <a:rPr lang="fr-FR" sz="1400" dirty="0"/>
              <a:t> peut créer la signature </a:t>
            </a:r>
          </a:p>
          <a:p>
            <a:r>
              <a:rPr lang="fr-FR" sz="1400" dirty="0"/>
              <a:t>tout le monde peut vérifier avec la </a:t>
            </a:r>
            <a:r>
              <a:rPr lang="fr-FR" sz="1400" b="1" dirty="0"/>
              <a:t>clé publique</a:t>
            </a:r>
          </a:p>
          <a:p>
            <a:r>
              <a:rPr lang="fr-FR" sz="1400" dirty="0"/>
              <a:t>la signature ne porte pas sur le document entier, mais sur son </a:t>
            </a:r>
            <a:r>
              <a:rPr lang="fr-FR" sz="1400" b="1" dirty="0"/>
              <a:t>empreinte unique</a:t>
            </a:r>
          </a:p>
          <a:p>
            <a:pPr marL="0" indent="0">
              <a:buNone/>
            </a:pPr>
            <a:endParaRPr lang="fr-FR" sz="1400" dirty="0"/>
          </a:p>
          <a:p>
            <a:pPr marL="0" indent="0">
              <a:buNone/>
            </a:pPr>
            <a:endParaRPr lang="fr-FR" sz="1400" dirty="0"/>
          </a:p>
        </p:txBody>
      </p:sp>
      <p:sp>
        <p:nvSpPr>
          <p:cNvPr id="4" name="Content Placeholder 2">
            <a:extLst>
              <a:ext uri="{FF2B5EF4-FFF2-40B4-BE49-F238E27FC236}">
                <a16:creationId xmlns:a16="http://schemas.microsoft.com/office/drawing/2014/main" id="{C0AA3BB2-B4E2-98D5-917E-3F338BB5CA69}"/>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6" name="ZoneTexte 5">
            <a:extLst>
              <a:ext uri="{FF2B5EF4-FFF2-40B4-BE49-F238E27FC236}">
                <a16:creationId xmlns:a16="http://schemas.microsoft.com/office/drawing/2014/main" id="{C1C8D95A-3155-6F88-B179-D95589600835}"/>
              </a:ext>
            </a:extLst>
          </p:cNvPr>
          <p:cNvSpPr txBox="1"/>
          <p:nvPr/>
        </p:nvSpPr>
        <p:spPr>
          <a:xfrm>
            <a:off x="4139952" y="4653136"/>
            <a:ext cx="4392488" cy="646331"/>
          </a:xfrm>
          <a:prstGeom prst="rect">
            <a:avLst/>
          </a:prstGeom>
          <a:noFill/>
        </p:spPr>
        <p:txBody>
          <a:bodyPr wrap="square">
            <a:spAutoFit/>
          </a:bodyPr>
          <a:lstStyle/>
          <a:p>
            <a:pPr marL="0" indent="0">
              <a:buNone/>
            </a:pPr>
            <a:r>
              <a:rPr lang="fr-FR" sz="1600" dirty="0"/>
              <a:t>🔥 </a:t>
            </a:r>
            <a:r>
              <a:rPr lang="fr-FR" sz="1600" b="1" dirty="0"/>
              <a:t>Conséquence : </a:t>
            </a:r>
            <a:r>
              <a:rPr lang="fr-FR" sz="1600" dirty="0"/>
              <a:t>Si on modifie 1 caractère :</a:t>
            </a:r>
          </a:p>
          <a:p>
            <a:pPr marL="628650" lvl="1" indent="-171450">
              <a:buFont typeface="Arial" panose="020B0604020202020204" pitchFamily="34" charset="0"/>
              <a:buChar char="•"/>
            </a:pPr>
            <a:r>
              <a:rPr lang="fr-FR" sz="1000" dirty="0"/>
              <a:t>hash change complètement </a:t>
            </a:r>
          </a:p>
          <a:p>
            <a:pPr marL="628650" lvl="1" indent="-171450">
              <a:buFont typeface="Arial" panose="020B0604020202020204" pitchFamily="34" charset="0"/>
              <a:buChar char="•"/>
            </a:pPr>
            <a:r>
              <a:rPr lang="fr-FR" sz="1000" dirty="0"/>
              <a:t>signature devient invalide</a:t>
            </a:r>
          </a:p>
        </p:txBody>
      </p:sp>
    </p:spTree>
    <p:extLst>
      <p:ext uri="{BB962C8B-B14F-4D97-AF65-F5344CB8AC3E}">
        <p14:creationId xmlns:p14="http://schemas.microsoft.com/office/powerpoint/2010/main" val="119634314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FA2199-F42F-EAF8-7583-5F7CE2E6D066}"/>
              </a:ext>
            </a:extLst>
          </p:cNvPr>
          <p:cNvSpPr>
            <a:spLocks noGrp="1"/>
          </p:cNvSpPr>
          <p:nvPr>
            <p:ph type="title"/>
          </p:nvPr>
        </p:nvSpPr>
        <p:spPr/>
        <p:txBody>
          <a:bodyPr/>
          <a:lstStyle/>
          <a:p>
            <a:r>
              <a:rPr lang="en-US" dirty="0" err="1"/>
              <a:t>Clés</a:t>
            </a:r>
            <a:r>
              <a:rPr lang="en-US" dirty="0"/>
              <a:t> </a:t>
            </a:r>
            <a:r>
              <a:rPr lang="en-US" dirty="0" err="1"/>
              <a:t>publiques</a:t>
            </a:r>
            <a:r>
              <a:rPr lang="en-US" dirty="0"/>
              <a:t> / </a:t>
            </a:r>
            <a:r>
              <a:rPr lang="en-US" dirty="0" err="1"/>
              <a:t>privées</a:t>
            </a:r>
            <a:endParaRPr lang="fr-FR" dirty="0"/>
          </a:p>
        </p:txBody>
      </p:sp>
      <p:sp>
        <p:nvSpPr>
          <p:cNvPr id="3" name="Espace réservé du numéro de diapositive 2">
            <a:extLst>
              <a:ext uri="{FF2B5EF4-FFF2-40B4-BE49-F238E27FC236}">
                <a16:creationId xmlns:a16="http://schemas.microsoft.com/office/drawing/2014/main" id="{F9BD607E-F4F1-3C51-8E03-200279EBA7E2}"/>
              </a:ext>
            </a:extLst>
          </p:cNvPr>
          <p:cNvSpPr>
            <a:spLocks noGrp="1"/>
          </p:cNvSpPr>
          <p:nvPr>
            <p:ph type="sldNum" sz="quarter" idx="12"/>
          </p:nvPr>
        </p:nvSpPr>
        <p:spPr/>
        <p:txBody>
          <a:bodyPr/>
          <a:lstStyle/>
          <a:p>
            <a:fld id="{D814DA60-3BEE-4BCE-BEDB-E433FD970963}" type="slidenum">
              <a:rPr lang="en-US" smtClean="0"/>
              <a:pPr/>
              <a:t>129</a:t>
            </a:fld>
            <a:endParaRPr lang="en-US" dirty="0"/>
          </a:p>
        </p:txBody>
      </p:sp>
      <p:sp>
        <p:nvSpPr>
          <p:cNvPr id="4" name="Espace réservé du texte 3">
            <a:extLst>
              <a:ext uri="{FF2B5EF4-FFF2-40B4-BE49-F238E27FC236}">
                <a16:creationId xmlns:a16="http://schemas.microsoft.com/office/drawing/2014/main" id="{F6D497D1-8BD3-0ACE-174B-035B0FD05BBD}"/>
              </a:ext>
            </a:extLst>
          </p:cNvPr>
          <p:cNvSpPr>
            <a:spLocks noGrp="1"/>
          </p:cNvSpPr>
          <p:nvPr>
            <p:ph type="body" sz="quarter" idx="13"/>
          </p:nvPr>
        </p:nvSpPr>
        <p:spPr/>
        <p:txBody>
          <a:bodyPr/>
          <a:lstStyle/>
          <a:p>
            <a:r>
              <a:rPr lang="fr-FR" dirty="0"/>
              <a:t>Chiffrement symétrique :</a:t>
            </a:r>
          </a:p>
          <a:p>
            <a:endParaRPr lang="fr-FR" dirty="0"/>
          </a:p>
          <a:p>
            <a:endParaRPr lang="fr-FR" dirty="0"/>
          </a:p>
          <a:p>
            <a:r>
              <a:rPr lang="fr-FR" dirty="0"/>
              <a:t>Chiffrement asymétrique :</a:t>
            </a:r>
          </a:p>
        </p:txBody>
      </p:sp>
      <p:sp>
        <p:nvSpPr>
          <p:cNvPr id="6" name="ZoneTexte 5">
            <a:extLst>
              <a:ext uri="{FF2B5EF4-FFF2-40B4-BE49-F238E27FC236}">
                <a16:creationId xmlns:a16="http://schemas.microsoft.com/office/drawing/2014/main" id="{00A0CCCE-F75D-CB36-D8DB-3F87B58DBDE0}"/>
              </a:ext>
            </a:extLst>
          </p:cNvPr>
          <p:cNvSpPr txBox="1"/>
          <p:nvPr/>
        </p:nvSpPr>
        <p:spPr>
          <a:xfrm>
            <a:off x="251520" y="6309320"/>
            <a:ext cx="8803703" cy="369332"/>
          </a:xfrm>
          <a:prstGeom prst="rect">
            <a:avLst/>
          </a:prstGeom>
          <a:noFill/>
        </p:spPr>
        <p:txBody>
          <a:bodyPr wrap="square">
            <a:spAutoFit/>
          </a:bodyPr>
          <a:lstStyle/>
          <a:p>
            <a:r>
              <a:rPr lang="fr-FR" u="sng" dirty="0">
                <a:solidFill>
                  <a:schemeClr val="accent1"/>
                </a:solidFill>
              </a:rPr>
              <a:t>https://fr.wikipedia.org/wiki/Certificat_%C3%A9lectronique</a:t>
            </a:r>
          </a:p>
        </p:txBody>
      </p:sp>
      <p:pic>
        <p:nvPicPr>
          <p:cNvPr id="7170" name="Picture 2" descr="Clés symétriques">
            <a:extLst>
              <a:ext uri="{FF2B5EF4-FFF2-40B4-BE49-F238E27FC236}">
                <a16:creationId xmlns:a16="http://schemas.microsoft.com/office/drawing/2014/main" id="{5228E90B-10F0-3CC4-7968-624D1A188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426" y="1642647"/>
            <a:ext cx="4392488" cy="101980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Assymétrie signature vs chiffrement.">
            <a:extLst>
              <a:ext uri="{FF2B5EF4-FFF2-40B4-BE49-F238E27FC236}">
                <a16:creationId xmlns:a16="http://schemas.microsoft.com/office/drawing/2014/main" id="{4681797A-4D97-2F0D-D1E0-3AB6DEFC4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097987"/>
            <a:ext cx="4608512" cy="234026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5C9C7AAC-275E-6108-8310-0D2FDBB32FD0}"/>
              </a:ext>
            </a:extLst>
          </p:cNvPr>
          <p:cNvSpPr txBox="1"/>
          <p:nvPr/>
        </p:nvSpPr>
        <p:spPr>
          <a:xfrm>
            <a:off x="5508104" y="2760591"/>
            <a:ext cx="3547119" cy="1938992"/>
          </a:xfrm>
          <a:prstGeom prst="rect">
            <a:avLst/>
          </a:prstGeom>
          <a:noFill/>
        </p:spPr>
        <p:txBody>
          <a:bodyPr wrap="square" rtlCol="0">
            <a:spAutoFit/>
          </a:bodyPr>
          <a:lstStyle/>
          <a:p>
            <a:r>
              <a:rPr lang="fr-FR" sz="2400" u="sng" dirty="0"/>
              <a:t>Clé publique : </a:t>
            </a:r>
            <a:r>
              <a:rPr lang="fr-FR" sz="2400" i="1" dirty="0"/>
              <a:t>Comment être sûr qu’il s’agit de la clé de Anne ?</a:t>
            </a:r>
          </a:p>
          <a:p>
            <a:endParaRPr lang="fr-FR" sz="2400" i="1" dirty="0"/>
          </a:p>
          <a:p>
            <a:r>
              <a:rPr lang="fr-FR" sz="2400" dirty="0"/>
              <a:t>=&gt; Solution : Certificats</a:t>
            </a:r>
          </a:p>
        </p:txBody>
      </p:sp>
    </p:spTree>
    <p:extLst>
      <p:ext uri="{BB962C8B-B14F-4D97-AF65-F5344CB8AC3E}">
        <p14:creationId xmlns:p14="http://schemas.microsoft.com/office/powerpoint/2010/main" val="1302022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6ED40-785B-7FD5-B72C-6F6CFA360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92286-7D8C-CE29-408B-3C1298281A88}"/>
              </a:ext>
            </a:extLst>
          </p:cNvPr>
          <p:cNvSpPr>
            <a:spLocks noGrp="1"/>
          </p:cNvSpPr>
          <p:nvPr>
            <p:ph type="title"/>
          </p:nvPr>
        </p:nvSpPr>
        <p:spPr/>
        <p:txBody>
          <a:bodyPr/>
          <a:lstStyle/>
          <a:p>
            <a:r>
              <a:rPr lang="en-US" dirty="0" err="1"/>
              <a:t>Certificats</a:t>
            </a:r>
            <a:endParaRPr lang="en-US" dirty="0"/>
          </a:p>
        </p:txBody>
      </p:sp>
      <p:sp>
        <p:nvSpPr>
          <p:cNvPr id="3" name="Content Placeholder 2">
            <a:extLst>
              <a:ext uri="{FF2B5EF4-FFF2-40B4-BE49-F238E27FC236}">
                <a16:creationId xmlns:a16="http://schemas.microsoft.com/office/drawing/2014/main" id="{93663CD6-7E05-E929-83E6-263BBEE96BFD}"/>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sz="1600" b="1" dirty="0"/>
              <a:t>🧾 Un certificat est un document signé par une autorité de certification (CA)</a:t>
            </a:r>
          </a:p>
          <a:p>
            <a:r>
              <a:rPr lang="fr-FR" sz="1600" dirty="0"/>
              <a:t>👉 Il contient :</a:t>
            </a:r>
          </a:p>
          <a:p>
            <a:pPr lvl="1"/>
            <a:r>
              <a:rPr lang="fr-FR" sz="1200" dirty="0"/>
              <a:t>🔓 une </a:t>
            </a:r>
            <a:r>
              <a:rPr lang="fr-FR" sz="1200" b="1" dirty="0"/>
              <a:t>clé publique</a:t>
            </a:r>
            <a:r>
              <a:rPr lang="fr-FR" sz="1200" dirty="0"/>
              <a:t> (</a:t>
            </a:r>
            <a:r>
              <a:rPr lang="fr-FR" sz="1200" i="1" dirty="0"/>
              <a:t>du site</a:t>
            </a:r>
            <a:r>
              <a:rPr lang="fr-FR" sz="1200" dirty="0"/>
              <a:t>)</a:t>
            </a:r>
          </a:p>
          <a:p>
            <a:pPr lvl="1"/>
            <a:r>
              <a:rPr lang="fr-FR" sz="1200" dirty="0"/>
              <a:t>🌐 une </a:t>
            </a:r>
            <a:r>
              <a:rPr lang="fr-FR" sz="1200" b="1" dirty="0"/>
              <a:t>identité</a:t>
            </a:r>
            <a:r>
              <a:rPr lang="fr-FR" sz="1200" dirty="0"/>
              <a:t> (ex : </a:t>
            </a:r>
            <a:r>
              <a:rPr lang="fr-FR" sz="1200" i="1" dirty="0"/>
              <a:t>www.monsite.com</a:t>
            </a:r>
            <a:r>
              <a:rPr lang="fr-FR" sz="1200" dirty="0"/>
              <a:t>) </a:t>
            </a:r>
          </a:p>
          <a:p>
            <a:pPr lvl="1"/>
            <a:r>
              <a:rPr lang="fr-FR" sz="1200" dirty="0"/>
              <a:t>📅 une </a:t>
            </a:r>
            <a:r>
              <a:rPr lang="fr-FR" sz="1200" b="1" dirty="0"/>
              <a:t>date de validité</a:t>
            </a:r>
            <a:r>
              <a:rPr lang="fr-FR" sz="1200" dirty="0"/>
              <a:t> </a:t>
            </a:r>
          </a:p>
          <a:p>
            <a:pPr lvl="1"/>
            <a:r>
              <a:rPr lang="fr-FR" sz="1200" dirty="0"/>
              <a:t>🏛️ le nom de l’émetteur</a:t>
            </a:r>
          </a:p>
          <a:p>
            <a:pPr lvl="1"/>
            <a:r>
              <a:rPr lang="fr-FR" sz="1200" dirty="0"/>
              <a:t>🏢 des informations (organisation…) </a:t>
            </a:r>
          </a:p>
          <a:p>
            <a:r>
              <a:rPr lang="fr-FR" sz="1600" b="1" dirty="0"/>
              <a:t>✍️</a:t>
            </a:r>
            <a:r>
              <a:rPr lang="fr-FR" sz="2000" b="1" dirty="0"/>
              <a:t> </a:t>
            </a:r>
            <a:r>
              <a:rPr lang="fr-FR" sz="1600" dirty="0"/>
              <a:t>Il est signé par une autorité de certification (CA : </a:t>
            </a:r>
            <a:r>
              <a:rPr lang="fr-FR" sz="1600" dirty="0" err="1"/>
              <a:t>Certificate</a:t>
            </a:r>
            <a:r>
              <a:rPr lang="fr-FR" sz="1600" dirty="0"/>
              <a:t> </a:t>
            </a:r>
            <a:r>
              <a:rPr lang="fr-FR" sz="1600" dirty="0" err="1"/>
              <a:t>Authority</a:t>
            </a:r>
            <a:r>
              <a:rPr lang="fr-FR" sz="1600" dirty="0"/>
              <a:t>)</a:t>
            </a:r>
          </a:p>
          <a:p>
            <a:pPr lvl="1"/>
            <a:r>
              <a:rPr lang="fr-FR" sz="1200" dirty="0"/>
              <a:t>🔍 vérifie l’identité du site </a:t>
            </a:r>
          </a:p>
          <a:p>
            <a:pPr lvl="1"/>
            <a:r>
              <a:rPr lang="fr-FR" sz="1200" dirty="0"/>
              <a:t>🔐 signe le certificat avec la </a:t>
            </a:r>
            <a:r>
              <a:rPr lang="fr-FR" sz="1200" b="1" dirty="0"/>
              <a:t>clé privée du CA</a:t>
            </a:r>
            <a:endParaRPr lang="fr-FR" sz="1200" dirty="0"/>
          </a:p>
          <a:p>
            <a:pPr marL="0" indent="0">
              <a:buNone/>
            </a:pPr>
            <a:r>
              <a:rPr lang="fr-FR" sz="1600" b="1" dirty="0"/>
              <a:t>🔍 Le navigateur vérifie</a:t>
            </a:r>
          </a:p>
          <a:p>
            <a:pPr>
              <a:buFont typeface="+mj-lt"/>
              <a:buAutoNum type="arabicPeriod"/>
            </a:pPr>
            <a:r>
              <a:rPr lang="fr-FR" sz="1600" dirty="0"/>
              <a:t>🔓 possède la </a:t>
            </a:r>
            <a:r>
              <a:rPr lang="fr-FR" sz="1600" b="1" dirty="0"/>
              <a:t>clé publique de la CA</a:t>
            </a:r>
            <a:r>
              <a:rPr lang="fr-FR" sz="1600" dirty="0"/>
              <a:t> (déjà installée) </a:t>
            </a:r>
          </a:p>
          <a:p>
            <a:pPr>
              <a:buFont typeface="+mj-lt"/>
              <a:buAutoNum type="arabicPeriod"/>
            </a:pPr>
            <a:r>
              <a:rPr lang="fr-FR" sz="1600" dirty="0"/>
              <a:t>📜 reçoit le certificat du site </a:t>
            </a:r>
          </a:p>
          <a:p>
            <a:pPr>
              <a:buFont typeface="+mj-lt"/>
              <a:buAutoNum type="arabicPeriod"/>
            </a:pPr>
            <a:r>
              <a:rPr lang="fr-FR" sz="1600" dirty="0"/>
              <a:t>✍️ vérifie la signature </a:t>
            </a:r>
          </a:p>
          <a:p>
            <a:pPr marL="0" indent="0">
              <a:buNone/>
            </a:pPr>
            <a:r>
              <a:rPr lang="fr-FR" sz="1400" b="1" dirty="0"/>
              <a:t>      ✅ Résultat</a:t>
            </a:r>
          </a:p>
          <a:p>
            <a:pPr lvl="1"/>
            <a:r>
              <a:rPr lang="fr-FR" sz="1200" dirty="0"/>
              <a:t>✔️ Signature valide → confiance </a:t>
            </a:r>
          </a:p>
          <a:p>
            <a:pPr lvl="1"/>
            <a:r>
              <a:rPr lang="fr-FR" sz="1200" dirty="0"/>
              <a:t>❌ Signature invalide → alerte sécurité </a:t>
            </a:r>
          </a:p>
          <a:p>
            <a:pPr marL="0" indent="0">
              <a:buNone/>
            </a:pPr>
            <a:r>
              <a:rPr lang="fr-FR" sz="1600" b="1" dirty="0"/>
              <a:t>🎤 A noter </a:t>
            </a:r>
          </a:p>
          <a:p>
            <a:r>
              <a:rPr lang="fr-FR" sz="1600" dirty="0"/>
              <a:t>📜 Un certificat = </a:t>
            </a:r>
            <a:r>
              <a:rPr lang="fr-FR" sz="1600" b="1" dirty="0"/>
              <a:t>clé publique + identité + signature vérifiable</a:t>
            </a:r>
            <a:endParaRPr lang="fr-FR" sz="1600" dirty="0"/>
          </a:p>
          <a:p>
            <a:r>
              <a:rPr lang="fr-FR" sz="1600" dirty="0"/>
              <a:t>“</a:t>
            </a:r>
            <a:r>
              <a:rPr lang="fr-FR" sz="1600" i="1" dirty="0"/>
              <a:t>On ne fait pas confiance au site, on fait confiance à celui qui l’a signé.</a:t>
            </a:r>
            <a:r>
              <a:rPr lang="fr-FR" sz="1600" dirty="0"/>
              <a:t>”</a:t>
            </a:r>
          </a:p>
          <a:p>
            <a:endParaRPr lang="fr-FR" sz="1600" dirty="0"/>
          </a:p>
        </p:txBody>
      </p:sp>
      <p:sp>
        <p:nvSpPr>
          <p:cNvPr id="4" name="Content Placeholder 2">
            <a:extLst>
              <a:ext uri="{FF2B5EF4-FFF2-40B4-BE49-F238E27FC236}">
                <a16:creationId xmlns:a16="http://schemas.microsoft.com/office/drawing/2014/main" id="{3C890727-7D93-9392-4C1A-A23ECA97B9F1}"/>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Tree>
    <p:extLst>
      <p:ext uri="{BB962C8B-B14F-4D97-AF65-F5344CB8AC3E}">
        <p14:creationId xmlns:p14="http://schemas.microsoft.com/office/powerpoint/2010/main" val="52701386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AA1D3-AAD4-6115-C965-EF19BC703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E4BDC-5B5F-CC0C-FA34-21562C272D0F}"/>
              </a:ext>
            </a:extLst>
          </p:cNvPr>
          <p:cNvSpPr>
            <a:spLocks noGrp="1"/>
          </p:cNvSpPr>
          <p:nvPr>
            <p:ph type="title"/>
          </p:nvPr>
        </p:nvSpPr>
        <p:spPr/>
        <p:txBody>
          <a:bodyPr/>
          <a:lstStyle/>
          <a:p>
            <a:r>
              <a:rPr lang="en-US" dirty="0" err="1"/>
              <a:t>Certificats</a:t>
            </a:r>
            <a:r>
              <a:rPr lang="en-US" dirty="0"/>
              <a:t> et </a:t>
            </a:r>
            <a:r>
              <a:rPr lang="en-US" dirty="0" err="1"/>
              <a:t>clés</a:t>
            </a:r>
            <a:endParaRPr lang="en-US" dirty="0"/>
          </a:p>
        </p:txBody>
      </p:sp>
      <p:graphicFrame>
        <p:nvGraphicFramePr>
          <p:cNvPr id="5" name="Tableau 4">
            <a:extLst>
              <a:ext uri="{FF2B5EF4-FFF2-40B4-BE49-F238E27FC236}">
                <a16:creationId xmlns:a16="http://schemas.microsoft.com/office/drawing/2014/main" id="{81DB83C6-B116-CA4F-E6DB-25528B2A34A1}"/>
              </a:ext>
            </a:extLst>
          </p:cNvPr>
          <p:cNvGraphicFramePr>
            <a:graphicFrameLocks noGrp="1"/>
          </p:cNvGraphicFramePr>
          <p:nvPr>
            <p:extLst>
              <p:ext uri="{D42A27DB-BD31-4B8C-83A1-F6EECF244321}">
                <p14:modId xmlns:p14="http://schemas.microsoft.com/office/powerpoint/2010/main" val="3734082439"/>
              </p:ext>
            </p:extLst>
          </p:nvPr>
        </p:nvGraphicFramePr>
        <p:xfrm>
          <a:off x="368077" y="1052736"/>
          <a:ext cx="8407846" cy="1950720"/>
        </p:xfrm>
        <a:graphic>
          <a:graphicData uri="http://schemas.openxmlformats.org/drawingml/2006/table">
            <a:tbl>
              <a:tblPr/>
              <a:tblGrid>
                <a:gridCol w="1056508">
                  <a:extLst>
                    <a:ext uri="{9D8B030D-6E8A-4147-A177-3AD203B41FA5}">
                      <a16:colId xmlns:a16="http://schemas.microsoft.com/office/drawing/2014/main" val="1986867329"/>
                    </a:ext>
                  </a:extLst>
                </a:gridCol>
                <a:gridCol w="2149454">
                  <a:extLst>
                    <a:ext uri="{9D8B030D-6E8A-4147-A177-3AD203B41FA5}">
                      <a16:colId xmlns:a16="http://schemas.microsoft.com/office/drawing/2014/main" val="324412705"/>
                    </a:ext>
                  </a:extLst>
                </a:gridCol>
                <a:gridCol w="2753612">
                  <a:extLst>
                    <a:ext uri="{9D8B030D-6E8A-4147-A177-3AD203B41FA5}">
                      <a16:colId xmlns:a16="http://schemas.microsoft.com/office/drawing/2014/main" val="69154444"/>
                    </a:ext>
                  </a:extLst>
                </a:gridCol>
                <a:gridCol w="2448272">
                  <a:extLst>
                    <a:ext uri="{9D8B030D-6E8A-4147-A177-3AD203B41FA5}">
                      <a16:colId xmlns:a16="http://schemas.microsoft.com/office/drawing/2014/main" val="1955867660"/>
                    </a:ext>
                  </a:extLst>
                </a:gridCol>
              </a:tblGrid>
              <a:tr h="0">
                <a:tc>
                  <a:txBody>
                    <a:bodyPr/>
                    <a:lstStyle/>
                    <a:p>
                      <a:pPr>
                        <a:buNone/>
                      </a:pPr>
                      <a:r>
                        <a:rPr lang="fr-FR" b="1" dirty="0"/>
                        <a:t>Qui ?</a:t>
                      </a:r>
                    </a:p>
                  </a:txBody>
                  <a:tcPr anchor="ctr">
                    <a:lnL>
                      <a:noFill/>
                    </a:lnL>
                    <a:lnR>
                      <a:noFill/>
                    </a:lnR>
                    <a:lnT>
                      <a:noFill/>
                    </a:lnT>
                    <a:lnB>
                      <a:noFill/>
                    </a:lnB>
                    <a:noFill/>
                  </a:tcPr>
                </a:tc>
                <a:tc>
                  <a:txBody>
                    <a:bodyPr/>
                    <a:lstStyle/>
                    <a:p>
                      <a:pPr>
                        <a:buNone/>
                      </a:pPr>
                      <a:r>
                        <a:rPr lang="fr-FR" b="1" dirty="0"/>
                        <a:t>Clé</a:t>
                      </a:r>
                    </a:p>
                  </a:txBody>
                  <a:tcPr anchor="ctr">
                    <a:lnL>
                      <a:noFill/>
                    </a:lnL>
                    <a:lnR>
                      <a:noFill/>
                    </a:lnR>
                    <a:lnT>
                      <a:noFill/>
                    </a:lnT>
                    <a:lnB>
                      <a:noFill/>
                    </a:lnB>
                    <a:noFill/>
                  </a:tcPr>
                </a:tc>
                <a:tc>
                  <a:txBody>
                    <a:bodyPr/>
                    <a:lstStyle/>
                    <a:p>
                      <a:pPr>
                        <a:buNone/>
                      </a:pPr>
                      <a:r>
                        <a:rPr lang="fr-FR" b="1" dirty="0"/>
                        <a:t>Sert à quoi ?</a:t>
                      </a:r>
                    </a:p>
                  </a:txBody>
                  <a:tcPr anchor="ctr">
                    <a:lnL>
                      <a:noFill/>
                    </a:lnL>
                    <a:lnR>
                      <a:noFill/>
                    </a:lnR>
                    <a:lnT>
                      <a:noFill/>
                    </a:lnT>
                    <a:lnB>
                      <a:noFill/>
                    </a:lnB>
                    <a:noFill/>
                  </a:tcPr>
                </a:tc>
                <a:tc>
                  <a:txBody>
                    <a:bodyPr/>
                    <a:lstStyle/>
                    <a:p>
                      <a:pPr>
                        <a:buNone/>
                      </a:pPr>
                      <a:r>
                        <a:rPr lang="fr-FR" b="1" dirty="0"/>
                        <a:t>Utilisée quand ?</a:t>
                      </a:r>
                    </a:p>
                  </a:txBody>
                  <a:tcPr anchor="ctr">
                    <a:lnL>
                      <a:noFill/>
                    </a:lnL>
                    <a:lnR>
                      <a:noFill/>
                    </a:lnR>
                    <a:lnT>
                      <a:noFill/>
                    </a:lnT>
                    <a:lnB>
                      <a:noFill/>
                    </a:lnB>
                    <a:noFill/>
                  </a:tcPr>
                </a:tc>
                <a:extLst>
                  <a:ext uri="{0D108BD9-81ED-4DB2-BD59-A6C34878D82A}">
                    <a16:rowId xmlns:a16="http://schemas.microsoft.com/office/drawing/2014/main" val="1587433982"/>
                  </a:ext>
                </a:extLst>
              </a:tr>
              <a:tr h="0">
                <a:tc>
                  <a:txBody>
                    <a:bodyPr/>
                    <a:lstStyle/>
                    <a:p>
                      <a:pPr>
                        <a:buNone/>
                      </a:pPr>
                      <a:r>
                        <a:rPr lang="fr-FR" sz="1600" dirty="0"/>
                        <a:t>🟣 CA</a:t>
                      </a:r>
                    </a:p>
                  </a:txBody>
                  <a:tcPr anchor="ctr">
                    <a:lnL>
                      <a:noFill/>
                    </a:lnL>
                    <a:lnR>
                      <a:noFill/>
                    </a:lnR>
                    <a:lnT>
                      <a:noFill/>
                    </a:lnT>
                    <a:lnB>
                      <a:noFill/>
                    </a:lnB>
                    <a:noFill/>
                  </a:tcPr>
                </a:tc>
                <a:tc>
                  <a:txBody>
                    <a:bodyPr/>
                    <a:lstStyle/>
                    <a:p>
                      <a:pPr>
                        <a:buNone/>
                      </a:pPr>
                      <a:r>
                        <a:rPr lang="fr-FR" sz="1600" dirty="0"/>
                        <a:t>🔐 Clé privée CA</a:t>
                      </a:r>
                    </a:p>
                  </a:txBody>
                  <a:tcPr anchor="ctr">
                    <a:lnL>
                      <a:noFill/>
                    </a:lnL>
                    <a:lnR>
                      <a:noFill/>
                    </a:lnR>
                    <a:lnT>
                      <a:noFill/>
                    </a:lnT>
                    <a:lnB>
                      <a:noFill/>
                    </a:lnB>
                    <a:noFill/>
                  </a:tcPr>
                </a:tc>
                <a:tc>
                  <a:txBody>
                    <a:bodyPr/>
                    <a:lstStyle/>
                    <a:p>
                      <a:pPr>
                        <a:buNone/>
                      </a:pPr>
                      <a:r>
                        <a:rPr lang="fr-FR" sz="1600" dirty="0"/>
                        <a:t>✍️ Signe le certificat</a:t>
                      </a:r>
                    </a:p>
                  </a:txBody>
                  <a:tcPr anchor="ctr">
                    <a:lnL>
                      <a:noFill/>
                    </a:lnL>
                    <a:lnR>
                      <a:noFill/>
                    </a:lnR>
                    <a:lnT>
                      <a:noFill/>
                    </a:lnT>
                    <a:lnB>
                      <a:noFill/>
                    </a:lnB>
                    <a:noFill/>
                  </a:tcPr>
                </a:tc>
                <a:tc>
                  <a:txBody>
                    <a:bodyPr/>
                    <a:lstStyle/>
                    <a:p>
                      <a:pPr>
                        <a:buNone/>
                      </a:pPr>
                      <a:r>
                        <a:rPr lang="fr-FR" sz="1600" dirty="0"/>
                        <a:t>Création du certificat</a:t>
                      </a:r>
                    </a:p>
                  </a:txBody>
                  <a:tcPr anchor="ctr">
                    <a:lnL>
                      <a:noFill/>
                    </a:lnL>
                    <a:lnR>
                      <a:noFill/>
                    </a:lnR>
                    <a:lnT>
                      <a:noFill/>
                    </a:lnT>
                    <a:lnB>
                      <a:noFill/>
                    </a:lnB>
                    <a:noFill/>
                  </a:tcPr>
                </a:tc>
                <a:extLst>
                  <a:ext uri="{0D108BD9-81ED-4DB2-BD59-A6C34878D82A}">
                    <a16:rowId xmlns:a16="http://schemas.microsoft.com/office/drawing/2014/main" val="763236480"/>
                  </a:ext>
                </a:extLst>
              </a:tr>
              <a:tr h="0">
                <a:tc>
                  <a:txBody>
                    <a:bodyPr/>
                    <a:lstStyle/>
                    <a:p>
                      <a:pPr>
                        <a:buNone/>
                      </a:pPr>
                      <a:r>
                        <a:rPr lang="fr-FR" sz="1600"/>
                        <a:t>🟣 CA</a:t>
                      </a:r>
                    </a:p>
                  </a:txBody>
                  <a:tcPr anchor="ctr">
                    <a:lnL>
                      <a:noFill/>
                    </a:lnL>
                    <a:lnR>
                      <a:noFill/>
                    </a:lnR>
                    <a:lnT>
                      <a:noFill/>
                    </a:lnT>
                    <a:lnB>
                      <a:noFill/>
                    </a:lnB>
                    <a:noFill/>
                  </a:tcPr>
                </a:tc>
                <a:tc>
                  <a:txBody>
                    <a:bodyPr/>
                    <a:lstStyle/>
                    <a:p>
                      <a:pPr>
                        <a:buNone/>
                      </a:pPr>
                      <a:r>
                        <a:rPr lang="fr-FR" sz="1600"/>
                        <a:t>🔓 Clé publique CA</a:t>
                      </a:r>
                    </a:p>
                  </a:txBody>
                  <a:tcPr anchor="ctr">
                    <a:lnL>
                      <a:noFill/>
                    </a:lnL>
                    <a:lnR>
                      <a:noFill/>
                    </a:lnR>
                    <a:lnT>
                      <a:noFill/>
                    </a:lnT>
                    <a:lnB>
                      <a:noFill/>
                    </a:lnB>
                    <a:noFill/>
                  </a:tcPr>
                </a:tc>
                <a:tc>
                  <a:txBody>
                    <a:bodyPr/>
                    <a:lstStyle/>
                    <a:p>
                      <a:pPr>
                        <a:buNone/>
                      </a:pPr>
                      <a:r>
                        <a:rPr lang="fr-FR" sz="1600" dirty="0"/>
                        <a:t>🔍 Vérifie la signature</a:t>
                      </a:r>
                    </a:p>
                  </a:txBody>
                  <a:tcPr anchor="ctr">
                    <a:lnL>
                      <a:noFill/>
                    </a:lnL>
                    <a:lnR>
                      <a:noFill/>
                    </a:lnR>
                    <a:lnT>
                      <a:noFill/>
                    </a:lnT>
                    <a:lnB>
                      <a:noFill/>
                    </a:lnB>
                    <a:noFill/>
                  </a:tcPr>
                </a:tc>
                <a:tc>
                  <a:txBody>
                    <a:bodyPr/>
                    <a:lstStyle/>
                    <a:p>
                      <a:pPr>
                        <a:buNone/>
                      </a:pPr>
                      <a:r>
                        <a:rPr lang="fr-FR" sz="1600" dirty="0"/>
                        <a:t>Navigateur</a:t>
                      </a:r>
                    </a:p>
                  </a:txBody>
                  <a:tcPr anchor="ctr">
                    <a:lnL>
                      <a:noFill/>
                    </a:lnL>
                    <a:lnR>
                      <a:noFill/>
                    </a:lnR>
                    <a:lnT>
                      <a:noFill/>
                    </a:lnT>
                    <a:lnB>
                      <a:noFill/>
                    </a:lnB>
                    <a:noFill/>
                  </a:tcPr>
                </a:tc>
                <a:extLst>
                  <a:ext uri="{0D108BD9-81ED-4DB2-BD59-A6C34878D82A}">
                    <a16:rowId xmlns:a16="http://schemas.microsoft.com/office/drawing/2014/main" val="941717159"/>
                  </a:ext>
                </a:extLst>
              </a:tr>
              <a:tr h="0">
                <a:tc>
                  <a:txBody>
                    <a:bodyPr/>
                    <a:lstStyle/>
                    <a:p>
                      <a:pPr>
                        <a:buNone/>
                      </a:pPr>
                      <a:r>
                        <a:rPr lang="fr-FR" sz="1600" dirty="0"/>
                        <a:t>🔵 Site</a:t>
                      </a:r>
                    </a:p>
                  </a:txBody>
                  <a:tcPr anchor="ctr">
                    <a:lnL>
                      <a:noFill/>
                    </a:lnL>
                    <a:lnR>
                      <a:noFill/>
                    </a:lnR>
                    <a:lnT>
                      <a:noFill/>
                    </a:lnT>
                    <a:lnB>
                      <a:noFill/>
                    </a:lnB>
                    <a:noFill/>
                  </a:tcPr>
                </a:tc>
                <a:tc>
                  <a:txBody>
                    <a:bodyPr/>
                    <a:lstStyle/>
                    <a:p>
                      <a:pPr>
                        <a:buNone/>
                      </a:pPr>
                      <a:r>
                        <a:rPr lang="fr-FR" sz="1600"/>
                        <a:t>🔐 Clé privée site</a:t>
                      </a:r>
                    </a:p>
                  </a:txBody>
                  <a:tcPr anchor="ctr">
                    <a:lnL>
                      <a:noFill/>
                    </a:lnL>
                    <a:lnR>
                      <a:noFill/>
                    </a:lnR>
                    <a:lnT>
                      <a:noFill/>
                    </a:lnT>
                    <a:lnB>
                      <a:noFill/>
                    </a:lnB>
                    <a:noFill/>
                  </a:tcPr>
                </a:tc>
                <a:tc>
                  <a:txBody>
                    <a:bodyPr/>
                    <a:lstStyle/>
                    <a:p>
                      <a:pPr>
                        <a:buNone/>
                      </a:pPr>
                      <a:r>
                        <a:rPr lang="fr-FR" sz="1600"/>
                        <a:t>🔒 Déchiffre / prouve son identité</a:t>
                      </a:r>
                    </a:p>
                  </a:txBody>
                  <a:tcPr anchor="ctr">
                    <a:lnL>
                      <a:noFill/>
                    </a:lnL>
                    <a:lnR>
                      <a:noFill/>
                    </a:lnR>
                    <a:lnT>
                      <a:noFill/>
                    </a:lnT>
                    <a:lnB>
                      <a:noFill/>
                    </a:lnB>
                    <a:noFill/>
                  </a:tcPr>
                </a:tc>
                <a:tc>
                  <a:txBody>
                    <a:bodyPr/>
                    <a:lstStyle/>
                    <a:p>
                      <a:pPr>
                        <a:buNone/>
                      </a:pPr>
                      <a:r>
                        <a:rPr lang="fr-FR" sz="1600"/>
                        <a:t>Connexion TLS</a:t>
                      </a:r>
                    </a:p>
                  </a:txBody>
                  <a:tcPr anchor="ctr">
                    <a:lnL>
                      <a:noFill/>
                    </a:lnL>
                    <a:lnR>
                      <a:noFill/>
                    </a:lnR>
                    <a:lnT>
                      <a:noFill/>
                    </a:lnT>
                    <a:lnB>
                      <a:noFill/>
                    </a:lnB>
                    <a:noFill/>
                  </a:tcPr>
                </a:tc>
                <a:extLst>
                  <a:ext uri="{0D108BD9-81ED-4DB2-BD59-A6C34878D82A}">
                    <a16:rowId xmlns:a16="http://schemas.microsoft.com/office/drawing/2014/main" val="4263341511"/>
                  </a:ext>
                </a:extLst>
              </a:tr>
              <a:tr h="0">
                <a:tc>
                  <a:txBody>
                    <a:bodyPr/>
                    <a:lstStyle/>
                    <a:p>
                      <a:pPr>
                        <a:buNone/>
                      </a:pPr>
                      <a:r>
                        <a:rPr lang="fr-FR" sz="1600" dirty="0"/>
                        <a:t>🔵 Site</a:t>
                      </a:r>
                    </a:p>
                  </a:txBody>
                  <a:tcPr anchor="ctr">
                    <a:lnL>
                      <a:noFill/>
                    </a:lnL>
                    <a:lnR>
                      <a:noFill/>
                    </a:lnR>
                    <a:lnT>
                      <a:noFill/>
                    </a:lnT>
                    <a:lnB>
                      <a:noFill/>
                    </a:lnB>
                    <a:noFill/>
                  </a:tcPr>
                </a:tc>
                <a:tc>
                  <a:txBody>
                    <a:bodyPr/>
                    <a:lstStyle/>
                    <a:p>
                      <a:pPr>
                        <a:buNone/>
                      </a:pPr>
                      <a:r>
                        <a:rPr lang="fr-FR" sz="1600"/>
                        <a:t>🔓 Clé publique site</a:t>
                      </a:r>
                    </a:p>
                  </a:txBody>
                  <a:tcPr anchor="ctr">
                    <a:lnL>
                      <a:noFill/>
                    </a:lnL>
                    <a:lnR>
                      <a:noFill/>
                    </a:lnR>
                    <a:lnT>
                      <a:noFill/>
                    </a:lnT>
                    <a:lnB>
                      <a:noFill/>
                    </a:lnB>
                    <a:noFill/>
                  </a:tcPr>
                </a:tc>
                <a:tc>
                  <a:txBody>
                    <a:bodyPr/>
                    <a:lstStyle/>
                    <a:p>
                      <a:pPr>
                        <a:buNone/>
                      </a:pPr>
                      <a:r>
                        <a:rPr lang="fr-FR" sz="1600"/>
                        <a:t>📜 Incluse dans le certificat</a:t>
                      </a:r>
                    </a:p>
                  </a:txBody>
                  <a:tcPr anchor="ctr">
                    <a:lnL>
                      <a:noFill/>
                    </a:lnL>
                    <a:lnR>
                      <a:noFill/>
                    </a:lnR>
                    <a:lnT>
                      <a:noFill/>
                    </a:lnT>
                    <a:lnB>
                      <a:noFill/>
                    </a:lnB>
                    <a:noFill/>
                  </a:tcPr>
                </a:tc>
                <a:tc>
                  <a:txBody>
                    <a:bodyPr/>
                    <a:lstStyle/>
                    <a:p>
                      <a:pPr>
                        <a:buNone/>
                      </a:pPr>
                      <a:r>
                        <a:rPr lang="fr-FR" sz="1600" dirty="0"/>
                        <a:t>Transmise au client</a:t>
                      </a:r>
                    </a:p>
                  </a:txBody>
                  <a:tcPr anchor="ctr">
                    <a:lnL>
                      <a:noFill/>
                    </a:lnL>
                    <a:lnR>
                      <a:noFill/>
                    </a:lnR>
                    <a:lnT>
                      <a:noFill/>
                    </a:lnT>
                    <a:lnB>
                      <a:noFill/>
                    </a:lnB>
                    <a:noFill/>
                  </a:tcPr>
                </a:tc>
                <a:extLst>
                  <a:ext uri="{0D108BD9-81ED-4DB2-BD59-A6C34878D82A}">
                    <a16:rowId xmlns:a16="http://schemas.microsoft.com/office/drawing/2014/main" val="1069108585"/>
                  </a:ext>
                </a:extLst>
              </a:tr>
            </a:tbl>
          </a:graphicData>
        </a:graphic>
      </p:graphicFrame>
      <p:pic>
        <p:nvPicPr>
          <p:cNvPr id="7" name="Image 6">
            <a:extLst>
              <a:ext uri="{FF2B5EF4-FFF2-40B4-BE49-F238E27FC236}">
                <a16:creationId xmlns:a16="http://schemas.microsoft.com/office/drawing/2014/main" id="{A6B7E1DC-D36D-F1F9-9F51-BE5E246CFA7E}"/>
              </a:ext>
            </a:extLst>
          </p:cNvPr>
          <p:cNvPicPr>
            <a:picLocks noChangeAspect="1"/>
          </p:cNvPicPr>
          <p:nvPr/>
        </p:nvPicPr>
        <p:blipFill>
          <a:blip r:embed="rId3"/>
          <a:stretch>
            <a:fillRect/>
          </a:stretch>
        </p:blipFill>
        <p:spPr>
          <a:xfrm>
            <a:off x="755576" y="3140968"/>
            <a:ext cx="7210364" cy="3447458"/>
          </a:xfrm>
          <a:prstGeom prst="rect">
            <a:avLst/>
          </a:prstGeom>
        </p:spPr>
      </p:pic>
    </p:spTree>
    <p:extLst>
      <p:ext uri="{BB962C8B-B14F-4D97-AF65-F5344CB8AC3E}">
        <p14:creationId xmlns:p14="http://schemas.microsoft.com/office/powerpoint/2010/main" val="302743794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87C87-7E83-49C3-621C-4C87815C6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1B567-A12C-C012-F14D-3FB30BB45B98}"/>
              </a:ext>
            </a:extLst>
          </p:cNvPr>
          <p:cNvSpPr>
            <a:spLocks noGrp="1"/>
          </p:cNvSpPr>
          <p:nvPr>
            <p:ph type="title"/>
          </p:nvPr>
        </p:nvSpPr>
        <p:spPr/>
        <p:txBody>
          <a:bodyPr/>
          <a:lstStyle/>
          <a:p>
            <a:r>
              <a:rPr lang="en-US" dirty="0" err="1"/>
              <a:t>Chiffrement</a:t>
            </a:r>
            <a:r>
              <a:rPr lang="en-US" dirty="0"/>
              <a:t> </a:t>
            </a:r>
            <a:r>
              <a:rPr lang="en-US" dirty="0" err="1"/>
              <a:t>clé</a:t>
            </a:r>
            <a:r>
              <a:rPr lang="en-US" dirty="0"/>
              <a:t> </a:t>
            </a:r>
            <a:r>
              <a:rPr lang="en-US" dirty="0" err="1"/>
              <a:t>asymétrique</a:t>
            </a:r>
            <a:endParaRPr lang="en-US" dirty="0"/>
          </a:p>
        </p:txBody>
      </p:sp>
      <p:sp>
        <p:nvSpPr>
          <p:cNvPr id="3" name="Content Placeholder 2">
            <a:extLst>
              <a:ext uri="{FF2B5EF4-FFF2-40B4-BE49-F238E27FC236}">
                <a16:creationId xmlns:a16="http://schemas.microsoft.com/office/drawing/2014/main" id="{1D90CD08-FB56-51BE-02E9-87F0CC4D0EF6}"/>
              </a:ext>
            </a:extLst>
          </p:cNvPr>
          <p:cNvSpPr>
            <a:spLocks noGrp="1"/>
          </p:cNvSpPr>
          <p:nvPr>
            <p:ph type="body" sz="quarter" idx="13"/>
          </p:nvPr>
        </p:nvSpPr>
        <p:spPr>
          <a:xfrm>
            <a:off x="457200" y="1066800"/>
            <a:ext cx="3549080" cy="5314528"/>
          </a:xfrm>
          <a:prstGeom prst="rect">
            <a:avLst/>
          </a:prstGeom>
        </p:spPr>
        <p:txBody>
          <a:bodyPr/>
          <a:lstStyle/>
          <a:p>
            <a:pPr marL="0" indent="0">
              <a:buNone/>
            </a:pPr>
            <a:r>
              <a:rPr lang="fr-FR" sz="1600" dirty="0"/>
              <a:t>Le tiers de confiance est celui qui va permettre d’authentifier l’identité des correspondants</a:t>
            </a:r>
          </a:p>
          <a:p>
            <a:pPr marL="0" indent="0">
              <a:buNone/>
            </a:pPr>
            <a:endParaRPr lang="fr-FR" sz="1600" dirty="0"/>
          </a:p>
          <a:p>
            <a:pPr marL="0" indent="0">
              <a:buNone/>
            </a:pPr>
            <a:r>
              <a:rPr lang="fr-FR" sz="1600" dirty="0"/>
              <a:t>RA : Vérifie l’identité du demandeur</a:t>
            </a:r>
          </a:p>
          <a:p>
            <a:pPr marL="0" indent="0">
              <a:buNone/>
            </a:pPr>
            <a:r>
              <a:rPr lang="fr-FR" sz="1600" dirty="0"/>
              <a:t>CA : Signe</a:t>
            </a:r>
          </a:p>
          <a:p>
            <a:pPr marL="0" indent="0">
              <a:buNone/>
            </a:pPr>
            <a:r>
              <a:rPr lang="fr-FR" sz="1600" dirty="0"/>
              <a:t>VA : Vérifie que c’est toujours valide (certificat non révoqué)</a:t>
            </a:r>
          </a:p>
          <a:p>
            <a:pPr marL="0" indent="0">
              <a:buNone/>
            </a:pPr>
            <a:endParaRPr lang="fr-FR" sz="1600" dirty="0"/>
          </a:p>
          <a:p>
            <a:pPr marL="0" indent="0">
              <a:buNone/>
            </a:pPr>
            <a:r>
              <a:rPr lang="fr-FR" sz="1600" dirty="0"/>
              <a:t>Ex de CA : </a:t>
            </a:r>
            <a:r>
              <a:rPr lang="fr-FR" sz="1600" dirty="0" err="1"/>
              <a:t>DigiCert</a:t>
            </a:r>
            <a:r>
              <a:rPr lang="fr-FR" sz="1600" dirty="0"/>
              <a:t> (ex </a:t>
            </a:r>
            <a:r>
              <a:rPr lang="fr-FR" sz="1600" dirty="0" err="1"/>
              <a:t>VeriSign</a:t>
            </a:r>
            <a:r>
              <a:rPr lang="fr-FR" sz="1600" dirty="0"/>
              <a:t>)</a:t>
            </a:r>
          </a:p>
          <a:p>
            <a:pPr marL="0" indent="0">
              <a:buNone/>
            </a:pPr>
            <a:endParaRPr lang="fr-FR" sz="1600" dirty="0"/>
          </a:p>
          <a:p>
            <a:pPr marL="0" indent="0">
              <a:buNone/>
            </a:pPr>
            <a:r>
              <a:rPr lang="fr-FR" sz="1600" dirty="0"/>
              <a:t>Chaine de confiance :</a:t>
            </a:r>
          </a:p>
          <a:p>
            <a:pPr marL="0" indent="0">
              <a:buNone/>
            </a:pPr>
            <a:r>
              <a:rPr lang="fr-FR" sz="1400" dirty="0">
                <a:latin typeface="Courier New" panose="02070309020205020404" pitchFamily="49" charset="0"/>
                <a:cs typeface="Courier New" panose="02070309020205020404" pitchFamily="49" charset="0"/>
              </a:rPr>
              <a:t>Certificat du site</a:t>
            </a:r>
            <a:br>
              <a:rPr lang="fr-FR" sz="1600" dirty="0"/>
            </a:br>
            <a:r>
              <a:rPr lang="fr-FR" sz="1600" dirty="0"/>
              <a:t>        ↓ </a:t>
            </a:r>
            <a:r>
              <a:rPr lang="fr-FR" sz="1400" i="1" dirty="0"/>
              <a:t>signé par</a:t>
            </a:r>
            <a:br>
              <a:rPr lang="fr-FR" sz="1600" dirty="0"/>
            </a:br>
            <a:r>
              <a:rPr lang="fr-FR" sz="1400" dirty="0">
                <a:latin typeface="Courier New" panose="02070309020205020404" pitchFamily="49" charset="0"/>
                <a:cs typeface="Courier New" panose="02070309020205020404" pitchFamily="49" charset="0"/>
              </a:rPr>
              <a:t>CA intermédiaire</a:t>
            </a:r>
            <a:br>
              <a:rPr lang="fr-FR" sz="1600" dirty="0"/>
            </a:br>
            <a:r>
              <a:rPr lang="fr-FR" sz="1600" dirty="0"/>
              <a:t>        ↓ </a:t>
            </a:r>
            <a:r>
              <a:rPr lang="fr-FR" sz="1400" i="1" dirty="0"/>
              <a:t>signé par</a:t>
            </a:r>
            <a:br>
              <a:rPr lang="fr-FR" sz="1600" dirty="0"/>
            </a:br>
            <a:r>
              <a:rPr lang="fr-FR" sz="1400" dirty="0">
                <a:latin typeface="Courier New" panose="02070309020205020404" pitchFamily="49" charset="0"/>
                <a:cs typeface="Courier New" panose="02070309020205020404" pitchFamily="49" charset="0"/>
              </a:rPr>
              <a:t>CA racine (root)</a:t>
            </a:r>
            <a:endParaRPr lang="fr-FR" sz="1600" dirty="0">
              <a:latin typeface="Courier New" panose="020703090202050204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722D1596-D469-028B-8CBF-7CA300CC3E2F}"/>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pic>
        <p:nvPicPr>
          <p:cNvPr id="8194" name="Picture 2" descr="undefined">
            <a:extLst>
              <a:ext uri="{FF2B5EF4-FFF2-40B4-BE49-F238E27FC236}">
                <a16:creationId xmlns:a16="http://schemas.microsoft.com/office/drawing/2014/main" id="{B10692F2-ED96-FBC5-CCED-97B37E792D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1960" y="726075"/>
            <a:ext cx="4932040" cy="3488391"/>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8AB06DA-E1B5-BD77-561F-DE1D2AC736A5}"/>
              </a:ext>
            </a:extLst>
          </p:cNvPr>
          <p:cNvSpPr txBox="1"/>
          <p:nvPr/>
        </p:nvSpPr>
        <p:spPr>
          <a:xfrm>
            <a:off x="179512" y="6381328"/>
            <a:ext cx="9073008" cy="369332"/>
          </a:xfrm>
          <a:prstGeom prst="rect">
            <a:avLst/>
          </a:prstGeom>
          <a:noFill/>
        </p:spPr>
        <p:txBody>
          <a:bodyPr wrap="square">
            <a:spAutoFit/>
          </a:bodyPr>
          <a:lstStyle/>
          <a:p>
            <a:r>
              <a:rPr lang="fr-FR" u="sng" dirty="0">
                <a:solidFill>
                  <a:schemeClr val="accent1"/>
                </a:solidFill>
              </a:rPr>
              <a:t>https://fr.wikipedia.org/wiki/Infrastructure_%C3%A0_cl%C3%A9s_publiques</a:t>
            </a:r>
          </a:p>
        </p:txBody>
      </p:sp>
      <p:sp>
        <p:nvSpPr>
          <p:cNvPr id="8" name="ZoneTexte 7">
            <a:extLst>
              <a:ext uri="{FF2B5EF4-FFF2-40B4-BE49-F238E27FC236}">
                <a16:creationId xmlns:a16="http://schemas.microsoft.com/office/drawing/2014/main" id="{2D369BB6-977E-FC64-58C2-4407C5D5ED55}"/>
              </a:ext>
            </a:extLst>
          </p:cNvPr>
          <p:cNvSpPr txBox="1"/>
          <p:nvPr/>
        </p:nvSpPr>
        <p:spPr>
          <a:xfrm>
            <a:off x="4572000" y="4464113"/>
            <a:ext cx="4680520" cy="1754326"/>
          </a:xfrm>
          <a:prstGeom prst="rect">
            <a:avLst/>
          </a:prstGeom>
          <a:noFill/>
        </p:spPr>
        <p:txBody>
          <a:bodyPr wrap="square">
            <a:spAutoFit/>
          </a:bodyPr>
          <a:lstStyle/>
          <a:p>
            <a:r>
              <a:rPr lang="fr-FR" b="0" i="0" dirty="0">
                <a:solidFill>
                  <a:srgbClr val="202122"/>
                </a:solidFill>
                <a:effectLst/>
                <a:latin typeface="Arial" panose="020B0604020202020204" pitchFamily="34" charset="0"/>
              </a:rPr>
              <a:t>Diagramme de principe d'une autorité de certification, exemple d'infrastructure à clés publiques</a:t>
            </a:r>
            <a:br>
              <a:rPr lang="fr-FR" dirty="0"/>
            </a:br>
            <a:r>
              <a:rPr lang="fr-FR" b="0" i="0" dirty="0">
                <a:solidFill>
                  <a:srgbClr val="202122"/>
                </a:solidFill>
                <a:effectLst/>
                <a:latin typeface="Arial" panose="020B0604020202020204" pitchFamily="34" charset="0"/>
              </a:rPr>
              <a:t>CA : autorité de certification ;</a:t>
            </a:r>
            <a:br>
              <a:rPr lang="fr-FR" dirty="0"/>
            </a:br>
            <a:r>
              <a:rPr lang="fr-FR" b="0" i="0" dirty="0">
                <a:solidFill>
                  <a:srgbClr val="202122"/>
                </a:solidFill>
                <a:effectLst/>
                <a:latin typeface="Arial" panose="020B0604020202020204" pitchFamily="34" charset="0"/>
              </a:rPr>
              <a:t>VA : autorité de validation ;</a:t>
            </a:r>
            <a:br>
              <a:rPr lang="fr-FR" dirty="0"/>
            </a:br>
            <a:r>
              <a:rPr lang="fr-FR" b="0" i="0" dirty="0">
                <a:solidFill>
                  <a:srgbClr val="202122"/>
                </a:solidFill>
                <a:effectLst/>
                <a:latin typeface="Arial" panose="020B0604020202020204" pitchFamily="34" charset="0"/>
              </a:rPr>
              <a:t>RA : autorité d'enregistrement.</a:t>
            </a:r>
            <a:endParaRPr lang="fr-FR" dirty="0"/>
          </a:p>
        </p:txBody>
      </p:sp>
    </p:spTree>
    <p:extLst>
      <p:ext uri="{BB962C8B-B14F-4D97-AF65-F5344CB8AC3E}">
        <p14:creationId xmlns:p14="http://schemas.microsoft.com/office/powerpoint/2010/main" val="179983033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1E0FF-1964-43D9-CA40-1C604D0D9E52}"/>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F4D8FE9-86AD-309E-6F05-7905B5A6A0A5}"/>
              </a:ext>
            </a:extLst>
          </p:cNvPr>
          <p:cNvSpPr>
            <a:spLocks noGrp="1"/>
          </p:cNvSpPr>
          <p:nvPr>
            <p:ph type="body" sz="quarter" idx="11"/>
          </p:nvPr>
        </p:nvSpPr>
        <p:spPr/>
        <p:txBody>
          <a:bodyPr/>
          <a:lstStyle/>
          <a:p>
            <a:r>
              <a:rPr lang="fr-FR" dirty="0"/>
              <a:t>Quizz 10</a:t>
            </a:r>
          </a:p>
        </p:txBody>
      </p:sp>
      <p:sp>
        <p:nvSpPr>
          <p:cNvPr id="3" name="Espace réservé du texte 2">
            <a:extLst>
              <a:ext uri="{FF2B5EF4-FFF2-40B4-BE49-F238E27FC236}">
                <a16:creationId xmlns:a16="http://schemas.microsoft.com/office/drawing/2014/main" id="{3DCDC05D-F7F2-6DDE-BE47-969A47D411FC}"/>
              </a:ext>
            </a:extLst>
          </p:cNvPr>
          <p:cNvSpPr>
            <a:spLocks noGrp="1"/>
          </p:cNvSpPr>
          <p:nvPr>
            <p:ph type="body" sz="quarter" idx="12"/>
          </p:nvPr>
        </p:nvSpPr>
        <p:spPr>
          <a:xfrm>
            <a:off x="2604868" y="3501008"/>
            <a:ext cx="5624732" cy="1432560"/>
          </a:xfrm>
        </p:spPr>
        <p:txBody>
          <a:bodyPr/>
          <a:lstStyle/>
          <a:p>
            <a:r>
              <a:rPr lang="fr-FR" dirty="0" err="1"/>
              <a:t>Managed</a:t>
            </a:r>
            <a:r>
              <a:rPr lang="fr-FR" dirty="0"/>
              <a:t> </a:t>
            </a:r>
            <a:r>
              <a:rPr lang="fr-FR" dirty="0" err="1"/>
              <a:t>identities</a:t>
            </a:r>
            <a:endParaRPr lang="fr-FR" dirty="0"/>
          </a:p>
        </p:txBody>
      </p:sp>
    </p:spTree>
    <p:extLst>
      <p:ext uri="{BB962C8B-B14F-4D97-AF65-F5344CB8AC3E}">
        <p14:creationId xmlns:p14="http://schemas.microsoft.com/office/powerpoint/2010/main" val="196872945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Qu’est-ce qu’une Managed Identity dans Azure ?</a:t>
            </a:r>
            <a:endParaRPr lang="fr-FR" sz="2000" dirty="0"/>
          </a:p>
          <a:p>
            <a:pPr marL="457200" indent="-457200">
              <a:buFont typeface="+mj-lt"/>
              <a:buAutoNum type="arabicPeriod"/>
              <a:defRPr sz="2400"/>
            </a:pPr>
            <a:r>
              <a:rPr lang="fr-FR" sz="2000" dirty="0"/>
              <a:t>Un mot de passe stocké dans Key Vault</a:t>
            </a:r>
          </a:p>
          <a:p>
            <a:pPr marL="457200" indent="-457200">
              <a:buFont typeface="+mj-lt"/>
              <a:buAutoNum type="arabicPeriod"/>
              <a:defRPr sz="2400"/>
            </a:pPr>
            <a:r>
              <a:rPr lang="fr-FR" sz="2000" dirty="0"/>
              <a:t>Une identité Azure AD automatiquement gérée pour une ressource</a:t>
            </a:r>
          </a:p>
          <a:p>
            <a:pPr marL="457200" indent="-457200">
              <a:buFont typeface="+mj-lt"/>
              <a:buAutoNum type="arabicPeriod"/>
              <a:defRPr sz="2400"/>
            </a:pPr>
            <a:r>
              <a:rPr lang="fr-FR" sz="2000" dirty="0"/>
              <a:t>Un certificat SSL pour sécuriser les échanges</a:t>
            </a:r>
          </a:p>
          <a:p>
            <a:pPr marL="457200" indent="-457200">
              <a:buFont typeface="+mj-lt"/>
              <a:buAutoNum type="arabicPeriod"/>
              <a:defRPr sz="2400"/>
            </a:pPr>
            <a:r>
              <a:rPr lang="fr-FR" sz="2000" dirty="0"/>
              <a:t>Un compte utilisateur classique</a:t>
            </a:r>
          </a:p>
          <a:p>
            <a:pPr>
              <a:defRPr sz="2400"/>
            </a:pPr>
            <a:endParaRPr dirty="0"/>
          </a:p>
        </p:txBody>
      </p:sp>
      <p:sp>
        <p:nvSpPr>
          <p:cNvPr id="8" name="TextBox 7"/>
          <p:cNvSpPr txBox="1"/>
          <p:nvPr/>
        </p:nvSpPr>
        <p:spPr>
          <a:xfrm>
            <a:off x="5991658" y="2955222"/>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288675" y="3518057"/>
            <a:ext cx="7867918" cy="3293209"/>
          </a:xfrm>
          <a:prstGeom prst="rect">
            <a:avLst/>
          </a:prstGeom>
          <a:noFill/>
        </p:spPr>
        <p:txBody>
          <a:bodyPr wrap="square">
            <a:spAutoFit/>
          </a:bodyPr>
          <a:lstStyle/>
          <a:p>
            <a:pPr>
              <a:defRPr sz="1600"/>
            </a:pPr>
            <a:r>
              <a:rPr dirty="0"/>
              <a:t>Une Managed Identity est une identité Azure AD liée à une ressource et gérée automatiquement par Azure.</a:t>
            </a:r>
            <a:endParaRPr lang="fr-FR" dirty="0"/>
          </a:p>
          <a:p>
            <a:pPr>
              <a:defRPr sz="1600"/>
            </a:pPr>
            <a:endParaRPr lang="fr-FR" dirty="0"/>
          </a:p>
          <a:p>
            <a:pPr>
              <a:defRPr sz="1600"/>
            </a:pPr>
            <a:r>
              <a:rPr lang="fr-FR" dirty="0"/>
              <a:t>🎯 Cas classique SQL Server avec AD</a:t>
            </a:r>
            <a:br>
              <a:rPr lang="fr-FR" dirty="0"/>
            </a:br>
            <a:r>
              <a:rPr lang="fr-FR" dirty="0" err="1">
                <a:latin typeface="Courier New" panose="02070309020205020404" pitchFamily="49" charset="0"/>
                <a:cs typeface="Courier New" panose="02070309020205020404" pitchFamily="49" charset="0"/>
              </a:rPr>
              <a:t>Authentication</a:t>
            </a:r>
            <a:r>
              <a:rPr lang="fr-FR" dirty="0">
                <a:latin typeface="Courier New" panose="02070309020205020404" pitchFamily="49" charset="0"/>
                <a:cs typeface="Courier New" panose="02070309020205020404" pitchFamily="49" charset="0"/>
              </a:rPr>
              <a:t>=Active Directory Integrated</a:t>
            </a:r>
            <a:br>
              <a:rPr lang="fr-FR" sz="1600" dirty="0"/>
            </a:br>
            <a:r>
              <a:rPr lang="fr-FR" sz="1600" dirty="0"/>
              <a:t>👉 C’est </a:t>
            </a:r>
            <a:r>
              <a:rPr lang="fr-FR" sz="1600" b="1" dirty="0"/>
              <a:t>l’AD qui authentifie votre identité Windows</a:t>
            </a:r>
            <a:endParaRPr lang="fr-FR" sz="1600" dirty="0"/>
          </a:p>
          <a:p>
            <a:pPr>
              <a:defRPr sz="1600"/>
            </a:pPr>
            <a:endParaRPr lang="fr-FR" dirty="0"/>
          </a:p>
          <a:p>
            <a:pPr>
              <a:defRPr sz="1600"/>
            </a:pPr>
            <a:r>
              <a:rPr lang="fr-FR" dirty="0"/>
              <a:t>🎯 Cas </a:t>
            </a:r>
            <a:r>
              <a:rPr lang="fr-FR" dirty="0" err="1"/>
              <a:t>Managed</a:t>
            </a:r>
            <a:r>
              <a:rPr lang="fr-FR" dirty="0"/>
              <a:t> Identity</a:t>
            </a:r>
          </a:p>
          <a:p>
            <a:pPr>
              <a:defRPr sz="1600"/>
            </a:pPr>
            <a:r>
              <a:rPr lang="fr-FR" dirty="0" err="1">
                <a:latin typeface="Courier New" panose="02070309020205020404" pitchFamily="49" charset="0"/>
                <a:cs typeface="Courier New" panose="02070309020205020404" pitchFamily="49" charset="0"/>
              </a:rPr>
              <a:t>Authentication</a:t>
            </a:r>
            <a:r>
              <a:rPr lang="fr-FR" dirty="0">
                <a:latin typeface="Courier New" panose="02070309020205020404" pitchFamily="49" charset="0"/>
                <a:cs typeface="Courier New" panose="02070309020205020404" pitchFamily="49" charset="0"/>
              </a:rPr>
              <a:t>=Active Directory Default</a:t>
            </a:r>
            <a:br>
              <a:rPr lang="fr-FR" sz="1600" dirty="0"/>
            </a:br>
            <a:r>
              <a:rPr lang="fr-FR" sz="1600" dirty="0"/>
              <a:t>👉 C’est Azure qui : </a:t>
            </a:r>
          </a:p>
          <a:p>
            <a:r>
              <a:rPr lang="fr-FR" sz="1600" dirty="0"/>
              <a:t>- identifie la ressource </a:t>
            </a:r>
          </a:p>
          <a:p>
            <a:r>
              <a:rPr lang="fr-FR" sz="1600" dirty="0"/>
              <a:t>- demande un </a:t>
            </a:r>
            <a:r>
              <a:rPr lang="fr-FR" sz="1600" dirty="0" err="1"/>
              <a:t>token</a:t>
            </a:r>
            <a:r>
              <a:rPr lang="fr-FR" sz="1600" dirty="0"/>
              <a:t> à Microsoft Entra ID </a:t>
            </a:r>
          </a:p>
          <a:p>
            <a:r>
              <a:rPr lang="fr-FR" sz="1600" dirty="0"/>
              <a:t>- envoie ce </a:t>
            </a:r>
            <a:r>
              <a:rPr lang="fr-FR" sz="1600" dirty="0" err="1"/>
              <a:t>token</a:t>
            </a:r>
            <a:r>
              <a:rPr lang="fr-FR" sz="1600" dirty="0"/>
              <a:t> à SQL </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8154"/>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E5B0EE99-7EDD-AA37-C026-15CA3726F1C0}"/>
              </a:ext>
            </a:extLst>
          </p:cNvPr>
          <p:cNvSpPr txBox="1"/>
          <p:nvPr/>
        </p:nvSpPr>
        <p:spPr>
          <a:xfrm>
            <a:off x="5724771" y="5164661"/>
            <a:ext cx="3419229" cy="584775"/>
          </a:xfrm>
          <a:prstGeom prst="rect">
            <a:avLst/>
          </a:prstGeom>
          <a:noFill/>
        </p:spPr>
        <p:txBody>
          <a:bodyPr wrap="square">
            <a:spAutoFit/>
          </a:bodyPr>
          <a:lstStyle/>
          <a:p>
            <a:r>
              <a:rPr lang="fr-FR" sz="1600" dirty="0"/>
              <a:t>👉 Pas de mot de passe</a:t>
            </a:r>
            <a:br>
              <a:rPr lang="fr-FR" sz="1600" dirty="0"/>
            </a:br>
            <a:r>
              <a:rPr lang="fr-FR" sz="1600" dirty="0"/>
              <a:t>➡️ SQL Server fait confiance à l’AD</a:t>
            </a:r>
          </a:p>
        </p:txBody>
      </p:sp>
      <p:sp>
        <p:nvSpPr>
          <p:cNvPr id="6" name="Accolade fermante 5">
            <a:extLst>
              <a:ext uri="{FF2B5EF4-FFF2-40B4-BE49-F238E27FC236}">
                <a16:creationId xmlns:a16="http://schemas.microsoft.com/office/drawing/2014/main" id="{7BC9A426-2966-B617-15FE-26F650721B6E}"/>
              </a:ext>
            </a:extLst>
          </p:cNvPr>
          <p:cNvSpPr/>
          <p:nvPr/>
        </p:nvSpPr>
        <p:spPr>
          <a:xfrm>
            <a:off x="5292080" y="4149080"/>
            <a:ext cx="504056" cy="26621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5" grpId="0"/>
      <p:bldP spid="6"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616101"/>
          </a:xfrm>
          <a:prstGeom prst="rect">
            <a:avLst/>
          </a:prstGeom>
          <a:noFill/>
        </p:spPr>
        <p:txBody>
          <a:bodyPr wrap="square">
            <a:spAutoFit/>
          </a:bodyPr>
          <a:lstStyle/>
          <a:p>
            <a:pPr>
              <a:defRPr sz="2400"/>
            </a:pPr>
            <a:r>
              <a:rPr sz="2000" dirty="0"/>
              <a:t>Quel est l’objectif principal d’utiliser une Managed Identity dans une Web App ?</a:t>
            </a:r>
            <a:endParaRPr lang="fr-FR" sz="2000" dirty="0"/>
          </a:p>
          <a:p>
            <a:pPr marL="457200" indent="-457200">
              <a:buFont typeface="+mj-lt"/>
              <a:buAutoNum type="arabicPeriod"/>
              <a:defRPr sz="2400"/>
            </a:pPr>
            <a:r>
              <a:rPr lang="fr-FR" sz="2000" dirty="0"/>
              <a:t>Améliorer les performances</a:t>
            </a:r>
          </a:p>
          <a:p>
            <a:pPr marL="457200" indent="-457200">
              <a:buFont typeface="+mj-lt"/>
              <a:buAutoNum type="arabicPeriod"/>
              <a:defRPr sz="2400"/>
            </a:pPr>
            <a:r>
              <a:rPr lang="fr-FR" sz="2000" dirty="0"/>
              <a:t>Réduire les coûts Azure</a:t>
            </a:r>
          </a:p>
          <a:p>
            <a:pPr marL="457200" indent="-457200">
              <a:buFont typeface="+mj-lt"/>
              <a:buAutoNum type="arabicPeriod"/>
              <a:defRPr sz="2400"/>
            </a:pPr>
            <a:r>
              <a:rPr lang="fr-FR" sz="2000" dirty="0"/>
              <a:t>Activer le </a:t>
            </a:r>
            <a:r>
              <a:rPr lang="fr-FR" sz="2000" dirty="0" err="1"/>
              <a:t>scaling</a:t>
            </a:r>
            <a:r>
              <a:rPr lang="fr-FR" sz="2000" dirty="0"/>
              <a:t> automatique</a:t>
            </a:r>
          </a:p>
          <a:p>
            <a:pPr marL="457200" indent="-457200">
              <a:buFont typeface="+mj-lt"/>
              <a:buAutoNum type="arabicPeriod"/>
              <a:defRPr sz="2400"/>
            </a:pPr>
            <a:r>
              <a:rPr lang="fr-FR" sz="2000" dirty="0"/>
              <a:t>Éviter de stocker des identifiants dans le code ou la configuration</a:t>
            </a:r>
          </a:p>
          <a:p>
            <a:pPr>
              <a:defRPr sz="2400"/>
            </a:pPr>
            <a:endParaRPr lang="fr-FR" sz="2000" dirty="0"/>
          </a:p>
          <a:p>
            <a:pPr>
              <a:defRPr sz="2400"/>
            </a:pPr>
            <a:endParaRPr dirty="0"/>
          </a:p>
        </p:txBody>
      </p:sp>
      <p:sp>
        <p:nvSpPr>
          <p:cNvPr id="8" name="TextBox 7"/>
          <p:cNvSpPr txBox="1"/>
          <p:nvPr/>
        </p:nvSpPr>
        <p:spPr>
          <a:xfrm>
            <a:off x="5940152" y="4077072"/>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La Managed Identity remplace les credentials stockés en clair.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9252" y="285293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est la différence entre une Managed Identity System Assigned et User Assigned ?</a:t>
            </a:r>
            <a:endParaRPr lang="fr-FR" sz="2000" dirty="0"/>
          </a:p>
          <a:p>
            <a:pPr marL="457200" indent="-457200">
              <a:buFont typeface="+mj-lt"/>
              <a:buAutoNum type="arabicPeriod"/>
              <a:defRPr sz="2400"/>
            </a:pPr>
            <a:r>
              <a:rPr lang="fr-FR" sz="2000" dirty="0"/>
              <a:t>Aucune différence</a:t>
            </a:r>
          </a:p>
          <a:p>
            <a:pPr marL="457200" indent="-457200">
              <a:buFont typeface="+mj-lt"/>
              <a:buAutoNum type="arabicPeriod"/>
              <a:defRPr sz="2400"/>
            </a:pPr>
            <a:r>
              <a:rPr lang="fr-FR" sz="2000" dirty="0"/>
              <a:t>System Assigned est partagée, User Assigned est unique</a:t>
            </a:r>
          </a:p>
          <a:p>
            <a:pPr marL="457200" indent="-457200">
              <a:buFont typeface="+mj-lt"/>
              <a:buAutoNum type="arabicPeriod"/>
              <a:defRPr sz="2400"/>
            </a:pPr>
            <a:r>
              <a:rPr lang="fr-FR" sz="2000" dirty="0"/>
              <a:t>System Assigned est liée à une ressource, User Assigned est réutilisable</a:t>
            </a:r>
          </a:p>
          <a:p>
            <a:pPr marL="457200" indent="-457200">
              <a:buFont typeface="+mj-lt"/>
              <a:buAutoNum type="arabicPeriod"/>
              <a:defRPr sz="2400"/>
            </a:pPr>
            <a:r>
              <a:rPr lang="fr-FR" sz="2000" dirty="0"/>
              <a:t>User Assigned est automatique</a:t>
            </a:r>
          </a:p>
          <a:p>
            <a:pPr>
              <a:defRPr sz="2400"/>
            </a:pPr>
            <a:endParaRPr dirty="0"/>
          </a:p>
        </p:txBody>
      </p:sp>
      <p:sp>
        <p:nvSpPr>
          <p:cNvPr id="8" name="TextBox 7"/>
          <p:cNvSpPr txBox="1"/>
          <p:nvPr/>
        </p:nvSpPr>
        <p:spPr>
          <a:xfrm>
            <a:off x="6372200" y="4221088"/>
            <a:ext cx="2345257" cy="369332"/>
          </a:xfrm>
          <a:prstGeom prst="rect">
            <a:avLst/>
          </a:prstGeom>
          <a:noFill/>
        </p:spPr>
        <p:txBody>
          <a:bodyPr wrap="none">
            <a:spAutoFit/>
          </a:bodyPr>
          <a:lstStyle/>
          <a:p>
            <a:pPr>
              <a:defRPr sz="1800" b="1"/>
            </a:pPr>
            <a:r>
              <a:rPr u="sng" dirty="0" err="1"/>
              <a:t>Réponse : 3</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981" y="2564904"/>
            <a:ext cx="557808" cy="369332"/>
          </a:xfrm>
          <a:prstGeom prst="rect">
            <a:avLst/>
          </a:prstGeom>
          <a:noFill/>
        </p:spPr>
        <p:txBody>
          <a:bodyPr wrap="square">
            <a:spAutoFit/>
          </a:bodyPr>
          <a:lstStyle/>
          <a:p>
            <a:r>
              <a:rPr lang="fr-FR" b="1" dirty="0"/>
              <a:t>✅</a:t>
            </a:r>
            <a:endParaRPr lang="fr-FR" dirty="0"/>
          </a:p>
        </p:txBody>
      </p:sp>
      <p:graphicFrame>
        <p:nvGraphicFramePr>
          <p:cNvPr id="4" name="Tableau 3">
            <a:extLst>
              <a:ext uri="{FF2B5EF4-FFF2-40B4-BE49-F238E27FC236}">
                <a16:creationId xmlns:a16="http://schemas.microsoft.com/office/drawing/2014/main" id="{1014EB5E-7AE8-EBFD-F8F2-0271DA4E0074}"/>
              </a:ext>
            </a:extLst>
          </p:cNvPr>
          <p:cNvGraphicFramePr>
            <a:graphicFrameLocks noGrp="1"/>
          </p:cNvGraphicFramePr>
          <p:nvPr>
            <p:extLst>
              <p:ext uri="{D42A27DB-BD31-4B8C-83A1-F6EECF244321}">
                <p14:modId xmlns:p14="http://schemas.microsoft.com/office/powerpoint/2010/main" val="970067382"/>
              </p:ext>
            </p:extLst>
          </p:nvPr>
        </p:nvGraphicFramePr>
        <p:xfrm>
          <a:off x="452389" y="4869160"/>
          <a:ext cx="8431481" cy="1112520"/>
        </p:xfrm>
        <a:graphic>
          <a:graphicData uri="http://schemas.openxmlformats.org/drawingml/2006/table">
            <a:tbl>
              <a:tblPr firstRow="1" bandRow="1">
                <a:tableStyleId>{BC89EF96-8CEA-46FF-86C4-4CE0E7609802}</a:tableStyleId>
              </a:tblPr>
              <a:tblGrid>
                <a:gridCol w="2088682">
                  <a:extLst>
                    <a:ext uri="{9D8B030D-6E8A-4147-A177-3AD203B41FA5}">
                      <a16:colId xmlns:a16="http://schemas.microsoft.com/office/drawing/2014/main" val="2142321611"/>
                    </a:ext>
                  </a:extLst>
                </a:gridCol>
                <a:gridCol w="2592288">
                  <a:extLst>
                    <a:ext uri="{9D8B030D-6E8A-4147-A177-3AD203B41FA5}">
                      <a16:colId xmlns:a16="http://schemas.microsoft.com/office/drawing/2014/main" val="2564264040"/>
                    </a:ext>
                  </a:extLst>
                </a:gridCol>
                <a:gridCol w="3750511">
                  <a:extLst>
                    <a:ext uri="{9D8B030D-6E8A-4147-A177-3AD203B41FA5}">
                      <a16:colId xmlns:a16="http://schemas.microsoft.com/office/drawing/2014/main" val="2491635144"/>
                    </a:ext>
                  </a:extLst>
                </a:gridCol>
              </a:tblGrid>
              <a:tr h="370840">
                <a:tc>
                  <a:txBody>
                    <a:bodyPr/>
                    <a:lstStyle/>
                    <a:p>
                      <a:r>
                        <a:rPr lang="fr-FR" sz="1600" dirty="0" err="1"/>
                        <a:t>Managed</a:t>
                      </a:r>
                      <a:r>
                        <a:rPr lang="fr-FR" sz="1600" dirty="0"/>
                        <a:t> Identity</a:t>
                      </a:r>
                    </a:p>
                  </a:txBody>
                  <a:tcPr/>
                </a:tc>
                <a:tc>
                  <a:txBody>
                    <a:bodyPr/>
                    <a:lstStyle/>
                    <a:p>
                      <a:r>
                        <a:rPr lang="fr-FR" sz="1600" dirty="0"/>
                        <a:t>Lien</a:t>
                      </a:r>
                    </a:p>
                  </a:txBody>
                  <a:tcPr/>
                </a:tc>
                <a:tc>
                  <a:txBody>
                    <a:bodyPr/>
                    <a:lstStyle/>
                    <a:p>
                      <a:r>
                        <a:rPr lang="fr-FR" sz="1600" dirty="0"/>
                        <a:t>Visible dans</a:t>
                      </a:r>
                    </a:p>
                  </a:txBody>
                  <a:tcPr/>
                </a:tc>
                <a:extLst>
                  <a:ext uri="{0D108BD9-81ED-4DB2-BD59-A6C34878D82A}">
                    <a16:rowId xmlns:a16="http://schemas.microsoft.com/office/drawing/2014/main" val="945159320"/>
                  </a:ext>
                </a:extLst>
              </a:tr>
              <a:tr h="370840">
                <a:tc>
                  <a:txBody>
                    <a:bodyPr/>
                    <a:lstStyle/>
                    <a:p>
                      <a:r>
                        <a:rPr lang="fr-FR" sz="1600" dirty="0"/>
                        <a:t>System </a:t>
                      </a:r>
                      <a:r>
                        <a:rPr lang="fr-FR" sz="1600" dirty="0" err="1"/>
                        <a:t>Assigned</a:t>
                      </a:r>
                      <a:r>
                        <a:rPr lang="fr-FR"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attachée à une ressource</a:t>
                      </a:r>
                    </a:p>
                  </a:txBody>
                  <a:tcPr/>
                </a:tc>
                <a:tc>
                  <a:txBody>
                    <a:bodyPr/>
                    <a:lstStyle/>
                    <a:p>
                      <a:r>
                        <a:rPr lang="fr-FR" sz="1600" dirty="0"/>
                        <a:t>La ressource / Identity</a:t>
                      </a:r>
                    </a:p>
                  </a:txBody>
                  <a:tcPr/>
                </a:tc>
                <a:extLst>
                  <a:ext uri="{0D108BD9-81ED-4DB2-BD59-A6C34878D82A}">
                    <a16:rowId xmlns:a16="http://schemas.microsoft.com/office/drawing/2014/main" val="4109147468"/>
                  </a:ext>
                </a:extLst>
              </a:tr>
              <a:tr h="370840">
                <a:tc>
                  <a:txBody>
                    <a:bodyPr/>
                    <a:lstStyle/>
                    <a:p>
                      <a:r>
                        <a:rPr lang="fr-FR" sz="1600" dirty="0"/>
                        <a:t>User </a:t>
                      </a:r>
                      <a:r>
                        <a:rPr lang="fr-FR" sz="1600" dirty="0" err="1"/>
                        <a:t>Assigned</a:t>
                      </a:r>
                      <a:r>
                        <a:rPr lang="fr-FR" sz="1600" dirty="0"/>
                        <a:t> </a:t>
                      </a:r>
                    </a:p>
                  </a:txBody>
                  <a:tcPr/>
                </a:tc>
                <a:tc>
                  <a:txBody>
                    <a:bodyPr/>
                    <a:lstStyle/>
                    <a:p>
                      <a:r>
                        <a:rPr lang="fr-FR" sz="1600" dirty="0"/>
                        <a:t>peut être partagée </a:t>
                      </a:r>
                    </a:p>
                  </a:txBody>
                  <a:tcPr/>
                </a:tc>
                <a:tc>
                  <a:txBody>
                    <a:bodyPr/>
                    <a:lstStyle/>
                    <a:p>
                      <a:r>
                        <a:rPr lang="fr-FR" sz="1600" dirty="0" err="1"/>
                        <a:t>Managed</a:t>
                      </a:r>
                      <a:r>
                        <a:rPr lang="fr-FR" sz="1600" dirty="0"/>
                        <a:t> </a:t>
                      </a:r>
                      <a:r>
                        <a:rPr lang="fr-FR" sz="1600" dirty="0" err="1"/>
                        <a:t>Identities</a:t>
                      </a:r>
                      <a:endParaRPr lang="fr-FR" sz="1600" dirty="0"/>
                    </a:p>
                  </a:txBody>
                  <a:tcPr/>
                </a:tc>
                <a:extLst>
                  <a:ext uri="{0D108BD9-81ED-4DB2-BD59-A6C34878D82A}">
                    <a16:rowId xmlns:a16="http://schemas.microsoft.com/office/drawing/2014/main" val="184791524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Que se passe-t-il si vous supprimez une ressource avec une Managed Identity System Assigned ?</a:t>
            </a:r>
            <a:endParaRPr lang="fr-FR" sz="2000" dirty="0"/>
          </a:p>
          <a:p>
            <a:pPr marL="457200" indent="-457200">
              <a:buFont typeface="+mj-lt"/>
              <a:buAutoNum type="arabicPeriod"/>
              <a:defRPr sz="2400"/>
            </a:pPr>
            <a:r>
              <a:rPr lang="fr-FR" sz="2000" dirty="0"/>
              <a:t>L’identité est supprimée automatiquement</a:t>
            </a:r>
          </a:p>
          <a:p>
            <a:pPr marL="457200" indent="-457200">
              <a:buFont typeface="+mj-lt"/>
              <a:buAutoNum type="arabicPeriod"/>
              <a:defRPr sz="2400"/>
            </a:pPr>
            <a:r>
              <a:rPr lang="fr-FR" sz="2000" dirty="0"/>
              <a:t>L’identité est conservée</a:t>
            </a:r>
          </a:p>
          <a:p>
            <a:pPr marL="457200" indent="-457200">
              <a:buFont typeface="+mj-lt"/>
              <a:buAutoNum type="arabicPeriod"/>
              <a:defRPr sz="2400"/>
            </a:pPr>
            <a:r>
              <a:rPr lang="fr-FR" sz="2000" dirty="0"/>
              <a:t>Elle devient User Assigned</a:t>
            </a:r>
          </a:p>
          <a:p>
            <a:pPr marL="457200" indent="-457200">
              <a:buFont typeface="+mj-lt"/>
              <a:buAutoNum type="arabicPeriod"/>
              <a:defRPr sz="2400"/>
            </a:pPr>
            <a:r>
              <a:rPr lang="fr-FR" sz="2000" dirty="0"/>
              <a:t>Elle est désactivée mais conservée</a:t>
            </a:r>
          </a:p>
          <a:p>
            <a:pPr>
              <a:defRPr sz="2400"/>
            </a:pPr>
            <a:endParaRPr dirty="0"/>
          </a:p>
        </p:txBody>
      </p:sp>
      <p:sp>
        <p:nvSpPr>
          <p:cNvPr id="8" name="TextBox 7"/>
          <p:cNvSpPr txBox="1"/>
          <p:nvPr/>
        </p:nvSpPr>
        <p:spPr>
          <a:xfrm>
            <a:off x="6228184" y="3911952"/>
            <a:ext cx="1427635" cy="369332"/>
          </a:xfrm>
          <a:prstGeom prst="rect">
            <a:avLst/>
          </a:prstGeom>
          <a:noFill/>
        </p:spPr>
        <p:txBody>
          <a:bodyPr wrap="none">
            <a:spAutoFit/>
          </a:bodyPr>
          <a:lstStyle/>
          <a:p>
            <a:pPr>
              <a:defRPr sz="1800" b="1"/>
            </a:pPr>
            <a:r>
              <a:rPr u="sng" dirty="0" err="1"/>
              <a:t>Réponse</a:t>
            </a:r>
            <a:r>
              <a:rPr u="sng" dirty="0"/>
              <a:t> : </a:t>
            </a:r>
            <a:r>
              <a:rPr lang="fr-FR" u="sng" dirty="0"/>
              <a:t>1</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La Managed Identity System Assigned est supprimée avec la ressource.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1683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la connexion à Azure SQL échoue-t-elle avant d’avoir configuré les rôles ?</a:t>
            </a:r>
            <a:endParaRPr lang="fr-FR" sz="2000" dirty="0"/>
          </a:p>
          <a:p>
            <a:pPr marL="457200" indent="-457200">
              <a:buFont typeface="+mj-lt"/>
              <a:buAutoNum type="arabicPeriod"/>
              <a:defRPr sz="2400"/>
            </a:pPr>
            <a:r>
              <a:rPr lang="fr-FR" sz="2000" dirty="0"/>
              <a:t>La base n’existe pas</a:t>
            </a:r>
          </a:p>
          <a:p>
            <a:pPr marL="457200" indent="-457200">
              <a:buFont typeface="+mj-lt"/>
              <a:buAutoNum type="arabicPeriod"/>
              <a:defRPr sz="2400"/>
            </a:pPr>
            <a:r>
              <a:rPr lang="fr-FR" sz="2000" dirty="0"/>
              <a:t>Le firewall bloque</a:t>
            </a:r>
          </a:p>
          <a:p>
            <a:pPr marL="457200" indent="-457200">
              <a:buFont typeface="+mj-lt"/>
              <a:buAutoNum type="arabicPeriod"/>
              <a:defRPr sz="2400"/>
            </a:pPr>
            <a:r>
              <a:rPr lang="fr-FR" sz="2000" dirty="0"/>
              <a:t>La Managed Identity n’a pas de droits</a:t>
            </a:r>
          </a:p>
          <a:p>
            <a:pPr marL="457200" indent="-457200">
              <a:buFont typeface="+mj-lt"/>
              <a:buAutoNum type="arabicPeriod"/>
              <a:defRPr sz="2400"/>
            </a:pPr>
            <a:r>
              <a:rPr lang="fr-FR" sz="2000" dirty="0"/>
              <a:t>Le serveur est arrêté</a:t>
            </a:r>
          </a:p>
          <a:p>
            <a:pPr>
              <a:defRPr sz="2400"/>
            </a:pPr>
            <a:endParaRPr dirty="0"/>
          </a:p>
        </p:txBody>
      </p:sp>
      <p:sp>
        <p:nvSpPr>
          <p:cNvPr id="8" name="TextBox 7"/>
          <p:cNvSpPr txBox="1"/>
          <p:nvPr/>
        </p:nvSpPr>
        <p:spPr>
          <a:xfrm>
            <a:off x="6228184" y="3942730"/>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Sans rôle SQL, la Managed Identity ne peut pas accéder à la base.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Quelle commande SQL permet d’autoriser une Managed Identity à accéder à une base ?</a:t>
            </a:r>
            <a:endParaRPr lang="fr-FR" sz="2000" dirty="0"/>
          </a:p>
          <a:p>
            <a:pPr marL="457200" indent="-457200">
              <a:buFont typeface="+mj-lt"/>
              <a:buAutoNum type="arabicPeriod"/>
              <a:defRPr sz="2400"/>
            </a:pPr>
            <a:r>
              <a:rPr lang="fr-FR" sz="2000" dirty="0"/>
              <a:t>CREATE LOGIN</a:t>
            </a:r>
          </a:p>
          <a:p>
            <a:pPr marL="457200" indent="-457200">
              <a:buFont typeface="+mj-lt"/>
              <a:buAutoNum type="arabicPeriod"/>
              <a:defRPr sz="2400"/>
            </a:pPr>
            <a:r>
              <a:rPr lang="fr-FR" sz="2000" dirty="0"/>
              <a:t>GRANT LOGIN</a:t>
            </a:r>
          </a:p>
          <a:p>
            <a:pPr marL="457200" indent="-457200">
              <a:buFont typeface="+mj-lt"/>
              <a:buAutoNum type="arabicPeriod"/>
              <a:defRPr sz="2400"/>
            </a:pPr>
            <a:r>
              <a:rPr lang="fr-FR" sz="2000" dirty="0"/>
              <a:t>ADD USER</a:t>
            </a:r>
          </a:p>
          <a:p>
            <a:pPr marL="457200" indent="-457200">
              <a:buFont typeface="+mj-lt"/>
              <a:buAutoNum type="arabicPeriod"/>
              <a:defRPr sz="2400"/>
            </a:pPr>
            <a:r>
              <a:rPr lang="fr-FR" sz="2000" dirty="0"/>
              <a:t>CREATE USER FROM EXTERNAL PROVIDER</a:t>
            </a:r>
          </a:p>
          <a:p>
            <a:pPr>
              <a:defRPr sz="2400"/>
            </a:pPr>
            <a:endParaRPr dirty="0"/>
          </a:p>
        </p:txBody>
      </p:sp>
      <p:sp>
        <p:nvSpPr>
          <p:cNvPr id="8" name="TextBox 7"/>
          <p:cNvSpPr txBox="1"/>
          <p:nvPr/>
        </p:nvSpPr>
        <p:spPr>
          <a:xfrm>
            <a:off x="6228184" y="3940561"/>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6" y="4930239"/>
            <a:ext cx="5346963" cy="584775"/>
          </a:xfrm>
          <a:prstGeom prst="rect">
            <a:avLst/>
          </a:prstGeom>
          <a:noFill/>
        </p:spPr>
        <p:txBody>
          <a:bodyPr wrap="square">
            <a:spAutoFit/>
          </a:bodyPr>
          <a:lstStyle/>
          <a:p>
            <a:pPr>
              <a:defRPr sz="1600"/>
            </a:pPr>
            <a:r>
              <a:rPr dirty="0"/>
              <a:t>La commande CREATE USER FROM EXTERNAL PROVIDER permet d’ajouter une identité Azure AD.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85293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rôle SQL est nécessaire pour lire et écrire des données ?</a:t>
            </a:r>
            <a:endParaRPr lang="fr-FR" sz="2000" dirty="0"/>
          </a:p>
          <a:p>
            <a:pPr marL="457200" indent="-457200">
              <a:buFont typeface="+mj-lt"/>
              <a:buAutoNum type="arabicPeriod"/>
              <a:defRPr sz="2400"/>
            </a:pPr>
            <a:r>
              <a:rPr lang="fr-FR" sz="2000" dirty="0" err="1"/>
              <a:t>db_owner</a:t>
            </a:r>
            <a:endParaRPr lang="fr-FR" sz="2000" dirty="0"/>
          </a:p>
          <a:p>
            <a:pPr marL="457200" indent="-457200">
              <a:buFont typeface="+mj-lt"/>
              <a:buAutoNum type="arabicPeriod"/>
              <a:defRPr sz="2400"/>
            </a:pPr>
            <a:r>
              <a:rPr lang="fr-FR" sz="2000" dirty="0" err="1"/>
              <a:t>db_securityadmin</a:t>
            </a:r>
            <a:endParaRPr lang="fr-FR" sz="2000" dirty="0"/>
          </a:p>
          <a:p>
            <a:pPr marL="457200" indent="-457200">
              <a:buFont typeface="+mj-lt"/>
              <a:buAutoNum type="arabicPeriod"/>
              <a:defRPr sz="2400"/>
            </a:pPr>
            <a:r>
              <a:rPr lang="fr-FR" sz="2000" dirty="0" err="1"/>
              <a:t>db_datareader</a:t>
            </a:r>
            <a:r>
              <a:rPr lang="fr-FR" sz="2000" dirty="0"/>
              <a:t> uniquement</a:t>
            </a:r>
          </a:p>
          <a:p>
            <a:pPr marL="457200" indent="-457200">
              <a:buFont typeface="+mj-lt"/>
              <a:buAutoNum type="arabicPeriod"/>
              <a:defRPr sz="2400"/>
            </a:pPr>
            <a:r>
              <a:rPr lang="fr-FR" sz="2000" dirty="0" err="1"/>
              <a:t>db_datareader</a:t>
            </a:r>
            <a:r>
              <a:rPr lang="fr-FR" sz="2000" dirty="0"/>
              <a:t> et </a:t>
            </a:r>
            <a:r>
              <a:rPr lang="fr-FR" sz="2000" dirty="0" err="1"/>
              <a:t>db_datawriter</a:t>
            </a:r>
            <a:endParaRPr lang="fr-FR" sz="2000" dirty="0"/>
          </a:p>
          <a:p>
            <a:pPr>
              <a:defRPr sz="2400"/>
            </a:pPr>
            <a:endParaRPr dirty="0"/>
          </a:p>
        </p:txBody>
      </p:sp>
      <p:sp>
        <p:nvSpPr>
          <p:cNvPr id="8" name="TextBox 7"/>
          <p:cNvSpPr txBox="1"/>
          <p:nvPr/>
        </p:nvSpPr>
        <p:spPr>
          <a:xfrm>
            <a:off x="6300192" y="4293096"/>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db_datareader permet la lecture et db_datawriter l’écriture.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641408" cy="2308324"/>
          </a:xfrm>
          <a:prstGeom prst="rect">
            <a:avLst/>
          </a:prstGeom>
          <a:noFill/>
        </p:spPr>
        <p:txBody>
          <a:bodyPr wrap="square">
            <a:spAutoFit/>
          </a:bodyPr>
          <a:lstStyle/>
          <a:p>
            <a:pPr>
              <a:defRPr sz="2400"/>
            </a:pPr>
            <a:r>
              <a:rPr sz="2000" dirty="0"/>
              <a:t>Que fait le paramètre </a:t>
            </a:r>
            <a:r>
              <a:rPr sz="2000" dirty="0">
                <a:latin typeface="Courier New" panose="02070309020205020404" pitchFamily="49" charset="0"/>
                <a:cs typeface="Courier New" panose="02070309020205020404" pitchFamily="49" charset="0"/>
              </a:rPr>
              <a:t>Authentication=Active Directory Default </a:t>
            </a:r>
            <a:r>
              <a:rPr sz="2000" dirty="0"/>
              <a:t>dans une connection string ?</a:t>
            </a:r>
            <a:endParaRPr lang="fr-FR" sz="2000" dirty="0"/>
          </a:p>
          <a:p>
            <a:pPr marL="457200" indent="-457200">
              <a:buFont typeface="+mj-lt"/>
              <a:buAutoNum type="arabicPeriod"/>
              <a:defRPr sz="2400"/>
            </a:pPr>
            <a:r>
              <a:rPr lang="fr-FR" sz="2000" dirty="0"/>
              <a:t>Utilise un mot de passe stocké</a:t>
            </a:r>
          </a:p>
          <a:p>
            <a:pPr marL="457200" indent="-457200">
              <a:buFont typeface="+mj-lt"/>
              <a:buAutoNum type="arabicPeriod"/>
              <a:defRPr sz="2400"/>
            </a:pPr>
            <a:r>
              <a:rPr lang="fr-FR" sz="2000" dirty="0"/>
              <a:t>Utilise la Managed Identity ou DefaultAzureCredential</a:t>
            </a:r>
          </a:p>
          <a:p>
            <a:pPr marL="457200" indent="-457200">
              <a:buFont typeface="+mj-lt"/>
              <a:buAutoNum type="arabicPeriod"/>
              <a:defRPr sz="2400"/>
            </a:pPr>
            <a:r>
              <a:rPr lang="fr-FR" sz="2000" dirty="0"/>
              <a:t>Désactive l’authentification</a:t>
            </a:r>
          </a:p>
          <a:p>
            <a:pPr marL="457200" indent="-457200">
              <a:buFont typeface="+mj-lt"/>
              <a:buAutoNum type="arabicPeriod"/>
              <a:defRPr sz="2400"/>
            </a:pPr>
            <a:r>
              <a:rPr lang="fr-FR" sz="2000" dirty="0"/>
              <a:t>Force l’authentification SQL</a:t>
            </a:r>
          </a:p>
          <a:p>
            <a:pPr>
              <a:defRPr sz="2400"/>
            </a:pPr>
            <a:endParaRPr dirty="0"/>
          </a:p>
        </p:txBody>
      </p:sp>
      <p:sp>
        <p:nvSpPr>
          <p:cNvPr id="8" name="TextBox 7"/>
          <p:cNvSpPr txBox="1"/>
          <p:nvPr/>
        </p:nvSpPr>
        <p:spPr>
          <a:xfrm>
            <a:off x="6228184" y="3480723"/>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570559" y="3545152"/>
            <a:ext cx="3657600" cy="914400"/>
          </a:xfrm>
          <a:prstGeom prst="rect">
            <a:avLst/>
          </a:prstGeom>
          <a:noFill/>
        </p:spPr>
        <p:txBody>
          <a:bodyPr wrap="none">
            <a:spAutoFit/>
          </a:bodyPr>
          <a:lstStyle/>
          <a:p>
            <a:pPr>
              <a:defRPr sz="1600"/>
            </a:pPr>
            <a:r>
              <a:rPr dirty="0"/>
              <a:t>Il permet d’utiliser Azure AD via DefaultAzureCredential.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72068"/>
            <a:ext cx="557808" cy="369332"/>
          </a:xfrm>
          <a:prstGeom prst="rect">
            <a:avLst/>
          </a:prstGeom>
          <a:noFill/>
        </p:spPr>
        <p:txBody>
          <a:bodyPr wrap="square">
            <a:spAutoFit/>
          </a:bodyPr>
          <a:lstStyle/>
          <a:p>
            <a:r>
              <a:rPr lang="fr-FR" b="1" dirty="0"/>
              <a:t>✅</a:t>
            </a:r>
            <a:endParaRPr lang="fr-FR" dirty="0"/>
          </a:p>
        </p:txBody>
      </p:sp>
      <p:graphicFrame>
        <p:nvGraphicFramePr>
          <p:cNvPr id="4" name="Tableau 3">
            <a:extLst>
              <a:ext uri="{FF2B5EF4-FFF2-40B4-BE49-F238E27FC236}">
                <a16:creationId xmlns:a16="http://schemas.microsoft.com/office/drawing/2014/main" id="{3C70EE86-CAD7-1CAF-2B59-D64FCAA9D25E}"/>
              </a:ext>
            </a:extLst>
          </p:cNvPr>
          <p:cNvGraphicFramePr>
            <a:graphicFrameLocks noGrp="1"/>
          </p:cNvGraphicFramePr>
          <p:nvPr>
            <p:extLst>
              <p:ext uri="{D42A27DB-BD31-4B8C-83A1-F6EECF244321}">
                <p14:modId xmlns:p14="http://schemas.microsoft.com/office/powerpoint/2010/main" val="448209632"/>
              </p:ext>
            </p:extLst>
          </p:nvPr>
        </p:nvGraphicFramePr>
        <p:xfrm>
          <a:off x="179512" y="4037306"/>
          <a:ext cx="8641407" cy="2225040"/>
        </p:xfrm>
        <a:graphic>
          <a:graphicData uri="http://schemas.openxmlformats.org/drawingml/2006/table">
            <a:tbl>
              <a:tblPr>
                <a:tableStyleId>{5C22544A-7EE6-4342-B048-85BDC9FD1C3A}</a:tableStyleId>
              </a:tblPr>
              <a:tblGrid>
                <a:gridCol w="2880469">
                  <a:extLst>
                    <a:ext uri="{9D8B030D-6E8A-4147-A177-3AD203B41FA5}">
                      <a16:colId xmlns:a16="http://schemas.microsoft.com/office/drawing/2014/main" val="960351827"/>
                    </a:ext>
                  </a:extLst>
                </a:gridCol>
                <a:gridCol w="2880469">
                  <a:extLst>
                    <a:ext uri="{9D8B030D-6E8A-4147-A177-3AD203B41FA5}">
                      <a16:colId xmlns:a16="http://schemas.microsoft.com/office/drawing/2014/main" val="2650378711"/>
                    </a:ext>
                  </a:extLst>
                </a:gridCol>
                <a:gridCol w="2880469">
                  <a:extLst>
                    <a:ext uri="{9D8B030D-6E8A-4147-A177-3AD203B41FA5}">
                      <a16:colId xmlns:a16="http://schemas.microsoft.com/office/drawing/2014/main" val="2375118638"/>
                    </a:ext>
                  </a:extLst>
                </a:gridCol>
              </a:tblGrid>
              <a:tr h="0">
                <a:tc>
                  <a:txBody>
                    <a:bodyPr/>
                    <a:lstStyle/>
                    <a:p>
                      <a:pPr>
                        <a:buNone/>
                      </a:pPr>
                      <a:r>
                        <a:rPr lang="fr-FR" sz="1600" b="1" dirty="0"/>
                        <a:t>Environnement</a:t>
                      </a:r>
                    </a:p>
                  </a:txBody>
                  <a:tcPr anchor="ctr"/>
                </a:tc>
                <a:tc>
                  <a:txBody>
                    <a:bodyPr/>
                    <a:lstStyle/>
                    <a:p>
                      <a:pPr>
                        <a:buNone/>
                      </a:pPr>
                      <a:r>
                        <a:rPr lang="fr-FR" sz="1600" b="1" dirty="0"/>
                        <a:t>Mécanismes testés</a:t>
                      </a:r>
                    </a:p>
                  </a:txBody>
                  <a:tcPr anchor="ctr"/>
                </a:tc>
                <a:tc>
                  <a:txBody>
                    <a:bodyPr/>
                    <a:lstStyle/>
                    <a:p>
                      <a:pPr>
                        <a:buNone/>
                      </a:pPr>
                      <a:r>
                        <a:rPr lang="fr-FR" sz="1600" b="1" dirty="0"/>
                        <a:t>Identité utilisée</a:t>
                      </a:r>
                    </a:p>
                  </a:txBody>
                  <a:tcPr anchor="ctr"/>
                </a:tc>
                <a:extLst>
                  <a:ext uri="{0D108BD9-81ED-4DB2-BD59-A6C34878D82A}">
                    <a16:rowId xmlns:a16="http://schemas.microsoft.com/office/drawing/2014/main" val="2908748089"/>
                  </a:ext>
                </a:extLst>
              </a:tr>
              <a:tr h="0">
                <a:tc>
                  <a:txBody>
                    <a:bodyPr/>
                    <a:lstStyle/>
                    <a:p>
                      <a:pPr>
                        <a:buNone/>
                      </a:pPr>
                      <a:r>
                        <a:rPr lang="pt-BR" sz="1600"/>
                        <a:t>🖥️ Local (Visual Studio / dev)</a:t>
                      </a:r>
                    </a:p>
                  </a:txBody>
                  <a:tcPr anchor="ctr"/>
                </a:tc>
                <a:tc>
                  <a:txBody>
                    <a:bodyPr/>
                    <a:lstStyle/>
                    <a:p>
                      <a:pPr marL="285750" indent="-285750">
                        <a:buFontTx/>
                        <a:buChar char="-"/>
                      </a:pPr>
                      <a:r>
                        <a:rPr lang="fr-FR" sz="1600" dirty="0"/>
                        <a:t>Session Visual Studio</a:t>
                      </a:r>
                    </a:p>
                    <a:p>
                      <a:pPr marL="285750" indent="-285750">
                        <a:buFontTx/>
                        <a:buChar char="-"/>
                      </a:pPr>
                      <a:r>
                        <a:rPr lang="fr-FR" sz="1600" dirty="0" err="1"/>
                        <a:t>az</a:t>
                      </a:r>
                      <a:r>
                        <a:rPr lang="fr-FR" sz="1600" dirty="0"/>
                        <a:t> login (Azure CLI)</a:t>
                      </a:r>
                    </a:p>
                    <a:p>
                      <a:pPr marL="285750" indent="-285750">
                        <a:buFontTx/>
                        <a:buChar char="-"/>
                      </a:pPr>
                      <a:r>
                        <a:rPr lang="fr-FR" sz="1600" dirty="0"/>
                        <a:t>Compte Windows (si applicable)</a:t>
                      </a:r>
                    </a:p>
                  </a:txBody>
                  <a:tcPr anchor="ctr"/>
                </a:tc>
                <a:tc>
                  <a:txBody>
                    <a:bodyPr/>
                    <a:lstStyle/>
                    <a:p>
                      <a:pPr>
                        <a:buNone/>
                      </a:pPr>
                      <a:r>
                        <a:rPr lang="fr-FR" sz="1600" dirty="0"/>
                        <a:t>Votre compte Azure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 Identité développeur</a:t>
                      </a:r>
                    </a:p>
                    <a:p>
                      <a:pPr>
                        <a:buNone/>
                      </a:pPr>
                      <a:endParaRPr lang="fr-FR" sz="1600" dirty="0"/>
                    </a:p>
                  </a:txBody>
                  <a:tcPr anchor="ctr"/>
                </a:tc>
                <a:extLst>
                  <a:ext uri="{0D108BD9-81ED-4DB2-BD59-A6C34878D82A}">
                    <a16:rowId xmlns:a16="http://schemas.microsoft.com/office/drawing/2014/main" val="3677699422"/>
                  </a:ext>
                </a:extLst>
              </a:tr>
              <a:tr h="0">
                <a:tc>
                  <a:txBody>
                    <a:bodyPr/>
                    <a:lstStyle/>
                    <a:p>
                      <a:pPr>
                        <a:buNone/>
                      </a:pPr>
                      <a:r>
                        <a:rPr lang="fr-FR" sz="1600" dirty="0"/>
                        <a:t>☁️ Azure</a:t>
                      </a:r>
                    </a:p>
                  </a:txBody>
                  <a:tcPr anchor="ctr"/>
                </a:tc>
                <a:tc>
                  <a:txBody>
                    <a:bodyPr/>
                    <a:lstStyle/>
                    <a:p>
                      <a:pPr>
                        <a:buNone/>
                      </a:pPr>
                      <a:r>
                        <a:rPr lang="fr-FR" sz="1600" dirty="0"/>
                        <a:t>- </a:t>
                      </a:r>
                      <a:r>
                        <a:rPr lang="fr-FR" sz="1600" dirty="0" err="1"/>
                        <a:t>Managed</a:t>
                      </a:r>
                      <a:r>
                        <a:rPr lang="fr-FR" sz="1600" dirty="0"/>
                        <a:t> Identity</a:t>
                      </a:r>
                    </a:p>
                  </a:txBody>
                  <a:tcPr anchor="ctr"/>
                </a:tc>
                <a:tc>
                  <a:txBody>
                    <a:bodyPr/>
                    <a:lstStyle/>
                    <a:p>
                      <a:pPr>
                        <a:buNone/>
                      </a:pPr>
                      <a:r>
                        <a:rPr lang="fr-FR" sz="1600" dirty="0"/>
                        <a:t>Identité de la ressource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 Identité applicative</a:t>
                      </a:r>
                    </a:p>
                    <a:p>
                      <a:pPr>
                        <a:buNone/>
                      </a:pPr>
                      <a:endParaRPr lang="fr-FR" sz="1600" dirty="0"/>
                    </a:p>
                  </a:txBody>
                  <a:tcPr anchor="ctr"/>
                </a:tc>
                <a:extLst>
                  <a:ext uri="{0D108BD9-81ED-4DB2-BD59-A6C34878D82A}">
                    <a16:rowId xmlns:a16="http://schemas.microsoft.com/office/drawing/2014/main" val="155143054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Quel est le rôle de Azure Key Vault ?</a:t>
            </a:r>
            <a:endParaRPr lang="fr-FR" sz="2000" dirty="0"/>
          </a:p>
          <a:p>
            <a:pPr marL="457200" indent="-457200">
              <a:buFont typeface="+mj-lt"/>
              <a:buAutoNum type="arabicPeriod"/>
              <a:defRPr sz="2400"/>
            </a:pPr>
            <a:r>
              <a:rPr lang="fr-FR" sz="2000" dirty="0"/>
              <a:t>Stocker des logs</a:t>
            </a:r>
          </a:p>
          <a:p>
            <a:pPr marL="457200" indent="-457200">
              <a:buFont typeface="+mj-lt"/>
              <a:buAutoNum type="arabicPeriod"/>
              <a:defRPr sz="2400"/>
            </a:pPr>
            <a:r>
              <a:rPr lang="fr-FR" sz="2000" dirty="0"/>
              <a:t>Héberger des bases de données</a:t>
            </a:r>
          </a:p>
          <a:p>
            <a:pPr marL="457200" indent="-457200">
              <a:buFont typeface="+mj-lt"/>
              <a:buAutoNum type="arabicPeriod"/>
              <a:defRPr sz="2400"/>
            </a:pPr>
            <a:r>
              <a:rPr lang="fr-FR" sz="2000" dirty="0"/>
              <a:t>Déployer des applications</a:t>
            </a:r>
          </a:p>
          <a:p>
            <a:pPr marL="457200" indent="-457200">
              <a:buFont typeface="+mj-lt"/>
              <a:buAutoNum type="arabicPeriod"/>
              <a:defRPr sz="2400"/>
            </a:pPr>
            <a:r>
              <a:rPr lang="fr-FR" sz="2000" dirty="0"/>
              <a:t>Stocker des secrets de manière sécurisée</a:t>
            </a:r>
          </a:p>
          <a:p>
            <a:pPr>
              <a:defRPr sz="2400"/>
            </a:pPr>
            <a:endParaRPr lang="fr-FR" sz="2000" dirty="0"/>
          </a:p>
          <a:p>
            <a:pPr>
              <a:defRPr sz="2400"/>
            </a:pPr>
            <a:endParaRPr dirty="0"/>
          </a:p>
        </p:txBody>
      </p:sp>
      <p:sp>
        <p:nvSpPr>
          <p:cNvPr id="8" name="TextBox 7"/>
          <p:cNvSpPr txBox="1"/>
          <p:nvPr/>
        </p:nvSpPr>
        <p:spPr>
          <a:xfrm>
            <a:off x="6228184" y="3817686"/>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Key Vault sert à stocker secrets, clés et certificats.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ne stocke-t-on pas de mot de passe SQL dans Key Vault dans le TP ?</a:t>
            </a:r>
            <a:endParaRPr lang="fr-FR" sz="2000" dirty="0"/>
          </a:p>
          <a:p>
            <a:pPr marL="457200" indent="-457200">
              <a:buFont typeface="+mj-lt"/>
              <a:buAutoNum type="arabicPeriod"/>
              <a:defRPr sz="2400"/>
            </a:pPr>
            <a:r>
              <a:rPr lang="fr-FR" sz="2000" dirty="0"/>
              <a:t>Car Key Vault est payant</a:t>
            </a:r>
          </a:p>
          <a:p>
            <a:pPr marL="457200" indent="-457200">
              <a:buFont typeface="+mj-lt"/>
              <a:buAutoNum type="arabicPeriod"/>
              <a:defRPr sz="2400"/>
            </a:pPr>
            <a:r>
              <a:rPr lang="fr-FR" sz="2000" dirty="0"/>
              <a:t>Car on utilise Managed Identity à la place</a:t>
            </a:r>
          </a:p>
          <a:p>
            <a:pPr marL="457200" indent="-457200">
              <a:buFont typeface="+mj-lt"/>
              <a:buAutoNum type="arabicPeriod"/>
              <a:defRPr sz="2400"/>
            </a:pPr>
            <a:r>
              <a:rPr lang="fr-FR" sz="2000" dirty="0"/>
              <a:t>Car SQL n’accepte pas les mots de passe</a:t>
            </a:r>
          </a:p>
          <a:p>
            <a:pPr marL="457200" indent="-457200">
              <a:buFont typeface="+mj-lt"/>
              <a:buAutoNum type="arabicPeriod"/>
              <a:defRPr sz="2400"/>
            </a:pPr>
            <a:r>
              <a:rPr lang="fr-FR" sz="2000" dirty="0"/>
              <a:t>Car Azure interdit cela</a:t>
            </a:r>
          </a:p>
          <a:p>
            <a:pPr>
              <a:defRPr sz="2400"/>
            </a:pPr>
            <a:endParaRPr dirty="0"/>
          </a:p>
        </p:txBody>
      </p:sp>
      <p:sp>
        <p:nvSpPr>
          <p:cNvPr id="8" name="TextBox 7"/>
          <p:cNvSpPr txBox="1"/>
          <p:nvPr/>
        </p:nvSpPr>
        <p:spPr>
          <a:xfrm>
            <a:off x="6372200" y="436510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Managed Identity remplace totalement le besoin de mot de passe.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0486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droit faut-il attribuer à une Web App pour accéder à Key Vault (RBAC) ?</a:t>
            </a:r>
            <a:endParaRPr lang="fr-FR" sz="2000" dirty="0"/>
          </a:p>
          <a:p>
            <a:pPr marL="457200" indent="-457200">
              <a:buFont typeface="+mj-lt"/>
              <a:buAutoNum type="arabicPeriod"/>
              <a:defRPr sz="2400"/>
            </a:pPr>
            <a:r>
              <a:rPr lang="fr-FR" sz="2000" dirty="0"/>
              <a:t>Reader</a:t>
            </a:r>
          </a:p>
          <a:p>
            <a:pPr marL="457200" indent="-457200">
              <a:buFont typeface="+mj-lt"/>
              <a:buAutoNum type="arabicPeriod"/>
              <a:defRPr sz="2400"/>
            </a:pPr>
            <a:r>
              <a:rPr lang="fr-FR" sz="2000" dirty="0"/>
              <a:t>Contributor</a:t>
            </a:r>
          </a:p>
          <a:p>
            <a:pPr marL="457200" indent="-457200">
              <a:buFont typeface="+mj-lt"/>
              <a:buAutoNum type="arabicPeriod"/>
              <a:defRPr sz="2400"/>
            </a:pPr>
            <a:r>
              <a:rPr lang="fr-FR" sz="2000" dirty="0"/>
              <a:t>Key Vault Secrets User</a:t>
            </a:r>
          </a:p>
          <a:p>
            <a:pPr marL="457200" indent="-457200">
              <a:buFont typeface="+mj-lt"/>
              <a:buAutoNum type="arabicPeriod"/>
              <a:defRPr sz="2400"/>
            </a:pPr>
            <a:r>
              <a:rPr lang="fr-FR" sz="2000" dirty="0"/>
              <a:t>Owner</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 rôle Key Vault Secrets User permet de lire les secrets.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se passe-t-il si la Web App n’a pas accès au Key Vault ?</a:t>
            </a:r>
            <a:endParaRPr lang="fr-FR" sz="2000" dirty="0"/>
          </a:p>
          <a:p>
            <a:pPr marL="457200" indent="-457200">
              <a:buFont typeface="+mj-lt"/>
              <a:buAutoNum type="arabicPeriod"/>
              <a:defRPr sz="2400"/>
            </a:pPr>
            <a:r>
              <a:rPr lang="fr-FR" sz="2000" dirty="0"/>
              <a:t>Elle ignore le secret</a:t>
            </a:r>
          </a:p>
          <a:p>
            <a:pPr marL="457200" indent="-457200">
              <a:buFont typeface="+mj-lt"/>
              <a:buAutoNum type="arabicPeriod"/>
              <a:defRPr sz="2400"/>
            </a:pPr>
            <a:r>
              <a:rPr lang="fr-FR" sz="2000" dirty="0"/>
              <a:t>Elle plante avec une erreur d’accès</a:t>
            </a:r>
          </a:p>
          <a:p>
            <a:pPr marL="457200" indent="-457200">
              <a:buFont typeface="+mj-lt"/>
              <a:buAutoNum type="arabicPeriod"/>
              <a:defRPr sz="2400"/>
            </a:pPr>
            <a:r>
              <a:rPr lang="fr-FR" sz="2000" dirty="0"/>
              <a:t>Elle utilise une valeur par défaut</a:t>
            </a:r>
          </a:p>
          <a:p>
            <a:pPr marL="457200" indent="-457200">
              <a:buFont typeface="+mj-lt"/>
              <a:buAutoNum type="arabicPeriod"/>
              <a:defRPr sz="2400"/>
            </a:pPr>
            <a:r>
              <a:rPr lang="fr-FR" sz="2000" dirty="0"/>
              <a:t>Elle redémarre</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Une erreur d’accès (403) est générée.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13</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Quelle classe .NET permet d’utiliser facilement Managed Identity en local et en Azure ?</a:t>
            </a:r>
            <a:endParaRPr lang="fr-FR" sz="2000" dirty="0"/>
          </a:p>
          <a:p>
            <a:pPr marL="457200" indent="-457200">
              <a:buFont typeface="+mj-lt"/>
              <a:buAutoNum type="arabicPeriod"/>
              <a:defRPr sz="2400"/>
            </a:pPr>
            <a:r>
              <a:rPr lang="fr-FR" sz="2000" dirty="0" err="1"/>
              <a:t>SqlConnection</a:t>
            </a:r>
            <a:endParaRPr lang="fr-FR" sz="2000" dirty="0"/>
          </a:p>
          <a:p>
            <a:pPr marL="457200" indent="-457200">
              <a:buFont typeface="+mj-lt"/>
              <a:buAutoNum type="arabicPeriod"/>
              <a:defRPr sz="2400"/>
            </a:pPr>
            <a:r>
              <a:rPr lang="fr-FR" sz="2000" dirty="0" err="1"/>
              <a:t>AzureCredentialManager</a:t>
            </a:r>
            <a:endParaRPr lang="fr-FR" sz="2000" dirty="0"/>
          </a:p>
          <a:p>
            <a:pPr marL="457200" indent="-457200">
              <a:buFont typeface="+mj-lt"/>
              <a:buAutoNum type="arabicPeriod"/>
              <a:defRPr sz="2400"/>
            </a:pPr>
            <a:r>
              <a:rPr lang="fr-FR" sz="2000" dirty="0" err="1"/>
              <a:t>DefaultAzureCredential</a:t>
            </a:r>
            <a:endParaRPr lang="fr-FR" sz="2000" dirty="0"/>
          </a:p>
          <a:p>
            <a:pPr marL="457200" indent="-457200">
              <a:buFont typeface="+mj-lt"/>
              <a:buAutoNum type="arabicPeriod"/>
              <a:defRPr sz="2400"/>
            </a:pPr>
            <a:r>
              <a:rPr lang="fr-FR" sz="2000" dirty="0" err="1"/>
              <a:t>IdentityClient</a:t>
            </a:r>
            <a:endParaRPr lang="fr-FR" sz="2000" dirty="0"/>
          </a:p>
          <a:p>
            <a:pPr>
              <a:defRPr sz="2400"/>
            </a:pPr>
            <a:endParaRPr dirty="0"/>
          </a:p>
        </p:txBody>
      </p:sp>
      <p:sp>
        <p:nvSpPr>
          <p:cNvPr id="8" name="TextBox 7"/>
          <p:cNvSpPr txBox="1"/>
          <p:nvPr/>
        </p:nvSpPr>
        <p:spPr>
          <a:xfrm>
            <a:off x="6372200" y="3975623"/>
            <a:ext cx="1427635" cy="369332"/>
          </a:xfrm>
          <a:prstGeom prst="rect">
            <a:avLst/>
          </a:prstGeom>
          <a:noFill/>
        </p:spPr>
        <p:txBody>
          <a:bodyPr wrap="none">
            <a:spAutoFit/>
          </a:bodyPr>
          <a:lstStyle/>
          <a:p>
            <a:pPr>
              <a:defRPr sz="1800" b="1"/>
            </a:pPr>
            <a:r>
              <a:rPr u="sng" dirty="0" err="1"/>
              <a:t>Réponse</a:t>
            </a:r>
            <a:r>
              <a:rPr u="sng" dirty="0"/>
              <a:t> : </a:t>
            </a:r>
            <a:r>
              <a:rPr lang="fr-FR" u="sng" dirty="0"/>
              <a:t>3</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DefaultAzureCredential s’adapte automatiquement à l’environnement.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la connexion fonctionne en local mais pas sur Azure avant configuration ?</a:t>
            </a:r>
            <a:endParaRPr lang="fr-FR" sz="2000" dirty="0"/>
          </a:p>
          <a:p>
            <a:pPr marL="457200" indent="-457200">
              <a:buFont typeface="+mj-lt"/>
              <a:buAutoNum type="arabicPeriod"/>
              <a:defRPr sz="2400"/>
            </a:pPr>
            <a:r>
              <a:rPr lang="fr-FR" sz="2000" dirty="0"/>
              <a:t>Le code est différent</a:t>
            </a:r>
          </a:p>
          <a:p>
            <a:pPr marL="457200" indent="-457200">
              <a:buFont typeface="+mj-lt"/>
              <a:buAutoNum type="arabicPeriod"/>
              <a:defRPr sz="2400"/>
            </a:pPr>
            <a:r>
              <a:rPr lang="fr-FR" sz="2000" dirty="0"/>
              <a:t>Azure n’a pas de réseau</a:t>
            </a:r>
          </a:p>
          <a:p>
            <a:pPr marL="457200" indent="-457200">
              <a:buFont typeface="+mj-lt"/>
              <a:buAutoNum type="arabicPeriod"/>
              <a:defRPr sz="2400"/>
            </a:pPr>
            <a:r>
              <a:rPr lang="fr-FR" sz="2000" dirty="0"/>
              <a:t>Les identités et droits sont différents</a:t>
            </a:r>
          </a:p>
          <a:p>
            <a:pPr marL="457200" indent="-457200">
              <a:buFont typeface="+mj-lt"/>
              <a:buAutoNum type="arabicPeriod"/>
              <a:defRPr sz="2400"/>
            </a:pPr>
            <a:r>
              <a:rPr lang="fr-FR" sz="2000" dirty="0"/>
              <a:t>Le port est bloqué</a:t>
            </a:r>
          </a:p>
          <a:p>
            <a:pPr>
              <a:defRPr sz="2400"/>
            </a:pPr>
            <a:endParaRPr dirty="0"/>
          </a:p>
        </p:txBody>
      </p:sp>
      <p:sp>
        <p:nvSpPr>
          <p:cNvPr id="8" name="TextBox 7"/>
          <p:cNvSpPr txBox="1"/>
          <p:nvPr/>
        </p:nvSpPr>
        <p:spPr>
          <a:xfrm>
            <a:off x="6228184" y="4221088"/>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Local utilise votre compte, Azure utilise la Managed Identity.</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l’intérêt principal de supprimer les connection strings avec mot de passe ?</a:t>
            </a:r>
            <a:endParaRPr lang="fr-FR" sz="2000" dirty="0"/>
          </a:p>
          <a:p>
            <a:pPr marL="457200" indent="-457200">
              <a:buFont typeface="+mj-lt"/>
              <a:buAutoNum type="arabicPeriod"/>
              <a:defRPr sz="2400"/>
            </a:pPr>
            <a:r>
              <a:rPr lang="fr-FR" sz="2000" dirty="0"/>
              <a:t>Améliorer les performances</a:t>
            </a:r>
          </a:p>
          <a:p>
            <a:pPr marL="457200" indent="-457200">
              <a:buFont typeface="+mj-lt"/>
              <a:buAutoNum type="arabicPeriod"/>
              <a:defRPr sz="2400"/>
            </a:pPr>
            <a:r>
              <a:rPr lang="fr-FR" sz="2000" dirty="0"/>
              <a:t>Réduire le code</a:t>
            </a:r>
          </a:p>
          <a:p>
            <a:pPr marL="457200" indent="-457200">
              <a:buFont typeface="+mj-lt"/>
              <a:buAutoNum type="arabicPeriod"/>
              <a:defRPr sz="2400"/>
            </a:pPr>
            <a:r>
              <a:rPr lang="fr-FR" sz="2000" dirty="0"/>
              <a:t>Améliorer la sécurité</a:t>
            </a:r>
          </a:p>
          <a:p>
            <a:pPr marL="457200" indent="-457200">
              <a:buFont typeface="+mj-lt"/>
              <a:buAutoNum type="arabicPeriod"/>
              <a:defRPr sz="2400"/>
            </a:pPr>
            <a:r>
              <a:rPr lang="fr-FR" sz="2000" dirty="0"/>
              <a:t>Faciliter le debug</a:t>
            </a:r>
          </a:p>
          <a:p>
            <a:pPr>
              <a:defRPr sz="2400"/>
            </a:pPr>
            <a:endParaRPr dirty="0"/>
          </a:p>
        </p:txBody>
      </p:sp>
      <p:sp>
        <p:nvSpPr>
          <p:cNvPr id="8" name="TextBox 7"/>
          <p:cNvSpPr txBox="1"/>
          <p:nvPr/>
        </p:nvSpPr>
        <p:spPr>
          <a:xfrm>
            <a:off x="6372200" y="393132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Supprimer les secrets réduit fortement les risques de fuite.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63691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type d’erreur indique un problème de permissions avec Managed Identity ?</a:t>
            </a:r>
            <a:endParaRPr lang="fr-FR" sz="2000" dirty="0"/>
          </a:p>
          <a:p>
            <a:pPr marL="457200" indent="-457200">
              <a:buFont typeface="+mj-lt"/>
              <a:buAutoNum type="arabicPeriod"/>
              <a:defRPr sz="2400"/>
            </a:pPr>
            <a:r>
              <a:rPr lang="fr-FR" sz="2000" dirty="0"/>
              <a:t>404 Not Found</a:t>
            </a:r>
          </a:p>
          <a:p>
            <a:pPr marL="457200" indent="-457200">
              <a:buFont typeface="+mj-lt"/>
              <a:buAutoNum type="arabicPeriod"/>
              <a:defRPr sz="2400"/>
            </a:pPr>
            <a:r>
              <a:rPr lang="fr-FR" sz="2000" dirty="0"/>
              <a:t>403 Forbidden</a:t>
            </a:r>
          </a:p>
          <a:p>
            <a:pPr marL="457200" indent="-457200">
              <a:buFont typeface="+mj-lt"/>
              <a:buAutoNum type="arabicPeriod"/>
              <a:defRPr sz="2400"/>
            </a:pPr>
            <a:r>
              <a:rPr lang="fr-FR" sz="2000" dirty="0"/>
              <a:t>500 Internal Server Error</a:t>
            </a:r>
          </a:p>
          <a:p>
            <a:pPr marL="457200" indent="-457200">
              <a:buFont typeface="+mj-lt"/>
              <a:buAutoNum type="arabicPeriod"/>
              <a:defRPr sz="2400"/>
            </a:pPr>
            <a:r>
              <a:rPr lang="fr-FR" sz="2000" dirty="0"/>
              <a:t>200 OK</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403 indique un problème d’autorisation.</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7687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17</a:t>
            </a:r>
          </a:p>
        </p:txBody>
      </p:sp>
      <p:sp>
        <p:nvSpPr>
          <p:cNvPr id="3" name="TextBox 2"/>
          <p:cNvSpPr txBox="1"/>
          <p:nvPr/>
        </p:nvSpPr>
        <p:spPr>
          <a:xfrm>
            <a:off x="467096" y="1324006"/>
            <a:ext cx="8431481" cy="1938992"/>
          </a:xfrm>
          <a:prstGeom prst="rect">
            <a:avLst/>
          </a:prstGeom>
          <a:noFill/>
        </p:spPr>
        <p:txBody>
          <a:bodyPr wrap="square">
            <a:spAutoFit/>
          </a:bodyPr>
          <a:lstStyle/>
          <a:p>
            <a:pPr>
              <a:defRPr sz="2400"/>
            </a:pPr>
            <a:r>
              <a:rPr sz="2000" dirty="0"/>
              <a:t>Peut-on utiliser Managed Identity en local ?</a:t>
            </a:r>
            <a:endParaRPr lang="fr-FR" sz="2000" dirty="0"/>
          </a:p>
          <a:p>
            <a:pPr marL="457200" indent="-457200">
              <a:buFont typeface="+mj-lt"/>
              <a:buAutoNum type="arabicPeriod"/>
              <a:defRPr sz="2400"/>
            </a:pPr>
            <a:r>
              <a:rPr lang="fr-FR" sz="2000" dirty="0"/>
              <a:t>Oui via Azure CLI</a:t>
            </a:r>
          </a:p>
          <a:p>
            <a:pPr marL="457200" indent="-457200">
              <a:buFont typeface="+mj-lt"/>
              <a:buAutoNum type="arabicPeriod"/>
              <a:defRPr sz="2400"/>
            </a:pPr>
            <a:r>
              <a:rPr lang="fr-FR" sz="2000" dirty="0"/>
              <a:t>Oui via Visual Studio</a:t>
            </a:r>
          </a:p>
          <a:p>
            <a:pPr marL="457200" indent="-457200">
              <a:buFont typeface="+mj-lt"/>
              <a:buAutoNum type="arabicPeriod"/>
              <a:defRPr sz="2400"/>
            </a:pPr>
            <a:r>
              <a:rPr lang="fr-FR" sz="2000" dirty="0"/>
              <a:t>Oui uniquement avec SQL</a:t>
            </a:r>
          </a:p>
          <a:p>
            <a:pPr marL="457200" indent="-457200">
              <a:buFont typeface="+mj-lt"/>
              <a:buAutoNum type="arabicPeriod"/>
              <a:defRPr sz="2400"/>
            </a:pPr>
            <a:r>
              <a:rPr lang="fr-FR" sz="2000" dirty="0"/>
              <a:t>Non, mais </a:t>
            </a:r>
            <a:r>
              <a:rPr lang="fr-FR" sz="2000" dirty="0" err="1"/>
              <a:t>DefaultAzureCredential</a:t>
            </a:r>
            <a:r>
              <a:rPr lang="fr-FR" sz="2000" dirty="0"/>
              <a:t> permet une authentification équivalente</a:t>
            </a:r>
            <a:endParaRPr dirty="0"/>
          </a:p>
        </p:txBody>
      </p:sp>
      <p:sp>
        <p:nvSpPr>
          <p:cNvPr id="8" name="TextBox 7"/>
          <p:cNvSpPr txBox="1"/>
          <p:nvPr/>
        </p:nvSpPr>
        <p:spPr>
          <a:xfrm>
            <a:off x="6372200" y="4077072"/>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7" y="4930239"/>
            <a:ext cx="7793608" cy="584775"/>
          </a:xfrm>
          <a:prstGeom prst="rect">
            <a:avLst/>
          </a:prstGeom>
          <a:noFill/>
        </p:spPr>
        <p:txBody>
          <a:bodyPr wrap="none">
            <a:spAutoFit/>
          </a:bodyPr>
          <a:lstStyle/>
          <a:p>
            <a:pPr>
              <a:defRPr sz="1600"/>
            </a:pPr>
            <a:r>
              <a:rPr lang="fr-FR" dirty="0"/>
              <a:t>Au sens strict, il n’est pas possible d’utiliser une </a:t>
            </a:r>
            <a:r>
              <a:rPr lang="fr-FR" dirty="0" err="1"/>
              <a:t>Managed</a:t>
            </a:r>
            <a:r>
              <a:rPr lang="fr-FR" dirty="0"/>
              <a:t> Identity en local.</a:t>
            </a:r>
          </a:p>
          <a:p>
            <a:pPr>
              <a:defRPr sz="1600"/>
            </a:pPr>
            <a:r>
              <a:rPr lang="fr-FR" dirty="0"/>
              <a:t>Mais vous pouvez obtenir le même résultat fonctionnel avec </a:t>
            </a:r>
            <a:r>
              <a:rPr lang="fr-FR" dirty="0" err="1"/>
              <a:t>DefaultAzureCredential</a:t>
            </a:r>
            <a:r>
              <a:rPr dirty="0"/>
              <a: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63691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fournit les tokens pour Managed Identity ?</a:t>
            </a:r>
            <a:endParaRPr lang="fr-FR" sz="2000" dirty="0"/>
          </a:p>
          <a:p>
            <a:pPr marL="457200" indent="-457200">
              <a:buFont typeface="+mj-lt"/>
              <a:buAutoNum type="arabicPeriod"/>
              <a:defRPr sz="2400"/>
            </a:pPr>
            <a:r>
              <a:rPr lang="fr-FR" sz="2000" dirty="0"/>
              <a:t>Azure DevOps</a:t>
            </a:r>
          </a:p>
          <a:p>
            <a:pPr marL="457200" indent="-457200">
              <a:buFont typeface="+mj-lt"/>
              <a:buAutoNum type="arabicPeriod"/>
              <a:defRPr sz="2400"/>
            </a:pPr>
            <a:r>
              <a:rPr lang="fr-FR" sz="2000" dirty="0" err="1"/>
              <a:t>EntraID</a:t>
            </a:r>
            <a:endParaRPr lang="fr-FR" sz="2000" dirty="0"/>
          </a:p>
          <a:p>
            <a:pPr marL="457200" indent="-457200">
              <a:buFont typeface="+mj-lt"/>
              <a:buAutoNum type="arabicPeriod"/>
              <a:defRPr sz="2400"/>
            </a:pPr>
            <a:r>
              <a:rPr lang="fr-FR" sz="2000" dirty="0"/>
              <a:t>Azure SQL</a:t>
            </a:r>
          </a:p>
          <a:p>
            <a:pPr marL="457200" indent="-457200">
              <a:buFont typeface="+mj-lt"/>
              <a:buAutoNum type="arabicPeriod"/>
              <a:defRPr sz="2400"/>
            </a:pPr>
            <a:r>
              <a:rPr lang="fr-FR" sz="2000" dirty="0"/>
              <a:t>Key Vault</a:t>
            </a:r>
          </a:p>
          <a:p>
            <a:pPr>
              <a:defRPr sz="2400"/>
            </a:pPr>
            <a:endParaRPr dirty="0"/>
          </a:p>
        </p:txBody>
      </p:sp>
      <p:sp>
        <p:nvSpPr>
          <p:cNvPr id="8" name="TextBox 7"/>
          <p:cNvSpPr txBox="1"/>
          <p:nvPr/>
        </p:nvSpPr>
        <p:spPr>
          <a:xfrm>
            <a:off x="6228184" y="35658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6600653" cy="338554"/>
          </a:xfrm>
          <a:prstGeom prst="rect">
            <a:avLst/>
          </a:prstGeom>
          <a:noFill/>
        </p:spPr>
        <p:txBody>
          <a:bodyPr wrap="none">
            <a:spAutoFit/>
          </a:bodyPr>
          <a:lstStyle/>
          <a:p>
            <a:pPr>
              <a:defRPr sz="1600"/>
            </a:pPr>
            <a:r>
              <a:rPr lang="fr-FR" dirty="0" err="1"/>
              <a:t>EntraID</a:t>
            </a:r>
            <a:r>
              <a:rPr lang="fr-FR" dirty="0"/>
              <a:t> (nouveau nom de </a:t>
            </a:r>
            <a:r>
              <a:rPr dirty="0"/>
              <a:t>Azure AD</a:t>
            </a:r>
            <a:r>
              <a:rPr lang="fr-FR" dirty="0"/>
              <a:t>)</a:t>
            </a:r>
            <a:r>
              <a:rPr dirty="0"/>
              <a:t> émet les tokens d’authentification.</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27964"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19</a:t>
            </a:r>
          </a:p>
        </p:txBody>
      </p:sp>
      <p:sp>
        <p:nvSpPr>
          <p:cNvPr id="3" name="TextBox 2"/>
          <p:cNvSpPr txBox="1"/>
          <p:nvPr/>
        </p:nvSpPr>
        <p:spPr>
          <a:xfrm>
            <a:off x="467096" y="1324006"/>
            <a:ext cx="8431481" cy="2616101"/>
          </a:xfrm>
          <a:prstGeom prst="rect">
            <a:avLst/>
          </a:prstGeom>
          <a:noFill/>
        </p:spPr>
        <p:txBody>
          <a:bodyPr wrap="square">
            <a:spAutoFit/>
          </a:bodyPr>
          <a:lstStyle/>
          <a:p>
            <a:pPr>
              <a:defRPr sz="2400"/>
            </a:pPr>
            <a:r>
              <a:rPr sz="2000" dirty="0"/>
              <a:t>Quel est le principal avantage de Key Vault + Managed Identity combinés ?</a:t>
            </a:r>
            <a:endParaRPr lang="fr-FR" sz="2000" dirty="0"/>
          </a:p>
          <a:p>
            <a:pPr marL="457200" indent="-457200">
              <a:buFont typeface="+mj-lt"/>
              <a:buAutoNum type="arabicPeriod"/>
              <a:defRPr sz="2400"/>
            </a:pPr>
            <a:r>
              <a:rPr lang="fr-FR" sz="2000" dirty="0"/>
              <a:t>Plus rapide</a:t>
            </a:r>
          </a:p>
          <a:p>
            <a:pPr marL="457200" indent="-457200">
              <a:buFont typeface="+mj-lt"/>
              <a:buAutoNum type="arabicPeriod"/>
              <a:defRPr sz="2400"/>
            </a:pPr>
            <a:r>
              <a:rPr lang="fr-FR" sz="2000" dirty="0"/>
              <a:t>Moins cher</a:t>
            </a:r>
          </a:p>
          <a:p>
            <a:pPr marL="457200" indent="-457200">
              <a:buFont typeface="+mj-lt"/>
              <a:buAutoNum type="arabicPeriod"/>
              <a:defRPr sz="2400"/>
            </a:pPr>
            <a:r>
              <a:rPr lang="fr-FR" sz="2000" dirty="0"/>
              <a:t>Plus simple à coder</a:t>
            </a:r>
          </a:p>
          <a:p>
            <a:pPr marL="457200" indent="-457200">
              <a:buFont typeface="+mj-lt"/>
              <a:buAutoNum type="arabicPeriod"/>
              <a:defRPr sz="2400"/>
            </a:pPr>
            <a:r>
              <a:rPr lang="fr-FR" sz="2000" dirty="0"/>
              <a:t>Zéro secret dans le code</a:t>
            </a:r>
          </a:p>
          <a:p>
            <a:pPr marL="457200" indent="-457200">
              <a:buFont typeface="+mj-lt"/>
              <a:buAutoNum type="arabicPeriod"/>
              <a:defRPr sz="2400"/>
            </a:pPr>
            <a:endParaRPr lang="fr-FR" sz="2000" dirty="0"/>
          </a:p>
          <a:p>
            <a:pPr>
              <a:defRPr sz="2400"/>
            </a:pPr>
            <a:endParaRPr dirty="0"/>
          </a:p>
        </p:txBody>
      </p:sp>
      <p:sp>
        <p:nvSpPr>
          <p:cNvPr id="8" name="TextBox 7"/>
          <p:cNvSpPr txBox="1"/>
          <p:nvPr/>
        </p:nvSpPr>
        <p:spPr>
          <a:xfrm>
            <a:off x="6151418" y="5029200"/>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On élimine totalement les secrets dans le code.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6198" y="285293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quel cas utiliseriez-vous encore un secret dans Key Vault ?</a:t>
            </a:r>
            <a:endParaRPr lang="fr-FR" sz="2000" dirty="0"/>
          </a:p>
          <a:p>
            <a:pPr marL="457200" indent="-457200">
              <a:buFont typeface="+mj-lt"/>
              <a:buAutoNum type="arabicPeriod"/>
              <a:defRPr sz="2400"/>
            </a:pPr>
            <a:r>
              <a:rPr lang="fr-FR" sz="2000" dirty="0"/>
              <a:t>Jamais</a:t>
            </a:r>
          </a:p>
          <a:p>
            <a:pPr marL="457200" indent="-457200">
              <a:buFont typeface="+mj-lt"/>
              <a:buAutoNum type="arabicPeriod"/>
              <a:defRPr sz="2400"/>
            </a:pPr>
            <a:r>
              <a:rPr lang="fr-FR" sz="2000" dirty="0"/>
              <a:t>Pour des accès externes non compatibles Managed Identity</a:t>
            </a:r>
          </a:p>
          <a:p>
            <a:pPr marL="457200" indent="-457200">
              <a:buFont typeface="+mj-lt"/>
              <a:buAutoNum type="arabicPeriod"/>
              <a:defRPr sz="2400"/>
            </a:pPr>
            <a:r>
              <a:rPr lang="fr-FR" sz="2000" dirty="0"/>
              <a:t>Pour Azure SQL uniquement</a:t>
            </a:r>
          </a:p>
          <a:p>
            <a:pPr marL="457200" indent="-457200">
              <a:buFont typeface="+mj-lt"/>
              <a:buAutoNum type="arabicPeriod"/>
              <a:defRPr sz="2400"/>
            </a:pPr>
            <a:r>
              <a:rPr lang="fr-FR" sz="2000" dirty="0"/>
              <a:t>Pour remplacer les logs</a:t>
            </a:r>
          </a:p>
          <a:p>
            <a:pPr>
              <a:defRPr sz="2400"/>
            </a:pPr>
            <a:endParaRPr dirty="0"/>
          </a:p>
        </p:txBody>
      </p:sp>
      <p:sp>
        <p:nvSpPr>
          <p:cNvPr id="8" name="TextBox 7"/>
          <p:cNvSpPr txBox="1"/>
          <p:nvPr/>
        </p:nvSpPr>
        <p:spPr>
          <a:xfrm>
            <a:off x="6372200" y="4221088"/>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Certains services externes nécessitent encore des secrets.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5318"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86A25-1117-5417-3CB2-177FEC846523}"/>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0E91AC1-1251-E07E-A7DF-260A042F78C7}"/>
              </a:ext>
            </a:extLst>
          </p:cNvPr>
          <p:cNvSpPr>
            <a:spLocks noGrp="1"/>
          </p:cNvSpPr>
          <p:nvPr>
            <p:ph type="body" sz="quarter" idx="11"/>
          </p:nvPr>
        </p:nvSpPr>
        <p:spPr/>
        <p:txBody>
          <a:bodyPr/>
          <a:lstStyle/>
          <a:p>
            <a:r>
              <a:rPr lang="fr-FR" dirty="0"/>
              <a:t>Quizz 11</a:t>
            </a:r>
          </a:p>
        </p:txBody>
      </p:sp>
      <p:sp>
        <p:nvSpPr>
          <p:cNvPr id="3" name="Espace réservé du texte 2">
            <a:extLst>
              <a:ext uri="{FF2B5EF4-FFF2-40B4-BE49-F238E27FC236}">
                <a16:creationId xmlns:a16="http://schemas.microsoft.com/office/drawing/2014/main" id="{891F6D6E-E18D-EB36-115A-D4DD2F625185}"/>
              </a:ext>
            </a:extLst>
          </p:cNvPr>
          <p:cNvSpPr>
            <a:spLocks noGrp="1"/>
          </p:cNvSpPr>
          <p:nvPr>
            <p:ph type="body" sz="quarter" idx="12"/>
          </p:nvPr>
        </p:nvSpPr>
        <p:spPr>
          <a:xfrm>
            <a:off x="2604868" y="3501008"/>
            <a:ext cx="5624732" cy="1432560"/>
          </a:xfrm>
        </p:spPr>
        <p:txBody>
          <a:bodyPr/>
          <a:lstStyle/>
          <a:p>
            <a:r>
              <a:rPr lang="fr-FR" dirty="0"/>
              <a:t>Azure blob </a:t>
            </a:r>
            <a:r>
              <a:rPr lang="fr-FR" dirty="0" err="1"/>
              <a:t>storage</a:t>
            </a:r>
            <a:endParaRPr lang="fr-FR" dirty="0"/>
          </a:p>
        </p:txBody>
      </p:sp>
    </p:spTree>
    <p:extLst>
      <p:ext uri="{BB962C8B-B14F-4D97-AF65-F5344CB8AC3E}">
        <p14:creationId xmlns:p14="http://schemas.microsoft.com/office/powerpoint/2010/main" val="351739215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Qu’est-ce qu’Azure Blob Storage ?</a:t>
            </a:r>
            <a:endParaRPr lang="fr-FR" sz="2000" dirty="0"/>
          </a:p>
          <a:p>
            <a:pPr marL="457200" indent="-457200">
              <a:buFont typeface="+mj-lt"/>
              <a:buAutoNum type="arabicPeriod"/>
              <a:defRPr sz="2400"/>
            </a:pPr>
            <a:r>
              <a:rPr lang="fr-FR" sz="2000" dirty="0"/>
              <a:t>Une base de données relationnelle</a:t>
            </a:r>
          </a:p>
          <a:p>
            <a:pPr marL="457200" indent="-457200">
              <a:buFont typeface="+mj-lt"/>
              <a:buAutoNum type="arabicPeriod"/>
              <a:defRPr sz="2400"/>
            </a:pPr>
            <a:r>
              <a:rPr lang="fr-FR" sz="2000" dirty="0"/>
              <a:t>Un service de calcul serverless</a:t>
            </a:r>
          </a:p>
          <a:p>
            <a:pPr marL="457200" indent="-457200">
              <a:buFont typeface="+mj-lt"/>
              <a:buAutoNum type="arabicPeriod"/>
              <a:defRPr sz="2400"/>
            </a:pPr>
            <a:r>
              <a:rPr lang="fr-FR" sz="2000" dirty="0"/>
              <a:t>Un service de messagerie</a:t>
            </a:r>
          </a:p>
          <a:p>
            <a:pPr marL="457200" indent="-457200">
              <a:buFont typeface="+mj-lt"/>
              <a:buAutoNum type="arabicPeriod"/>
              <a:defRPr sz="2400"/>
            </a:pPr>
            <a:r>
              <a:rPr lang="fr-FR" sz="2000" dirty="0"/>
              <a:t>Un système de stockage d’objets</a:t>
            </a:r>
          </a:p>
          <a:p>
            <a:pPr marL="457200" indent="-457200">
              <a:buFont typeface="+mj-lt"/>
              <a:buAutoNum type="arabicPeriod"/>
              <a:defRPr sz="2400"/>
            </a:pPr>
            <a:endParaRPr lang="fr-FR" sz="2000" dirty="0"/>
          </a:p>
          <a:p>
            <a:pPr>
              <a:defRPr sz="2400"/>
            </a:pPr>
            <a:endParaRPr dirty="0"/>
          </a:p>
        </p:txBody>
      </p:sp>
      <p:sp>
        <p:nvSpPr>
          <p:cNvPr id="8" name="TextBox 7"/>
          <p:cNvSpPr txBox="1"/>
          <p:nvPr/>
        </p:nvSpPr>
        <p:spPr>
          <a:xfrm>
            <a:off x="6300192" y="4149080"/>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454272" y="5066897"/>
            <a:ext cx="3657600" cy="914400"/>
          </a:xfrm>
          <a:prstGeom prst="rect">
            <a:avLst/>
          </a:prstGeom>
          <a:noFill/>
        </p:spPr>
        <p:txBody>
          <a:bodyPr wrap="none">
            <a:spAutoFit/>
          </a:bodyPr>
          <a:lstStyle/>
          <a:p>
            <a:pPr>
              <a:defRPr sz="1600"/>
            </a:pPr>
            <a:r>
              <a:rPr dirty="0"/>
              <a:t>Azure Blob Storage est un service de stockage d’objets pour des données non structurées.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1220"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type de données est adapté à Azure Blob Storage ?</a:t>
            </a:r>
            <a:endParaRPr lang="fr-FR" sz="2000" dirty="0"/>
          </a:p>
          <a:p>
            <a:pPr marL="457200" indent="-457200">
              <a:buFont typeface="+mj-lt"/>
              <a:buAutoNum type="arabicPeriod"/>
              <a:defRPr sz="2400"/>
            </a:pPr>
            <a:r>
              <a:rPr lang="fr-FR" sz="2000" dirty="0"/>
              <a:t>Tables SQL</a:t>
            </a:r>
          </a:p>
          <a:p>
            <a:pPr marL="457200" indent="-457200">
              <a:buFont typeface="+mj-lt"/>
              <a:buAutoNum type="arabicPeriod"/>
              <a:defRPr sz="2400"/>
            </a:pPr>
            <a:r>
              <a:rPr lang="fr-FR" sz="2000" dirty="0"/>
              <a:t>Fichiers binaires volumineux</a:t>
            </a:r>
          </a:p>
          <a:p>
            <a:pPr marL="457200" indent="-457200">
              <a:buFont typeface="+mj-lt"/>
              <a:buAutoNum type="arabicPeriod"/>
              <a:defRPr sz="2400"/>
            </a:pPr>
            <a:r>
              <a:rPr lang="fr-FR" sz="2000" dirty="0"/>
              <a:t>Transactions ACID</a:t>
            </a:r>
          </a:p>
          <a:p>
            <a:pPr marL="457200" indent="-457200">
              <a:buFont typeface="+mj-lt"/>
              <a:buAutoNum type="arabicPeriod"/>
              <a:defRPr sz="2400"/>
            </a:pPr>
            <a:r>
              <a:rPr lang="fr-FR" sz="2000" dirty="0"/>
              <a:t>Logs uniquement</a:t>
            </a:r>
          </a:p>
          <a:p>
            <a:pPr>
              <a:defRPr sz="2400"/>
            </a:pPr>
            <a:endParaRPr dirty="0"/>
          </a:p>
        </p:txBody>
      </p:sp>
      <p:sp>
        <p:nvSpPr>
          <p:cNvPr id="8" name="TextBox 7"/>
          <p:cNvSpPr txBox="1"/>
          <p:nvPr/>
        </p:nvSpPr>
        <p:spPr>
          <a:xfrm>
            <a:off x="6156176" y="3198891"/>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467096" y="5425955"/>
            <a:ext cx="3657600" cy="914400"/>
          </a:xfrm>
          <a:prstGeom prst="rect">
            <a:avLst/>
          </a:prstGeom>
          <a:noFill/>
        </p:spPr>
        <p:txBody>
          <a:bodyPr wrap="none">
            <a:spAutoFit/>
          </a:bodyPr>
          <a:lstStyle/>
          <a:p>
            <a:pPr>
              <a:defRPr sz="1600"/>
            </a:pPr>
            <a:r>
              <a:rPr dirty="0"/>
              <a:t>Blob Storage est optimisé pour les fichiers non structurés comme images, vidéos, documents.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4891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Quels sont les types de blobs disponibles ?</a:t>
            </a:r>
            <a:endParaRPr lang="fr-FR" sz="2000" dirty="0"/>
          </a:p>
          <a:p>
            <a:pPr marL="457200" indent="-457200">
              <a:buFont typeface="+mj-lt"/>
              <a:buAutoNum type="arabicPeriod"/>
              <a:defRPr sz="2400"/>
            </a:pPr>
            <a:r>
              <a:rPr lang="fr-FR" sz="2000" dirty="0"/>
              <a:t>Block, Append, Page</a:t>
            </a:r>
          </a:p>
          <a:p>
            <a:pPr marL="457200" indent="-457200">
              <a:buFont typeface="+mj-lt"/>
              <a:buAutoNum type="arabicPeriod"/>
              <a:defRPr sz="2400"/>
            </a:pPr>
            <a:r>
              <a:rPr lang="fr-FR" sz="2000" dirty="0"/>
              <a:t>SQL, NoSQL, Graph</a:t>
            </a:r>
          </a:p>
          <a:p>
            <a:pPr marL="457200" indent="-457200">
              <a:buFont typeface="+mj-lt"/>
              <a:buAutoNum type="arabicPeriod"/>
              <a:defRPr sz="2400"/>
            </a:pPr>
            <a:r>
              <a:rPr lang="fr-FR" sz="2000" dirty="0"/>
              <a:t>Hot, Cold, Archive</a:t>
            </a:r>
          </a:p>
          <a:p>
            <a:pPr marL="457200" indent="-457200">
              <a:buFont typeface="+mj-lt"/>
              <a:buAutoNum type="arabicPeriod"/>
              <a:defRPr sz="2400"/>
            </a:pPr>
            <a:r>
              <a:rPr lang="fr-FR" sz="2000" dirty="0"/>
              <a:t>Queue, Table, File</a:t>
            </a:r>
          </a:p>
          <a:p>
            <a:pPr>
              <a:defRPr sz="2400"/>
            </a:pPr>
            <a:endParaRPr dirty="0"/>
          </a:p>
        </p:txBody>
      </p:sp>
      <p:sp>
        <p:nvSpPr>
          <p:cNvPr id="8" name="TextBox 7"/>
          <p:cNvSpPr txBox="1"/>
          <p:nvPr/>
        </p:nvSpPr>
        <p:spPr>
          <a:xfrm>
            <a:off x="467096" y="3139888"/>
            <a:ext cx="2345257" cy="369332"/>
          </a:xfrm>
          <a:prstGeom prst="rect">
            <a:avLst/>
          </a:prstGeom>
          <a:noFill/>
        </p:spPr>
        <p:txBody>
          <a:bodyPr wrap="none">
            <a:spAutoFit/>
          </a:bodyPr>
          <a:lstStyle/>
          <a:p>
            <a:pPr>
              <a:defRPr sz="1800" b="1"/>
            </a:pPr>
            <a:r>
              <a:rPr u="sng" dirty="0" err="1"/>
              <a:t>Réponse : 1</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017" y="1660679"/>
            <a:ext cx="557808" cy="369332"/>
          </a:xfrm>
          <a:prstGeom prst="rect">
            <a:avLst/>
          </a:prstGeom>
          <a:noFill/>
        </p:spPr>
        <p:txBody>
          <a:bodyPr wrap="square">
            <a:spAutoFit/>
          </a:bodyPr>
          <a:lstStyle/>
          <a:p>
            <a:r>
              <a:rPr lang="fr-FR" b="1" dirty="0"/>
              <a:t>✅</a:t>
            </a:r>
            <a:endParaRPr lang="fr-FR" dirty="0"/>
          </a:p>
        </p:txBody>
      </p:sp>
      <p:graphicFrame>
        <p:nvGraphicFramePr>
          <p:cNvPr id="4" name="Tableau 3">
            <a:extLst>
              <a:ext uri="{FF2B5EF4-FFF2-40B4-BE49-F238E27FC236}">
                <a16:creationId xmlns:a16="http://schemas.microsoft.com/office/drawing/2014/main" id="{58FB3C1B-8282-1A08-F22C-8F1EEFD11304}"/>
              </a:ext>
            </a:extLst>
          </p:cNvPr>
          <p:cNvGraphicFramePr>
            <a:graphicFrameLocks noGrp="1"/>
          </p:cNvGraphicFramePr>
          <p:nvPr>
            <p:extLst>
              <p:ext uri="{D42A27DB-BD31-4B8C-83A1-F6EECF244321}">
                <p14:modId xmlns:p14="http://schemas.microsoft.com/office/powerpoint/2010/main" val="113026759"/>
              </p:ext>
            </p:extLst>
          </p:nvPr>
        </p:nvGraphicFramePr>
        <p:xfrm>
          <a:off x="114794" y="4221088"/>
          <a:ext cx="8783785" cy="2072640"/>
        </p:xfrm>
        <a:graphic>
          <a:graphicData uri="http://schemas.openxmlformats.org/drawingml/2006/table">
            <a:tbl>
              <a:tblPr>
                <a:tableStyleId>{BC89EF96-8CEA-46FF-86C4-4CE0E7609802}</a:tableStyleId>
              </a:tblPr>
              <a:tblGrid>
                <a:gridCol w="1756757">
                  <a:extLst>
                    <a:ext uri="{9D8B030D-6E8A-4147-A177-3AD203B41FA5}">
                      <a16:colId xmlns:a16="http://schemas.microsoft.com/office/drawing/2014/main" val="1135913669"/>
                    </a:ext>
                  </a:extLst>
                </a:gridCol>
                <a:gridCol w="1756757">
                  <a:extLst>
                    <a:ext uri="{9D8B030D-6E8A-4147-A177-3AD203B41FA5}">
                      <a16:colId xmlns:a16="http://schemas.microsoft.com/office/drawing/2014/main" val="3083567521"/>
                    </a:ext>
                  </a:extLst>
                </a:gridCol>
                <a:gridCol w="1756757">
                  <a:extLst>
                    <a:ext uri="{9D8B030D-6E8A-4147-A177-3AD203B41FA5}">
                      <a16:colId xmlns:a16="http://schemas.microsoft.com/office/drawing/2014/main" val="1352075788"/>
                    </a:ext>
                  </a:extLst>
                </a:gridCol>
                <a:gridCol w="1756757">
                  <a:extLst>
                    <a:ext uri="{9D8B030D-6E8A-4147-A177-3AD203B41FA5}">
                      <a16:colId xmlns:a16="http://schemas.microsoft.com/office/drawing/2014/main" val="1477872219"/>
                    </a:ext>
                  </a:extLst>
                </a:gridCol>
                <a:gridCol w="1756757">
                  <a:extLst>
                    <a:ext uri="{9D8B030D-6E8A-4147-A177-3AD203B41FA5}">
                      <a16:colId xmlns:a16="http://schemas.microsoft.com/office/drawing/2014/main" val="579519503"/>
                    </a:ext>
                  </a:extLst>
                </a:gridCol>
              </a:tblGrid>
              <a:tr h="0">
                <a:tc>
                  <a:txBody>
                    <a:bodyPr/>
                    <a:lstStyle/>
                    <a:p>
                      <a:pPr>
                        <a:buNone/>
                      </a:pPr>
                      <a:r>
                        <a:rPr lang="fr-FR" sz="1600" b="1" dirty="0"/>
                        <a:t>Type</a:t>
                      </a:r>
                    </a:p>
                  </a:txBody>
                  <a:tcPr anchor="ctr"/>
                </a:tc>
                <a:tc>
                  <a:txBody>
                    <a:bodyPr/>
                    <a:lstStyle/>
                    <a:p>
                      <a:pPr>
                        <a:buNone/>
                      </a:pPr>
                      <a:r>
                        <a:rPr lang="fr-FR" sz="1600" b="1"/>
                        <a:t>Usage principal</a:t>
                      </a:r>
                    </a:p>
                  </a:txBody>
                  <a:tcPr anchor="ctr"/>
                </a:tc>
                <a:tc>
                  <a:txBody>
                    <a:bodyPr/>
                    <a:lstStyle/>
                    <a:p>
                      <a:pPr>
                        <a:buNone/>
                      </a:pPr>
                      <a:r>
                        <a:rPr lang="fr-FR" sz="1600" b="1"/>
                        <a:t>Mode d’écriture</a:t>
                      </a:r>
                    </a:p>
                  </a:txBody>
                  <a:tcPr anchor="ctr"/>
                </a:tc>
                <a:tc>
                  <a:txBody>
                    <a:bodyPr/>
                    <a:lstStyle/>
                    <a:p>
                      <a:pPr>
                        <a:buNone/>
                      </a:pPr>
                      <a:r>
                        <a:rPr lang="fr-FR" sz="1600" b="1"/>
                        <a:t>Cas typique</a:t>
                      </a:r>
                    </a:p>
                  </a:txBody>
                  <a:tcPr anchor="ctr"/>
                </a:tc>
                <a:tc>
                  <a:txBody>
                    <a:bodyPr/>
                    <a:lstStyle/>
                    <a:p>
                      <a:pPr>
                        <a:buNone/>
                      </a:pPr>
                      <a:r>
                        <a:rPr lang="fr-FR" sz="1600" b="1" dirty="0"/>
                        <a:t>À retenir</a:t>
                      </a:r>
                    </a:p>
                  </a:txBody>
                  <a:tcPr anchor="ctr"/>
                </a:tc>
                <a:extLst>
                  <a:ext uri="{0D108BD9-81ED-4DB2-BD59-A6C34878D82A}">
                    <a16:rowId xmlns:a16="http://schemas.microsoft.com/office/drawing/2014/main" val="1424964642"/>
                  </a:ext>
                </a:extLst>
              </a:tr>
              <a:tr h="0">
                <a:tc>
                  <a:txBody>
                    <a:bodyPr/>
                    <a:lstStyle/>
                    <a:p>
                      <a:pPr>
                        <a:buNone/>
                      </a:pPr>
                      <a:r>
                        <a:rPr lang="fr-FR" sz="1600"/>
                        <a:t>Block Blob</a:t>
                      </a:r>
                    </a:p>
                  </a:txBody>
                  <a:tcPr anchor="ctr"/>
                </a:tc>
                <a:tc>
                  <a:txBody>
                    <a:bodyPr/>
                    <a:lstStyle/>
                    <a:p>
                      <a:pPr>
                        <a:buNone/>
                      </a:pPr>
                      <a:r>
                        <a:rPr lang="fr-FR" sz="1600"/>
                        <a:t>Fichiers</a:t>
                      </a:r>
                    </a:p>
                  </a:txBody>
                  <a:tcPr anchor="ctr"/>
                </a:tc>
                <a:tc>
                  <a:txBody>
                    <a:bodyPr/>
                    <a:lstStyle/>
                    <a:p>
                      <a:pPr>
                        <a:buNone/>
                      </a:pPr>
                      <a:r>
                        <a:rPr lang="fr-FR" sz="1600" dirty="0" err="1"/>
                        <a:t>Upload</a:t>
                      </a:r>
                      <a:r>
                        <a:rPr lang="fr-FR" sz="1600" dirty="0"/>
                        <a:t> complet / blocs</a:t>
                      </a:r>
                    </a:p>
                  </a:txBody>
                  <a:tcPr anchor="ctr"/>
                </a:tc>
                <a:tc>
                  <a:txBody>
                    <a:bodyPr/>
                    <a:lstStyle/>
                    <a:p>
                      <a:pPr>
                        <a:buNone/>
                      </a:pPr>
                      <a:r>
                        <a:rPr lang="fr-FR" sz="1600"/>
                        <a:t>Images, PDF, vidéos</a:t>
                      </a:r>
                    </a:p>
                  </a:txBody>
                  <a:tcPr anchor="ctr"/>
                </a:tc>
                <a:tc>
                  <a:txBody>
                    <a:bodyPr/>
                    <a:lstStyle/>
                    <a:p>
                      <a:pPr>
                        <a:buNone/>
                      </a:pPr>
                      <a:r>
                        <a:rPr lang="fr-FR" sz="1600" dirty="0"/>
                        <a:t>- Par défaut</a:t>
                      </a:r>
                    </a:p>
                    <a:p>
                      <a:pPr>
                        <a:buNone/>
                      </a:pPr>
                      <a:r>
                        <a:rPr lang="fr-FR" sz="1600" dirty="0"/>
                        <a:t>- 90% des usages</a:t>
                      </a:r>
                    </a:p>
                  </a:txBody>
                  <a:tcPr anchor="ctr"/>
                </a:tc>
                <a:extLst>
                  <a:ext uri="{0D108BD9-81ED-4DB2-BD59-A6C34878D82A}">
                    <a16:rowId xmlns:a16="http://schemas.microsoft.com/office/drawing/2014/main" val="917653308"/>
                  </a:ext>
                </a:extLst>
              </a:tr>
              <a:tr h="0">
                <a:tc>
                  <a:txBody>
                    <a:bodyPr/>
                    <a:lstStyle/>
                    <a:p>
                      <a:pPr>
                        <a:buNone/>
                      </a:pPr>
                      <a:r>
                        <a:rPr lang="fr-FR" sz="1600"/>
                        <a:t>Append Blob</a:t>
                      </a:r>
                    </a:p>
                  </a:txBody>
                  <a:tcPr anchor="ctr"/>
                </a:tc>
                <a:tc>
                  <a:txBody>
                    <a:bodyPr/>
                    <a:lstStyle/>
                    <a:p>
                      <a:pPr>
                        <a:buNone/>
                      </a:pPr>
                      <a:r>
                        <a:rPr lang="fr-FR" sz="1600"/>
                        <a:t>Logs</a:t>
                      </a:r>
                    </a:p>
                  </a:txBody>
                  <a:tcPr anchor="ctr"/>
                </a:tc>
                <a:tc>
                  <a:txBody>
                    <a:bodyPr/>
                    <a:lstStyle/>
                    <a:p>
                      <a:pPr>
                        <a:buNone/>
                      </a:pPr>
                      <a:r>
                        <a:rPr lang="fr-FR" sz="1600"/>
                        <a:t>Append only</a:t>
                      </a:r>
                    </a:p>
                  </a:txBody>
                  <a:tcPr anchor="ctr"/>
                </a:tc>
                <a:tc>
                  <a:txBody>
                    <a:bodyPr/>
                    <a:lstStyle/>
                    <a:p>
                      <a:pPr>
                        <a:buNone/>
                      </a:pPr>
                      <a:r>
                        <a:rPr lang="fr-FR" sz="1600"/>
                        <a:t>Logs applicatifs, audit</a:t>
                      </a:r>
                    </a:p>
                  </a:txBody>
                  <a:tcPr anchor="ctr"/>
                </a:tc>
                <a:tc>
                  <a:txBody>
                    <a:bodyPr/>
                    <a:lstStyle/>
                    <a:p>
                      <a:pPr>
                        <a:buNone/>
                      </a:pPr>
                      <a:r>
                        <a:rPr lang="fr-FR" sz="1600"/>
                        <a:t>Logs</a:t>
                      </a:r>
                    </a:p>
                  </a:txBody>
                  <a:tcPr anchor="ctr"/>
                </a:tc>
                <a:extLst>
                  <a:ext uri="{0D108BD9-81ED-4DB2-BD59-A6C34878D82A}">
                    <a16:rowId xmlns:a16="http://schemas.microsoft.com/office/drawing/2014/main" val="3312733524"/>
                  </a:ext>
                </a:extLst>
              </a:tr>
              <a:tr h="0">
                <a:tc>
                  <a:txBody>
                    <a:bodyPr/>
                    <a:lstStyle/>
                    <a:p>
                      <a:pPr>
                        <a:buNone/>
                      </a:pPr>
                      <a:r>
                        <a:rPr lang="fr-FR" sz="1600"/>
                        <a:t>Page Blob</a:t>
                      </a:r>
                    </a:p>
                  </a:txBody>
                  <a:tcPr anchor="ctr"/>
                </a:tc>
                <a:tc>
                  <a:txBody>
                    <a:bodyPr/>
                    <a:lstStyle/>
                    <a:p>
                      <a:pPr>
                        <a:buNone/>
                      </a:pPr>
                      <a:r>
                        <a:rPr lang="fr-FR" sz="1600"/>
                        <a:t>Accès aléatoire</a:t>
                      </a:r>
                    </a:p>
                  </a:txBody>
                  <a:tcPr anchor="ctr"/>
                </a:tc>
                <a:tc>
                  <a:txBody>
                    <a:bodyPr/>
                    <a:lstStyle/>
                    <a:p>
                      <a:pPr>
                        <a:buNone/>
                      </a:pPr>
                      <a:r>
                        <a:rPr lang="fr-FR" sz="1600"/>
                        <a:t>Lecture/écriture ciblée</a:t>
                      </a:r>
                    </a:p>
                  </a:txBody>
                  <a:tcPr anchor="ctr"/>
                </a:tc>
                <a:tc>
                  <a:txBody>
                    <a:bodyPr/>
                    <a:lstStyle/>
                    <a:p>
                      <a:pPr>
                        <a:buNone/>
                      </a:pPr>
                      <a:r>
                        <a:rPr lang="fr-FR" sz="1600"/>
                        <a:t>Disques VM (VHD)</a:t>
                      </a:r>
                    </a:p>
                  </a:txBody>
                  <a:tcPr anchor="ctr"/>
                </a:tc>
                <a:tc>
                  <a:txBody>
                    <a:bodyPr/>
                    <a:lstStyle/>
                    <a:p>
                      <a:pPr>
                        <a:buNone/>
                      </a:pPr>
                      <a:r>
                        <a:rPr lang="fr-FR" sz="1600" dirty="0"/>
                        <a:t>Cas spécifiques</a:t>
                      </a:r>
                    </a:p>
                  </a:txBody>
                  <a:tcPr anchor="ctr"/>
                </a:tc>
                <a:extLst>
                  <a:ext uri="{0D108BD9-81ED-4DB2-BD59-A6C34878D82A}">
                    <a16:rowId xmlns:a16="http://schemas.microsoft.com/office/drawing/2014/main" val="961477815"/>
                  </a:ext>
                </a:extLst>
              </a:tr>
            </a:tbl>
          </a:graphicData>
        </a:graphic>
      </p:graphicFrame>
      <p:pic>
        <p:nvPicPr>
          <p:cNvPr id="6" name="Image 5">
            <a:extLst>
              <a:ext uri="{FF2B5EF4-FFF2-40B4-BE49-F238E27FC236}">
                <a16:creationId xmlns:a16="http://schemas.microsoft.com/office/drawing/2014/main" id="{2A66ACEB-EBF1-260F-4025-6B45A5F44363}"/>
              </a:ext>
            </a:extLst>
          </p:cNvPr>
          <p:cNvPicPr>
            <a:picLocks noChangeAspect="1"/>
          </p:cNvPicPr>
          <p:nvPr/>
        </p:nvPicPr>
        <p:blipFill>
          <a:blip r:embed="rId2"/>
          <a:stretch>
            <a:fillRect/>
          </a:stretch>
        </p:blipFill>
        <p:spPr>
          <a:xfrm>
            <a:off x="4618042" y="1716215"/>
            <a:ext cx="4058862" cy="2369257"/>
          </a:xfrm>
          <a:prstGeom prst="rect">
            <a:avLst/>
          </a:prstGeom>
        </p:spPr>
      </p:pic>
      <p:sp>
        <p:nvSpPr>
          <p:cNvPr id="7" name="Rectangle 6">
            <a:extLst>
              <a:ext uri="{FF2B5EF4-FFF2-40B4-BE49-F238E27FC236}">
                <a16:creationId xmlns:a16="http://schemas.microsoft.com/office/drawing/2014/main" id="{086C27AA-9043-C9F9-C59E-E4DE5409ACE3}"/>
              </a:ext>
            </a:extLst>
          </p:cNvPr>
          <p:cNvSpPr/>
          <p:nvPr/>
        </p:nvSpPr>
        <p:spPr>
          <a:xfrm>
            <a:off x="4572000" y="3645024"/>
            <a:ext cx="2376264" cy="2160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7"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rôle d’un container dans Blob Storage ?</a:t>
            </a:r>
            <a:endParaRPr lang="fr-FR" sz="2000" dirty="0"/>
          </a:p>
          <a:p>
            <a:pPr marL="457200" indent="-457200">
              <a:buFont typeface="+mj-lt"/>
              <a:buAutoNum type="arabicPeriod"/>
              <a:defRPr sz="2400"/>
            </a:pPr>
            <a:r>
              <a:rPr lang="fr-FR" sz="2000" dirty="0"/>
              <a:t>Exécuter du code</a:t>
            </a:r>
          </a:p>
          <a:p>
            <a:pPr marL="457200" indent="-457200">
              <a:buFont typeface="+mj-lt"/>
              <a:buAutoNum type="arabicPeriod"/>
              <a:defRPr sz="2400"/>
            </a:pPr>
            <a:r>
              <a:rPr lang="fr-FR" sz="2000" dirty="0"/>
              <a:t>Stocker des tables</a:t>
            </a:r>
          </a:p>
          <a:p>
            <a:pPr marL="457200" indent="-457200">
              <a:buFont typeface="+mj-lt"/>
              <a:buAutoNum type="arabicPeriod"/>
              <a:defRPr sz="2400"/>
            </a:pPr>
            <a:r>
              <a:rPr lang="fr-FR" sz="2000" dirty="0"/>
              <a:t>Organiser les blobs</a:t>
            </a:r>
          </a:p>
          <a:p>
            <a:pPr marL="457200" indent="-457200">
              <a:buFont typeface="+mj-lt"/>
              <a:buAutoNum type="arabicPeriod"/>
              <a:defRPr sz="2400"/>
            </a:pPr>
            <a:r>
              <a:rPr lang="fr-FR" sz="2000" dirty="0"/>
              <a:t>Gérer les utilisateurs</a:t>
            </a:r>
          </a:p>
          <a:p>
            <a:pPr>
              <a:defRPr sz="2400"/>
            </a:pPr>
            <a:endParaRPr dirty="0"/>
          </a:p>
        </p:txBody>
      </p:sp>
      <p:sp>
        <p:nvSpPr>
          <p:cNvPr id="8" name="TextBox 7"/>
          <p:cNvSpPr txBox="1"/>
          <p:nvPr/>
        </p:nvSpPr>
        <p:spPr>
          <a:xfrm>
            <a:off x="6012160" y="3164115"/>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Un container est un équivalent de dossier permettant d’organiser les blobs.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0486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niveau d’accès permet de rendre un blob accessible publiquement ?</a:t>
            </a:r>
            <a:endParaRPr lang="fr-FR" sz="2000" dirty="0"/>
          </a:p>
          <a:p>
            <a:pPr marL="457200" indent="-457200">
              <a:buFont typeface="+mj-lt"/>
              <a:buAutoNum type="arabicPeriod"/>
              <a:defRPr sz="2400"/>
            </a:pPr>
            <a:r>
              <a:rPr lang="fr-FR" sz="2000" dirty="0"/>
              <a:t>Blob</a:t>
            </a:r>
          </a:p>
          <a:p>
            <a:pPr marL="457200" indent="-457200">
              <a:buFont typeface="+mj-lt"/>
              <a:buAutoNum type="arabicPeriod"/>
              <a:defRPr sz="2400"/>
            </a:pPr>
            <a:r>
              <a:rPr lang="fr-FR" sz="2000" dirty="0" err="1"/>
              <a:t>Private</a:t>
            </a:r>
            <a:endParaRPr lang="fr-FR" sz="2000" dirty="0"/>
          </a:p>
          <a:p>
            <a:pPr marL="457200" indent="-457200">
              <a:buFont typeface="+mj-lt"/>
              <a:buAutoNum type="arabicPeriod"/>
              <a:defRPr sz="2400"/>
            </a:pPr>
            <a:r>
              <a:rPr lang="fr-FR" sz="2000" dirty="0"/>
              <a:t>Secure</a:t>
            </a:r>
          </a:p>
          <a:p>
            <a:pPr marL="457200" indent="-457200">
              <a:buFont typeface="+mj-lt"/>
              <a:buAutoNum type="arabicPeriod"/>
              <a:defRPr sz="2400"/>
            </a:pPr>
            <a:r>
              <a:rPr lang="fr-FR" sz="2000" dirty="0"/>
              <a:t>Encrypted</a:t>
            </a:r>
          </a:p>
          <a:p>
            <a:pPr>
              <a:defRPr sz="2400"/>
            </a:pPr>
            <a:endParaRPr dirty="0"/>
          </a:p>
        </p:txBody>
      </p:sp>
      <p:sp>
        <p:nvSpPr>
          <p:cNvPr id="8" name="TextBox 7"/>
          <p:cNvSpPr txBox="1"/>
          <p:nvPr/>
        </p:nvSpPr>
        <p:spPr>
          <a:xfrm>
            <a:off x="5940152" y="2139614"/>
            <a:ext cx="1427635" cy="369332"/>
          </a:xfrm>
          <a:prstGeom prst="rect">
            <a:avLst/>
          </a:prstGeom>
          <a:noFill/>
        </p:spPr>
        <p:txBody>
          <a:bodyPr wrap="none">
            <a:spAutoFit/>
          </a:bodyPr>
          <a:lstStyle/>
          <a:p>
            <a:pPr>
              <a:defRPr sz="1800" b="1"/>
            </a:pPr>
            <a:r>
              <a:rPr u="sng" dirty="0" err="1"/>
              <a:t>Réponse</a:t>
            </a:r>
            <a:r>
              <a:rPr u="sng" dirty="0"/>
              <a:t> : </a:t>
            </a:r>
            <a:r>
              <a:rPr lang="fr-FR" u="sng" dirty="0"/>
              <a:t>1</a:t>
            </a:r>
            <a:endParaRPr u="sng" dirty="0" err="1"/>
          </a:p>
        </p:txBody>
      </p:sp>
      <p:sp>
        <p:nvSpPr>
          <p:cNvPr id="9" name="TextBox 8"/>
          <p:cNvSpPr txBox="1"/>
          <p:nvPr/>
        </p:nvSpPr>
        <p:spPr>
          <a:xfrm>
            <a:off x="1025236" y="2971800"/>
            <a:ext cx="3657600" cy="914400"/>
          </a:xfrm>
          <a:prstGeom prst="rect">
            <a:avLst/>
          </a:prstGeom>
          <a:noFill/>
        </p:spPr>
        <p:txBody>
          <a:bodyPr wrap="none">
            <a:spAutoFit/>
          </a:bodyPr>
          <a:lstStyle/>
          <a:p>
            <a:pPr>
              <a:defRPr sz="1600"/>
            </a:pPr>
            <a:r>
              <a:rPr dirty="0"/>
              <a:t>Le niveau 'Blob' permet un accès public aux blobs.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90712" y="1621641"/>
            <a:ext cx="557808" cy="369332"/>
          </a:xfrm>
          <a:prstGeom prst="rect">
            <a:avLst/>
          </a:prstGeom>
          <a:noFill/>
        </p:spPr>
        <p:txBody>
          <a:bodyPr wrap="square">
            <a:spAutoFit/>
          </a:bodyPr>
          <a:lstStyle/>
          <a:p>
            <a:r>
              <a:rPr lang="fr-FR" b="1" dirty="0"/>
              <a:t>✅</a:t>
            </a:r>
            <a:endParaRPr lang="fr-FR" dirty="0"/>
          </a:p>
        </p:txBody>
      </p:sp>
      <p:pic>
        <p:nvPicPr>
          <p:cNvPr id="5" name="Image 4">
            <a:extLst>
              <a:ext uri="{FF2B5EF4-FFF2-40B4-BE49-F238E27FC236}">
                <a16:creationId xmlns:a16="http://schemas.microsoft.com/office/drawing/2014/main" id="{64CB692D-10E5-3355-50EA-B2EDF0016696}"/>
              </a:ext>
            </a:extLst>
          </p:cNvPr>
          <p:cNvPicPr>
            <a:picLocks noChangeAspect="1"/>
          </p:cNvPicPr>
          <p:nvPr/>
        </p:nvPicPr>
        <p:blipFill>
          <a:blip r:embed="rId2"/>
          <a:stretch>
            <a:fillRect/>
          </a:stretch>
        </p:blipFill>
        <p:spPr>
          <a:xfrm>
            <a:off x="114794" y="4113814"/>
            <a:ext cx="5040560" cy="1535508"/>
          </a:xfrm>
          <a:prstGeom prst="rect">
            <a:avLst/>
          </a:prstGeom>
        </p:spPr>
      </p:pic>
      <p:pic>
        <p:nvPicPr>
          <p:cNvPr id="7" name="Image 6">
            <a:extLst>
              <a:ext uri="{FF2B5EF4-FFF2-40B4-BE49-F238E27FC236}">
                <a16:creationId xmlns:a16="http://schemas.microsoft.com/office/drawing/2014/main" id="{EE1F0B97-67D3-342C-7ED5-5A47E867C8FE}"/>
              </a:ext>
            </a:extLst>
          </p:cNvPr>
          <p:cNvPicPr>
            <a:picLocks noChangeAspect="1"/>
          </p:cNvPicPr>
          <p:nvPr/>
        </p:nvPicPr>
        <p:blipFill>
          <a:blip r:embed="rId3"/>
          <a:stretch>
            <a:fillRect/>
          </a:stretch>
        </p:blipFill>
        <p:spPr>
          <a:xfrm>
            <a:off x="5279028" y="3886200"/>
            <a:ext cx="3866142" cy="24398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SDK est utilisé en C# pour accéder à Blob Storage ?</a:t>
            </a:r>
            <a:endParaRPr lang="fr-FR" sz="2000" dirty="0"/>
          </a:p>
          <a:p>
            <a:pPr marL="457200" indent="-457200">
              <a:buFont typeface="+mj-lt"/>
              <a:buAutoNum type="arabicPeriod"/>
              <a:defRPr sz="2400"/>
            </a:pPr>
            <a:r>
              <a:rPr lang="fr-FR" sz="2000" dirty="0" err="1"/>
              <a:t>Microsoft.Data.SqlClient</a:t>
            </a:r>
            <a:endParaRPr lang="fr-FR" sz="2000" dirty="0"/>
          </a:p>
          <a:p>
            <a:pPr marL="457200" indent="-457200">
              <a:buFont typeface="+mj-lt"/>
              <a:buAutoNum type="arabicPeriod"/>
              <a:defRPr sz="2400"/>
            </a:pPr>
            <a:r>
              <a:rPr lang="fr-FR" sz="2000" dirty="0"/>
              <a:t>Azure.Identity</a:t>
            </a:r>
          </a:p>
          <a:p>
            <a:pPr marL="457200" indent="-457200">
              <a:buFont typeface="+mj-lt"/>
              <a:buAutoNum type="arabicPeriod"/>
              <a:defRPr sz="2400"/>
            </a:pPr>
            <a:r>
              <a:rPr lang="fr-FR" sz="2000" dirty="0" err="1"/>
              <a:t>Newtonsoft.Json</a:t>
            </a:r>
            <a:endParaRPr lang="fr-FR" sz="2000" dirty="0"/>
          </a:p>
          <a:p>
            <a:pPr marL="457200" indent="-457200">
              <a:buFont typeface="+mj-lt"/>
              <a:buAutoNum type="arabicPeriod"/>
              <a:defRPr sz="2400"/>
            </a:pPr>
            <a:r>
              <a:rPr lang="fr-FR" sz="2000" dirty="0" err="1"/>
              <a:t>Azure.Storage.Blobs</a:t>
            </a:r>
            <a:endParaRPr lang="fr-FR" sz="2000" dirty="0"/>
          </a:p>
          <a:p>
            <a:pPr>
              <a:defRPr sz="2400"/>
            </a:pPr>
            <a:endParaRPr dirty="0"/>
          </a:p>
        </p:txBody>
      </p:sp>
      <p:sp>
        <p:nvSpPr>
          <p:cNvPr id="8" name="TextBox 7"/>
          <p:cNvSpPr txBox="1"/>
          <p:nvPr/>
        </p:nvSpPr>
        <p:spPr>
          <a:xfrm>
            <a:off x="6151418" y="5029200"/>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 SDK principal est Azure.Storage.Blobs.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classe permet de manipuler un container ?</a:t>
            </a:r>
            <a:endParaRPr lang="fr-FR" sz="2000" dirty="0"/>
          </a:p>
          <a:p>
            <a:pPr marL="457200" indent="-457200">
              <a:buFont typeface="+mj-lt"/>
              <a:buAutoNum type="arabicPeriod"/>
              <a:defRPr sz="2400"/>
            </a:pPr>
            <a:r>
              <a:rPr lang="fr-FR" sz="2000" dirty="0"/>
              <a:t>BlobClient</a:t>
            </a:r>
          </a:p>
          <a:p>
            <a:pPr marL="457200" indent="-457200">
              <a:buFont typeface="+mj-lt"/>
              <a:buAutoNum type="arabicPeriod"/>
              <a:defRPr sz="2400"/>
            </a:pPr>
            <a:r>
              <a:rPr lang="fr-FR" sz="2000" dirty="0"/>
              <a:t>BlobContainerClient</a:t>
            </a:r>
          </a:p>
          <a:p>
            <a:pPr marL="457200" indent="-457200">
              <a:buFont typeface="+mj-lt"/>
              <a:buAutoNum type="arabicPeriod"/>
              <a:defRPr sz="2400"/>
            </a:pPr>
            <a:r>
              <a:rPr lang="fr-FR" sz="2000" dirty="0"/>
              <a:t>StorageClient</a:t>
            </a:r>
          </a:p>
          <a:p>
            <a:pPr marL="457200" indent="-457200">
              <a:buFont typeface="+mj-lt"/>
              <a:buAutoNum type="arabicPeriod"/>
              <a:defRPr sz="2400"/>
            </a:pPr>
            <a:r>
              <a:rPr lang="fr-FR" sz="2000" dirty="0"/>
              <a:t>ContainerManager</a:t>
            </a:r>
          </a:p>
          <a:p>
            <a:pPr>
              <a:defRPr sz="2400"/>
            </a:pPr>
            <a:endParaRPr dirty="0"/>
          </a:p>
        </p:txBody>
      </p:sp>
      <p:sp>
        <p:nvSpPr>
          <p:cNvPr id="8" name="TextBox 7"/>
          <p:cNvSpPr txBox="1"/>
          <p:nvPr/>
        </p:nvSpPr>
        <p:spPr>
          <a:xfrm>
            <a:off x="6151418" y="502920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BlobContainerClient permet de manipuler un container.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981" y="194891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méthode permet d’uploader un fichier ?</a:t>
            </a:r>
            <a:endParaRPr lang="fr-FR" sz="2000" dirty="0"/>
          </a:p>
          <a:p>
            <a:pPr marL="457200" indent="-457200">
              <a:buFont typeface="+mj-lt"/>
              <a:buAutoNum type="arabicPeriod"/>
              <a:defRPr sz="2400"/>
            </a:pPr>
            <a:r>
              <a:rPr lang="fr-FR" sz="2000" dirty="0"/>
              <a:t>UploadAsync</a:t>
            </a:r>
          </a:p>
          <a:p>
            <a:pPr marL="457200" indent="-457200">
              <a:buFont typeface="+mj-lt"/>
              <a:buAutoNum type="arabicPeriod"/>
              <a:defRPr sz="2400"/>
            </a:pPr>
            <a:r>
              <a:rPr lang="fr-FR" sz="2000" dirty="0"/>
              <a:t>SendAsync</a:t>
            </a:r>
          </a:p>
          <a:p>
            <a:pPr marL="457200" indent="-457200">
              <a:buFont typeface="+mj-lt"/>
              <a:buAutoNum type="arabicPeriod"/>
              <a:defRPr sz="2400"/>
            </a:pPr>
            <a:r>
              <a:rPr lang="fr-FR" sz="2000" dirty="0"/>
              <a:t>WriteAsync</a:t>
            </a:r>
          </a:p>
          <a:p>
            <a:pPr marL="457200" indent="-457200">
              <a:buFont typeface="+mj-lt"/>
              <a:buAutoNum type="arabicPeriod"/>
              <a:defRPr sz="2400"/>
            </a:pPr>
            <a:r>
              <a:rPr lang="fr-FR" sz="2000" dirty="0"/>
              <a:t>PushAsync</a:t>
            </a:r>
          </a:p>
          <a:p>
            <a:pPr>
              <a:defRPr sz="2400"/>
            </a:pPr>
            <a:endParaRPr dirty="0"/>
          </a:p>
        </p:txBody>
      </p:sp>
      <p:sp>
        <p:nvSpPr>
          <p:cNvPr id="8" name="TextBox 7"/>
          <p:cNvSpPr txBox="1"/>
          <p:nvPr/>
        </p:nvSpPr>
        <p:spPr>
          <a:xfrm>
            <a:off x="6544363" y="332524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UploadAsync est utilisée pour envoyer un fichier dans un blob.</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609" y="162880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méthode permet de télécharger un blob ?</a:t>
            </a:r>
            <a:endParaRPr lang="fr-FR" sz="2000" dirty="0"/>
          </a:p>
          <a:p>
            <a:pPr marL="457200" indent="-457200">
              <a:buFont typeface="+mj-lt"/>
              <a:buAutoNum type="arabicPeriod"/>
              <a:defRPr sz="2400"/>
            </a:pPr>
            <a:r>
              <a:rPr lang="fr-FR" sz="2000" dirty="0"/>
              <a:t>GetAsync</a:t>
            </a:r>
          </a:p>
          <a:p>
            <a:pPr marL="457200" indent="-457200">
              <a:buFont typeface="+mj-lt"/>
              <a:buAutoNum type="arabicPeriod"/>
              <a:defRPr sz="2400"/>
            </a:pPr>
            <a:r>
              <a:rPr lang="fr-FR" sz="2000" dirty="0"/>
              <a:t>DownloadAsync</a:t>
            </a:r>
          </a:p>
          <a:p>
            <a:pPr marL="457200" indent="-457200">
              <a:buFont typeface="+mj-lt"/>
              <a:buAutoNum type="arabicPeriod"/>
              <a:defRPr sz="2400"/>
            </a:pPr>
            <a:r>
              <a:rPr lang="fr-FR" sz="2000" dirty="0"/>
              <a:t>ReadAsync</a:t>
            </a:r>
          </a:p>
          <a:p>
            <a:pPr marL="457200" indent="-457200">
              <a:buFont typeface="+mj-lt"/>
              <a:buAutoNum type="arabicPeriod"/>
              <a:defRPr sz="2400"/>
            </a:pPr>
            <a:r>
              <a:rPr lang="fr-FR" sz="2000" dirty="0"/>
              <a:t>FetchAsync</a:t>
            </a:r>
          </a:p>
          <a:p>
            <a:pPr>
              <a:defRPr sz="2400"/>
            </a:pPr>
            <a:endParaRPr dirty="0"/>
          </a:p>
        </p:txBody>
      </p:sp>
      <p:sp>
        <p:nvSpPr>
          <p:cNvPr id="8" name="TextBox 7"/>
          <p:cNvSpPr txBox="1"/>
          <p:nvPr/>
        </p:nvSpPr>
        <p:spPr>
          <a:xfrm>
            <a:off x="6084168" y="3509910"/>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DownloadAsync permet de récupérer un blob.</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3968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Qu’est-ce qu’une Managed Identity permet dans Blob Storage ?</a:t>
            </a:r>
            <a:endParaRPr lang="fr-FR" sz="2000" dirty="0"/>
          </a:p>
          <a:p>
            <a:pPr marL="457200" indent="-457200">
              <a:buFont typeface="+mj-lt"/>
              <a:buAutoNum type="arabicPeriod"/>
              <a:defRPr sz="2400"/>
            </a:pPr>
            <a:r>
              <a:rPr lang="fr-FR" sz="2000" dirty="0"/>
              <a:t>Stocker des fichiers</a:t>
            </a:r>
          </a:p>
          <a:p>
            <a:pPr marL="457200" indent="-457200">
              <a:buFont typeface="+mj-lt"/>
              <a:buAutoNum type="arabicPeriod"/>
              <a:defRPr sz="2400"/>
            </a:pPr>
            <a:r>
              <a:rPr lang="fr-FR" sz="2000" dirty="0"/>
              <a:t>Remplacer une base de données</a:t>
            </a:r>
          </a:p>
          <a:p>
            <a:pPr marL="457200" indent="-457200">
              <a:buFont typeface="+mj-lt"/>
              <a:buAutoNum type="arabicPeriod"/>
              <a:defRPr sz="2400"/>
            </a:pPr>
            <a:r>
              <a:rPr lang="fr-FR" sz="2000" dirty="0"/>
              <a:t>S’authentifier sans mot de passe</a:t>
            </a:r>
          </a:p>
          <a:p>
            <a:pPr marL="457200" indent="-457200">
              <a:buFont typeface="+mj-lt"/>
              <a:buAutoNum type="arabicPeriod"/>
              <a:defRPr sz="2400"/>
            </a:pPr>
            <a:r>
              <a:rPr lang="fr-FR" sz="2000" dirty="0"/>
              <a:t>Compresser les blobs</a:t>
            </a:r>
          </a:p>
          <a:p>
            <a:pPr>
              <a:defRPr sz="2400"/>
            </a:pPr>
            <a:endParaRPr dirty="0"/>
          </a:p>
        </p:txBody>
      </p:sp>
      <p:sp>
        <p:nvSpPr>
          <p:cNvPr id="8" name="TextBox 7"/>
          <p:cNvSpPr txBox="1"/>
          <p:nvPr/>
        </p:nvSpPr>
        <p:spPr>
          <a:xfrm>
            <a:off x="6228184" y="3692407"/>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Elle permet d’accéder aux ressources sans stocker de credentials.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0486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11</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Quel rôle RBAC est nécessaire pour lire/écrire des blobs ?</a:t>
            </a:r>
            <a:endParaRPr lang="fr-FR" sz="2000" dirty="0"/>
          </a:p>
          <a:p>
            <a:pPr marL="457200" indent="-457200">
              <a:buFont typeface="+mj-lt"/>
              <a:buAutoNum type="arabicPeriod"/>
              <a:defRPr sz="2400"/>
            </a:pPr>
            <a:r>
              <a:rPr lang="fr-FR" sz="2000" dirty="0"/>
              <a:t>Reader</a:t>
            </a:r>
          </a:p>
          <a:p>
            <a:pPr marL="457200" indent="-457200">
              <a:buFont typeface="+mj-lt"/>
              <a:buAutoNum type="arabicPeriod"/>
              <a:defRPr sz="2400"/>
            </a:pPr>
            <a:r>
              <a:rPr lang="fr-FR" sz="2000" dirty="0" err="1"/>
              <a:t>Owner</a:t>
            </a:r>
            <a:endParaRPr lang="fr-FR" sz="2000" dirty="0"/>
          </a:p>
          <a:p>
            <a:pPr marL="457200" indent="-457200">
              <a:buFont typeface="+mj-lt"/>
              <a:buAutoNum type="arabicPeriod"/>
              <a:defRPr sz="2400"/>
            </a:pPr>
            <a:r>
              <a:rPr lang="fr-FR" sz="2000" dirty="0"/>
              <a:t>Storage Admin</a:t>
            </a:r>
          </a:p>
          <a:p>
            <a:pPr marL="457200" indent="-457200">
              <a:buFont typeface="+mj-lt"/>
              <a:buAutoNum type="arabicPeriod"/>
              <a:defRPr sz="2400"/>
            </a:pPr>
            <a:r>
              <a:rPr lang="fr-FR" sz="2000" dirty="0"/>
              <a:t>Storage Blob Data </a:t>
            </a:r>
            <a:r>
              <a:rPr lang="fr-FR" sz="2000" dirty="0" err="1"/>
              <a:t>Contributor</a:t>
            </a:r>
            <a:endParaRPr lang="fr-FR" sz="2000" dirty="0"/>
          </a:p>
          <a:p>
            <a:pPr marL="457200" indent="-457200">
              <a:buFont typeface="+mj-lt"/>
              <a:buAutoNum type="arabicPeriod"/>
              <a:defRPr sz="2400"/>
            </a:pPr>
            <a:endParaRPr lang="fr-FR" sz="2000" dirty="0"/>
          </a:p>
          <a:p>
            <a:pPr>
              <a:defRPr sz="2400"/>
            </a:pPr>
            <a:endParaRPr dirty="0"/>
          </a:p>
        </p:txBody>
      </p:sp>
      <p:sp>
        <p:nvSpPr>
          <p:cNvPr id="8" name="TextBox 7"/>
          <p:cNvSpPr txBox="1"/>
          <p:nvPr/>
        </p:nvSpPr>
        <p:spPr>
          <a:xfrm>
            <a:off x="6372200" y="4085212"/>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 rôle Storage Blob Data Contributor permet lecture/écriture.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1984" y="250908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est la différence entre Hot et Archive ?</a:t>
            </a:r>
            <a:endParaRPr lang="fr-FR" sz="2000" dirty="0"/>
          </a:p>
          <a:p>
            <a:pPr marL="457200" indent="-457200">
              <a:buFont typeface="+mj-lt"/>
              <a:buAutoNum type="arabicPeriod"/>
              <a:defRPr sz="2400"/>
            </a:pPr>
            <a:r>
              <a:rPr lang="fr-FR" sz="2000" dirty="0"/>
              <a:t>Hot est plus lent</a:t>
            </a:r>
          </a:p>
          <a:p>
            <a:pPr marL="457200" indent="-457200">
              <a:buFont typeface="+mj-lt"/>
              <a:buAutoNum type="arabicPeriod"/>
              <a:defRPr sz="2400"/>
            </a:pPr>
            <a:r>
              <a:rPr lang="fr-FR" sz="2000" dirty="0"/>
              <a:t>Archive est plus cher</a:t>
            </a:r>
          </a:p>
          <a:p>
            <a:pPr marL="457200" indent="-457200">
              <a:buFont typeface="+mj-lt"/>
              <a:buAutoNum type="arabicPeriod"/>
              <a:defRPr sz="2400"/>
            </a:pPr>
            <a:r>
              <a:rPr lang="fr-FR" sz="2000" dirty="0"/>
              <a:t>Archive est moins cher mais lent</a:t>
            </a:r>
          </a:p>
          <a:p>
            <a:pPr marL="457200" indent="-457200">
              <a:buFont typeface="+mj-lt"/>
              <a:buAutoNum type="arabicPeriod"/>
              <a:defRPr sz="2400"/>
            </a:pPr>
            <a:r>
              <a:rPr lang="fr-FR" sz="2000" dirty="0"/>
              <a:t>Aucune différence</a:t>
            </a:r>
          </a:p>
          <a:p>
            <a:pPr>
              <a:defRPr sz="2400"/>
            </a:pPr>
            <a:endParaRPr dirty="0"/>
          </a:p>
        </p:txBody>
      </p:sp>
      <p:sp>
        <p:nvSpPr>
          <p:cNvPr id="8" name="TextBox 7"/>
          <p:cNvSpPr txBox="1"/>
          <p:nvPr/>
        </p:nvSpPr>
        <p:spPr>
          <a:xfrm>
            <a:off x="6444208" y="3861048"/>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58416" y="4930239"/>
            <a:ext cx="5258619" cy="1569660"/>
          </a:xfrm>
          <a:prstGeom prst="rect">
            <a:avLst/>
          </a:prstGeom>
          <a:noFill/>
        </p:spPr>
        <p:txBody>
          <a:bodyPr wrap="none">
            <a:spAutoFit/>
          </a:bodyPr>
          <a:lstStyle/>
          <a:p>
            <a:pPr>
              <a:defRPr sz="1600"/>
            </a:pPr>
            <a:r>
              <a:rPr dirty="0"/>
              <a:t>Archive est moins cher mais avec un temps d’accès long.</a:t>
            </a:r>
            <a:br>
              <a:rPr lang="fr-FR" dirty="0"/>
            </a:br>
            <a:r>
              <a:rPr lang="fr-FR" dirty="0"/>
              <a:t>Il existe 3 tiers :</a:t>
            </a:r>
          </a:p>
          <a:p>
            <a:pPr marL="285750" indent="-285750">
              <a:buFontTx/>
              <a:buChar char="-"/>
              <a:defRPr sz="1600"/>
            </a:pPr>
            <a:r>
              <a:rPr lang="fr-FR" dirty="0"/>
              <a:t>Hot</a:t>
            </a:r>
          </a:p>
          <a:p>
            <a:pPr marL="285750" indent="-285750">
              <a:buFontTx/>
              <a:buChar char="-"/>
              <a:defRPr sz="1600"/>
            </a:pPr>
            <a:r>
              <a:rPr lang="fr-FR" dirty="0"/>
              <a:t>Cool</a:t>
            </a:r>
          </a:p>
          <a:p>
            <a:pPr marL="285750" indent="-285750">
              <a:buFontTx/>
              <a:buChar char="-"/>
              <a:defRPr sz="1600"/>
            </a:pPr>
            <a:r>
              <a:rPr lang="fr-FR" dirty="0"/>
              <a:t>Cold</a:t>
            </a:r>
          </a:p>
          <a:p>
            <a:pPr marL="285750" indent="-285750">
              <a:buFontTx/>
              <a:buChar char="-"/>
              <a:defRPr sz="1600"/>
            </a:pPr>
            <a:r>
              <a:rPr lang="fr-FR" dirty="0"/>
              <a:t>Archive</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9492" y="220486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47D94-DFA6-3D50-E619-A62764EDF05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3F75E9C-D2F1-8468-F028-ADC65D0B188A}"/>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9510A75B-E5CF-0C21-E02A-8AD55DC805BE}"/>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r>
              <a:rPr lang="fr-FR" sz="3200" dirty="0"/>
              <a:t> bis</a:t>
            </a:r>
            <a:endParaRPr sz="3200" dirty="0"/>
          </a:p>
        </p:txBody>
      </p:sp>
      <p:sp>
        <p:nvSpPr>
          <p:cNvPr id="3" name="TextBox 2">
            <a:extLst>
              <a:ext uri="{FF2B5EF4-FFF2-40B4-BE49-F238E27FC236}">
                <a16:creationId xmlns:a16="http://schemas.microsoft.com/office/drawing/2014/main" id="{A3C2FD54-7998-C7CF-3FAB-70438D525C7A}"/>
              </a:ext>
            </a:extLst>
          </p:cNvPr>
          <p:cNvSpPr txBox="1"/>
          <p:nvPr/>
        </p:nvSpPr>
        <p:spPr>
          <a:xfrm>
            <a:off x="467096" y="1324006"/>
            <a:ext cx="8431481" cy="1938992"/>
          </a:xfrm>
          <a:prstGeom prst="rect">
            <a:avLst/>
          </a:prstGeom>
          <a:noFill/>
        </p:spPr>
        <p:txBody>
          <a:bodyPr wrap="square">
            <a:spAutoFit/>
          </a:bodyPr>
          <a:lstStyle/>
          <a:p>
            <a:pPr>
              <a:defRPr sz="2400"/>
            </a:pPr>
            <a:r>
              <a:rPr lang="fr-FR" sz="2000" dirty="0"/>
              <a:t>Où peut-on configurer le tier (</a:t>
            </a:r>
            <a:r>
              <a:rPr sz="2000" dirty="0"/>
              <a:t>Hot </a:t>
            </a:r>
            <a:r>
              <a:rPr lang="fr-FR" sz="2000" dirty="0"/>
              <a:t>/ Cool /</a:t>
            </a:r>
            <a:r>
              <a:rPr sz="2000" dirty="0"/>
              <a:t> Archive</a:t>
            </a:r>
            <a:r>
              <a:rPr lang="fr-FR" sz="2000" dirty="0"/>
              <a:t>) dans Azure Blob Storage ?</a:t>
            </a:r>
          </a:p>
          <a:p>
            <a:pPr marL="457200" indent="-457200">
              <a:buFont typeface="+mj-lt"/>
              <a:buAutoNum type="arabicPeriod"/>
              <a:defRPr sz="2400"/>
            </a:pPr>
            <a:r>
              <a:rPr lang="fr-FR" sz="2000" dirty="0"/>
              <a:t>Au niveau du container uniquement</a:t>
            </a:r>
          </a:p>
          <a:p>
            <a:pPr marL="457200" indent="-457200">
              <a:buFont typeface="+mj-lt"/>
              <a:buAutoNum type="arabicPeriod"/>
              <a:defRPr sz="2400"/>
            </a:pPr>
            <a:r>
              <a:rPr lang="fr-FR" sz="2000" dirty="0"/>
              <a:t>Au niveau du blob uniquement</a:t>
            </a:r>
          </a:p>
          <a:p>
            <a:pPr marL="457200" indent="-457200">
              <a:buFont typeface="+mj-lt"/>
              <a:buAutoNum type="arabicPeriod"/>
              <a:defRPr sz="2400"/>
            </a:pPr>
            <a:r>
              <a:rPr lang="fr-FR" sz="2000" dirty="0"/>
              <a:t>Au niveau du </a:t>
            </a:r>
            <a:r>
              <a:rPr lang="fr-FR" sz="2000" dirty="0" err="1"/>
              <a:t>storage</a:t>
            </a:r>
            <a:r>
              <a:rPr lang="fr-FR" sz="2000" dirty="0"/>
              <a:t> </a:t>
            </a:r>
            <a:r>
              <a:rPr lang="fr-FR" sz="2000" dirty="0" err="1"/>
              <a:t>account</a:t>
            </a:r>
            <a:r>
              <a:rPr lang="fr-FR" sz="2000" dirty="0"/>
              <a:t> et du blob</a:t>
            </a:r>
          </a:p>
          <a:p>
            <a:pPr marL="457200" indent="-457200">
              <a:buFont typeface="+mj-lt"/>
              <a:buAutoNum type="arabicPeriod"/>
              <a:defRPr sz="2400"/>
            </a:pPr>
            <a:r>
              <a:rPr lang="fr-FR" sz="2000" dirty="0"/>
              <a:t>Au niveau d’Azure AD</a:t>
            </a:r>
            <a:endParaRPr dirty="0"/>
          </a:p>
        </p:txBody>
      </p:sp>
      <p:sp>
        <p:nvSpPr>
          <p:cNvPr id="8" name="TextBox 7">
            <a:extLst>
              <a:ext uri="{FF2B5EF4-FFF2-40B4-BE49-F238E27FC236}">
                <a16:creationId xmlns:a16="http://schemas.microsoft.com/office/drawing/2014/main" id="{75388E45-28DC-7F40-FDD3-84F18F55C9D1}"/>
              </a:ext>
            </a:extLst>
          </p:cNvPr>
          <p:cNvSpPr txBox="1"/>
          <p:nvPr/>
        </p:nvSpPr>
        <p:spPr>
          <a:xfrm>
            <a:off x="6372200" y="2935461"/>
            <a:ext cx="2345257" cy="369332"/>
          </a:xfrm>
          <a:prstGeom prst="rect">
            <a:avLst/>
          </a:prstGeom>
          <a:noFill/>
        </p:spPr>
        <p:txBody>
          <a:bodyPr wrap="none">
            <a:spAutoFit/>
          </a:bodyPr>
          <a:lstStyle/>
          <a:p>
            <a:pPr>
              <a:defRPr sz="1800" b="1"/>
            </a:pPr>
            <a:r>
              <a:rPr u="sng" dirty="0" err="1"/>
              <a:t>Réponse : 3</a:t>
            </a:r>
          </a:p>
        </p:txBody>
      </p:sp>
      <p:sp>
        <p:nvSpPr>
          <p:cNvPr id="13" name="ZoneTexte 12">
            <a:extLst>
              <a:ext uri="{FF2B5EF4-FFF2-40B4-BE49-F238E27FC236}">
                <a16:creationId xmlns:a16="http://schemas.microsoft.com/office/drawing/2014/main" id="{A0147A9C-2E48-1CCA-BA84-78C71FE61EFD}"/>
              </a:ext>
            </a:extLst>
          </p:cNvPr>
          <p:cNvSpPr txBox="1"/>
          <p:nvPr/>
        </p:nvSpPr>
        <p:spPr>
          <a:xfrm>
            <a:off x="0" y="2564904"/>
            <a:ext cx="557808" cy="369332"/>
          </a:xfrm>
          <a:prstGeom prst="rect">
            <a:avLst/>
          </a:prstGeom>
          <a:noFill/>
        </p:spPr>
        <p:txBody>
          <a:bodyPr wrap="square">
            <a:spAutoFit/>
          </a:bodyPr>
          <a:lstStyle/>
          <a:p>
            <a:r>
              <a:rPr lang="fr-FR" b="1" dirty="0"/>
              <a:t>✅</a:t>
            </a:r>
            <a:endParaRPr lang="fr-FR" dirty="0"/>
          </a:p>
        </p:txBody>
      </p:sp>
      <p:pic>
        <p:nvPicPr>
          <p:cNvPr id="5" name="Image 4">
            <a:extLst>
              <a:ext uri="{FF2B5EF4-FFF2-40B4-BE49-F238E27FC236}">
                <a16:creationId xmlns:a16="http://schemas.microsoft.com/office/drawing/2014/main" id="{343F74D8-4B00-F419-6596-C4D78DA9B5B4}"/>
              </a:ext>
            </a:extLst>
          </p:cNvPr>
          <p:cNvPicPr>
            <a:picLocks noChangeAspect="1"/>
          </p:cNvPicPr>
          <p:nvPr/>
        </p:nvPicPr>
        <p:blipFill>
          <a:blip r:embed="rId2"/>
          <a:stretch>
            <a:fillRect/>
          </a:stretch>
        </p:blipFill>
        <p:spPr>
          <a:xfrm>
            <a:off x="346505" y="3490095"/>
            <a:ext cx="4820081" cy="1088533"/>
          </a:xfrm>
          <a:prstGeom prst="rect">
            <a:avLst/>
          </a:prstGeom>
        </p:spPr>
      </p:pic>
      <p:pic>
        <p:nvPicPr>
          <p:cNvPr id="7" name="Image 6">
            <a:extLst>
              <a:ext uri="{FF2B5EF4-FFF2-40B4-BE49-F238E27FC236}">
                <a16:creationId xmlns:a16="http://schemas.microsoft.com/office/drawing/2014/main" id="{BFDB848D-26BF-50A3-0E3F-0B587054B4D6}"/>
              </a:ext>
            </a:extLst>
          </p:cNvPr>
          <p:cNvPicPr>
            <a:picLocks noChangeAspect="1"/>
          </p:cNvPicPr>
          <p:nvPr/>
        </p:nvPicPr>
        <p:blipFill>
          <a:blip r:embed="rId3"/>
          <a:stretch>
            <a:fillRect/>
          </a:stretch>
        </p:blipFill>
        <p:spPr>
          <a:xfrm>
            <a:off x="346505" y="5032575"/>
            <a:ext cx="4585535" cy="1852809"/>
          </a:xfrm>
          <a:prstGeom prst="rect">
            <a:avLst/>
          </a:prstGeom>
        </p:spPr>
      </p:pic>
      <p:pic>
        <p:nvPicPr>
          <p:cNvPr id="12" name="Image 11">
            <a:extLst>
              <a:ext uri="{FF2B5EF4-FFF2-40B4-BE49-F238E27FC236}">
                <a16:creationId xmlns:a16="http://schemas.microsoft.com/office/drawing/2014/main" id="{7FBA05F3-4BAB-A44B-6C97-A39DED5C8D6E}"/>
              </a:ext>
            </a:extLst>
          </p:cNvPr>
          <p:cNvPicPr>
            <a:picLocks noChangeAspect="1"/>
          </p:cNvPicPr>
          <p:nvPr/>
        </p:nvPicPr>
        <p:blipFill>
          <a:blip r:embed="rId4"/>
          <a:stretch>
            <a:fillRect/>
          </a:stretch>
        </p:blipFill>
        <p:spPr>
          <a:xfrm>
            <a:off x="6721702" y="4833271"/>
            <a:ext cx="1646252" cy="1965977"/>
          </a:xfrm>
          <a:prstGeom prst="rect">
            <a:avLst/>
          </a:prstGeom>
        </p:spPr>
      </p:pic>
      <p:sp>
        <p:nvSpPr>
          <p:cNvPr id="14" name="ZoneTexte 13">
            <a:extLst>
              <a:ext uri="{FF2B5EF4-FFF2-40B4-BE49-F238E27FC236}">
                <a16:creationId xmlns:a16="http://schemas.microsoft.com/office/drawing/2014/main" id="{E21435C0-FBF1-0800-26B9-17C2465B748D}"/>
              </a:ext>
            </a:extLst>
          </p:cNvPr>
          <p:cNvSpPr txBox="1"/>
          <p:nvPr/>
        </p:nvSpPr>
        <p:spPr>
          <a:xfrm>
            <a:off x="278904" y="3161333"/>
            <a:ext cx="1832938" cy="369332"/>
          </a:xfrm>
          <a:prstGeom prst="rect">
            <a:avLst/>
          </a:prstGeom>
          <a:noFill/>
        </p:spPr>
        <p:txBody>
          <a:bodyPr wrap="none" rtlCol="0">
            <a:spAutoFit/>
          </a:bodyPr>
          <a:lstStyle/>
          <a:p>
            <a:r>
              <a:rPr lang="fr-FR" u="sng" dirty="0"/>
              <a:t>Storage </a:t>
            </a:r>
            <a:r>
              <a:rPr lang="fr-FR" u="sng" dirty="0" err="1"/>
              <a:t>account</a:t>
            </a:r>
            <a:endParaRPr lang="fr-FR" u="sng" dirty="0"/>
          </a:p>
        </p:txBody>
      </p:sp>
      <p:sp>
        <p:nvSpPr>
          <p:cNvPr id="15" name="ZoneTexte 14">
            <a:extLst>
              <a:ext uri="{FF2B5EF4-FFF2-40B4-BE49-F238E27FC236}">
                <a16:creationId xmlns:a16="http://schemas.microsoft.com/office/drawing/2014/main" id="{841CEE31-E31D-B743-CC39-750C59B93C72}"/>
              </a:ext>
            </a:extLst>
          </p:cNvPr>
          <p:cNvSpPr txBox="1"/>
          <p:nvPr/>
        </p:nvSpPr>
        <p:spPr>
          <a:xfrm>
            <a:off x="263008" y="4644544"/>
            <a:ext cx="644728" cy="369332"/>
          </a:xfrm>
          <a:prstGeom prst="rect">
            <a:avLst/>
          </a:prstGeom>
          <a:noFill/>
        </p:spPr>
        <p:txBody>
          <a:bodyPr wrap="none" rtlCol="0">
            <a:spAutoFit/>
          </a:bodyPr>
          <a:lstStyle/>
          <a:p>
            <a:r>
              <a:rPr lang="fr-FR" u="sng" dirty="0"/>
              <a:t>Blob</a:t>
            </a:r>
          </a:p>
        </p:txBody>
      </p:sp>
    </p:spTree>
    <p:extLst>
      <p:ext uri="{BB962C8B-B14F-4D97-AF65-F5344CB8AC3E}">
        <p14:creationId xmlns:p14="http://schemas.microsoft.com/office/powerpoint/2010/main" val="156888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4" grpId="0"/>
      <p:bldP spid="15"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temps d’accès typique du tier Archive ?</a:t>
            </a:r>
            <a:endParaRPr lang="fr-FR" sz="2000" dirty="0"/>
          </a:p>
          <a:p>
            <a:pPr marL="457200" indent="-457200">
              <a:buFont typeface="+mj-lt"/>
              <a:buAutoNum type="arabicPeriod"/>
              <a:defRPr sz="2400"/>
            </a:pPr>
            <a:r>
              <a:rPr lang="fr-FR" sz="2000" dirty="0"/>
              <a:t>Instantané</a:t>
            </a:r>
          </a:p>
          <a:p>
            <a:pPr marL="457200" indent="-457200">
              <a:buFont typeface="+mj-lt"/>
              <a:buAutoNum type="arabicPeriod"/>
              <a:defRPr sz="2400"/>
            </a:pPr>
            <a:r>
              <a:rPr lang="fr-FR" sz="2000" dirty="0"/>
              <a:t>Quelques secondes</a:t>
            </a:r>
          </a:p>
          <a:p>
            <a:pPr marL="457200" indent="-457200">
              <a:buFont typeface="+mj-lt"/>
              <a:buAutoNum type="arabicPeriod"/>
              <a:defRPr sz="2400"/>
            </a:pPr>
            <a:r>
              <a:rPr lang="fr-FR" sz="2000" dirty="0"/>
              <a:t>Quelques minutes à heures</a:t>
            </a:r>
          </a:p>
          <a:p>
            <a:pPr marL="457200" indent="-457200">
              <a:buFont typeface="+mj-lt"/>
              <a:buAutoNum type="arabicPeriod"/>
              <a:defRPr sz="2400"/>
            </a:pPr>
            <a:r>
              <a:rPr lang="fr-FR" sz="2000" dirty="0"/>
              <a:t>Plusieurs jours</a:t>
            </a:r>
          </a:p>
          <a:p>
            <a:pPr>
              <a:defRPr sz="2400"/>
            </a:pPr>
            <a:endParaRPr dirty="0"/>
          </a:p>
        </p:txBody>
      </p:sp>
      <p:sp>
        <p:nvSpPr>
          <p:cNvPr id="8" name="TextBox 7"/>
          <p:cNvSpPr txBox="1"/>
          <p:nvPr/>
        </p:nvSpPr>
        <p:spPr>
          <a:xfrm>
            <a:off x="6307805" y="3048262"/>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683568" y="3417594"/>
            <a:ext cx="3657600" cy="914400"/>
          </a:xfrm>
          <a:prstGeom prst="rect">
            <a:avLst/>
          </a:prstGeom>
          <a:noFill/>
        </p:spPr>
        <p:txBody>
          <a:bodyPr wrap="none">
            <a:spAutoFit/>
          </a:bodyPr>
          <a:lstStyle/>
          <a:p>
            <a:pPr>
              <a:defRPr sz="1600"/>
            </a:pPr>
            <a:r>
              <a:rPr dirty="0"/>
              <a:t>Archive nécessite une réhydratation qui peut prendre plusieurs heures.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9492" y="2204864"/>
            <a:ext cx="557808" cy="369332"/>
          </a:xfrm>
          <a:prstGeom prst="rect">
            <a:avLst/>
          </a:prstGeom>
          <a:noFill/>
        </p:spPr>
        <p:txBody>
          <a:bodyPr wrap="square">
            <a:spAutoFit/>
          </a:bodyPr>
          <a:lstStyle/>
          <a:p>
            <a:r>
              <a:rPr lang="fr-FR" b="1" dirty="0"/>
              <a:t>✅</a:t>
            </a:r>
            <a:endParaRPr lang="fr-FR" dirty="0"/>
          </a:p>
        </p:txBody>
      </p:sp>
      <p:graphicFrame>
        <p:nvGraphicFramePr>
          <p:cNvPr id="4" name="Tableau 3">
            <a:extLst>
              <a:ext uri="{FF2B5EF4-FFF2-40B4-BE49-F238E27FC236}">
                <a16:creationId xmlns:a16="http://schemas.microsoft.com/office/drawing/2014/main" id="{24E58F0C-3D61-C56F-6B9B-F6DBE78A25A9}"/>
              </a:ext>
            </a:extLst>
          </p:cNvPr>
          <p:cNvGraphicFramePr>
            <a:graphicFrameLocks noGrp="1"/>
          </p:cNvGraphicFramePr>
          <p:nvPr>
            <p:extLst>
              <p:ext uri="{D42A27DB-BD31-4B8C-83A1-F6EECF244321}">
                <p14:modId xmlns:p14="http://schemas.microsoft.com/office/powerpoint/2010/main" val="1372076526"/>
              </p:ext>
            </p:extLst>
          </p:nvPr>
        </p:nvGraphicFramePr>
        <p:xfrm>
          <a:off x="114794" y="3953130"/>
          <a:ext cx="8921700" cy="2103120"/>
        </p:xfrm>
        <a:graphic>
          <a:graphicData uri="http://schemas.openxmlformats.org/drawingml/2006/table">
            <a:tbl>
              <a:tblPr>
                <a:tableStyleId>{BC89EF96-8CEA-46FF-86C4-4CE0E7609802}</a:tableStyleId>
              </a:tblPr>
              <a:tblGrid>
                <a:gridCol w="1156041">
                  <a:extLst>
                    <a:ext uri="{9D8B030D-6E8A-4147-A177-3AD203B41FA5}">
                      <a16:colId xmlns:a16="http://schemas.microsoft.com/office/drawing/2014/main" val="2265568076"/>
                    </a:ext>
                  </a:extLst>
                </a:gridCol>
                <a:gridCol w="1526966">
                  <a:extLst>
                    <a:ext uri="{9D8B030D-6E8A-4147-A177-3AD203B41FA5}">
                      <a16:colId xmlns:a16="http://schemas.microsoft.com/office/drawing/2014/main" val="720263575"/>
                    </a:ext>
                  </a:extLst>
                </a:gridCol>
                <a:gridCol w="1777843">
                  <a:extLst>
                    <a:ext uri="{9D8B030D-6E8A-4147-A177-3AD203B41FA5}">
                      <a16:colId xmlns:a16="http://schemas.microsoft.com/office/drawing/2014/main" val="3931508045"/>
                    </a:ext>
                  </a:extLst>
                </a:gridCol>
                <a:gridCol w="1486950">
                  <a:extLst>
                    <a:ext uri="{9D8B030D-6E8A-4147-A177-3AD203B41FA5}">
                      <a16:colId xmlns:a16="http://schemas.microsoft.com/office/drawing/2014/main" val="1871220206"/>
                    </a:ext>
                  </a:extLst>
                </a:gridCol>
                <a:gridCol w="1749766">
                  <a:extLst>
                    <a:ext uri="{9D8B030D-6E8A-4147-A177-3AD203B41FA5}">
                      <a16:colId xmlns:a16="http://schemas.microsoft.com/office/drawing/2014/main" val="1299922055"/>
                    </a:ext>
                  </a:extLst>
                </a:gridCol>
                <a:gridCol w="1224134">
                  <a:extLst>
                    <a:ext uri="{9D8B030D-6E8A-4147-A177-3AD203B41FA5}">
                      <a16:colId xmlns:a16="http://schemas.microsoft.com/office/drawing/2014/main" val="4098646695"/>
                    </a:ext>
                  </a:extLst>
                </a:gridCol>
              </a:tblGrid>
              <a:tr h="0">
                <a:tc>
                  <a:txBody>
                    <a:bodyPr/>
                    <a:lstStyle/>
                    <a:p>
                      <a:pPr>
                        <a:buNone/>
                      </a:pPr>
                      <a:r>
                        <a:rPr lang="fr-FR" b="1"/>
                        <a:t>Tier</a:t>
                      </a:r>
                    </a:p>
                  </a:txBody>
                  <a:tcPr anchor="ctr"/>
                </a:tc>
                <a:tc>
                  <a:txBody>
                    <a:bodyPr/>
                    <a:lstStyle/>
                    <a:p>
                      <a:pPr>
                        <a:buNone/>
                      </a:pPr>
                      <a:r>
                        <a:rPr lang="fr-FR" b="1"/>
                        <a:t>Accès</a:t>
                      </a:r>
                    </a:p>
                  </a:txBody>
                  <a:tcPr anchor="ctr"/>
                </a:tc>
                <a:tc>
                  <a:txBody>
                    <a:bodyPr/>
                    <a:lstStyle/>
                    <a:p>
                      <a:pPr>
                        <a:buNone/>
                      </a:pPr>
                      <a:r>
                        <a:rPr lang="fr-FR" b="1" dirty="0"/>
                        <a:t>Coût stockage</a:t>
                      </a:r>
                    </a:p>
                  </a:txBody>
                  <a:tcPr anchor="ctr"/>
                </a:tc>
                <a:tc>
                  <a:txBody>
                    <a:bodyPr/>
                    <a:lstStyle/>
                    <a:p>
                      <a:pPr>
                        <a:buNone/>
                      </a:pPr>
                      <a:r>
                        <a:rPr lang="fr-FR" b="1"/>
                        <a:t>Coût accès</a:t>
                      </a:r>
                    </a:p>
                  </a:txBody>
                  <a:tcPr anchor="ctr"/>
                </a:tc>
                <a:tc>
                  <a:txBody>
                    <a:bodyPr/>
                    <a:lstStyle/>
                    <a:p>
                      <a:pPr>
                        <a:buNone/>
                      </a:pPr>
                      <a:r>
                        <a:rPr lang="fr-FR" b="1" dirty="0"/>
                        <a:t>Usage</a:t>
                      </a:r>
                    </a:p>
                  </a:txBody>
                  <a:tcPr anchor="ctr"/>
                </a:tc>
                <a:tc>
                  <a:txBody>
                    <a:bodyPr/>
                    <a:lstStyle/>
                    <a:p>
                      <a:pPr>
                        <a:buNone/>
                      </a:pPr>
                      <a:r>
                        <a:rPr lang="fr-FR" b="1" dirty="0"/>
                        <a:t>Durée (*)</a:t>
                      </a:r>
                    </a:p>
                  </a:txBody>
                  <a:tcPr anchor="ctr"/>
                </a:tc>
                <a:extLst>
                  <a:ext uri="{0D108BD9-81ED-4DB2-BD59-A6C34878D82A}">
                    <a16:rowId xmlns:a16="http://schemas.microsoft.com/office/drawing/2014/main" val="2971437279"/>
                  </a:ext>
                </a:extLst>
              </a:tr>
              <a:tr h="0">
                <a:tc>
                  <a:txBody>
                    <a:bodyPr/>
                    <a:lstStyle/>
                    <a:p>
                      <a:pPr>
                        <a:buNone/>
                      </a:pPr>
                      <a:r>
                        <a:rPr lang="fr-FR"/>
                        <a:t>Hot</a:t>
                      </a:r>
                    </a:p>
                  </a:txBody>
                  <a:tcPr anchor="ctr"/>
                </a:tc>
                <a:tc>
                  <a:txBody>
                    <a:bodyPr/>
                    <a:lstStyle/>
                    <a:p>
                      <a:pPr>
                        <a:buNone/>
                      </a:pPr>
                      <a:r>
                        <a:rPr lang="fr-FR"/>
                        <a:t>immédiat</a:t>
                      </a:r>
                    </a:p>
                  </a:txBody>
                  <a:tcPr anchor="ctr"/>
                </a:tc>
                <a:tc>
                  <a:txBody>
                    <a:bodyPr/>
                    <a:lstStyle/>
                    <a:p>
                      <a:pPr>
                        <a:buNone/>
                      </a:pPr>
                      <a:r>
                        <a:rPr lang="fr-FR"/>
                        <a:t>élevé</a:t>
                      </a:r>
                    </a:p>
                  </a:txBody>
                  <a:tcPr anchor="ctr"/>
                </a:tc>
                <a:tc>
                  <a:txBody>
                    <a:bodyPr/>
                    <a:lstStyle/>
                    <a:p>
                      <a:pPr>
                        <a:buNone/>
                      </a:pPr>
                      <a:r>
                        <a:rPr lang="fr-FR"/>
                        <a:t>faible</a:t>
                      </a:r>
                    </a:p>
                  </a:txBody>
                  <a:tcPr anchor="ctr"/>
                </a:tc>
                <a:tc>
                  <a:txBody>
                    <a:bodyPr/>
                    <a:lstStyle/>
                    <a:p>
                      <a:pPr>
                        <a:buNone/>
                      </a:pPr>
                      <a:r>
                        <a:rPr lang="fr-FR"/>
                        <a:t>accès fréquent</a:t>
                      </a:r>
                    </a:p>
                  </a:txBody>
                  <a:tcPr anchor="ctr"/>
                </a:tc>
                <a:tc>
                  <a:txBody>
                    <a:bodyPr/>
                    <a:lstStyle/>
                    <a:p>
                      <a:pPr>
                        <a:buNone/>
                      </a:pPr>
                      <a:r>
                        <a:rPr lang="fr-FR" dirty="0"/>
                        <a:t>Aucune</a:t>
                      </a:r>
                    </a:p>
                  </a:txBody>
                  <a:tcPr anchor="ctr"/>
                </a:tc>
                <a:extLst>
                  <a:ext uri="{0D108BD9-81ED-4DB2-BD59-A6C34878D82A}">
                    <a16:rowId xmlns:a16="http://schemas.microsoft.com/office/drawing/2014/main" val="2145562609"/>
                  </a:ext>
                </a:extLst>
              </a:tr>
              <a:tr h="0">
                <a:tc>
                  <a:txBody>
                    <a:bodyPr/>
                    <a:lstStyle/>
                    <a:p>
                      <a:pPr>
                        <a:buNone/>
                      </a:pPr>
                      <a:r>
                        <a:rPr lang="fr-FR"/>
                        <a:t>Cool</a:t>
                      </a:r>
                    </a:p>
                  </a:txBody>
                  <a:tcPr anchor="ctr"/>
                </a:tc>
                <a:tc>
                  <a:txBody>
                    <a:bodyPr/>
                    <a:lstStyle/>
                    <a:p>
                      <a:pPr>
                        <a:buNone/>
                      </a:pPr>
                      <a:r>
                        <a:rPr lang="fr-FR"/>
                        <a:t>immédiat</a:t>
                      </a:r>
                    </a:p>
                  </a:txBody>
                  <a:tcPr anchor="ctr"/>
                </a:tc>
                <a:tc>
                  <a:txBody>
                    <a:bodyPr/>
                    <a:lstStyle/>
                    <a:p>
                      <a:pPr>
                        <a:buNone/>
                      </a:pPr>
                      <a:r>
                        <a:rPr lang="fr-FR"/>
                        <a:t>moyen</a:t>
                      </a:r>
                    </a:p>
                  </a:txBody>
                  <a:tcPr anchor="ctr"/>
                </a:tc>
                <a:tc>
                  <a:txBody>
                    <a:bodyPr/>
                    <a:lstStyle/>
                    <a:p>
                      <a:pPr>
                        <a:buNone/>
                      </a:pPr>
                      <a:r>
                        <a:rPr lang="fr-FR"/>
                        <a:t>plus élevé</a:t>
                      </a:r>
                    </a:p>
                  </a:txBody>
                  <a:tcPr anchor="ctr"/>
                </a:tc>
                <a:tc>
                  <a:txBody>
                    <a:bodyPr/>
                    <a:lstStyle/>
                    <a:p>
                      <a:pPr>
                        <a:buNone/>
                      </a:pPr>
                      <a:r>
                        <a:rPr lang="fr-FR"/>
                        <a:t>accès occasionnel</a:t>
                      </a:r>
                    </a:p>
                  </a:txBody>
                  <a:tcPr anchor="ctr"/>
                </a:tc>
                <a:tc>
                  <a:txBody>
                    <a:bodyPr/>
                    <a:lstStyle/>
                    <a:p>
                      <a:pPr>
                        <a:buNone/>
                      </a:pPr>
                      <a:r>
                        <a:rPr lang="fr-FR" dirty="0"/>
                        <a:t>30j</a:t>
                      </a:r>
                    </a:p>
                  </a:txBody>
                  <a:tcPr anchor="ctr"/>
                </a:tc>
                <a:extLst>
                  <a:ext uri="{0D108BD9-81ED-4DB2-BD59-A6C34878D82A}">
                    <a16:rowId xmlns:a16="http://schemas.microsoft.com/office/drawing/2014/main" val="1249417263"/>
                  </a:ext>
                </a:extLst>
              </a:tr>
              <a:tr h="0">
                <a:tc>
                  <a:txBody>
                    <a:bodyPr/>
                    <a:lstStyle/>
                    <a:p>
                      <a:pPr>
                        <a:buNone/>
                      </a:pPr>
                      <a:r>
                        <a:rPr lang="fr-FR" dirty="0"/>
                        <a:t>Cold</a:t>
                      </a:r>
                    </a:p>
                  </a:txBody>
                  <a:tcPr anchor="ctr"/>
                </a:tc>
                <a:tc>
                  <a:txBody>
                    <a:bodyPr/>
                    <a:lstStyle/>
                    <a:p>
                      <a:pPr>
                        <a:buNone/>
                      </a:pPr>
                      <a:r>
                        <a:rPr lang="fr-FR" dirty="0"/>
                        <a:t>immédiat</a:t>
                      </a:r>
                    </a:p>
                  </a:txBody>
                  <a:tcPr anchor="ctr"/>
                </a:tc>
                <a:tc>
                  <a:txBody>
                    <a:bodyPr/>
                    <a:lstStyle/>
                    <a:p>
                      <a:pPr>
                        <a:buNone/>
                      </a:pPr>
                      <a:r>
                        <a:rPr lang="fr-FR" dirty="0"/>
                        <a:t>faible</a:t>
                      </a:r>
                    </a:p>
                  </a:txBody>
                  <a:tcPr anchor="ctr"/>
                </a:tc>
                <a:tc>
                  <a:txBody>
                    <a:bodyPr/>
                    <a:lstStyle/>
                    <a:p>
                      <a:pPr>
                        <a:buNone/>
                      </a:pPr>
                      <a:r>
                        <a:rPr lang="fr-FR" dirty="0"/>
                        <a:t>élevé</a:t>
                      </a:r>
                    </a:p>
                  </a:txBody>
                  <a:tcPr anchor="ctr"/>
                </a:tc>
                <a:tc>
                  <a:txBody>
                    <a:bodyPr/>
                    <a:lstStyle/>
                    <a:p>
                      <a:pPr>
                        <a:buNone/>
                      </a:pPr>
                      <a:r>
                        <a:rPr lang="fr-FR" dirty="0"/>
                        <a:t>accès très rare</a:t>
                      </a:r>
                    </a:p>
                  </a:txBody>
                  <a:tcPr anchor="ctr"/>
                </a:tc>
                <a:tc>
                  <a:txBody>
                    <a:bodyPr/>
                    <a:lstStyle/>
                    <a:p>
                      <a:pPr>
                        <a:buNone/>
                      </a:pPr>
                      <a:r>
                        <a:rPr lang="fr-FR" dirty="0"/>
                        <a:t>90j</a:t>
                      </a:r>
                    </a:p>
                  </a:txBody>
                  <a:tcPr anchor="ctr"/>
                </a:tc>
                <a:extLst>
                  <a:ext uri="{0D108BD9-81ED-4DB2-BD59-A6C34878D82A}">
                    <a16:rowId xmlns:a16="http://schemas.microsoft.com/office/drawing/2014/main" val="1720481404"/>
                  </a:ext>
                </a:extLst>
              </a:tr>
              <a:tr h="0">
                <a:tc>
                  <a:txBody>
                    <a:bodyPr/>
                    <a:lstStyle/>
                    <a:p>
                      <a:pPr>
                        <a:buNone/>
                      </a:pPr>
                      <a:r>
                        <a:rPr lang="fr-FR" dirty="0"/>
                        <a:t>Archive</a:t>
                      </a:r>
                    </a:p>
                  </a:txBody>
                  <a:tcPr anchor="ctr"/>
                </a:tc>
                <a:tc>
                  <a:txBody>
                    <a:bodyPr/>
                    <a:lstStyle/>
                    <a:p>
                      <a:pPr>
                        <a:buNone/>
                      </a:pPr>
                      <a:r>
                        <a:rPr lang="fr-FR" dirty="0"/>
                        <a:t>lent</a:t>
                      </a:r>
                    </a:p>
                  </a:txBody>
                  <a:tcPr anchor="ctr"/>
                </a:tc>
                <a:tc>
                  <a:txBody>
                    <a:bodyPr/>
                    <a:lstStyle/>
                    <a:p>
                      <a:pPr>
                        <a:buNone/>
                      </a:pPr>
                      <a:r>
                        <a:rPr lang="fr-FR" dirty="0"/>
                        <a:t>très faible</a:t>
                      </a:r>
                    </a:p>
                  </a:txBody>
                  <a:tcPr anchor="ctr"/>
                </a:tc>
                <a:tc>
                  <a:txBody>
                    <a:bodyPr/>
                    <a:lstStyle/>
                    <a:p>
                      <a:pPr>
                        <a:buNone/>
                      </a:pPr>
                      <a:r>
                        <a:rPr lang="fr-FR" dirty="0"/>
                        <a:t>Très élevé</a:t>
                      </a:r>
                    </a:p>
                  </a:txBody>
                  <a:tcPr anchor="ctr"/>
                </a:tc>
                <a:tc>
                  <a:txBody>
                    <a:bodyPr/>
                    <a:lstStyle/>
                    <a:p>
                      <a:pPr>
                        <a:buNone/>
                      </a:pPr>
                      <a:r>
                        <a:rPr lang="fr-FR" dirty="0"/>
                        <a:t>archivage</a:t>
                      </a:r>
                    </a:p>
                  </a:txBody>
                  <a:tcPr anchor="ctr"/>
                </a:tc>
                <a:tc>
                  <a:txBody>
                    <a:bodyPr/>
                    <a:lstStyle/>
                    <a:p>
                      <a:pPr>
                        <a:buNone/>
                      </a:pPr>
                      <a:r>
                        <a:rPr lang="fr-FR" dirty="0"/>
                        <a:t>180j</a:t>
                      </a:r>
                    </a:p>
                  </a:txBody>
                  <a:tcPr anchor="ctr"/>
                </a:tc>
                <a:extLst>
                  <a:ext uri="{0D108BD9-81ED-4DB2-BD59-A6C34878D82A}">
                    <a16:rowId xmlns:a16="http://schemas.microsoft.com/office/drawing/2014/main" val="3985630661"/>
                  </a:ext>
                </a:extLst>
              </a:tr>
            </a:tbl>
          </a:graphicData>
        </a:graphic>
      </p:graphicFrame>
      <p:sp>
        <p:nvSpPr>
          <p:cNvPr id="5" name="ZoneTexte 4">
            <a:extLst>
              <a:ext uri="{FF2B5EF4-FFF2-40B4-BE49-F238E27FC236}">
                <a16:creationId xmlns:a16="http://schemas.microsoft.com/office/drawing/2014/main" id="{7E6AC5EF-63BC-139A-2672-AC31FCA9551D}"/>
              </a:ext>
            </a:extLst>
          </p:cNvPr>
          <p:cNvSpPr txBox="1"/>
          <p:nvPr/>
        </p:nvSpPr>
        <p:spPr>
          <a:xfrm>
            <a:off x="288396" y="6315494"/>
            <a:ext cx="3655360" cy="369332"/>
          </a:xfrm>
          <a:prstGeom prst="rect">
            <a:avLst/>
          </a:prstGeom>
          <a:noFill/>
        </p:spPr>
        <p:txBody>
          <a:bodyPr wrap="none" rtlCol="0">
            <a:spAutoFit/>
          </a:bodyPr>
          <a:lstStyle/>
          <a:p>
            <a:r>
              <a:rPr lang="fr-FR" dirty="0"/>
              <a:t>(*) : durée minimale de facturation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5"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se passe-t-il si un container n’existe pas lors d’un upload ?</a:t>
            </a:r>
            <a:endParaRPr lang="fr-FR" sz="2000" dirty="0"/>
          </a:p>
          <a:p>
            <a:pPr marL="457200" indent="-457200">
              <a:buFont typeface="+mj-lt"/>
              <a:buAutoNum type="arabicPeriod"/>
              <a:defRPr sz="2400"/>
            </a:pPr>
            <a:r>
              <a:rPr lang="fr-FR" sz="2000" dirty="0"/>
              <a:t>Erreur automatique</a:t>
            </a:r>
          </a:p>
          <a:p>
            <a:pPr marL="457200" indent="-457200">
              <a:buFont typeface="+mj-lt"/>
              <a:buAutoNum type="arabicPeriod"/>
              <a:defRPr sz="2400"/>
            </a:pPr>
            <a:r>
              <a:rPr lang="fr-FR" sz="2000" dirty="0"/>
              <a:t>Création automatique toujours</a:t>
            </a:r>
          </a:p>
          <a:p>
            <a:pPr marL="457200" indent="-457200">
              <a:buFont typeface="+mj-lt"/>
              <a:buAutoNum type="arabicPeriod"/>
              <a:defRPr sz="2400"/>
            </a:pPr>
            <a:r>
              <a:rPr lang="fr-FR" sz="2000" dirty="0"/>
              <a:t>Erreur sauf si CreateIfNotExists est utilisé</a:t>
            </a:r>
          </a:p>
          <a:p>
            <a:pPr marL="457200" indent="-457200">
              <a:buFont typeface="+mj-lt"/>
              <a:buAutoNum type="arabicPeriod"/>
              <a:defRPr sz="2400"/>
            </a:pPr>
            <a:r>
              <a:rPr lang="fr-FR" sz="2000" dirty="0"/>
              <a:t>Azure ignore</a:t>
            </a:r>
          </a:p>
          <a:p>
            <a:pPr>
              <a:defRPr sz="2400"/>
            </a:pPr>
            <a:endParaRPr dirty="0"/>
          </a:p>
        </p:txBody>
      </p:sp>
      <p:sp>
        <p:nvSpPr>
          <p:cNvPr id="8" name="TextBox 7"/>
          <p:cNvSpPr txBox="1"/>
          <p:nvPr/>
        </p:nvSpPr>
        <p:spPr>
          <a:xfrm>
            <a:off x="6228184" y="2955222"/>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Il faut appeler CreateIfNotExists sinon erreur.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005" y="220486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l’intérêt principal de Blob Storage dans une WebApp ?</a:t>
            </a:r>
            <a:endParaRPr lang="fr-FR" sz="2000" dirty="0"/>
          </a:p>
          <a:p>
            <a:pPr marL="457200" indent="-457200">
              <a:buFont typeface="+mj-lt"/>
              <a:buAutoNum type="arabicPeriod"/>
              <a:defRPr sz="2400"/>
            </a:pPr>
            <a:r>
              <a:rPr lang="fr-FR" sz="2000" dirty="0"/>
              <a:t>Stocker du code</a:t>
            </a:r>
          </a:p>
          <a:p>
            <a:pPr marL="457200" indent="-457200">
              <a:buFont typeface="+mj-lt"/>
              <a:buAutoNum type="arabicPeriod"/>
              <a:defRPr sz="2400"/>
            </a:pPr>
            <a:r>
              <a:rPr lang="fr-FR" sz="2000" dirty="0"/>
              <a:t>Stocker des fichiers utilisateurs</a:t>
            </a:r>
          </a:p>
          <a:p>
            <a:pPr marL="457200" indent="-457200">
              <a:buFont typeface="+mj-lt"/>
              <a:buAutoNum type="arabicPeriod"/>
              <a:defRPr sz="2400"/>
            </a:pPr>
            <a:r>
              <a:rPr lang="fr-FR" sz="2000" dirty="0"/>
              <a:t>Gérer les sessions</a:t>
            </a:r>
          </a:p>
          <a:p>
            <a:pPr marL="457200" indent="-457200">
              <a:buFont typeface="+mj-lt"/>
              <a:buAutoNum type="arabicPeriod"/>
              <a:defRPr sz="2400"/>
            </a:pPr>
            <a:r>
              <a:rPr lang="fr-FR" sz="2000" dirty="0"/>
              <a:t>Exécuter des fonctions</a:t>
            </a:r>
          </a:p>
          <a:p>
            <a:pPr>
              <a:defRPr sz="2400"/>
            </a:pPr>
            <a:endParaRPr dirty="0"/>
          </a:p>
        </p:txBody>
      </p:sp>
      <p:sp>
        <p:nvSpPr>
          <p:cNvPr id="8" name="TextBox 7"/>
          <p:cNvSpPr txBox="1"/>
          <p:nvPr/>
        </p:nvSpPr>
        <p:spPr>
          <a:xfrm>
            <a:off x="6364929" y="3164115"/>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Blob Storage permet de stocker les fichiers (images, docs…).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6630" y="193373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16</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lang="fr-FR" sz="2000" dirty="0"/>
              <a:t>Quelle est la limite classique de taille d’un Block Blob (modèle historique Azure) ?</a:t>
            </a:r>
          </a:p>
          <a:p>
            <a:pPr marL="457200" indent="-457200">
              <a:buFont typeface="+mj-lt"/>
              <a:buAutoNum type="arabicPeriod"/>
              <a:defRPr sz="2400"/>
            </a:pPr>
            <a:r>
              <a:rPr lang="fr-FR" sz="2000" dirty="0"/>
              <a:t>256 MB</a:t>
            </a:r>
          </a:p>
          <a:p>
            <a:pPr marL="457200" indent="-457200">
              <a:buFont typeface="+mj-lt"/>
              <a:buAutoNum type="arabicPeriod"/>
              <a:defRPr sz="2400"/>
            </a:pPr>
            <a:r>
              <a:rPr lang="fr-FR" sz="2000" dirty="0"/>
              <a:t>4.75 TB</a:t>
            </a:r>
          </a:p>
          <a:p>
            <a:pPr marL="457200" indent="-457200">
              <a:buFont typeface="+mj-lt"/>
              <a:buAutoNum type="arabicPeriod"/>
              <a:defRPr sz="2400"/>
            </a:pPr>
            <a:r>
              <a:rPr lang="fr-FR" sz="2000" dirty="0"/>
              <a:t>10 GB</a:t>
            </a:r>
          </a:p>
          <a:p>
            <a:pPr marL="457200" indent="-457200">
              <a:buFont typeface="+mj-lt"/>
              <a:buAutoNum type="arabicPeriod"/>
              <a:defRPr sz="2400"/>
            </a:pPr>
            <a:r>
              <a:rPr lang="fr-FR" sz="2000" dirty="0"/>
              <a:t>Illimitée</a:t>
            </a:r>
          </a:p>
          <a:p>
            <a:pPr>
              <a:defRPr sz="2400"/>
            </a:pPr>
            <a:endParaRPr dirty="0"/>
          </a:p>
        </p:txBody>
      </p:sp>
      <p:sp>
        <p:nvSpPr>
          <p:cNvPr id="8" name="TextBox 7"/>
          <p:cNvSpPr txBox="1"/>
          <p:nvPr/>
        </p:nvSpPr>
        <p:spPr>
          <a:xfrm>
            <a:off x="6084168" y="2852936"/>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942891" y="3429000"/>
            <a:ext cx="7711278" cy="584775"/>
          </a:xfrm>
          <a:prstGeom prst="rect">
            <a:avLst/>
          </a:prstGeom>
          <a:noFill/>
        </p:spPr>
        <p:txBody>
          <a:bodyPr wrap="none">
            <a:spAutoFit/>
          </a:bodyPr>
          <a:lstStyle/>
          <a:p>
            <a:pPr>
              <a:defRPr sz="1600"/>
            </a:pPr>
            <a:r>
              <a:rPr lang="fr-FR" dirty="0"/>
              <a:t>Historiquement, un Block Blob est limité à environ 4.75 TB (100 </a:t>
            </a:r>
            <a:r>
              <a:rPr lang="fr-FR" dirty="0" err="1"/>
              <a:t>MiB</a:t>
            </a:r>
            <a:r>
              <a:rPr lang="fr-FR" dirty="0"/>
              <a:t> x 50 000 blocs).</a:t>
            </a:r>
          </a:p>
          <a:p>
            <a:pPr>
              <a:defRPr sz="1600"/>
            </a:pPr>
            <a:r>
              <a:rPr lang="fr-FR" dirty="0"/>
              <a:t>Aujourd’hui, avec les versions récentes de l’API, la limite peut atteindre ~190 </a:t>
            </a:r>
            <a:r>
              <a:rPr lang="fr-FR" dirty="0" err="1"/>
              <a:t>TiB</a:t>
            </a:r>
            <a:r>
              <a:rPr lang="fr-FR" dirty="0"/>
              <a:t>.</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17467" y="2204864"/>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43F7E1F0-DC41-4B16-F0D8-37B1D6A01C75}"/>
              </a:ext>
            </a:extLst>
          </p:cNvPr>
          <p:cNvSpPr txBox="1"/>
          <p:nvPr/>
        </p:nvSpPr>
        <p:spPr>
          <a:xfrm>
            <a:off x="279349" y="6237312"/>
            <a:ext cx="8626507" cy="523220"/>
          </a:xfrm>
          <a:prstGeom prst="rect">
            <a:avLst/>
          </a:prstGeom>
          <a:noFill/>
        </p:spPr>
        <p:txBody>
          <a:bodyPr wrap="square">
            <a:spAutoFit/>
          </a:bodyPr>
          <a:lstStyle/>
          <a:p>
            <a:r>
              <a:rPr lang="fr-FR" sz="1400" u="sng" dirty="0">
                <a:solidFill>
                  <a:schemeClr val="tx2"/>
                </a:solidFill>
              </a:rPr>
              <a:t>https://learn.microsoft.com/en-us/rest/api/storageservices/understanding-block-blobs--append-blobs--and-page-blobs</a:t>
            </a:r>
          </a:p>
        </p:txBody>
      </p:sp>
      <p:graphicFrame>
        <p:nvGraphicFramePr>
          <p:cNvPr id="6" name="Tableau 5">
            <a:extLst>
              <a:ext uri="{FF2B5EF4-FFF2-40B4-BE49-F238E27FC236}">
                <a16:creationId xmlns:a16="http://schemas.microsoft.com/office/drawing/2014/main" id="{37735CF8-6389-4D2C-531C-44796DA9B5F8}"/>
              </a:ext>
            </a:extLst>
          </p:cNvPr>
          <p:cNvGraphicFramePr>
            <a:graphicFrameLocks noGrp="1"/>
          </p:cNvGraphicFramePr>
          <p:nvPr>
            <p:extLst>
              <p:ext uri="{D42A27DB-BD31-4B8C-83A1-F6EECF244321}">
                <p14:modId xmlns:p14="http://schemas.microsoft.com/office/powerpoint/2010/main" val="1799694781"/>
              </p:ext>
            </p:extLst>
          </p:nvPr>
        </p:nvGraphicFramePr>
        <p:xfrm>
          <a:off x="464982" y="4364210"/>
          <a:ext cx="7886700" cy="1463040"/>
        </p:xfrm>
        <a:graphic>
          <a:graphicData uri="http://schemas.openxmlformats.org/drawingml/2006/table">
            <a:tbl>
              <a:tblPr/>
              <a:tblGrid>
                <a:gridCol w="2628900">
                  <a:extLst>
                    <a:ext uri="{9D8B030D-6E8A-4147-A177-3AD203B41FA5}">
                      <a16:colId xmlns:a16="http://schemas.microsoft.com/office/drawing/2014/main" val="2518373365"/>
                    </a:ext>
                  </a:extLst>
                </a:gridCol>
                <a:gridCol w="2628900">
                  <a:extLst>
                    <a:ext uri="{9D8B030D-6E8A-4147-A177-3AD203B41FA5}">
                      <a16:colId xmlns:a16="http://schemas.microsoft.com/office/drawing/2014/main" val="1308936237"/>
                    </a:ext>
                  </a:extLst>
                </a:gridCol>
                <a:gridCol w="2628900">
                  <a:extLst>
                    <a:ext uri="{9D8B030D-6E8A-4147-A177-3AD203B41FA5}">
                      <a16:colId xmlns:a16="http://schemas.microsoft.com/office/drawing/2014/main" val="2820534410"/>
                    </a:ext>
                  </a:extLst>
                </a:gridCol>
              </a:tblGrid>
              <a:tr h="0">
                <a:tc>
                  <a:txBody>
                    <a:bodyPr/>
                    <a:lstStyle/>
                    <a:p>
                      <a:pPr>
                        <a:buNone/>
                      </a:pPr>
                      <a:r>
                        <a:rPr lang="fr-FR" b="1"/>
                        <a:t>Type</a:t>
                      </a:r>
                    </a:p>
                  </a:txBody>
                  <a:tcPr anchor="ctr">
                    <a:lnL>
                      <a:noFill/>
                    </a:lnL>
                    <a:lnR>
                      <a:noFill/>
                    </a:lnR>
                    <a:lnT>
                      <a:noFill/>
                    </a:lnT>
                    <a:lnB>
                      <a:noFill/>
                    </a:lnB>
                    <a:noFill/>
                  </a:tcPr>
                </a:tc>
                <a:tc>
                  <a:txBody>
                    <a:bodyPr/>
                    <a:lstStyle/>
                    <a:p>
                      <a:pPr>
                        <a:buNone/>
                      </a:pPr>
                      <a:r>
                        <a:rPr lang="fr-FR" b="1"/>
                        <a:t>Usage</a:t>
                      </a:r>
                    </a:p>
                  </a:txBody>
                  <a:tcPr anchor="ctr">
                    <a:lnL>
                      <a:noFill/>
                    </a:lnL>
                    <a:lnR>
                      <a:noFill/>
                    </a:lnR>
                    <a:lnT>
                      <a:noFill/>
                    </a:lnT>
                    <a:lnB>
                      <a:noFill/>
                    </a:lnB>
                    <a:noFill/>
                  </a:tcPr>
                </a:tc>
                <a:tc>
                  <a:txBody>
                    <a:bodyPr/>
                    <a:lstStyle/>
                    <a:p>
                      <a:pPr>
                        <a:buNone/>
                      </a:pPr>
                      <a:r>
                        <a:rPr lang="fr-FR" b="1" dirty="0"/>
                        <a:t>Taille max</a:t>
                      </a:r>
                    </a:p>
                  </a:txBody>
                  <a:tcPr anchor="ctr">
                    <a:lnL>
                      <a:noFill/>
                    </a:lnL>
                    <a:lnR>
                      <a:noFill/>
                    </a:lnR>
                    <a:lnT>
                      <a:noFill/>
                    </a:lnT>
                    <a:lnB>
                      <a:noFill/>
                    </a:lnB>
                    <a:noFill/>
                  </a:tcPr>
                </a:tc>
                <a:extLst>
                  <a:ext uri="{0D108BD9-81ED-4DB2-BD59-A6C34878D82A}">
                    <a16:rowId xmlns:a16="http://schemas.microsoft.com/office/drawing/2014/main" val="2081063737"/>
                  </a:ext>
                </a:extLst>
              </a:tr>
              <a:tr h="0">
                <a:tc>
                  <a:txBody>
                    <a:bodyPr/>
                    <a:lstStyle/>
                    <a:p>
                      <a:pPr>
                        <a:buNone/>
                      </a:pPr>
                      <a:r>
                        <a:rPr lang="fr-FR"/>
                        <a:t>Block</a:t>
                      </a:r>
                    </a:p>
                  </a:txBody>
                  <a:tcPr anchor="ctr">
                    <a:lnL>
                      <a:noFill/>
                    </a:lnL>
                    <a:lnR>
                      <a:noFill/>
                    </a:lnR>
                    <a:lnT>
                      <a:noFill/>
                    </a:lnT>
                    <a:lnB>
                      <a:noFill/>
                    </a:lnB>
                    <a:noFill/>
                  </a:tcPr>
                </a:tc>
                <a:tc>
                  <a:txBody>
                    <a:bodyPr/>
                    <a:lstStyle/>
                    <a:p>
                      <a:pPr>
                        <a:buNone/>
                      </a:pPr>
                      <a:r>
                        <a:rPr lang="fr-FR"/>
                        <a:t>fichiers</a:t>
                      </a:r>
                    </a:p>
                  </a:txBody>
                  <a:tcPr anchor="ctr">
                    <a:lnL>
                      <a:noFill/>
                    </a:lnL>
                    <a:lnR>
                      <a:noFill/>
                    </a:lnR>
                    <a:lnT>
                      <a:noFill/>
                    </a:lnT>
                    <a:lnB>
                      <a:noFill/>
                    </a:lnB>
                    <a:noFill/>
                  </a:tcPr>
                </a:tc>
                <a:tc>
                  <a:txBody>
                    <a:bodyPr/>
                    <a:lstStyle/>
                    <a:p>
                      <a:pPr>
                        <a:buNone/>
                      </a:pPr>
                      <a:r>
                        <a:rPr lang="fr-FR" dirty="0"/>
                        <a:t>4.75 TB / 190 TB</a:t>
                      </a:r>
                    </a:p>
                  </a:txBody>
                  <a:tcPr anchor="ctr">
                    <a:lnL>
                      <a:noFill/>
                    </a:lnL>
                    <a:lnR>
                      <a:noFill/>
                    </a:lnR>
                    <a:lnT>
                      <a:noFill/>
                    </a:lnT>
                    <a:lnB>
                      <a:noFill/>
                    </a:lnB>
                    <a:noFill/>
                  </a:tcPr>
                </a:tc>
                <a:extLst>
                  <a:ext uri="{0D108BD9-81ED-4DB2-BD59-A6C34878D82A}">
                    <a16:rowId xmlns:a16="http://schemas.microsoft.com/office/drawing/2014/main" val="899218315"/>
                  </a:ext>
                </a:extLst>
              </a:tr>
              <a:tr h="0">
                <a:tc>
                  <a:txBody>
                    <a:bodyPr/>
                    <a:lstStyle/>
                    <a:p>
                      <a:pPr>
                        <a:buNone/>
                      </a:pPr>
                      <a:r>
                        <a:rPr lang="fr-FR"/>
                        <a:t>Append</a:t>
                      </a:r>
                    </a:p>
                  </a:txBody>
                  <a:tcPr anchor="ctr">
                    <a:lnL>
                      <a:noFill/>
                    </a:lnL>
                    <a:lnR>
                      <a:noFill/>
                    </a:lnR>
                    <a:lnT>
                      <a:noFill/>
                    </a:lnT>
                    <a:lnB>
                      <a:noFill/>
                    </a:lnB>
                    <a:noFill/>
                  </a:tcPr>
                </a:tc>
                <a:tc>
                  <a:txBody>
                    <a:bodyPr/>
                    <a:lstStyle/>
                    <a:p>
                      <a:pPr>
                        <a:buNone/>
                      </a:pPr>
                      <a:r>
                        <a:rPr lang="fr-FR"/>
                        <a:t>logs</a:t>
                      </a:r>
                    </a:p>
                  </a:txBody>
                  <a:tcPr anchor="ctr">
                    <a:lnL>
                      <a:noFill/>
                    </a:lnL>
                    <a:lnR>
                      <a:noFill/>
                    </a:lnR>
                    <a:lnT>
                      <a:noFill/>
                    </a:lnT>
                    <a:lnB>
                      <a:noFill/>
                    </a:lnB>
                    <a:noFill/>
                  </a:tcPr>
                </a:tc>
                <a:tc>
                  <a:txBody>
                    <a:bodyPr/>
                    <a:lstStyle/>
                    <a:p>
                      <a:pPr>
                        <a:buNone/>
                      </a:pPr>
                      <a:r>
                        <a:rPr lang="fr-FR"/>
                        <a:t>195 GB</a:t>
                      </a:r>
                    </a:p>
                  </a:txBody>
                  <a:tcPr anchor="ctr">
                    <a:lnL>
                      <a:noFill/>
                    </a:lnL>
                    <a:lnR>
                      <a:noFill/>
                    </a:lnR>
                    <a:lnT>
                      <a:noFill/>
                    </a:lnT>
                    <a:lnB>
                      <a:noFill/>
                    </a:lnB>
                    <a:noFill/>
                  </a:tcPr>
                </a:tc>
                <a:extLst>
                  <a:ext uri="{0D108BD9-81ED-4DB2-BD59-A6C34878D82A}">
                    <a16:rowId xmlns:a16="http://schemas.microsoft.com/office/drawing/2014/main" val="1746902926"/>
                  </a:ext>
                </a:extLst>
              </a:tr>
              <a:tr h="0">
                <a:tc>
                  <a:txBody>
                    <a:bodyPr/>
                    <a:lstStyle/>
                    <a:p>
                      <a:pPr>
                        <a:buNone/>
                      </a:pPr>
                      <a:r>
                        <a:rPr lang="fr-FR"/>
                        <a:t>Page</a:t>
                      </a:r>
                    </a:p>
                  </a:txBody>
                  <a:tcPr anchor="ctr">
                    <a:lnL>
                      <a:noFill/>
                    </a:lnL>
                    <a:lnR>
                      <a:noFill/>
                    </a:lnR>
                    <a:lnT>
                      <a:noFill/>
                    </a:lnT>
                    <a:lnB>
                      <a:noFill/>
                    </a:lnB>
                    <a:noFill/>
                  </a:tcPr>
                </a:tc>
                <a:tc>
                  <a:txBody>
                    <a:bodyPr/>
                    <a:lstStyle/>
                    <a:p>
                      <a:pPr>
                        <a:buNone/>
                      </a:pPr>
                      <a:r>
                        <a:rPr lang="fr-FR"/>
                        <a:t>disques</a:t>
                      </a:r>
                    </a:p>
                  </a:txBody>
                  <a:tcPr anchor="ctr">
                    <a:lnL>
                      <a:noFill/>
                    </a:lnL>
                    <a:lnR>
                      <a:noFill/>
                    </a:lnR>
                    <a:lnT>
                      <a:noFill/>
                    </a:lnT>
                    <a:lnB>
                      <a:noFill/>
                    </a:lnB>
                    <a:noFill/>
                  </a:tcPr>
                </a:tc>
                <a:tc>
                  <a:txBody>
                    <a:bodyPr/>
                    <a:lstStyle/>
                    <a:p>
                      <a:pPr>
                        <a:buNone/>
                      </a:pPr>
                      <a:r>
                        <a:rPr lang="fr-FR" dirty="0"/>
                        <a:t>8 TB</a:t>
                      </a:r>
                    </a:p>
                  </a:txBody>
                  <a:tcPr anchor="ctr">
                    <a:lnL>
                      <a:noFill/>
                    </a:lnL>
                    <a:lnR>
                      <a:noFill/>
                    </a:lnR>
                    <a:lnT>
                      <a:noFill/>
                    </a:lnT>
                    <a:lnB>
                      <a:noFill/>
                    </a:lnB>
                    <a:noFill/>
                  </a:tcPr>
                </a:tc>
                <a:extLst>
                  <a:ext uri="{0D108BD9-81ED-4DB2-BD59-A6C34878D82A}">
                    <a16:rowId xmlns:a16="http://schemas.microsoft.com/office/drawing/2014/main" val="349743084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5"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est la meilleure pratique pour nommer les blobs ?</a:t>
            </a:r>
            <a:endParaRPr lang="fr-FR" sz="2000" dirty="0"/>
          </a:p>
          <a:p>
            <a:pPr marL="457200" indent="-457200">
              <a:buFont typeface="+mj-lt"/>
              <a:buAutoNum type="arabicPeriod"/>
              <a:defRPr sz="2400"/>
            </a:pPr>
            <a:r>
              <a:rPr lang="fr-FR" sz="2000" dirty="0"/>
              <a:t>Utiliser des GUID uniquement</a:t>
            </a:r>
          </a:p>
          <a:p>
            <a:pPr marL="457200" indent="-457200">
              <a:buFont typeface="+mj-lt"/>
              <a:buAutoNum type="arabicPeriod"/>
              <a:defRPr sz="2400"/>
            </a:pPr>
            <a:r>
              <a:rPr lang="fr-FR" sz="2000" dirty="0"/>
              <a:t>Utiliser une structure hiérarchique logique</a:t>
            </a:r>
          </a:p>
          <a:p>
            <a:pPr marL="457200" indent="-457200">
              <a:buFont typeface="+mj-lt"/>
              <a:buAutoNum type="arabicPeriod"/>
              <a:defRPr sz="2400"/>
            </a:pPr>
            <a:r>
              <a:rPr lang="fr-FR" sz="2000" dirty="0"/>
              <a:t>Utiliser des noms courts uniquement</a:t>
            </a:r>
          </a:p>
          <a:p>
            <a:pPr marL="457200" indent="-457200">
              <a:buFont typeface="+mj-lt"/>
              <a:buAutoNum type="arabicPeriod"/>
              <a:defRPr sz="2400"/>
            </a:pPr>
            <a:r>
              <a:rPr lang="fr-FR" sz="2000" dirty="0"/>
              <a:t>Ne pas nommer les blobs</a:t>
            </a:r>
          </a:p>
          <a:p>
            <a:pPr>
              <a:defRPr sz="2400"/>
            </a:pPr>
            <a:endParaRPr dirty="0"/>
          </a:p>
        </p:txBody>
      </p:sp>
      <p:sp>
        <p:nvSpPr>
          <p:cNvPr id="8" name="TextBox 7"/>
          <p:cNvSpPr txBox="1"/>
          <p:nvPr/>
        </p:nvSpPr>
        <p:spPr>
          <a:xfrm>
            <a:off x="6012160" y="324433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874814" y="3933056"/>
            <a:ext cx="5746701" cy="1569660"/>
          </a:xfrm>
          <a:prstGeom prst="rect">
            <a:avLst/>
          </a:prstGeom>
          <a:noFill/>
        </p:spPr>
        <p:txBody>
          <a:bodyPr wrap="none">
            <a:spAutoFit/>
          </a:bodyPr>
          <a:lstStyle/>
          <a:p>
            <a:pPr>
              <a:defRPr sz="1600"/>
            </a:pPr>
            <a:r>
              <a:rPr dirty="0"/>
              <a:t>Une structure logique facilite l’organisation et la maintenance.</a:t>
            </a:r>
            <a:endParaRPr lang="fr-FR" dirty="0"/>
          </a:p>
          <a:p>
            <a:pPr>
              <a:defRPr sz="1600"/>
            </a:pPr>
            <a:r>
              <a:rPr lang="fr-FR" dirty="0"/>
              <a:t>Exemple : </a:t>
            </a:r>
          </a:p>
          <a:p>
            <a:pPr marL="285750" indent="-285750">
              <a:buFont typeface="Arial" panose="020B0604020202020204" pitchFamily="34" charset="0"/>
              <a:buChar char="•"/>
              <a:defRPr sz="1600"/>
            </a:pPr>
            <a:r>
              <a:rPr lang="fr-FR" dirty="0"/>
              <a:t>images/produits/2026/04/photo1.jpg</a:t>
            </a:r>
          </a:p>
          <a:p>
            <a:pPr marL="285750" indent="-285750">
              <a:buFont typeface="Arial" panose="020B0604020202020204" pitchFamily="34" charset="0"/>
              <a:buChar char="•"/>
              <a:defRPr sz="1600"/>
            </a:pPr>
            <a:r>
              <a:rPr lang="fr-FR" dirty="0"/>
              <a:t>logs/app1/2026/04/30/log.txt</a:t>
            </a:r>
          </a:p>
          <a:p>
            <a:pPr marL="285750" indent="-285750">
              <a:buFont typeface="Arial" panose="020B0604020202020204" pitchFamily="34" charset="0"/>
              <a:buChar char="•"/>
              <a:defRPr sz="1600"/>
            </a:pPr>
            <a:r>
              <a:rPr lang="fr-FR" dirty="0"/>
              <a:t>clients/12345/documents/facture.pdf</a:t>
            </a:r>
            <a:br>
              <a:rPr lang="fr-FR" dirty="0"/>
            </a:b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90712" y="192493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18</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Quel protocole est utilisé pour accéder aux blobs ?</a:t>
            </a:r>
            <a:endParaRPr lang="fr-FR" sz="2000" dirty="0"/>
          </a:p>
          <a:p>
            <a:pPr marL="457200" indent="-457200">
              <a:buFont typeface="+mj-lt"/>
              <a:buAutoNum type="arabicPeriod"/>
              <a:defRPr sz="2400"/>
            </a:pPr>
            <a:r>
              <a:rPr lang="fr-FR" sz="2000" dirty="0"/>
              <a:t>FTP</a:t>
            </a:r>
          </a:p>
          <a:p>
            <a:pPr marL="457200" indent="-457200">
              <a:buFont typeface="+mj-lt"/>
              <a:buAutoNum type="arabicPeriod"/>
              <a:defRPr sz="2400"/>
            </a:pPr>
            <a:r>
              <a:rPr lang="fr-FR" sz="2000" dirty="0"/>
              <a:t>SMTP</a:t>
            </a:r>
          </a:p>
          <a:p>
            <a:pPr marL="457200" indent="-457200">
              <a:buFont typeface="+mj-lt"/>
              <a:buAutoNum type="arabicPeriod"/>
              <a:defRPr sz="2400"/>
            </a:pPr>
            <a:r>
              <a:rPr lang="fr-FR" sz="2000" dirty="0"/>
              <a:t>TCP brut</a:t>
            </a:r>
          </a:p>
          <a:p>
            <a:pPr marL="457200" indent="-457200">
              <a:buFont typeface="+mj-lt"/>
              <a:buAutoNum type="arabicPeriod"/>
              <a:defRPr sz="2400"/>
            </a:pPr>
            <a:r>
              <a:rPr lang="fr-FR" sz="2000" dirty="0"/>
              <a:t>HTTP/HTTPS</a:t>
            </a:r>
          </a:p>
          <a:p>
            <a:pPr marL="457200" indent="-457200">
              <a:buFont typeface="+mj-lt"/>
              <a:buAutoNum type="arabicPeriod"/>
              <a:defRPr sz="2400"/>
            </a:pPr>
            <a:endParaRPr lang="fr-FR" sz="2000" dirty="0"/>
          </a:p>
          <a:p>
            <a:pPr>
              <a:defRPr sz="2400"/>
            </a:pPr>
            <a:endParaRPr dirty="0"/>
          </a:p>
        </p:txBody>
      </p:sp>
      <p:sp>
        <p:nvSpPr>
          <p:cNvPr id="8" name="TextBox 7"/>
          <p:cNvSpPr txBox="1"/>
          <p:nvPr/>
        </p:nvSpPr>
        <p:spPr>
          <a:xfrm>
            <a:off x="6151418" y="5029200"/>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Blob Storage est accessible via HTTP/HTTPS.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3707"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Qu’est-ce qu’un SAS Token ?</a:t>
            </a:r>
            <a:endParaRPr lang="fr-FR" sz="2000" dirty="0"/>
          </a:p>
          <a:p>
            <a:pPr marL="457200" indent="-457200">
              <a:buFont typeface="+mj-lt"/>
              <a:buAutoNum type="arabicPeriod"/>
              <a:defRPr sz="2400"/>
            </a:pPr>
            <a:r>
              <a:rPr lang="fr-FR" sz="2000" dirty="0"/>
              <a:t>Un mot de passe permanent</a:t>
            </a:r>
          </a:p>
          <a:p>
            <a:pPr marL="457200" indent="-457200">
              <a:buFont typeface="+mj-lt"/>
              <a:buAutoNum type="arabicPeriod"/>
              <a:defRPr sz="2400"/>
            </a:pPr>
            <a:r>
              <a:rPr lang="fr-FR" sz="2000" dirty="0"/>
              <a:t>Une clé de chiffrement</a:t>
            </a:r>
          </a:p>
          <a:p>
            <a:pPr marL="457200" indent="-457200">
              <a:buFont typeface="+mj-lt"/>
              <a:buAutoNum type="arabicPeriod"/>
              <a:defRPr sz="2400"/>
            </a:pPr>
            <a:r>
              <a:rPr lang="fr-FR" sz="2000" dirty="0"/>
              <a:t>Un accès temporaire sécurisé</a:t>
            </a:r>
          </a:p>
          <a:p>
            <a:pPr marL="457200" indent="-457200">
              <a:buFont typeface="+mj-lt"/>
              <a:buAutoNum type="arabicPeriod"/>
              <a:defRPr sz="2400"/>
            </a:pPr>
            <a:r>
              <a:rPr lang="fr-FR" sz="2000" dirty="0"/>
              <a:t>Un identifiant utilisateur</a:t>
            </a:r>
          </a:p>
          <a:p>
            <a:pPr>
              <a:defRPr sz="2400"/>
            </a:pPr>
            <a:endParaRPr dirty="0"/>
          </a:p>
        </p:txBody>
      </p:sp>
      <p:sp>
        <p:nvSpPr>
          <p:cNvPr id="8" name="TextBox 7"/>
          <p:cNvSpPr txBox="1"/>
          <p:nvPr/>
        </p:nvSpPr>
        <p:spPr>
          <a:xfrm>
            <a:off x="6372200" y="213961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450990" y="3212976"/>
            <a:ext cx="8266467" cy="3847207"/>
          </a:xfrm>
          <a:prstGeom prst="rect">
            <a:avLst/>
          </a:prstGeom>
          <a:noFill/>
        </p:spPr>
        <p:txBody>
          <a:bodyPr wrap="square">
            <a:spAutoFit/>
          </a:bodyPr>
          <a:lstStyle/>
          <a:p>
            <a:r>
              <a:rPr sz="1600" dirty="0"/>
              <a:t>Un SAS </a:t>
            </a:r>
            <a:r>
              <a:rPr lang="fr-FR" sz="1600" dirty="0"/>
              <a:t>(</a:t>
            </a:r>
            <a:r>
              <a:rPr lang="fr-FR" sz="1600" dirty="0" err="1"/>
              <a:t>Shared</a:t>
            </a:r>
            <a:r>
              <a:rPr lang="fr-FR" sz="1600" dirty="0"/>
              <a:t> Access Signature) </a:t>
            </a:r>
            <a:r>
              <a:rPr sz="1600" dirty="0"/>
              <a:t>Token </a:t>
            </a:r>
            <a:r>
              <a:rPr lang="fr-FR" sz="1600" dirty="0"/>
              <a:t>est une </a:t>
            </a:r>
            <a:r>
              <a:rPr lang="fr-FR" sz="1600" b="1" dirty="0"/>
              <a:t>URL signée</a:t>
            </a:r>
            <a:r>
              <a:rPr lang="fr-FR" sz="1600" dirty="0"/>
              <a:t> qui donne un accès limité dans le temps à une ressource (blob, conteneur, etc.).</a:t>
            </a:r>
            <a:br>
              <a:rPr lang="fr-FR" sz="1600" dirty="0"/>
            </a:br>
            <a:br>
              <a:rPr lang="fr-FR" sz="1600" dirty="0"/>
            </a:br>
            <a:r>
              <a:rPr lang="fr-FR" sz="1600" dirty="0"/>
              <a:t>Un SAS </a:t>
            </a:r>
            <a:r>
              <a:rPr lang="fr-FR" sz="1600" dirty="0" err="1"/>
              <a:t>Token</a:t>
            </a:r>
            <a:r>
              <a:rPr lang="fr-FR" sz="1600" dirty="0"/>
              <a:t> permet de définir :</a:t>
            </a:r>
          </a:p>
          <a:p>
            <a:r>
              <a:rPr lang="fr-FR" sz="1600" dirty="0"/>
              <a:t>⏱️ </a:t>
            </a:r>
            <a:r>
              <a:rPr lang="fr-FR" sz="1600" b="1" dirty="0"/>
              <a:t>Une durée</a:t>
            </a:r>
            <a:r>
              <a:rPr lang="fr-FR" sz="1600" dirty="0"/>
              <a:t> (ex : valable 1 heure) </a:t>
            </a:r>
          </a:p>
          <a:p>
            <a:r>
              <a:rPr lang="fr-FR" sz="1600" dirty="0"/>
              <a:t>🔑 </a:t>
            </a:r>
            <a:r>
              <a:rPr lang="fr-FR" sz="1600" b="1" dirty="0"/>
              <a:t>Des permissions</a:t>
            </a:r>
            <a:r>
              <a:rPr lang="fr-FR" sz="1600" dirty="0"/>
              <a:t> (lecture, écriture, suppression…) </a:t>
            </a:r>
          </a:p>
          <a:p>
            <a:r>
              <a:rPr lang="fr-FR" sz="1600" dirty="0"/>
              <a:t>📍 </a:t>
            </a:r>
            <a:r>
              <a:rPr lang="fr-FR" sz="1600" b="1" dirty="0"/>
              <a:t>Une portée</a:t>
            </a:r>
            <a:r>
              <a:rPr lang="fr-FR" sz="1600" dirty="0"/>
              <a:t> (un blob précis ou un conteneur)</a:t>
            </a:r>
          </a:p>
          <a:p>
            <a:endParaRPr lang="fr-FR" sz="1600" b="1" dirty="0"/>
          </a:p>
          <a:p>
            <a:r>
              <a:rPr lang="fr-FR" sz="1600" b="1" dirty="0"/>
              <a:t>✅ Pourquoi c’est puissant ?</a:t>
            </a:r>
          </a:p>
          <a:p>
            <a:r>
              <a:rPr lang="fr-FR" sz="1600" dirty="0"/>
              <a:t>Pas besoin de partager la clé principale du compte (beaucoup plus risqué) </a:t>
            </a:r>
          </a:p>
          <a:p>
            <a:r>
              <a:rPr lang="fr-FR" sz="1600" dirty="0"/>
              <a:t>Idéal pour : </a:t>
            </a:r>
          </a:p>
          <a:p>
            <a:pPr marL="742950" lvl="1" indent="-285750">
              <a:buFont typeface="Arial" panose="020B0604020202020204" pitchFamily="34" charset="0"/>
              <a:buChar char="•"/>
            </a:pPr>
            <a:r>
              <a:rPr lang="fr-FR" sz="1600" dirty="0"/>
              <a:t>donner accès à un fichier temporairement </a:t>
            </a:r>
          </a:p>
          <a:p>
            <a:pPr marL="742950" lvl="1" indent="-285750">
              <a:buFont typeface="Arial" panose="020B0604020202020204" pitchFamily="34" charset="0"/>
              <a:buChar char="•"/>
            </a:pPr>
            <a:r>
              <a:rPr lang="fr-FR" sz="1600" dirty="0"/>
              <a:t>permettre un </a:t>
            </a:r>
            <a:r>
              <a:rPr lang="fr-FR" sz="1600" dirty="0" err="1"/>
              <a:t>upload</a:t>
            </a:r>
            <a:r>
              <a:rPr lang="fr-FR" sz="1600" dirty="0"/>
              <a:t>/download côté client </a:t>
            </a:r>
          </a:p>
          <a:p>
            <a:pPr marL="742950" lvl="1" indent="-285750">
              <a:buFont typeface="Arial" panose="020B0604020202020204" pitchFamily="34" charset="0"/>
              <a:buChar char="•"/>
            </a:pPr>
            <a:r>
              <a:rPr lang="fr-FR" sz="1600" dirty="0"/>
              <a:t>exposer un fichier sans authentification complète</a:t>
            </a:r>
          </a:p>
          <a:p>
            <a:pP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26780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éviter de stocker des fichiers sur le disque local d’une WebApp ?</a:t>
            </a:r>
            <a:endParaRPr lang="fr-FR" sz="2000" dirty="0"/>
          </a:p>
          <a:p>
            <a:pPr marL="457200" indent="-457200">
              <a:buFont typeface="+mj-lt"/>
              <a:buAutoNum type="arabicPeriod"/>
              <a:defRPr sz="2400"/>
            </a:pPr>
            <a:r>
              <a:rPr lang="fr-FR" sz="2000" dirty="0"/>
              <a:t>C’est interdit</a:t>
            </a:r>
          </a:p>
          <a:p>
            <a:pPr marL="457200" indent="-457200">
              <a:buFont typeface="+mj-lt"/>
              <a:buAutoNum type="arabicPeriod"/>
              <a:defRPr sz="2400"/>
            </a:pPr>
            <a:r>
              <a:rPr lang="fr-FR" sz="2000" dirty="0"/>
              <a:t>Le disque est volatile</a:t>
            </a:r>
          </a:p>
          <a:p>
            <a:pPr marL="457200" indent="-457200">
              <a:buFont typeface="+mj-lt"/>
              <a:buAutoNum type="arabicPeriod"/>
              <a:defRPr sz="2400"/>
            </a:pPr>
            <a:r>
              <a:rPr lang="fr-FR" sz="2000" dirty="0"/>
              <a:t>C’est trop rapide</a:t>
            </a:r>
          </a:p>
          <a:p>
            <a:pPr marL="457200" indent="-457200">
              <a:buFont typeface="+mj-lt"/>
              <a:buAutoNum type="arabicPeriod"/>
              <a:defRPr sz="2400"/>
            </a:pPr>
            <a:r>
              <a:rPr lang="fr-FR" sz="2000" dirty="0"/>
              <a:t>Azure bloque</a:t>
            </a:r>
          </a:p>
          <a:p>
            <a:pPr>
              <a:defRPr sz="2400"/>
            </a:pPr>
            <a:endParaRPr dirty="0"/>
          </a:p>
        </p:txBody>
      </p:sp>
      <p:sp>
        <p:nvSpPr>
          <p:cNvPr id="8" name="TextBox 7"/>
          <p:cNvSpPr txBox="1"/>
          <p:nvPr/>
        </p:nvSpPr>
        <p:spPr>
          <a:xfrm>
            <a:off x="6331647" y="2780928"/>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755576" y="3789040"/>
            <a:ext cx="3657600" cy="914400"/>
          </a:xfrm>
          <a:prstGeom prst="rect">
            <a:avLst/>
          </a:prstGeom>
          <a:noFill/>
        </p:spPr>
        <p:txBody>
          <a:bodyPr wrap="none">
            <a:spAutoFit/>
          </a:bodyPr>
          <a:lstStyle/>
          <a:p>
            <a:pPr>
              <a:defRPr sz="1600"/>
            </a:pPr>
            <a:r>
              <a:rPr dirty="0"/>
              <a:t>Le stockage local peut être perdu lors de redémarrage ou scaling.</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7687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757FD-C95E-6E89-990E-C17713B8703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F1C728C-D02D-42CB-0DBF-130331F4EB59}"/>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58C37F69-E3E9-039F-90A0-0BA86D63BBD3}"/>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r>
              <a:rPr lang="fr-FR" sz="3200" dirty="0"/>
              <a:t>1</a:t>
            </a:r>
            <a:endParaRPr sz="3200" dirty="0"/>
          </a:p>
        </p:txBody>
      </p:sp>
      <p:sp>
        <p:nvSpPr>
          <p:cNvPr id="3" name="TextBox 2">
            <a:extLst>
              <a:ext uri="{FF2B5EF4-FFF2-40B4-BE49-F238E27FC236}">
                <a16:creationId xmlns:a16="http://schemas.microsoft.com/office/drawing/2014/main" id="{A47B2CDE-9CFA-6241-D42B-8F8F27406077}"/>
              </a:ext>
            </a:extLst>
          </p:cNvPr>
          <p:cNvSpPr txBox="1"/>
          <p:nvPr/>
        </p:nvSpPr>
        <p:spPr>
          <a:xfrm>
            <a:off x="467096" y="1324006"/>
            <a:ext cx="8431481" cy="2862322"/>
          </a:xfrm>
          <a:prstGeom prst="rect">
            <a:avLst/>
          </a:prstGeom>
          <a:noFill/>
        </p:spPr>
        <p:txBody>
          <a:bodyPr wrap="square">
            <a:spAutoFit/>
          </a:bodyPr>
          <a:lstStyle/>
          <a:p>
            <a:pPr>
              <a:defRPr sz="2400"/>
            </a:pPr>
            <a:r>
              <a:rPr lang="fr-FR" sz="2000" dirty="0"/>
              <a:t>Quels services sont disponibles dans un Azure Storage </a:t>
            </a:r>
            <a:r>
              <a:rPr lang="fr-FR" sz="2000" dirty="0" err="1"/>
              <a:t>Account</a:t>
            </a:r>
            <a:r>
              <a:rPr lang="fr-FR" sz="2000" dirty="0"/>
              <a:t> ? (plusieurs réponses possibles)</a:t>
            </a:r>
          </a:p>
          <a:p>
            <a:pPr marL="457200" indent="-457200">
              <a:buFont typeface="+mj-lt"/>
              <a:buAutoNum type="arabicPeriod"/>
              <a:defRPr sz="2400"/>
            </a:pPr>
            <a:r>
              <a:rPr lang="en-US" sz="2000" dirty="0"/>
              <a:t>Blob Storage</a:t>
            </a:r>
          </a:p>
          <a:p>
            <a:pPr marL="457200" indent="-457200">
              <a:buFont typeface="+mj-lt"/>
              <a:buAutoNum type="arabicPeriod"/>
              <a:defRPr sz="2400"/>
            </a:pPr>
            <a:r>
              <a:rPr lang="en-US" sz="2000" dirty="0"/>
              <a:t>Azure SQL Database</a:t>
            </a:r>
          </a:p>
          <a:p>
            <a:pPr marL="457200" indent="-457200">
              <a:buFont typeface="+mj-lt"/>
              <a:buAutoNum type="arabicPeriod"/>
              <a:defRPr sz="2400"/>
            </a:pPr>
            <a:r>
              <a:rPr lang="en-US" sz="2000" dirty="0"/>
              <a:t>Table Storage</a:t>
            </a:r>
          </a:p>
          <a:p>
            <a:pPr marL="457200" indent="-457200">
              <a:buFont typeface="+mj-lt"/>
              <a:buAutoNum type="arabicPeriod"/>
              <a:defRPr sz="2400"/>
            </a:pPr>
            <a:r>
              <a:rPr lang="en-US" sz="2000" dirty="0"/>
              <a:t>Queue Storage</a:t>
            </a:r>
          </a:p>
          <a:p>
            <a:pPr marL="457200" indent="-457200">
              <a:buFont typeface="+mj-lt"/>
              <a:buAutoNum type="arabicPeriod"/>
              <a:defRPr sz="2400"/>
            </a:pPr>
            <a:r>
              <a:rPr lang="en-US" sz="2000" dirty="0"/>
              <a:t>Service Bus</a:t>
            </a:r>
          </a:p>
          <a:p>
            <a:pPr marL="457200" indent="-457200">
              <a:buFont typeface="+mj-lt"/>
              <a:buAutoNum type="arabicPeriod"/>
              <a:defRPr sz="2400"/>
            </a:pPr>
            <a:r>
              <a:rPr lang="en-US" sz="2000" dirty="0"/>
              <a:t>File Shares</a:t>
            </a:r>
          </a:p>
          <a:p>
            <a:pPr marL="457200" indent="-457200">
              <a:buFont typeface="+mj-lt"/>
              <a:buAutoNum type="arabicPeriod"/>
              <a:defRPr sz="2400"/>
            </a:pPr>
            <a:r>
              <a:rPr lang="en-US" sz="2000" dirty="0"/>
              <a:t>Azure Disks</a:t>
            </a:r>
          </a:p>
        </p:txBody>
      </p:sp>
      <p:sp>
        <p:nvSpPr>
          <p:cNvPr id="8" name="TextBox 7">
            <a:extLst>
              <a:ext uri="{FF2B5EF4-FFF2-40B4-BE49-F238E27FC236}">
                <a16:creationId xmlns:a16="http://schemas.microsoft.com/office/drawing/2014/main" id="{0955AF25-5101-51B1-646A-E9F9FC3C62A7}"/>
              </a:ext>
            </a:extLst>
          </p:cNvPr>
          <p:cNvSpPr txBox="1"/>
          <p:nvPr/>
        </p:nvSpPr>
        <p:spPr>
          <a:xfrm>
            <a:off x="6331647" y="2780928"/>
            <a:ext cx="2014334" cy="369332"/>
          </a:xfrm>
          <a:prstGeom prst="rect">
            <a:avLst/>
          </a:prstGeom>
          <a:noFill/>
        </p:spPr>
        <p:txBody>
          <a:bodyPr wrap="none">
            <a:spAutoFit/>
          </a:bodyPr>
          <a:lstStyle/>
          <a:p>
            <a:pPr>
              <a:defRPr sz="1800" b="1"/>
            </a:pPr>
            <a:r>
              <a:rPr u="sng" dirty="0" err="1"/>
              <a:t>Réponse</a:t>
            </a:r>
            <a:r>
              <a:rPr u="sng" dirty="0"/>
              <a:t> : </a:t>
            </a:r>
            <a:r>
              <a:rPr lang="fr-FR" u="sng" dirty="0"/>
              <a:t>1,3,4,6</a:t>
            </a:r>
            <a:endParaRPr u="sng" dirty="0" err="1"/>
          </a:p>
        </p:txBody>
      </p:sp>
      <p:sp>
        <p:nvSpPr>
          <p:cNvPr id="13" name="ZoneTexte 12">
            <a:extLst>
              <a:ext uri="{FF2B5EF4-FFF2-40B4-BE49-F238E27FC236}">
                <a16:creationId xmlns:a16="http://schemas.microsoft.com/office/drawing/2014/main" id="{6ED3DEE2-405F-9ACF-EA53-360B9113A21C}"/>
              </a:ext>
            </a:extLst>
          </p:cNvPr>
          <p:cNvSpPr txBox="1"/>
          <p:nvPr/>
        </p:nvSpPr>
        <p:spPr>
          <a:xfrm>
            <a:off x="24130" y="2578261"/>
            <a:ext cx="557808" cy="369332"/>
          </a:xfrm>
          <a:prstGeom prst="rect">
            <a:avLst/>
          </a:prstGeom>
          <a:noFill/>
        </p:spPr>
        <p:txBody>
          <a:bodyPr wrap="square">
            <a:spAutoFit/>
          </a:bodyPr>
          <a:lstStyle/>
          <a:p>
            <a:r>
              <a:rPr lang="fr-FR" b="1" dirty="0"/>
              <a:t>✅</a:t>
            </a:r>
            <a:endParaRPr lang="fr-FR" dirty="0"/>
          </a:p>
        </p:txBody>
      </p:sp>
      <p:graphicFrame>
        <p:nvGraphicFramePr>
          <p:cNvPr id="4" name="Tableau 3">
            <a:extLst>
              <a:ext uri="{FF2B5EF4-FFF2-40B4-BE49-F238E27FC236}">
                <a16:creationId xmlns:a16="http://schemas.microsoft.com/office/drawing/2014/main" id="{DEC78C72-F644-536D-24B2-B6B74413E0B1}"/>
              </a:ext>
            </a:extLst>
          </p:cNvPr>
          <p:cNvGraphicFramePr>
            <a:graphicFrameLocks noGrp="1"/>
          </p:cNvGraphicFramePr>
          <p:nvPr>
            <p:extLst>
              <p:ext uri="{D42A27DB-BD31-4B8C-83A1-F6EECF244321}">
                <p14:modId xmlns:p14="http://schemas.microsoft.com/office/powerpoint/2010/main" val="337500199"/>
              </p:ext>
            </p:extLst>
          </p:nvPr>
        </p:nvGraphicFramePr>
        <p:xfrm>
          <a:off x="489689" y="4760898"/>
          <a:ext cx="6791248" cy="1676400"/>
        </p:xfrm>
        <a:graphic>
          <a:graphicData uri="http://schemas.openxmlformats.org/drawingml/2006/table">
            <a:tbl>
              <a:tblPr/>
              <a:tblGrid>
                <a:gridCol w="1197489">
                  <a:extLst>
                    <a:ext uri="{9D8B030D-6E8A-4147-A177-3AD203B41FA5}">
                      <a16:colId xmlns:a16="http://schemas.microsoft.com/office/drawing/2014/main" val="1662596606"/>
                    </a:ext>
                  </a:extLst>
                </a:gridCol>
                <a:gridCol w="2108210">
                  <a:extLst>
                    <a:ext uri="{9D8B030D-6E8A-4147-A177-3AD203B41FA5}">
                      <a16:colId xmlns:a16="http://schemas.microsoft.com/office/drawing/2014/main" val="1420361216"/>
                    </a:ext>
                  </a:extLst>
                </a:gridCol>
                <a:gridCol w="3485549">
                  <a:extLst>
                    <a:ext uri="{9D8B030D-6E8A-4147-A177-3AD203B41FA5}">
                      <a16:colId xmlns:a16="http://schemas.microsoft.com/office/drawing/2014/main" val="3667058466"/>
                    </a:ext>
                  </a:extLst>
                </a:gridCol>
              </a:tblGrid>
              <a:tr h="322172">
                <a:tc>
                  <a:txBody>
                    <a:bodyPr/>
                    <a:lstStyle/>
                    <a:p>
                      <a:pPr>
                        <a:buNone/>
                      </a:pPr>
                      <a:r>
                        <a:rPr lang="fr-FR" sz="1600" b="1" dirty="0"/>
                        <a:t>Service</a:t>
                      </a:r>
                    </a:p>
                  </a:txBody>
                  <a:tcPr anchor="ctr">
                    <a:lnL>
                      <a:noFill/>
                    </a:lnL>
                    <a:lnR>
                      <a:noFill/>
                    </a:lnR>
                    <a:lnT>
                      <a:noFill/>
                    </a:lnT>
                    <a:lnB>
                      <a:noFill/>
                    </a:lnB>
                    <a:noFill/>
                  </a:tcPr>
                </a:tc>
                <a:tc>
                  <a:txBody>
                    <a:bodyPr/>
                    <a:lstStyle/>
                    <a:p>
                      <a:pPr>
                        <a:buNone/>
                      </a:pPr>
                      <a:r>
                        <a:rPr lang="fr-FR" sz="1600" b="1"/>
                        <a:t>Accès</a:t>
                      </a:r>
                    </a:p>
                  </a:txBody>
                  <a:tcPr anchor="ctr">
                    <a:lnL>
                      <a:noFill/>
                    </a:lnL>
                    <a:lnR>
                      <a:noFill/>
                    </a:lnR>
                    <a:lnT>
                      <a:noFill/>
                    </a:lnT>
                    <a:lnB>
                      <a:noFill/>
                    </a:lnB>
                    <a:noFill/>
                  </a:tcPr>
                </a:tc>
                <a:tc>
                  <a:txBody>
                    <a:bodyPr/>
                    <a:lstStyle/>
                    <a:p>
                      <a:pPr>
                        <a:buNone/>
                      </a:pPr>
                      <a:r>
                        <a:rPr lang="fr-FR" sz="1600" b="1" dirty="0"/>
                        <a:t>Structure</a:t>
                      </a:r>
                    </a:p>
                  </a:txBody>
                  <a:tcPr anchor="ctr">
                    <a:lnL>
                      <a:noFill/>
                    </a:lnL>
                    <a:lnR>
                      <a:noFill/>
                    </a:lnR>
                    <a:lnT>
                      <a:noFill/>
                    </a:lnT>
                    <a:lnB>
                      <a:noFill/>
                    </a:lnB>
                    <a:noFill/>
                  </a:tcPr>
                </a:tc>
                <a:extLst>
                  <a:ext uri="{0D108BD9-81ED-4DB2-BD59-A6C34878D82A}">
                    <a16:rowId xmlns:a16="http://schemas.microsoft.com/office/drawing/2014/main" val="3024126256"/>
                  </a:ext>
                </a:extLst>
              </a:tr>
              <a:tr h="322172">
                <a:tc>
                  <a:txBody>
                    <a:bodyPr/>
                    <a:lstStyle/>
                    <a:p>
                      <a:pPr>
                        <a:buNone/>
                      </a:pPr>
                      <a:r>
                        <a:rPr lang="fr-FR" sz="1600"/>
                        <a:t>Blob</a:t>
                      </a:r>
                    </a:p>
                  </a:txBody>
                  <a:tcPr anchor="ctr">
                    <a:lnL>
                      <a:noFill/>
                    </a:lnL>
                    <a:lnR>
                      <a:noFill/>
                    </a:lnR>
                    <a:lnT>
                      <a:noFill/>
                    </a:lnT>
                    <a:lnB>
                      <a:noFill/>
                    </a:lnB>
                    <a:noFill/>
                  </a:tcPr>
                </a:tc>
                <a:tc>
                  <a:txBody>
                    <a:bodyPr/>
                    <a:lstStyle/>
                    <a:p>
                      <a:pPr>
                        <a:buNone/>
                      </a:pPr>
                      <a:r>
                        <a:rPr lang="fr-FR" sz="1600" dirty="0"/>
                        <a:t>HTTP</a:t>
                      </a:r>
                    </a:p>
                  </a:txBody>
                  <a:tcPr anchor="ctr">
                    <a:lnL>
                      <a:noFill/>
                    </a:lnL>
                    <a:lnR>
                      <a:noFill/>
                    </a:lnR>
                    <a:lnT>
                      <a:noFill/>
                    </a:lnT>
                    <a:lnB>
                      <a:noFill/>
                    </a:lnB>
                    <a:noFill/>
                  </a:tcPr>
                </a:tc>
                <a:tc>
                  <a:txBody>
                    <a:bodyPr/>
                    <a:lstStyle/>
                    <a:p>
                      <a:pPr>
                        <a:buNone/>
                      </a:pPr>
                      <a:r>
                        <a:rPr lang="fr-FR" sz="1600"/>
                        <a:t>objet</a:t>
                      </a:r>
                    </a:p>
                  </a:txBody>
                  <a:tcPr anchor="ctr">
                    <a:lnL>
                      <a:noFill/>
                    </a:lnL>
                    <a:lnR>
                      <a:noFill/>
                    </a:lnR>
                    <a:lnT>
                      <a:noFill/>
                    </a:lnT>
                    <a:lnB>
                      <a:noFill/>
                    </a:lnB>
                    <a:noFill/>
                  </a:tcPr>
                </a:tc>
                <a:extLst>
                  <a:ext uri="{0D108BD9-81ED-4DB2-BD59-A6C34878D82A}">
                    <a16:rowId xmlns:a16="http://schemas.microsoft.com/office/drawing/2014/main" val="1967407186"/>
                  </a:ext>
                </a:extLst>
              </a:tr>
              <a:tr h="322172">
                <a:tc>
                  <a:txBody>
                    <a:bodyPr/>
                    <a:lstStyle/>
                    <a:p>
                      <a:pPr>
                        <a:buNone/>
                      </a:pPr>
                      <a:r>
                        <a:rPr lang="fr-FR" sz="1600"/>
                        <a:t>Table</a:t>
                      </a:r>
                    </a:p>
                  </a:txBody>
                  <a:tcPr anchor="ctr">
                    <a:lnL>
                      <a:noFill/>
                    </a:lnL>
                    <a:lnR>
                      <a:noFill/>
                    </a:lnR>
                    <a:lnT>
                      <a:noFill/>
                    </a:lnT>
                    <a:lnB>
                      <a:noFill/>
                    </a:lnB>
                    <a:noFill/>
                  </a:tcPr>
                </a:tc>
                <a:tc>
                  <a:txBody>
                    <a:bodyPr/>
                    <a:lstStyle/>
                    <a:p>
                      <a:pPr>
                        <a:buNone/>
                      </a:pPr>
                      <a:r>
                        <a:rPr lang="fr-FR" sz="1600"/>
                        <a:t>API</a:t>
                      </a:r>
                    </a:p>
                  </a:txBody>
                  <a:tcPr anchor="ctr">
                    <a:lnL>
                      <a:noFill/>
                    </a:lnL>
                    <a:lnR>
                      <a:noFill/>
                    </a:lnR>
                    <a:lnT>
                      <a:noFill/>
                    </a:lnT>
                    <a:lnB>
                      <a:noFill/>
                    </a:lnB>
                    <a:noFill/>
                  </a:tcPr>
                </a:tc>
                <a:tc>
                  <a:txBody>
                    <a:bodyPr/>
                    <a:lstStyle/>
                    <a:p>
                      <a:pPr>
                        <a:buNone/>
                      </a:pPr>
                      <a:r>
                        <a:rPr lang="fr-FR" sz="1600"/>
                        <a:t>NoSQL</a:t>
                      </a:r>
                    </a:p>
                  </a:txBody>
                  <a:tcPr anchor="ctr">
                    <a:lnL>
                      <a:noFill/>
                    </a:lnL>
                    <a:lnR>
                      <a:noFill/>
                    </a:lnR>
                    <a:lnT>
                      <a:noFill/>
                    </a:lnT>
                    <a:lnB>
                      <a:noFill/>
                    </a:lnB>
                    <a:noFill/>
                  </a:tcPr>
                </a:tc>
                <a:extLst>
                  <a:ext uri="{0D108BD9-81ED-4DB2-BD59-A6C34878D82A}">
                    <a16:rowId xmlns:a16="http://schemas.microsoft.com/office/drawing/2014/main" val="3650965514"/>
                  </a:ext>
                </a:extLst>
              </a:tr>
              <a:tr h="322172">
                <a:tc>
                  <a:txBody>
                    <a:bodyPr/>
                    <a:lstStyle/>
                    <a:p>
                      <a:pPr>
                        <a:buNone/>
                      </a:pPr>
                      <a:r>
                        <a:rPr lang="fr-FR" sz="1600"/>
                        <a:t>Queue</a:t>
                      </a:r>
                    </a:p>
                  </a:txBody>
                  <a:tcPr anchor="ctr">
                    <a:lnL>
                      <a:noFill/>
                    </a:lnL>
                    <a:lnR>
                      <a:noFill/>
                    </a:lnR>
                    <a:lnT>
                      <a:noFill/>
                    </a:lnT>
                    <a:lnB>
                      <a:noFill/>
                    </a:lnB>
                    <a:noFill/>
                  </a:tcPr>
                </a:tc>
                <a:tc>
                  <a:txBody>
                    <a:bodyPr/>
                    <a:lstStyle/>
                    <a:p>
                      <a:pPr>
                        <a:buNone/>
                      </a:pPr>
                      <a:r>
                        <a:rPr lang="fr-FR" sz="1600"/>
                        <a:t>API</a:t>
                      </a:r>
                    </a:p>
                  </a:txBody>
                  <a:tcPr anchor="ctr">
                    <a:lnL>
                      <a:noFill/>
                    </a:lnL>
                    <a:lnR>
                      <a:noFill/>
                    </a:lnR>
                    <a:lnT>
                      <a:noFill/>
                    </a:lnT>
                    <a:lnB>
                      <a:noFill/>
                    </a:lnB>
                    <a:noFill/>
                  </a:tcPr>
                </a:tc>
                <a:tc>
                  <a:txBody>
                    <a:bodyPr/>
                    <a:lstStyle/>
                    <a:p>
                      <a:pPr>
                        <a:buNone/>
                      </a:pPr>
                      <a:r>
                        <a:rPr lang="fr-FR" sz="1600"/>
                        <a:t>messages</a:t>
                      </a:r>
                    </a:p>
                  </a:txBody>
                  <a:tcPr anchor="ctr">
                    <a:lnL>
                      <a:noFill/>
                    </a:lnL>
                    <a:lnR>
                      <a:noFill/>
                    </a:lnR>
                    <a:lnT>
                      <a:noFill/>
                    </a:lnT>
                    <a:lnB>
                      <a:noFill/>
                    </a:lnB>
                    <a:noFill/>
                  </a:tcPr>
                </a:tc>
                <a:extLst>
                  <a:ext uri="{0D108BD9-81ED-4DB2-BD59-A6C34878D82A}">
                    <a16:rowId xmlns:a16="http://schemas.microsoft.com/office/drawing/2014/main" val="1790559852"/>
                  </a:ext>
                </a:extLst>
              </a:tr>
              <a:tr h="322172">
                <a:tc>
                  <a:txBody>
                    <a:bodyPr/>
                    <a:lstStyle/>
                    <a:p>
                      <a:pPr>
                        <a:buNone/>
                      </a:pPr>
                      <a:r>
                        <a:rPr lang="fr-FR" sz="1600"/>
                        <a:t>File</a:t>
                      </a:r>
                    </a:p>
                  </a:txBody>
                  <a:tcPr anchor="ctr">
                    <a:lnL>
                      <a:noFill/>
                    </a:lnL>
                    <a:lnR>
                      <a:noFill/>
                    </a:lnR>
                    <a:lnT>
                      <a:noFill/>
                    </a:lnT>
                    <a:lnB>
                      <a:noFill/>
                    </a:lnB>
                    <a:noFill/>
                  </a:tcPr>
                </a:tc>
                <a:tc>
                  <a:txBody>
                    <a:bodyPr/>
                    <a:lstStyle/>
                    <a:p>
                      <a:pPr>
                        <a:buNone/>
                      </a:pPr>
                      <a:r>
                        <a:rPr lang="fr-FR" sz="1600"/>
                        <a:t>SMB</a:t>
                      </a:r>
                    </a:p>
                  </a:txBody>
                  <a:tcPr anchor="ctr">
                    <a:lnL>
                      <a:noFill/>
                    </a:lnL>
                    <a:lnR>
                      <a:noFill/>
                    </a:lnR>
                    <a:lnT>
                      <a:noFill/>
                    </a:lnT>
                    <a:lnB>
                      <a:noFill/>
                    </a:lnB>
                    <a:noFill/>
                  </a:tcPr>
                </a:tc>
                <a:tc>
                  <a:txBody>
                    <a:bodyPr/>
                    <a:lstStyle/>
                    <a:p>
                      <a:pPr>
                        <a:buNone/>
                      </a:pPr>
                      <a:r>
                        <a:rPr lang="fr-FR" sz="1600" dirty="0"/>
                        <a:t>fichiers (comme Windows)</a:t>
                      </a:r>
                    </a:p>
                  </a:txBody>
                  <a:tcPr anchor="ctr">
                    <a:lnL>
                      <a:noFill/>
                    </a:lnL>
                    <a:lnR>
                      <a:noFill/>
                    </a:lnR>
                    <a:lnT>
                      <a:noFill/>
                    </a:lnT>
                    <a:lnB>
                      <a:noFill/>
                    </a:lnB>
                    <a:noFill/>
                  </a:tcPr>
                </a:tc>
                <a:extLst>
                  <a:ext uri="{0D108BD9-81ED-4DB2-BD59-A6C34878D82A}">
                    <a16:rowId xmlns:a16="http://schemas.microsoft.com/office/drawing/2014/main" val="2386112520"/>
                  </a:ext>
                </a:extLst>
              </a:tr>
            </a:tbl>
          </a:graphicData>
        </a:graphic>
      </p:graphicFrame>
      <p:sp>
        <p:nvSpPr>
          <p:cNvPr id="5" name="ZoneTexte 4">
            <a:extLst>
              <a:ext uri="{FF2B5EF4-FFF2-40B4-BE49-F238E27FC236}">
                <a16:creationId xmlns:a16="http://schemas.microsoft.com/office/drawing/2014/main" id="{ACADE07B-CBF6-9B05-F404-EC4D0C6FE61F}"/>
              </a:ext>
            </a:extLst>
          </p:cNvPr>
          <p:cNvSpPr txBox="1"/>
          <p:nvPr/>
        </p:nvSpPr>
        <p:spPr>
          <a:xfrm>
            <a:off x="24130" y="1939318"/>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98227E39-17C3-D797-F243-9AAF114D120A}"/>
              </a:ext>
            </a:extLst>
          </p:cNvPr>
          <p:cNvSpPr txBox="1"/>
          <p:nvPr/>
        </p:nvSpPr>
        <p:spPr>
          <a:xfrm>
            <a:off x="31256" y="2874368"/>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BAB88B3E-18CD-060D-0390-AA7DE5441356}"/>
              </a:ext>
            </a:extLst>
          </p:cNvPr>
          <p:cNvSpPr txBox="1"/>
          <p:nvPr/>
        </p:nvSpPr>
        <p:spPr>
          <a:xfrm>
            <a:off x="52733" y="3478251"/>
            <a:ext cx="557808" cy="369332"/>
          </a:xfrm>
          <a:prstGeom prst="rect">
            <a:avLst/>
          </a:prstGeom>
          <a:noFill/>
        </p:spPr>
        <p:txBody>
          <a:bodyPr wrap="square">
            <a:spAutoFit/>
          </a:bodyPr>
          <a:lstStyle/>
          <a:p>
            <a:r>
              <a:rPr lang="fr-FR" b="1" dirty="0"/>
              <a:t>✅</a:t>
            </a:r>
            <a:endParaRPr lang="fr-FR" dirty="0"/>
          </a:p>
        </p:txBody>
      </p:sp>
      <p:pic>
        <p:nvPicPr>
          <p:cNvPr id="12" name="Image 11">
            <a:extLst>
              <a:ext uri="{FF2B5EF4-FFF2-40B4-BE49-F238E27FC236}">
                <a16:creationId xmlns:a16="http://schemas.microsoft.com/office/drawing/2014/main" id="{25E2A823-B9D4-75AF-21FE-2250E9D88DB2}"/>
              </a:ext>
            </a:extLst>
          </p:cNvPr>
          <p:cNvPicPr>
            <a:picLocks noChangeAspect="1"/>
          </p:cNvPicPr>
          <p:nvPr/>
        </p:nvPicPr>
        <p:blipFill>
          <a:blip r:embed="rId2"/>
          <a:stretch>
            <a:fillRect/>
          </a:stretch>
        </p:blipFill>
        <p:spPr>
          <a:xfrm>
            <a:off x="6876256" y="3663619"/>
            <a:ext cx="1876457" cy="2920546"/>
          </a:xfrm>
          <a:prstGeom prst="rect">
            <a:avLst/>
          </a:prstGeom>
        </p:spPr>
      </p:pic>
    </p:spTree>
    <p:extLst>
      <p:ext uri="{BB962C8B-B14F-4D97-AF65-F5344CB8AC3E}">
        <p14:creationId xmlns:p14="http://schemas.microsoft.com/office/powerpoint/2010/main" val="323960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5" grpId="0"/>
      <p:bldP spid="6" grpId="0"/>
      <p:bldP spid="7"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44BAD-D656-8540-FA5C-99299A8C8793}"/>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4B5B9AA-0A54-FDE2-13F8-93170A666AB7}"/>
              </a:ext>
            </a:extLst>
          </p:cNvPr>
          <p:cNvSpPr>
            <a:spLocks noGrp="1"/>
          </p:cNvSpPr>
          <p:nvPr>
            <p:ph type="body" sz="quarter" idx="11"/>
          </p:nvPr>
        </p:nvSpPr>
        <p:spPr/>
        <p:txBody>
          <a:bodyPr/>
          <a:lstStyle/>
          <a:p>
            <a:r>
              <a:rPr lang="fr-FR" dirty="0"/>
              <a:t>Quizz 12</a:t>
            </a:r>
          </a:p>
        </p:txBody>
      </p:sp>
      <p:sp>
        <p:nvSpPr>
          <p:cNvPr id="3" name="Espace réservé du texte 2">
            <a:extLst>
              <a:ext uri="{FF2B5EF4-FFF2-40B4-BE49-F238E27FC236}">
                <a16:creationId xmlns:a16="http://schemas.microsoft.com/office/drawing/2014/main" id="{D8BF81DB-AB68-4A13-BBAB-19E424C4E5F7}"/>
              </a:ext>
            </a:extLst>
          </p:cNvPr>
          <p:cNvSpPr>
            <a:spLocks noGrp="1"/>
          </p:cNvSpPr>
          <p:nvPr>
            <p:ph type="body" sz="quarter" idx="12"/>
          </p:nvPr>
        </p:nvSpPr>
        <p:spPr>
          <a:xfrm>
            <a:off x="2604868" y="3501008"/>
            <a:ext cx="5624732" cy="1432560"/>
          </a:xfrm>
        </p:spPr>
        <p:txBody>
          <a:bodyPr/>
          <a:lstStyle/>
          <a:p>
            <a:r>
              <a:rPr lang="fr-FR" dirty="0"/>
              <a:t>Application Insights</a:t>
            </a:r>
          </a:p>
        </p:txBody>
      </p:sp>
    </p:spTree>
    <p:extLst>
      <p:ext uri="{BB962C8B-B14F-4D97-AF65-F5344CB8AC3E}">
        <p14:creationId xmlns:p14="http://schemas.microsoft.com/office/powerpoint/2010/main" val="317775570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permet de collecter les logs applicatifs, traces et métriques ?</a:t>
            </a:r>
            <a:endParaRPr lang="fr-FR" sz="2000" dirty="0"/>
          </a:p>
          <a:p>
            <a:pPr marL="457200" indent="-457200">
              <a:buFont typeface="+mj-lt"/>
              <a:buAutoNum type="arabicPeriod"/>
              <a:defRPr sz="2400"/>
            </a:pPr>
            <a:r>
              <a:rPr lang="fr-FR" sz="2000" dirty="0"/>
              <a:t>Azure Monitor</a:t>
            </a:r>
          </a:p>
          <a:p>
            <a:pPr marL="457200" indent="-457200">
              <a:buFont typeface="+mj-lt"/>
              <a:buAutoNum type="arabicPeriod"/>
              <a:defRPr sz="2400"/>
            </a:pPr>
            <a:r>
              <a:rPr lang="fr-FR" sz="2000" dirty="0"/>
              <a:t>Azure DevOps</a:t>
            </a:r>
          </a:p>
          <a:p>
            <a:pPr marL="457200" indent="-457200">
              <a:buFont typeface="+mj-lt"/>
              <a:buAutoNum type="arabicPeriod"/>
              <a:defRPr sz="2400"/>
            </a:pPr>
            <a:r>
              <a:rPr lang="fr-FR" sz="2000" dirty="0"/>
              <a:t>Azure Storage</a:t>
            </a:r>
          </a:p>
          <a:p>
            <a:pPr marL="457200" indent="-457200">
              <a:buFont typeface="+mj-lt"/>
              <a:buAutoNum type="arabicPeriod"/>
              <a:defRPr sz="2400"/>
            </a:pPr>
            <a:r>
              <a:rPr lang="fr-FR" sz="2000" dirty="0"/>
              <a:t>Azure Functions</a:t>
            </a:r>
          </a:p>
          <a:p>
            <a:pPr>
              <a:defRPr sz="2400"/>
            </a:pPr>
            <a:endParaRPr dirty="0"/>
          </a:p>
        </p:txBody>
      </p:sp>
      <p:sp>
        <p:nvSpPr>
          <p:cNvPr id="8" name="TextBox 7"/>
          <p:cNvSpPr txBox="1"/>
          <p:nvPr/>
        </p:nvSpPr>
        <p:spPr>
          <a:xfrm>
            <a:off x="5724128" y="2153779"/>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472372" y="3291353"/>
            <a:ext cx="4963724" cy="2031325"/>
          </a:xfrm>
          <a:prstGeom prst="rect">
            <a:avLst/>
          </a:prstGeom>
          <a:noFill/>
        </p:spPr>
        <p:txBody>
          <a:bodyPr wrap="square">
            <a:spAutoFit/>
          </a:bodyPr>
          <a:lstStyle/>
          <a:p>
            <a:pPr>
              <a:defRPr sz="1600"/>
            </a:pPr>
            <a:r>
              <a:rPr lang="fr-FR" sz="1400" b="1" dirty="0"/>
              <a:t>Azure Monitor</a:t>
            </a:r>
            <a:r>
              <a:rPr lang="fr-FR" sz="1400" dirty="0"/>
              <a:t> est la plateforme de supervision globale d'Azure.</a:t>
            </a:r>
            <a:br>
              <a:rPr lang="fr-FR" sz="1400" dirty="0"/>
            </a:br>
            <a:r>
              <a:rPr lang="fr-FR" sz="1400" b="1" dirty="0"/>
              <a:t>Application Insights</a:t>
            </a:r>
            <a:r>
              <a:rPr lang="fr-FR" sz="1400" dirty="0"/>
              <a:t> est un service intégré à Azure Monitor, spécialisé dans la supervision des applications.</a:t>
            </a:r>
          </a:p>
          <a:p>
            <a:pPr>
              <a:defRPr sz="1600"/>
            </a:pPr>
            <a:endParaRPr lang="fr-FR" sz="1400" dirty="0"/>
          </a:p>
          <a:p>
            <a:pPr>
              <a:defRPr sz="1600"/>
            </a:pPr>
            <a:r>
              <a:rPr lang="fr-FR" sz="1400" dirty="0"/>
              <a:t>Application Insights collecte la télémétrie des applications, tandis qu'Azure Monitor centralise, stocke, analyse et alerte sur ces données ainsi que sur celles des autres ressources Azure. </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24590" y="1954948"/>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22D480E7-C3C1-63EF-D318-6C7B175AE789}"/>
              </a:ext>
            </a:extLst>
          </p:cNvPr>
          <p:cNvSpPr txBox="1"/>
          <p:nvPr/>
        </p:nvSpPr>
        <p:spPr>
          <a:xfrm>
            <a:off x="6084168" y="3430094"/>
            <a:ext cx="4635374" cy="2677656"/>
          </a:xfrm>
          <a:prstGeom prst="rect">
            <a:avLst/>
          </a:prstGeom>
          <a:noFill/>
        </p:spPr>
        <p:txBody>
          <a:bodyPr wrap="square">
            <a:spAutoFit/>
          </a:bodyPr>
          <a:lstStyle/>
          <a:p>
            <a:pPr>
              <a:defRPr sz="1600"/>
            </a:pPr>
            <a:r>
              <a:rPr lang="fr-FR" sz="1400" dirty="0"/>
              <a:t>Azure Monitor</a:t>
            </a:r>
          </a:p>
          <a:p>
            <a:pPr>
              <a:defRPr sz="1600"/>
            </a:pPr>
            <a:r>
              <a:rPr lang="fr-FR" sz="1400" dirty="0"/>
              <a:t>│</a:t>
            </a:r>
          </a:p>
          <a:p>
            <a:pPr>
              <a:defRPr sz="1600"/>
            </a:pPr>
            <a:r>
              <a:rPr lang="fr-FR" sz="1400" dirty="0"/>
              <a:t>├── </a:t>
            </a:r>
            <a:r>
              <a:rPr lang="fr-FR" sz="1400" dirty="0" err="1"/>
              <a:t>Metrics</a:t>
            </a:r>
            <a:endParaRPr lang="fr-FR" sz="1400" dirty="0"/>
          </a:p>
          <a:p>
            <a:pPr>
              <a:defRPr sz="1600"/>
            </a:pPr>
            <a:r>
              <a:rPr lang="fr-FR" sz="1400" dirty="0"/>
              <a:t>├── Logs (Log Analytics)</a:t>
            </a:r>
          </a:p>
          <a:p>
            <a:pPr>
              <a:defRPr sz="1600"/>
            </a:pPr>
            <a:r>
              <a:rPr lang="fr-FR" sz="1400" dirty="0"/>
              <a:t>├── </a:t>
            </a:r>
            <a:r>
              <a:rPr lang="fr-FR" sz="1400" dirty="0" err="1"/>
              <a:t>Alerts</a:t>
            </a:r>
            <a:endParaRPr lang="fr-FR" sz="1400" dirty="0"/>
          </a:p>
          <a:p>
            <a:pPr>
              <a:defRPr sz="1600"/>
            </a:pPr>
            <a:r>
              <a:rPr lang="fr-FR" sz="1400" dirty="0"/>
              <a:t>├── </a:t>
            </a:r>
            <a:r>
              <a:rPr lang="fr-FR" sz="1400" dirty="0" err="1"/>
              <a:t>Dashboards</a:t>
            </a:r>
            <a:endParaRPr lang="fr-FR" sz="1400" dirty="0"/>
          </a:p>
          <a:p>
            <a:pPr>
              <a:defRPr sz="1600"/>
            </a:pPr>
            <a:r>
              <a:rPr lang="fr-FR" sz="1400" dirty="0"/>
              <a:t>└── Application Insights</a:t>
            </a:r>
          </a:p>
          <a:p>
            <a:pPr>
              <a:defRPr sz="1600"/>
            </a:pPr>
            <a:r>
              <a:rPr lang="fr-FR" sz="1400" dirty="0"/>
              <a:t>      ├── Requêtes HTTP</a:t>
            </a:r>
          </a:p>
          <a:p>
            <a:pPr>
              <a:defRPr sz="1600"/>
            </a:pPr>
            <a:r>
              <a:rPr lang="fr-FR" sz="1400" dirty="0"/>
              <a:t>      ├── Exceptions</a:t>
            </a:r>
          </a:p>
          <a:p>
            <a:pPr>
              <a:defRPr sz="1600"/>
            </a:pPr>
            <a:r>
              <a:rPr lang="fr-FR" sz="1400" dirty="0"/>
              <a:t>      ├── Dépendances (SQL, API...)</a:t>
            </a:r>
          </a:p>
          <a:p>
            <a:pPr>
              <a:defRPr sz="1600"/>
            </a:pPr>
            <a:r>
              <a:rPr lang="fr-FR" sz="1400" dirty="0"/>
              <a:t>      ├── Temps de réponse</a:t>
            </a:r>
          </a:p>
          <a:p>
            <a:pPr>
              <a:defRPr sz="1600"/>
            </a:pPr>
            <a:r>
              <a:rPr lang="fr-FR" sz="1400" dirty="0"/>
              <a:t>      └── Télémétrie métier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5"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616101"/>
          </a:xfrm>
          <a:prstGeom prst="rect">
            <a:avLst/>
          </a:prstGeom>
          <a:noFill/>
        </p:spPr>
        <p:txBody>
          <a:bodyPr wrap="square">
            <a:spAutoFit/>
          </a:bodyPr>
          <a:lstStyle/>
          <a:p>
            <a:pPr>
              <a:defRPr sz="2400"/>
            </a:pPr>
            <a:r>
              <a:rPr sz="2000" dirty="0"/>
              <a:t>Quel composant Azure est utilisé pour analyser les performances d’une application web ?</a:t>
            </a:r>
            <a:endParaRPr lang="fr-FR" sz="2000" dirty="0"/>
          </a:p>
          <a:p>
            <a:pPr marL="457200" indent="-457200">
              <a:buFont typeface="+mj-lt"/>
              <a:buAutoNum type="arabicPeriod"/>
              <a:defRPr sz="2400"/>
            </a:pPr>
            <a:r>
              <a:rPr lang="fr-FR" sz="2000" dirty="0"/>
              <a:t>Azure Key Vault</a:t>
            </a:r>
          </a:p>
          <a:p>
            <a:pPr marL="457200" indent="-457200">
              <a:buFont typeface="+mj-lt"/>
              <a:buAutoNum type="arabicPeriod"/>
              <a:defRPr sz="2400"/>
            </a:pPr>
            <a:r>
              <a:rPr lang="fr-FR" sz="2000" dirty="0"/>
              <a:t>Azure SQL</a:t>
            </a:r>
          </a:p>
          <a:p>
            <a:pPr marL="457200" indent="-457200">
              <a:buFont typeface="+mj-lt"/>
              <a:buAutoNum type="arabicPeriod"/>
              <a:defRPr sz="2400"/>
            </a:pPr>
            <a:r>
              <a:rPr lang="fr-FR" sz="2000" dirty="0"/>
              <a:t>Azure CDN</a:t>
            </a:r>
          </a:p>
          <a:p>
            <a:pPr marL="457200" indent="-457200">
              <a:buFont typeface="+mj-lt"/>
              <a:buAutoNum type="arabicPeriod"/>
              <a:defRPr sz="2400"/>
            </a:pPr>
            <a:r>
              <a:rPr lang="fr-FR" sz="2000" dirty="0"/>
              <a:t>Application Insights</a:t>
            </a:r>
          </a:p>
          <a:p>
            <a:pPr marL="457200" indent="-457200">
              <a:buFont typeface="+mj-lt"/>
              <a:buAutoNum type="arabicPeriod"/>
              <a:defRPr sz="2400"/>
            </a:pPr>
            <a:endParaRPr lang="fr-FR" sz="2000" dirty="0"/>
          </a:p>
          <a:p>
            <a:pPr>
              <a:defRPr sz="2400"/>
            </a:pPr>
            <a:endParaRPr dirty="0"/>
          </a:p>
        </p:txBody>
      </p:sp>
      <p:sp>
        <p:nvSpPr>
          <p:cNvPr id="8" name="TextBox 7"/>
          <p:cNvSpPr txBox="1"/>
          <p:nvPr/>
        </p:nvSpPr>
        <p:spPr>
          <a:xfrm>
            <a:off x="6300192" y="3557374"/>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Application Insights permet de suivre les performances et les requêtes.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92494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923877"/>
          </a:xfrm>
          <a:prstGeom prst="rect">
            <a:avLst/>
          </a:prstGeom>
          <a:noFill/>
        </p:spPr>
        <p:txBody>
          <a:bodyPr wrap="square">
            <a:spAutoFit/>
          </a:bodyPr>
          <a:lstStyle/>
          <a:p>
            <a:pPr>
              <a:defRPr sz="2400"/>
            </a:pPr>
            <a:r>
              <a:rPr lang="fr-FR" sz="2000" dirty="0"/>
              <a:t>Dans une application .NET déployée sur Azure App Service avec Application Insights, quel est le rôle de </a:t>
            </a:r>
            <a:r>
              <a:rPr lang="fr-FR" sz="2000" dirty="0" err="1"/>
              <a:t>ILogger</a:t>
            </a:r>
            <a:r>
              <a:rPr lang="fr-FR" sz="2000" dirty="0"/>
              <a:t> lorsqu’il est utilisé avec un provider configuré via l’appel à </a:t>
            </a:r>
            <a:r>
              <a:rPr lang="fr-FR" sz="2000" dirty="0" err="1"/>
              <a:t>AddApplicationInsightsTelemetry</a:t>
            </a:r>
            <a:r>
              <a:rPr lang="fr-FR" sz="2000" dirty="0"/>
              <a:t>() ?</a:t>
            </a:r>
          </a:p>
          <a:p>
            <a:pPr marL="457200" indent="-457200">
              <a:buFont typeface="+mj-lt"/>
              <a:buAutoNum type="arabicPeriod"/>
              <a:defRPr sz="2400"/>
            </a:pPr>
            <a:r>
              <a:rPr lang="fr-FR" sz="2000" dirty="0"/>
              <a:t>Écrire des logs uniquement en local dans la console</a:t>
            </a:r>
          </a:p>
          <a:p>
            <a:pPr marL="457200" indent="-457200">
              <a:buFont typeface="+mj-lt"/>
              <a:buAutoNum type="arabicPeriod"/>
              <a:defRPr sz="2400"/>
            </a:pPr>
            <a:r>
              <a:rPr lang="fr-FR" sz="2000" dirty="0"/>
              <a:t>Envoyer automatiquement des logs structurés vers Azure Monitor / Application Insights</a:t>
            </a:r>
          </a:p>
          <a:p>
            <a:pPr marL="457200" indent="-457200">
              <a:buFont typeface="+mj-lt"/>
              <a:buAutoNum type="arabicPeriod"/>
              <a:defRPr sz="2400"/>
            </a:pPr>
            <a:r>
              <a:rPr lang="fr-FR" sz="2000" dirty="0"/>
              <a:t>Remplacer Application Insights</a:t>
            </a:r>
          </a:p>
          <a:p>
            <a:pPr marL="457200" indent="-457200">
              <a:buFont typeface="+mj-lt"/>
              <a:buAutoNum type="arabicPeriod"/>
              <a:defRPr sz="2400"/>
            </a:pPr>
            <a:r>
              <a:rPr lang="fr-FR" sz="2000" dirty="0"/>
              <a:t>Stocker les logs directement dans Azure SQL</a:t>
            </a:r>
          </a:p>
          <a:p>
            <a:pPr>
              <a:defRPr sz="2400"/>
            </a:pPr>
            <a:endParaRPr dirty="0"/>
          </a:p>
        </p:txBody>
      </p:sp>
      <p:sp>
        <p:nvSpPr>
          <p:cNvPr id="8" name="TextBox 7"/>
          <p:cNvSpPr txBox="1"/>
          <p:nvPr/>
        </p:nvSpPr>
        <p:spPr>
          <a:xfrm>
            <a:off x="5862984" y="4288354"/>
            <a:ext cx="1427635" cy="369332"/>
          </a:xfrm>
          <a:prstGeom prst="rect">
            <a:avLst/>
          </a:prstGeom>
          <a:noFill/>
        </p:spPr>
        <p:txBody>
          <a:bodyPr wrap="none">
            <a:spAutoFit/>
          </a:bodyPr>
          <a:lstStyle/>
          <a:p>
            <a:pPr>
              <a:defRPr sz="1800" b="1"/>
            </a:pPr>
            <a:r>
              <a:rPr u="sng" dirty="0" err="1"/>
              <a:t>Réponse</a:t>
            </a:r>
            <a:r>
              <a:rPr u="sng" dirty="0"/>
              <a:t> : </a:t>
            </a:r>
            <a:r>
              <a:rPr lang="fr-FR" u="sng" dirty="0"/>
              <a:t>2</a:t>
            </a:r>
            <a:endParaRPr u="sng" dirty="0" err="1"/>
          </a:p>
        </p:txBody>
      </p:sp>
      <p:sp>
        <p:nvSpPr>
          <p:cNvPr id="9" name="TextBox 8"/>
          <p:cNvSpPr txBox="1"/>
          <p:nvPr/>
        </p:nvSpPr>
        <p:spPr>
          <a:xfrm>
            <a:off x="647325" y="5398532"/>
            <a:ext cx="7525075" cy="1077218"/>
          </a:xfrm>
          <a:prstGeom prst="rect">
            <a:avLst/>
          </a:prstGeom>
          <a:noFill/>
        </p:spPr>
        <p:txBody>
          <a:bodyPr wrap="square">
            <a:spAutoFit/>
          </a:bodyPr>
          <a:lstStyle/>
          <a:p>
            <a:pPr>
              <a:defRPr sz="1600"/>
            </a:pPr>
            <a:r>
              <a:rPr lang="fr-FR" dirty="0" err="1"/>
              <a:t>ILogger</a:t>
            </a:r>
            <a:r>
              <a:rPr lang="fr-FR" dirty="0"/>
              <a:t>, lorsqu’il est configuré avec un provider (comme Application Insights), envoie les logs vers Azure Monitor.</a:t>
            </a:r>
            <a:br>
              <a:rPr lang="fr-FR" dirty="0"/>
            </a:br>
            <a:r>
              <a:rPr lang="fr-FR" dirty="0"/>
              <a:t>Logger est une abstraction. Le comportement dépend du provider configuré (Console, App Insights, etc.).</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70892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ED73B-7C2C-AB02-DED7-5613884EE9E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C3486C4-050A-14C6-AEB0-A9B25131D446}"/>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443CE944-F652-0B97-CF57-4AA53E8704EB}"/>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r>
              <a:rPr lang="fr-FR" sz="3200" dirty="0"/>
              <a:t> bis</a:t>
            </a:r>
            <a:endParaRPr sz="3200" dirty="0"/>
          </a:p>
        </p:txBody>
      </p:sp>
      <p:sp>
        <p:nvSpPr>
          <p:cNvPr id="3" name="TextBox 2">
            <a:extLst>
              <a:ext uri="{FF2B5EF4-FFF2-40B4-BE49-F238E27FC236}">
                <a16:creationId xmlns:a16="http://schemas.microsoft.com/office/drawing/2014/main" id="{0F2897D8-F955-0001-A91C-7400BB92799C}"/>
              </a:ext>
            </a:extLst>
          </p:cNvPr>
          <p:cNvSpPr txBox="1"/>
          <p:nvPr/>
        </p:nvSpPr>
        <p:spPr>
          <a:xfrm>
            <a:off x="467096" y="1324006"/>
            <a:ext cx="8431481" cy="4093428"/>
          </a:xfrm>
          <a:prstGeom prst="rect">
            <a:avLst/>
          </a:prstGeom>
          <a:noFill/>
        </p:spPr>
        <p:txBody>
          <a:bodyPr wrap="square">
            <a:spAutoFit/>
          </a:bodyPr>
          <a:lstStyle/>
          <a:p>
            <a:pPr>
              <a:defRPr sz="2400"/>
            </a:pPr>
            <a:r>
              <a:rPr lang="fr-FR" sz="2000" dirty="0"/>
              <a:t>Dans une application .NET, </a:t>
            </a:r>
            <a:r>
              <a:rPr lang="fr-FR" sz="1600" dirty="0" err="1">
                <a:latin typeface="Courier New" panose="02070309020205020404" pitchFamily="49" charset="0"/>
                <a:cs typeface="Courier New" panose="02070309020205020404" pitchFamily="49" charset="0"/>
              </a:rPr>
              <a:t>ILogger</a:t>
            </a:r>
            <a:r>
              <a:rPr lang="fr-FR" sz="2000" dirty="0"/>
              <a:t> est une abstraction dont le comportement dépend des providers enregistrés au démarrage. Dans le contexte d'une application déployée sur Azure App Service, avec le provider Application Insights correctement configuré (</a:t>
            </a:r>
            <a:r>
              <a:rPr lang="fr-FR" sz="1600" dirty="0" err="1">
                <a:latin typeface="Courier New" panose="02070309020205020404" pitchFamily="49" charset="0"/>
                <a:cs typeface="Courier New" panose="02070309020205020404" pitchFamily="49" charset="0"/>
              </a:rPr>
              <a:t>AddApplicationInsightsTelemetry</a:t>
            </a:r>
            <a:r>
              <a:rPr lang="fr-FR" sz="1600" dirty="0">
                <a:latin typeface="Courier New" panose="02070309020205020404" pitchFamily="49" charset="0"/>
                <a:cs typeface="Courier New" panose="02070309020205020404" pitchFamily="49" charset="0"/>
              </a:rPr>
              <a:t>()), </a:t>
            </a:r>
            <a:r>
              <a:rPr lang="fr-FR" sz="2000" dirty="0"/>
              <a:t>que se passe-t-il lorsqu'un appel à </a:t>
            </a:r>
            <a:r>
              <a:rPr lang="fr-FR" sz="1600" dirty="0" err="1">
                <a:latin typeface="Courier New" panose="02070309020205020404" pitchFamily="49" charset="0"/>
                <a:cs typeface="Courier New" panose="02070309020205020404" pitchFamily="49" charset="0"/>
              </a:rPr>
              <a:t>ILogger.LogInformation</a:t>
            </a:r>
            <a:r>
              <a:rPr lang="fr-FR" sz="1600" dirty="0">
                <a:latin typeface="Courier New" panose="02070309020205020404" pitchFamily="49" charset="0"/>
                <a:cs typeface="Courier New" panose="02070309020205020404" pitchFamily="49" charset="0"/>
              </a:rPr>
              <a:t>(...) </a:t>
            </a:r>
            <a:r>
              <a:rPr lang="fr-FR" sz="2000" dirty="0"/>
              <a:t>est effectué ?</a:t>
            </a:r>
          </a:p>
          <a:p>
            <a:pPr>
              <a:defRPr sz="2400"/>
            </a:pPr>
            <a:endParaRPr lang="fr-FR" sz="2000" dirty="0"/>
          </a:p>
          <a:p>
            <a:pPr marL="457200" indent="-457200">
              <a:buFont typeface="+mj-lt"/>
              <a:buAutoNum type="arabicPeriod"/>
              <a:defRPr sz="2400"/>
            </a:pPr>
            <a:r>
              <a:rPr lang="fr-FR" sz="2000" dirty="0"/>
              <a:t>Le log est écrit uniquement dans la console du serveur</a:t>
            </a:r>
          </a:p>
          <a:p>
            <a:pPr marL="457200" indent="-457200">
              <a:buFont typeface="+mj-lt"/>
              <a:buAutoNum type="arabicPeriod"/>
              <a:defRPr sz="2400"/>
            </a:pPr>
            <a:r>
              <a:rPr lang="fr-FR" sz="2000" dirty="0"/>
              <a:t>Le log est transmis à Application Insights et devient consultable dans Azure Monitor</a:t>
            </a:r>
          </a:p>
          <a:p>
            <a:pPr marL="457200" indent="-457200">
              <a:buFont typeface="+mj-lt"/>
              <a:buAutoNum type="arabicPeriod"/>
              <a:defRPr sz="2400"/>
            </a:pPr>
            <a:r>
              <a:rPr lang="fr-FR" sz="2000" dirty="0" err="1"/>
              <a:t>ILogger</a:t>
            </a:r>
            <a:r>
              <a:rPr lang="fr-FR" sz="2000" dirty="0"/>
              <a:t> prend en charge la télémétrie à la place d'Application Insights</a:t>
            </a:r>
          </a:p>
          <a:p>
            <a:pPr marL="457200" indent="-457200">
              <a:buFont typeface="+mj-lt"/>
              <a:buAutoNum type="arabicPeriod"/>
              <a:defRPr sz="2400"/>
            </a:pPr>
            <a:r>
              <a:rPr lang="fr-FR" sz="2000" dirty="0"/>
              <a:t>Le log est persisté directement dans une base Azure SQL</a:t>
            </a:r>
            <a:endParaRPr sz="2000" dirty="0"/>
          </a:p>
        </p:txBody>
      </p:sp>
      <p:sp>
        <p:nvSpPr>
          <p:cNvPr id="8" name="TextBox 7">
            <a:extLst>
              <a:ext uri="{FF2B5EF4-FFF2-40B4-BE49-F238E27FC236}">
                <a16:creationId xmlns:a16="http://schemas.microsoft.com/office/drawing/2014/main" id="{8AC9E3F6-A92C-6B09-681E-77FEF74B3987}"/>
              </a:ext>
            </a:extLst>
          </p:cNvPr>
          <p:cNvSpPr txBox="1"/>
          <p:nvPr/>
        </p:nvSpPr>
        <p:spPr>
          <a:xfrm>
            <a:off x="7020272" y="5877272"/>
            <a:ext cx="1427635" cy="369332"/>
          </a:xfrm>
          <a:prstGeom prst="rect">
            <a:avLst/>
          </a:prstGeom>
          <a:noFill/>
        </p:spPr>
        <p:txBody>
          <a:bodyPr wrap="none">
            <a:spAutoFit/>
          </a:bodyPr>
          <a:lstStyle/>
          <a:p>
            <a:pPr>
              <a:defRPr sz="1800" b="1"/>
            </a:pPr>
            <a:r>
              <a:rPr u="sng" dirty="0" err="1"/>
              <a:t>Réponse</a:t>
            </a:r>
            <a:r>
              <a:rPr u="sng" dirty="0"/>
              <a:t> : </a:t>
            </a:r>
            <a:r>
              <a:rPr lang="fr-FR" u="sng" dirty="0"/>
              <a:t>2</a:t>
            </a:r>
            <a:endParaRPr u="sng" dirty="0" err="1"/>
          </a:p>
        </p:txBody>
      </p:sp>
      <p:sp>
        <p:nvSpPr>
          <p:cNvPr id="13" name="ZoneTexte 12">
            <a:extLst>
              <a:ext uri="{FF2B5EF4-FFF2-40B4-BE49-F238E27FC236}">
                <a16:creationId xmlns:a16="http://schemas.microsoft.com/office/drawing/2014/main" id="{9C155DF0-71C9-A261-B22A-0FCB2FA23ACE}"/>
              </a:ext>
            </a:extLst>
          </p:cNvPr>
          <p:cNvSpPr txBox="1"/>
          <p:nvPr/>
        </p:nvSpPr>
        <p:spPr>
          <a:xfrm>
            <a:off x="0" y="3861048"/>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2098881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Pourquoi les logs n’apparaissent pas malgré AddAzureWebAppDiagnostics() ?</a:t>
            </a:r>
            <a:endParaRPr lang="fr-FR" sz="2000" dirty="0"/>
          </a:p>
          <a:p>
            <a:pPr marL="457200" indent="-457200">
              <a:buFont typeface="+mj-lt"/>
              <a:buAutoNum type="arabicPeriod"/>
              <a:defRPr sz="2400"/>
            </a:pPr>
            <a:r>
              <a:rPr lang="fr-FR" sz="2000" dirty="0"/>
              <a:t>Logs non activés côté Azure</a:t>
            </a:r>
          </a:p>
          <a:p>
            <a:pPr marL="457200" indent="-457200">
              <a:buFont typeface="+mj-lt"/>
              <a:buAutoNum type="arabicPeriod"/>
              <a:defRPr sz="2400"/>
            </a:pPr>
            <a:r>
              <a:rPr lang="fr-FR" sz="2000" dirty="0" err="1"/>
              <a:t>ILogger</a:t>
            </a:r>
            <a:r>
              <a:rPr lang="fr-FR" sz="2000" dirty="0"/>
              <a:t> mal configuré</a:t>
            </a:r>
          </a:p>
          <a:p>
            <a:pPr marL="457200" indent="-457200">
              <a:buFont typeface="+mj-lt"/>
              <a:buAutoNum type="arabicPeriod"/>
              <a:defRPr sz="2400"/>
            </a:pPr>
            <a:r>
              <a:rPr lang="fr-FR" sz="2000" dirty="0"/>
              <a:t>Port incorrect</a:t>
            </a:r>
          </a:p>
          <a:p>
            <a:pPr marL="457200" indent="-457200">
              <a:buFont typeface="+mj-lt"/>
              <a:buAutoNum type="arabicPeriod"/>
              <a:defRPr sz="2400"/>
            </a:pPr>
            <a:r>
              <a:rPr lang="fr-FR" sz="2000" dirty="0"/>
              <a:t>Mauvais navigateur</a:t>
            </a:r>
          </a:p>
          <a:p>
            <a:pPr>
              <a:defRPr sz="2400"/>
            </a:pPr>
            <a:endParaRPr dirty="0"/>
          </a:p>
        </p:txBody>
      </p:sp>
      <p:sp>
        <p:nvSpPr>
          <p:cNvPr id="8" name="TextBox 7"/>
          <p:cNvSpPr txBox="1"/>
          <p:nvPr/>
        </p:nvSpPr>
        <p:spPr>
          <a:xfrm>
            <a:off x="6084168" y="2636912"/>
            <a:ext cx="1427635" cy="369332"/>
          </a:xfrm>
          <a:prstGeom prst="rect">
            <a:avLst/>
          </a:prstGeom>
          <a:noFill/>
        </p:spPr>
        <p:txBody>
          <a:bodyPr wrap="none">
            <a:spAutoFit/>
          </a:bodyPr>
          <a:lstStyle/>
          <a:p>
            <a:pPr>
              <a:defRPr sz="1800" b="1"/>
            </a:pPr>
            <a:r>
              <a:rPr u="sng" dirty="0" err="1"/>
              <a:t>Réponse</a:t>
            </a:r>
            <a:r>
              <a:rPr u="sng" dirty="0"/>
              <a:t> : </a:t>
            </a:r>
            <a:r>
              <a:rPr lang="fr-FR" u="sng" dirty="0"/>
              <a:t>1</a:t>
            </a:r>
            <a:endParaRPr u="sng" dirty="0" err="1"/>
          </a:p>
        </p:txBody>
      </p:sp>
      <p:sp>
        <p:nvSpPr>
          <p:cNvPr id="9" name="TextBox 8"/>
          <p:cNvSpPr txBox="1"/>
          <p:nvPr/>
        </p:nvSpPr>
        <p:spPr>
          <a:xfrm>
            <a:off x="253099" y="4086494"/>
            <a:ext cx="3384376" cy="1323439"/>
          </a:xfrm>
          <a:prstGeom prst="rect">
            <a:avLst/>
          </a:prstGeom>
          <a:noFill/>
        </p:spPr>
        <p:txBody>
          <a:bodyPr wrap="square">
            <a:spAutoFit/>
          </a:bodyPr>
          <a:lstStyle/>
          <a:p>
            <a:pPr>
              <a:defRPr sz="1600"/>
            </a:pPr>
            <a:r>
              <a:rPr dirty="0"/>
              <a:t>Les logs doivent être activés dans le portail Azure.</a:t>
            </a:r>
            <a:endParaRPr lang="fr-FR" dirty="0"/>
          </a:p>
          <a:p>
            <a:pPr>
              <a:defRPr sz="1600"/>
            </a:pPr>
            <a:endParaRPr lang="fr-FR" dirty="0"/>
          </a:p>
          <a:p>
            <a:pPr>
              <a:defRPr sz="1600"/>
            </a:pPr>
            <a:r>
              <a:rPr lang="fr-FR" dirty="0"/>
              <a:t>App Service Logs → activer File System ou Blob."</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24387"/>
            <a:ext cx="557808" cy="369332"/>
          </a:xfrm>
          <a:prstGeom prst="rect">
            <a:avLst/>
          </a:prstGeom>
          <a:noFill/>
        </p:spPr>
        <p:txBody>
          <a:bodyPr wrap="square">
            <a:spAutoFit/>
          </a:bodyPr>
          <a:lstStyle/>
          <a:p>
            <a:r>
              <a:rPr lang="fr-FR" b="1" dirty="0"/>
              <a:t>✅</a:t>
            </a:r>
            <a:endParaRPr lang="fr-FR" dirty="0"/>
          </a:p>
        </p:txBody>
      </p:sp>
      <p:pic>
        <p:nvPicPr>
          <p:cNvPr id="5" name="Image 4">
            <a:extLst>
              <a:ext uri="{FF2B5EF4-FFF2-40B4-BE49-F238E27FC236}">
                <a16:creationId xmlns:a16="http://schemas.microsoft.com/office/drawing/2014/main" id="{B528CFDB-EBA8-12C2-AB34-7C6C60D8A963}"/>
              </a:ext>
            </a:extLst>
          </p:cNvPr>
          <p:cNvPicPr>
            <a:picLocks noChangeAspect="1"/>
          </p:cNvPicPr>
          <p:nvPr/>
        </p:nvPicPr>
        <p:blipFill>
          <a:blip r:embed="rId2"/>
          <a:stretch>
            <a:fillRect/>
          </a:stretch>
        </p:blipFill>
        <p:spPr>
          <a:xfrm>
            <a:off x="4292865" y="3633455"/>
            <a:ext cx="4605712" cy="30032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est la différence principale entre métriques et logs ?</a:t>
            </a:r>
            <a:endParaRPr lang="fr-FR" sz="2000" dirty="0"/>
          </a:p>
          <a:p>
            <a:pPr marL="457200" indent="-457200">
              <a:buFont typeface="+mj-lt"/>
              <a:buAutoNum type="arabicPeriod"/>
              <a:defRPr sz="2400"/>
            </a:pPr>
            <a:r>
              <a:rPr lang="fr-FR" sz="2000" dirty="0"/>
              <a:t>Les métriques sont du texte</a:t>
            </a:r>
          </a:p>
          <a:p>
            <a:pPr marL="457200" indent="-457200">
              <a:buFont typeface="+mj-lt"/>
              <a:buAutoNum type="arabicPeriod"/>
              <a:defRPr sz="2400"/>
            </a:pPr>
            <a:r>
              <a:rPr lang="fr-FR" sz="2000" dirty="0"/>
              <a:t>Les logs sont numériques</a:t>
            </a:r>
          </a:p>
          <a:p>
            <a:pPr marL="457200" indent="-457200">
              <a:buFont typeface="+mj-lt"/>
              <a:buAutoNum type="arabicPeriod"/>
              <a:defRPr sz="2400"/>
            </a:pPr>
            <a:r>
              <a:rPr lang="fr-FR" sz="2000" dirty="0"/>
              <a:t>Les métriques sont des valeurs numériques agrégées</a:t>
            </a:r>
          </a:p>
          <a:p>
            <a:pPr marL="457200" indent="-457200">
              <a:buFont typeface="+mj-lt"/>
              <a:buAutoNum type="arabicPeriod"/>
              <a:defRPr sz="2400"/>
            </a:pPr>
            <a:r>
              <a:rPr lang="fr-FR" sz="2000" dirty="0"/>
              <a:t>Aucune différence</a:t>
            </a:r>
          </a:p>
          <a:p>
            <a:pPr>
              <a:defRPr sz="2400"/>
            </a:pPr>
            <a:endParaRPr dirty="0"/>
          </a:p>
        </p:txBody>
      </p:sp>
      <p:sp>
        <p:nvSpPr>
          <p:cNvPr id="8" name="TextBox 7"/>
          <p:cNvSpPr txBox="1"/>
          <p:nvPr/>
        </p:nvSpPr>
        <p:spPr>
          <a:xfrm>
            <a:off x="6228184" y="3139888"/>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Les métriques sont des données numériques (CPU, temps de réponse).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6630" y="230306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langage est utilisé pour interroger les logs dans Azure Monitor ?</a:t>
            </a:r>
            <a:endParaRPr lang="fr-FR" sz="2000" dirty="0"/>
          </a:p>
          <a:p>
            <a:pPr marL="457200" indent="-457200">
              <a:buFont typeface="+mj-lt"/>
              <a:buAutoNum type="arabicPeriod"/>
              <a:defRPr sz="2400"/>
            </a:pPr>
            <a:r>
              <a:rPr lang="fr-FR" sz="2000" dirty="0"/>
              <a:t>SQL</a:t>
            </a:r>
          </a:p>
          <a:p>
            <a:pPr marL="457200" indent="-457200">
              <a:buFont typeface="+mj-lt"/>
              <a:buAutoNum type="arabicPeriod"/>
              <a:defRPr sz="2400"/>
            </a:pPr>
            <a:r>
              <a:rPr lang="fr-FR" sz="2000" dirty="0"/>
              <a:t>LINQ</a:t>
            </a:r>
          </a:p>
          <a:p>
            <a:pPr marL="457200" indent="-457200">
              <a:buFont typeface="+mj-lt"/>
              <a:buAutoNum type="arabicPeriod"/>
              <a:defRPr sz="2400"/>
            </a:pPr>
            <a:r>
              <a:rPr lang="fr-FR" sz="2000" dirty="0"/>
              <a:t>PowerShell</a:t>
            </a:r>
          </a:p>
          <a:p>
            <a:pPr marL="457200" indent="-457200">
              <a:buFont typeface="+mj-lt"/>
              <a:buAutoNum type="arabicPeriod"/>
              <a:defRPr sz="2400"/>
            </a:pPr>
            <a:r>
              <a:rPr lang="fr-FR" sz="2000" dirty="0"/>
              <a:t>KQL</a:t>
            </a:r>
          </a:p>
          <a:p>
            <a:pPr>
              <a:defRPr sz="2400"/>
            </a:pPr>
            <a:endParaRPr lang="fr-FR" dirty="0"/>
          </a:p>
        </p:txBody>
      </p:sp>
      <p:sp>
        <p:nvSpPr>
          <p:cNvPr id="8" name="TextBox 7"/>
          <p:cNvSpPr txBox="1"/>
          <p:nvPr/>
        </p:nvSpPr>
        <p:spPr>
          <a:xfrm>
            <a:off x="6151418" y="5029200"/>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9" name="TextBox 8"/>
          <p:cNvSpPr txBox="1"/>
          <p:nvPr/>
        </p:nvSpPr>
        <p:spPr>
          <a:xfrm>
            <a:off x="874814" y="4299466"/>
            <a:ext cx="3657600" cy="914400"/>
          </a:xfrm>
          <a:prstGeom prst="rect">
            <a:avLst/>
          </a:prstGeom>
          <a:noFill/>
        </p:spPr>
        <p:txBody>
          <a:bodyPr wrap="none">
            <a:spAutoFit/>
          </a:bodyPr>
          <a:lstStyle/>
          <a:p>
            <a:pPr>
              <a:defRPr sz="1600"/>
            </a:pPr>
            <a:r>
              <a:rPr dirty="0"/>
              <a:t>KQL (Kusto Query Language) est utilisé pour analyser les logs.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5649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72494" y="1306334"/>
            <a:ext cx="8431481" cy="2000548"/>
          </a:xfrm>
          <a:prstGeom prst="rect">
            <a:avLst/>
          </a:prstGeom>
          <a:noFill/>
        </p:spPr>
        <p:txBody>
          <a:bodyPr wrap="square">
            <a:spAutoFit/>
          </a:bodyPr>
          <a:lstStyle/>
          <a:p>
            <a:pPr>
              <a:defRPr sz="2400"/>
            </a:pPr>
            <a:r>
              <a:rPr lang="fr-FR" sz="2000" dirty="0"/>
              <a:t>Où peut-on créer une alerte Azure Monitor </a:t>
            </a:r>
            <a:r>
              <a:rPr sz="2000" dirty="0"/>
              <a:t>?</a:t>
            </a:r>
            <a:endParaRPr lang="fr-FR" sz="2000" dirty="0"/>
          </a:p>
          <a:p>
            <a:pPr marL="457200" indent="-457200">
              <a:buFont typeface="+mj-lt"/>
              <a:buAutoNum type="arabicPeriod"/>
              <a:defRPr sz="2400"/>
            </a:pPr>
            <a:r>
              <a:rPr lang="fr-FR" sz="2000" dirty="0"/>
              <a:t>Uniquement dans Azure Monitor</a:t>
            </a:r>
          </a:p>
          <a:p>
            <a:pPr marL="457200" indent="-457200">
              <a:buFont typeface="+mj-lt"/>
              <a:buAutoNum type="arabicPeriod"/>
              <a:defRPr sz="2400"/>
            </a:pPr>
            <a:r>
              <a:rPr lang="fr-FR" sz="2000" dirty="0"/>
              <a:t>Uniquement via Azure CLI</a:t>
            </a:r>
          </a:p>
          <a:p>
            <a:pPr marL="457200" indent="-457200">
              <a:buFont typeface="+mj-lt"/>
              <a:buAutoNum type="arabicPeriod"/>
              <a:defRPr sz="2400"/>
            </a:pPr>
            <a:r>
              <a:rPr lang="fr-FR" sz="2000" dirty="0"/>
              <a:t>Depuis Azure Monitor ou directement depuis une ressource</a:t>
            </a:r>
          </a:p>
          <a:p>
            <a:pPr marL="457200" indent="-457200">
              <a:buFont typeface="+mj-lt"/>
              <a:buAutoNum type="arabicPeriod"/>
              <a:defRPr sz="2400"/>
            </a:pPr>
            <a:r>
              <a:rPr lang="fr-FR" sz="2000" dirty="0"/>
              <a:t>Uniquement dans Application Insights</a:t>
            </a:r>
          </a:p>
          <a:p>
            <a:pPr>
              <a:defRPr sz="2400"/>
            </a:pPr>
            <a:endParaRPr dirty="0"/>
          </a:p>
        </p:txBody>
      </p:sp>
      <p:sp>
        <p:nvSpPr>
          <p:cNvPr id="8" name="TextBox 7"/>
          <p:cNvSpPr txBox="1"/>
          <p:nvPr/>
        </p:nvSpPr>
        <p:spPr>
          <a:xfrm>
            <a:off x="6228184" y="2955222"/>
            <a:ext cx="1427635" cy="369332"/>
          </a:xfrm>
          <a:prstGeom prst="rect">
            <a:avLst/>
          </a:prstGeom>
          <a:noFill/>
        </p:spPr>
        <p:txBody>
          <a:bodyPr wrap="none">
            <a:spAutoFit/>
          </a:bodyPr>
          <a:lstStyle/>
          <a:p>
            <a:pPr>
              <a:defRPr sz="1800" b="1"/>
            </a:pPr>
            <a:r>
              <a:rPr u="sng" dirty="0" err="1"/>
              <a:t>Réponse</a:t>
            </a:r>
            <a:r>
              <a:rPr u="sng" dirty="0"/>
              <a:t> : </a:t>
            </a:r>
            <a:r>
              <a:rPr lang="fr-FR" u="sng" dirty="0"/>
              <a:t>3</a:t>
            </a:r>
            <a:endParaRPr u="sng" dirty="0" err="1"/>
          </a:p>
        </p:txBody>
      </p:sp>
      <p:sp>
        <p:nvSpPr>
          <p:cNvPr id="9" name="TextBox 8"/>
          <p:cNvSpPr txBox="1"/>
          <p:nvPr/>
        </p:nvSpPr>
        <p:spPr>
          <a:xfrm>
            <a:off x="1025237" y="4930239"/>
            <a:ext cx="6427083" cy="1569660"/>
          </a:xfrm>
          <a:prstGeom prst="rect">
            <a:avLst/>
          </a:prstGeom>
          <a:noFill/>
        </p:spPr>
        <p:txBody>
          <a:bodyPr wrap="square">
            <a:spAutoFit/>
          </a:bodyPr>
          <a:lstStyle/>
          <a:p>
            <a:pPr>
              <a:defRPr sz="1600"/>
            </a:pPr>
            <a:r>
              <a:rPr lang="fr-FR" dirty="0"/>
              <a:t>Les alertes peuvent être créées depuis Azure Monitor ou directement depuis une ressource (App Service, Application Insights, etc.)</a:t>
            </a:r>
            <a:br>
              <a:rPr lang="fr-FR" dirty="0"/>
            </a:br>
            <a:br>
              <a:rPr lang="fr-FR" dirty="0"/>
            </a:br>
            <a:r>
              <a:rPr lang="fr-FR" dirty="0">
                <a:hlinkClick r:id="rId2"/>
              </a:rPr>
              <a:t>https://learn.microsoft.com/en-us/azure/azure-monitor/alerts/alerts-create-log-alert-rule</a:t>
            </a:r>
            <a:endParaRPr lang="fr-FR" dirty="0"/>
          </a:p>
          <a:p>
            <a:pP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6657" y="220486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Sur quoi peut se baser une alerte Azure Monitor ?</a:t>
            </a:r>
            <a:endParaRPr lang="fr-FR" sz="2000" dirty="0"/>
          </a:p>
          <a:p>
            <a:pPr marL="457200" indent="-457200">
              <a:buFont typeface="+mj-lt"/>
              <a:buAutoNum type="arabicPeriod"/>
              <a:defRPr sz="2400"/>
            </a:pPr>
            <a:r>
              <a:rPr lang="fr-FR" sz="2000" dirty="0"/>
              <a:t>Uniquement sur des logs</a:t>
            </a:r>
          </a:p>
          <a:p>
            <a:pPr marL="457200" indent="-457200">
              <a:buFont typeface="+mj-lt"/>
              <a:buAutoNum type="arabicPeriod"/>
              <a:defRPr sz="2400"/>
            </a:pPr>
            <a:r>
              <a:rPr lang="fr-FR" sz="2000" dirty="0"/>
              <a:t>Uniquement sur des métriques</a:t>
            </a:r>
          </a:p>
          <a:p>
            <a:pPr marL="457200" indent="-457200">
              <a:buFont typeface="+mj-lt"/>
              <a:buAutoNum type="arabicPeriod"/>
              <a:defRPr sz="2400"/>
            </a:pPr>
            <a:r>
              <a:rPr lang="fr-FR" sz="2000" dirty="0"/>
              <a:t>Uniquement sur CPU</a:t>
            </a:r>
          </a:p>
          <a:p>
            <a:pPr marL="457200" indent="-457200">
              <a:buFont typeface="+mj-lt"/>
              <a:buAutoNum type="arabicPeriod"/>
              <a:defRPr sz="2400"/>
            </a:pPr>
            <a:r>
              <a:rPr lang="fr-FR" sz="2000" dirty="0"/>
              <a:t>Logs et métriques</a:t>
            </a:r>
          </a:p>
          <a:p>
            <a:pPr>
              <a:defRPr sz="2400"/>
            </a:pPr>
            <a:endParaRPr dirty="0"/>
          </a:p>
        </p:txBody>
      </p:sp>
      <p:sp>
        <p:nvSpPr>
          <p:cNvPr id="8" name="TextBox 7"/>
          <p:cNvSpPr txBox="1"/>
          <p:nvPr/>
        </p:nvSpPr>
        <p:spPr>
          <a:xfrm>
            <a:off x="6732240" y="1892871"/>
            <a:ext cx="1427635" cy="369332"/>
          </a:xfrm>
          <a:prstGeom prst="rect">
            <a:avLst/>
          </a:prstGeom>
          <a:noFill/>
        </p:spPr>
        <p:txBody>
          <a:bodyPr wrap="none">
            <a:spAutoFit/>
          </a:bodyPr>
          <a:lstStyle/>
          <a:p>
            <a:pPr>
              <a:defRPr sz="1800" b="1"/>
            </a:pPr>
            <a:r>
              <a:rPr u="sng" dirty="0" err="1"/>
              <a:t>Réponse</a:t>
            </a:r>
            <a:r>
              <a:rPr u="sng" dirty="0"/>
              <a:t> : </a:t>
            </a:r>
            <a:r>
              <a:rPr lang="fr-FR" u="sng" dirty="0"/>
              <a:t>4</a:t>
            </a:r>
            <a:endParaRPr u="sng" dirty="0" err="1"/>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64904"/>
            <a:ext cx="557808" cy="369332"/>
          </a:xfrm>
          <a:prstGeom prst="rect">
            <a:avLst/>
          </a:prstGeom>
          <a:noFill/>
        </p:spPr>
        <p:txBody>
          <a:bodyPr wrap="square">
            <a:spAutoFit/>
          </a:bodyPr>
          <a:lstStyle/>
          <a:p>
            <a:r>
              <a:rPr lang="fr-FR" b="1" dirty="0"/>
              <a:t>✅</a:t>
            </a:r>
            <a:endParaRPr lang="fr-FR" dirty="0"/>
          </a:p>
        </p:txBody>
      </p:sp>
      <p:graphicFrame>
        <p:nvGraphicFramePr>
          <p:cNvPr id="11" name="Tableau 10">
            <a:extLst>
              <a:ext uri="{FF2B5EF4-FFF2-40B4-BE49-F238E27FC236}">
                <a16:creationId xmlns:a16="http://schemas.microsoft.com/office/drawing/2014/main" id="{8FBA697C-3194-75DD-2C4E-7BE9658BDA58}"/>
              </a:ext>
            </a:extLst>
          </p:cNvPr>
          <p:cNvGraphicFramePr>
            <a:graphicFrameLocks noGrp="1"/>
          </p:cNvGraphicFramePr>
          <p:nvPr>
            <p:extLst>
              <p:ext uri="{D42A27DB-BD31-4B8C-83A1-F6EECF244321}">
                <p14:modId xmlns:p14="http://schemas.microsoft.com/office/powerpoint/2010/main" val="1789475188"/>
              </p:ext>
            </p:extLst>
          </p:nvPr>
        </p:nvGraphicFramePr>
        <p:xfrm>
          <a:off x="395536" y="3557097"/>
          <a:ext cx="8208911" cy="2164080"/>
        </p:xfrm>
        <a:graphic>
          <a:graphicData uri="http://schemas.openxmlformats.org/drawingml/2006/table">
            <a:tbl>
              <a:tblPr/>
              <a:tblGrid>
                <a:gridCol w="2088232">
                  <a:extLst>
                    <a:ext uri="{9D8B030D-6E8A-4147-A177-3AD203B41FA5}">
                      <a16:colId xmlns:a16="http://schemas.microsoft.com/office/drawing/2014/main" val="3264631803"/>
                    </a:ext>
                  </a:extLst>
                </a:gridCol>
                <a:gridCol w="6120679">
                  <a:extLst>
                    <a:ext uri="{9D8B030D-6E8A-4147-A177-3AD203B41FA5}">
                      <a16:colId xmlns:a16="http://schemas.microsoft.com/office/drawing/2014/main" val="2194936182"/>
                    </a:ext>
                  </a:extLst>
                </a:gridCol>
              </a:tblGrid>
              <a:tr h="0">
                <a:tc>
                  <a:txBody>
                    <a:bodyPr/>
                    <a:lstStyle/>
                    <a:p>
                      <a:pPr>
                        <a:buNone/>
                      </a:pPr>
                      <a:r>
                        <a:rPr lang="fr-FR" sz="1600"/>
                        <a:t>Type</a:t>
                      </a:r>
                    </a:p>
                  </a:txBody>
                  <a:tcPr anchor="ctr">
                    <a:lnL>
                      <a:noFill/>
                    </a:lnL>
                    <a:lnR>
                      <a:noFill/>
                    </a:lnR>
                    <a:lnT>
                      <a:noFill/>
                    </a:lnT>
                    <a:lnB>
                      <a:noFill/>
                    </a:lnB>
                    <a:noFill/>
                  </a:tcPr>
                </a:tc>
                <a:tc>
                  <a:txBody>
                    <a:bodyPr/>
                    <a:lstStyle/>
                    <a:p>
                      <a:pPr>
                        <a:buNone/>
                      </a:pPr>
                      <a:r>
                        <a:rPr lang="fr-FR" sz="1600" dirty="0"/>
                        <a:t>Description</a:t>
                      </a:r>
                    </a:p>
                  </a:txBody>
                  <a:tcPr anchor="ctr">
                    <a:lnL>
                      <a:noFill/>
                    </a:lnL>
                    <a:lnR>
                      <a:noFill/>
                    </a:lnR>
                    <a:lnT>
                      <a:noFill/>
                    </a:lnT>
                    <a:lnB>
                      <a:noFill/>
                    </a:lnB>
                    <a:noFill/>
                  </a:tcPr>
                </a:tc>
                <a:extLst>
                  <a:ext uri="{0D108BD9-81ED-4DB2-BD59-A6C34878D82A}">
                    <a16:rowId xmlns:a16="http://schemas.microsoft.com/office/drawing/2014/main" val="2984876665"/>
                  </a:ext>
                </a:extLst>
              </a:tr>
              <a:tr h="0">
                <a:tc>
                  <a:txBody>
                    <a:bodyPr/>
                    <a:lstStyle/>
                    <a:p>
                      <a:pPr>
                        <a:buNone/>
                      </a:pPr>
                      <a:r>
                        <a:rPr lang="fr-FR" sz="1600" b="1" dirty="0"/>
                        <a:t>Métriques</a:t>
                      </a:r>
                      <a:endParaRPr lang="fr-FR" sz="1600" dirty="0"/>
                    </a:p>
                  </a:txBody>
                  <a:tcPr anchor="ctr">
                    <a:lnL>
                      <a:noFill/>
                    </a:lnL>
                    <a:lnR>
                      <a:noFill/>
                    </a:lnR>
                    <a:lnT>
                      <a:noFill/>
                    </a:lnT>
                    <a:lnB>
                      <a:noFill/>
                    </a:lnB>
                    <a:noFill/>
                  </a:tcPr>
                </a:tc>
                <a:tc>
                  <a:txBody>
                    <a:bodyPr/>
                    <a:lstStyle/>
                    <a:p>
                      <a:pPr>
                        <a:buNone/>
                      </a:pPr>
                      <a:r>
                        <a:rPr lang="fr-FR" sz="1600" dirty="0"/>
                        <a:t>Valeurs numériques en quasi temps réel (CPU, mémoire, latence…)</a:t>
                      </a:r>
                    </a:p>
                  </a:txBody>
                  <a:tcPr anchor="ctr">
                    <a:lnL>
                      <a:noFill/>
                    </a:lnL>
                    <a:lnR>
                      <a:noFill/>
                    </a:lnR>
                    <a:lnT>
                      <a:noFill/>
                    </a:lnT>
                    <a:lnB>
                      <a:noFill/>
                    </a:lnB>
                    <a:noFill/>
                  </a:tcPr>
                </a:tc>
                <a:extLst>
                  <a:ext uri="{0D108BD9-81ED-4DB2-BD59-A6C34878D82A}">
                    <a16:rowId xmlns:a16="http://schemas.microsoft.com/office/drawing/2014/main" val="1659606402"/>
                  </a:ext>
                </a:extLst>
              </a:tr>
              <a:tr h="0">
                <a:tc>
                  <a:txBody>
                    <a:bodyPr/>
                    <a:lstStyle/>
                    <a:p>
                      <a:pPr>
                        <a:buNone/>
                      </a:pPr>
                      <a:r>
                        <a:rPr lang="fr-FR" sz="1600" b="1"/>
                        <a:t>Logs (Log Search)</a:t>
                      </a:r>
                      <a:endParaRPr lang="fr-FR" sz="1600"/>
                    </a:p>
                  </a:txBody>
                  <a:tcPr anchor="ctr">
                    <a:lnL>
                      <a:noFill/>
                    </a:lnL>
                    <a:lnR>
                      <a:noFill/>
                    </a:lnR>
                    <a:lnT>
                      <a:noFill/>
                    </a:lnT>
                    <a:lnB>
                      <a:noFill/>
                    </a:lnB>
                    <a:noFill/>
                  </a:tcPr>
                </a:tc>
                <a:tc>
                  <a:txBody>
                    <a:bodyPr/>
                    <a:lstStyle/>
                    <a:p>
                      <a:pPr>
                        <a:buNone/>
                      </a:pPr>
                      <a:r>
                        <a:rPr lang="fr-FR" sz="1600" dirty="0"/>
                        <a:t>Requêtes KQL sur Log Analytics</a:t>
                      </a:r>
                    </a:p>
                  </a:txBody>
                  <a:tcPr anchor="ctr">
                    <a:lnL>
                      <a:noFill/>
                    </a:lnL>
                    <a:lnR>
                      <a:noFill/>
                    </a:lnR>
                    <a:lnT>
                      <a:noFill/>
                    </a:lnT>
                    <a:lnB>
                      <a:noFill/>
                    </a:lnB>
                    <a:noFill/>
                  </a:tcPr>
                </a:tc>
                <a:extLst>
                  <a:ext uri="{0D108BD9-81ED-4DB2-BD59-A6C34878D82A}">
                    <a16:rowId xmlns:a16="http://schemas.microsoft.com/office/drawing/2014/main" val="3578222212"/>
                  </a:ext>
                </a:extLst>
              </a:tr>
              <a:tr h="0">
                <a:tc>
                  <a:txBody>
                    <a:bodyPr/>
                    <a:lstStyle/>
                    <a:p>
                      <a:pPr>
                        <a:buNone/>
                      </a:pPr>
                      <a:r>
                        <a:rPr lang="fr-FR" sz="1600" b="1"/>
                        <a:t>Activity Log</a:t>
                      </a:r>
                      <a:endParaRPr lang="fr-FR" sz="1600"/>
                    </a:p>
                  </a:txBody>
                  <a:tcPr anchor="ctr">
                    <a:lnL>
                      <a:noFill/>
                    </a:lnL>
                    <a:lnR>
                      <a:noFill/>
                    </a:lnR>
                    <a:lnT>
                      <a:noFill/>
                    </a:lnT>
                    <a:lnB>
                      <a:noFill/>
                    </a:lnB>
                    <a:noFill/>
                  </a:tcPr>
                </a:tc>
                <a:tc>
                  <a:txBody>
                    <a:bodyPr/>
                    <a:lstStyle/>
                    <a:p>
                      <a:pPr>
                        <a:buNone/>
                      </a:pPr>
                      <a:r>
                        <a:rPr lang="fr-FR" sz="1600" dirty="0"/>
                        <a:t>Événements survenus sur les ressources : redémarrage, suppression, création, changement de rôle… </a:t>
                      </a:r>
                      <a:r>
                        <a:rPr lang="fr-FR" sz="1600" dirty="0">
                          <a:hlinkClick r:id="rId3"/>
                        </a:rPr>
                        <a:t>GitHub</a:t>
                      </a:r>
                      <a:endParaRPr lang="fr-FR" sz="1600" dirty="0"/>
                    </a:p>
                  </a:txBody>
                  <a:tcPr anchor="ctr">
                    <a:lnL>
                      <a:noFill/>
                    </a:lnL>
                    <a:lnR>
                      <a:noFill/>
                    </a:lnR>
                    <a:lnT>
                      <a:noFill/>
                    </a:lnT>
                    <a:lnB>
                      <a:noFill/>
                    </a:lnB>
                    <a:noFill/>
                  </a:tcPr>
                </a:tc>
                <a:extLst>
                  <a:ext uri="{0D108BD9-81ED-4DB2-BD59-A6C34878D82A}">
                    <a16:rowId xmlns:a16="http://schemas.microsoft.com/office/drawing/2014/main" val="2978603285"/>
                  </a:ext>
                </a:extLst>
              </a:tr>
              <a:tr h="0">
                <a:tc>
                  <a:txBody>
                    <a:bodyPr/>
                    <a:lstStyle/>
                    <a:p>
                      <a:pPr>
                        <a:buNone/>
                      </a:pPr>
                      <a:r>
                        <a:rPr lang="fr-FR" sz="1600" b="1" dirty="0" err="1"/>
                        <a:t>Prometheus</a:t>
                      </a:r>
                      <a:endParaRPr lang="fr-FR" sz="1600" dirty="0"/>
                    </a:p>
                  </a:txBody>
                  <a:tcPr anchor="ctr">
                    <a:lnL>
                      <a:noFill/>
                    </a:lnL>
                    <a:lnR>
                      <a:noFill/>
                    </a:lnR>
                    <a:lnT>
                      <a:noFill/>
                    </a:lnT>
                    <a:lnB>
                      <a:noFill/>
                    </a:lnB>
                    <a:noFill/>
                  </a:tcPr>
                </a:tc>
                <a:tc>
                  <a:txBody>
                    <a:bodyPr/>
                    <a:lstStyle/>
                    <a:p>
                      <a:pPr>
                        <a:buNone/>
                      </a:pPr>
                      <a:r>
                        <a:rPr lang="fr-FR" sz="1600" dirty="0"/>
                        <a:t>Métriques stockées dans Azure Monitor </a:t>
                      </a:r>
                      <a:r>
                        <a:rPr lang="fr-FR" sz="1600" dirty="0" err="1"/>
                        <a:t>Managed</a:t>
                      </a:r>
                      <a:r>
                        <a:rPr lang="fr-FR" sz="1600" dirty="0"/>
                        <a:t> Service for </a:t>
                      </a:r>
                      <a:r>
                        <a:rPr lang="fr-FR" sz="1600" dirty="0" err="1"/>
                        <a:t>Prometheus</a:t>
                      </a:r>
                      <a:r>
                        <a:rPr lang="fr-FR" sz="1600" dirty="0"/>
                        <a:t>, évaluées via des expressions </a:t>
                      </a:r>
                      <a:r>
                        <a:rPr lang="fr-FR" sz="1600" dirty="0" err="1"/>
                        <a:t>PromQL</a:t>
                      </a:r>
                      <a:r>
                        <a:rPr lang="fr-FR" sz="1600" dirty="0"/>
                        <a:t> </a:t>
                      </a:r>
                      <a:r>
                        <a:rPr lang="fr-FR" sz="1600" dirty="0">
                          <a:hlinkClick r:id="rId4"/>
                        </a:rPr>
                        <a:t>Microsoft </a:t>
                      </a:r>
                      <a:r>
                        <a:rPr lang="fr-FR" sz="1600" dirty="0" err="1">
                          <a:hlinkClick r:id="rId4"/>
                        </a:rPr>
                        <a:t>Learn</a:t>
                      </a:r>
                      <a:endParaRPr lang="fr-FR" sz="1600" dirty="0"/>
                    </a:p>
                  </a:txBody>
                  <a:tcPr anchor="ctr">
                    <a:lnL>
                      <a:noFill/>
                    </a:lnL>
                    <a:lnR>
                      <a:noFill/>
                    </a:lnR>
                    <a:lnT>
                      <a:noFill/>
                    </a:lnT>
                    <a:lnB>
                      <a:noFill/>
                    </a:lnB>
                    <a:noFill/>
                  </a:tcPr>
                </a:tc>
                <a:extLst>
                  <a:ext uri="{0D108BD9-81ED-4DB2-BD59-A6C34878D82A}">
                    <a16:rowId xmlns:a16="http://schemas.microsoft.com/office/drawing/2014/main" val="4216342090"/>
                  </a:ext>
                </a:extLst>
              </a:tr>
            </a:tbl>
          </a:graphicData>
        </a:graphic>
      </p:graphicFrame>
      <p:sp>
        <p:nvSpPr>
          <p:cNvPr id="12" name="Rectangle 1">
            <a:extLst>
              <a:ext uri="{FF2B5EF4-FFF2-40B4-BE49-F238E27FC236}">
                <a16:creationId xmlns:a16="http://schemas.microsoft.com/office/drawing/2014/main" id="{71E941B6-1007-B808-CF60-8DEE295B22D2}"/>
              </a:ext>
            </a:extLst>
          </p:cNvPr>
          <p:cNvSpPr>
            <a:spLocks noChangeArrowheads="1"/>
          </p:cNvSpPr>
          <p:nvPr/>
        </p:nvSpPr>
        <p:spPr bwMode="auto">
          <a:xfrm>
            <a:off x="467096" y="3200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Azure Monitor supporte </a:t>
            </a:r>
            <a:r>
              <a:rPr kumimoji="0" lang="fr-FR" altLang="fr-FR" sz="1800" b="1" i="0" u="none" strike="noStrike" cap="none" normalizeH="0" baseline="0" dirty="0">
                <a:ln>
                  <a:noFill/>
                </a:ln>
                <a:solidFill>
                  <a:schemeClr val="tx1"/>
                </a:solidFill>
                <a:effectLst/>
                <a:latin typeface="Arial" panose="020B0604020202020204" pitchFamily="34" charset="0"/>
              </a:rPr>
              <a:t>4 types de signaux</a:t>
            </a:r>
            <a:r>
              <a:rPr kumimoji="0" lang="fr-FR" altLang="fr-FR" sz="1800" b="0" i="0" u="none" strike="noStrike" cap="none" normalizeH="0" baseline="0" dirty="0">
                <a:ln>
                  <a:noFill/>
                </a:ln>
                <a:solidFill>
                  <a:schemeClr val="tx1"/>
                </a:solidFill>
                <a:effectLst/>
                <a:latin typeface="Arial" panose="020B0604020202020204" pitchFamily="34" charset="0"/>
              </a:rPr>
              <a:t> pour déclencher une alerte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2"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permet le Live Metrics</a:t>
            </a:r>
            <a:r>
              <a:rPr lang="fr-FR" sz="2000" dirty="0"/>
              <a:t> </a:t>
            </a:r>
            <a:r>
              <a:rPr sz="2000" dirty="0"/>
              <a:t>?</a:t>
            </a:r>
            <a:endParaRPr lang="fr-FR" sz="2000" dirty="0"/>
          </a:p>
          <a:p>
            <a:pPr marL="457200" indent="-457200">
              <a:buFont typeface="+mj-lt"/>
              <a:buAutoNum type="arabicPeriod"/>
              <a:defRPr sz="2400"/>
            </a:pPr>
            <a:r>
              <a:rPr lang="fr-FR" sz="2000" dirty="0"/>
              <a:t>Voir les logs historiques</a:t>
            </a:r>
          </a:p>
          <a:p>
            <a:pPr marL="457200" indent="-457200">
              <a:buFont typeface="+mj-lt"/>
              <a:buAutoNum type="arabicPeriod"/>
              <a:defRPr sz="2400"/>
            </a:pPr>
            <a:r>
              <a:rPr lang="fr-FR" sz="2000" dirty="0"/>
              <a:t>Voir les données en temps réel</a:t>
            </a:r>
          </a:p>
          <a:p>
            <a:pPr marL="457200" indent="-457200">
              <a:buFont typeface="+mj-lt"/>
              <a:buAutoNum type="arabicPeriod"/>
              <a:defRPr sz="2400"/>
            </a:pPr>
            <a:r>
              <a:rPr lang="fr-FR" sz="2000" dirty="0"/>
              <a:t>Créer des alertes</a:t>
            </a:r>
          </a:p>
          <a:p>
            <a:pPr marL="457200" indent="-457200">
              <a:buFont typeface="+mj-lt"/>
              <a:buAutoNum type="arabicPeriod"/>
              <a:defRPr sz="2400"/>
            </a:pPr>
            <a:r>
              <a:rPr lang="fr-FR" sz="2000" dirty="0"/>
              <a:t>Déployer une app</a:t>
            </a:r>
          </a:p>
          <a:p>
            <a:pPr>
              <a:defRPr sz="2400"/>
            </a:pPr>
            <a:endParaRPr dirty="0"/>
          </a:p>
        </p:txBody>
      </p:sp>
      <p:sp>
        <p:nvSpPr>
          <p:cNvPr id="8" name="TextBox 7"/>
          <p:cNvSpPr txBox="1"/>
          <p:nvPr/>
        </p:nvSpPr>
        <p:spPr>
          <a:xfrm>
            <a:off x="6228184" y="2559669"/>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79512" y="3955496"/>
            <a:ext cx="4751622" cy="1077218"/>
          </a:xfrm>
          <a:prstGeom prst="rect">
            <a:avLst/>
          </a:prstGeom>
          <a:noFill/>
        </p:spPr>
        <p:txBody>
          <a:bodyPr wrap="none">
            <a:spAutoFit/>
          </a:bodyPr>
          <a:lstStyle/>
          <a:p>
            <a:pPr>
              <a:defRPr sz="1600"/>
            </a:pPr>
            <a:r>
              <a:rPr dirty="0"/>
              <a:t>Permet de visualiser les métriques en temps </a:t>
            </a:r>
            <a:r>
              <a:rPr dirty="0" err="1"/>
              <a:t>réel</a:t>
            </a:r>
            <a:r>
              <a:rPr dirty="0"/>
              <a:t>.</a:t>
            </a:r>
            <a:br>
              <a:rPr lang="fr-FR" dirty="0"/>
            </a:br>
            <a:r>
              <a:rPr lang="fr-FR" dirty="0"/>
              <a:t>Pour l’activer : rajouter dans son </a:t>
            </a:r>
            <a:r>
              <a:rPr lang="fr-FR" dirty="0" err="1">
                <a:latin typeface="Courier New" panose="02070309020205020404" pitchFamily="49" charset="0"/>
                <a:cs typeface="Courier New" panose="02070309020205020404" pitchFamily="49" charset="0"/>
              </a:rPr>
              <a:t>program.cs</a:t>
            </a:r>
            <a:r>
              <a:rPr lang="fr-FR" dirty="0">
                <a:latin typeface="Courier New" panose="02070309020205020404" pitchFamily="49" charset="0"/>
                <a:cs typeface="Courier New" panose="02070309020205020404" pitchFamily="49" charset="0"/>
              </a:rPr>
              <a:t> :</a:t>
            </a:r>
            <a:br>
              <a:rPr lang="fr-FR" dirty="0"/>
            </a:br>
            <a:r>
              <a:rPr lang="fr-FR" sz="1600" dirty="0" err="1">
                <a:latin typeface="Courier New" panose="02070309020205020404" pitchFamily="49" charset="0"/>
                <a:cs typeface="Courier New" panose="02070309020205020404" pitchFamily="49" charset="0"/>
              </a:rPr>
              <a:t>builder.Services</a:t>
            </a:r>
            <a:endParaRPr lang="fr-FR" sz="1600" dirty="0">
              <a:latin typeface="Courier New" panose="02070309020205020404" pitchFamily="49" charset="0"/>
              <a:cs typeface="Courier New" panose="02070309020205020404" pitchFamily="49" charset="0"/>
            </a:endParaRPr>
          </a:p>
          <a:p>
            <a:pPr>
              <a:defRPr sz="1600"/>
            </a:pPr>
            <a:r>
              <a:rPr lang="fr-FR" sz="1600" dirty="0">
                <a:latin typeface="Courier New" panose="02070309020205020404" pitchFamily="49" charset="0"/>
                <a:cs typeface="Courier New" panose="02070309020205020404" pitchFamily="49" charset="0"/>
              </a:rPr>
              <a:t>  .</a:t>
            </a:r>
            <a:r>
              <a:rPr lang="fr-FR" sz="1600" dirty="0" err="1">
                <a:latin typeface="Courier New" panose="02070309020205020404" pitchFamily="49" charset="0"/>
                <a:cs typeface="Courier New" panose="02070309020205020404" pitchFamily="49" charset="0"/>
              </a:rPr>
              <a:t>AddApplicationInsightsTelemetry</a:t>
            </a:r>
            <a:r>
              <a:rPr lang="fr-FR" sz="1600" dirty="0">
                <a:latin typeface="Courier New" panose="02070309020205020404" pitchFamily="49" charset="0"/>
                <a:cs typeface="Courier New" panose="02070309020205020404" pitchFamily="49" charset="0"/>
              </a:rPr>
              <a:t>();</a:t>
            </a:r>
            <a:endParaRPr sz="1600" dirty="0">
              <a:latin typeface="Courier New" panose="02070309020205020404" pitchFamily="49" charset="0"/>
              <a:cs typeface="Courier New" panose="02070309020205020404" pitchFamily="49" charset="0"/>
            </a:endParaRP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pic>
        <p:nvPicPr>
          <p:cNvPr id="5" name="Image 4">
            <a:extLst>
              <a:ext uri="{FF2B5EF4-FFF2-40B4-BE49-F238E27FC236}">
                <a16:creationId xmlns:a16="http://schemas.microsoft.com/office/drawing/2014/main" id="{B0457630-B988-FD93-813B-F06DBD99320E}"/>
              </a:ext>
            </a:extLst>
          </p:cNvPr>
          <p:cNvPicPr>
            <a:picLocks noChangeAspect="1"/>
          </p:cNvPicPr>
          <p:nvPr/>
        </p:nvPicPr>
        <p:blipFill>
          <a:blip r:embed="rId3"/>
          <a:srcRect r="22581"/>
          <a:stretch>
            <a:fillRect/>
          </a:stretch>
        </p:blipFill>
        <p:spPr>
          <a:xfrm>
            <a:off x="5124204" y="3239713"/>
            <a:ext cx="4019796" cy="35860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lang="fr-FR" sz="2000" dirty="0"/>
              <a:t>Quel est l’objectif principal du sampling dans Application Insights </a:t>
            </a:r>
            <a:r>
              <a:rPr sz="2000" dirty="0"/>
              <a:t>?</a:t>
            </a:r>
            <a:endParaRPr lang="fr-FR" sz="2000" dirty="0"/>
          </a:p>
          <a:p>
            <a:pPr marL="457200" indent="-457200">
              <a:buFont typeface="+mj-lt"/>
              <a:buAutoNum type="arabicPeriod"/>
              <a:defRPr sz="2400"/>
            </a:pPr>
            <a:r>
              <a:rPr lang="fr-FR" sz="2000" dirty="0"/>
              <a:t>Réduire le volume de télémétrie tout en conservant une représentation statistique fiable</a:t>
            </a:r>
          </a:p>
          <a:p>
            <a:pPr marL="457200" indent="-457200">
              <a:buFont typeface="+mj-lt"/>
              <a:buAutoNum type="arabicPeriod"/>
              <a:defRPr sz="2400"/>
            </a:pPr>
            <a:r>
              <a:rPr lang="fr-FR" sz="2000" dirty="0"/>
              <a:t>Augmenter la précision des logs</a:t>
            </a:r>
          </a:p>
          <a:p>
            <a:pPr marL="457200" indent="-457200">
              <a:buFont typeface="+mj-lt"/>
              <a:buAutoNum type="arabicPeriod"/>
              <a:defRPr sz="2400"/>
            </a:pPr>
            <a:r>
              <a:rPr lang="fr-FR" sz="2000" dirty="0"/>
              <a:t>Supprimer les erreurs critiques</a:t>
            </a:r>
          </a:p>
          <a:p>
            <a:pPr marL="457200" indent="-457200">
              <a:buFont typeface="+mj-lt"/>
              <a:buAutoNum type="arabicPeriod"/>
              <a:defRPr sz="2400"/>
            </a:pPr>
            <a:r>
              <a:rPr lang="fr-FR" sz="2000" dirty="0"/>
              <a:t>Crypter les données envoyées</a:t>
            </a:r>
          </a:p>
          <a:p>
            <a:pPr>
              <a:defRPr sz="2400"/>
            </a:pPr>
            <a:endParaRPr dirty="0"/>
          </a:p>
        </p:txBody>
      </p:sp>
      <p:sp>
        <p:nvSpPr>
          <p:cNvPr id="8" name="TextBox 7"/>
          <p:cNvSpPr txBox="1"/>
          <p:nvPr/>
        </p:nvSpPr>
        <p:spPr>
          <a:xfrm>
            <a:off x="6444208" y="2708920"/>
            <a:ext cx="1427635" cy="369332"/>
          </a:xfrm>
          <a:prstGeom prst="rect">
            <a:avLst/>
          </a:prstGeom>
          <a:noFill/>
        </p:spPr>
        <p:txBody>
          <a:bodyPr wrap="none">
            <a:spAutoFit/>
          </a:bodyPr>
          <a:lstStyle/>
          <a:p>
            <a:pPr>
              <a:defRPr sz="1800" b="1"/>
            </a:pPr>
            <a:r>
              <a:rPr u="sng" dirty="0" err="1"/>
              <a:t>Réponse</a:t>
            </a:r>
            <a:r>
              <a:rPr u="sng" dirty="0"/>
              <a:t> : </a:t>
            </a:r>
            <a:r>
              <a:rPr lang="fr-FR" u="sng" dirty="0"/>
              <a:t>1</a:t>
            </a:r>
            <a:endParaRPr u="sng" dirty="0" err="1"/>
          </a:p>
        </p:txBody>
      </p:sp>
      <p:sp>
        <p:nvSpPr>
          <p:cNvPr id="9" name="TextBox 8"/>
          <p:cNvSpPr txBox="1"/>
          <p:nvPr/>
        </p:nvSpPr>
        <p:spPr>
          <a:xfrm>
            <a:off x="474051" y="3453897"/>
            <a:ext cx="7435195" cy="3077766"/>
          </a:xfrm>
          <a:prstGeom prst="rect">
            <a:avLst/>
          </a:prstGeom>
          <a:noFill/>
        </p:spPr>
        <p:txBody>
          <a:bodyPr wrap="square">
            <a:spAutoFit/>
          </a:bodyPr>
          <a:lstStyle/>
          <a:p>
            <a:pPr>
              <a:buNone/>
            </a:pPr>
            <a:r>
              <a:rPr lang="fr-FR" dirty="0"/>
              <a:t>Le sampling réduit la quantité de données collectées pour diminuer les coûts, tout en gardant une vision représentative du comportement de l’application</a:t>
            </a:r>
            <a:br>
              <a:rPr lang="fr-FR" dirty="0"/>
            </a:br>
            <a:br>
              <a:rPr lang="fr-FR" dirty="0"/>
            </a:br>
            <a:r>
              <a:rPr lang="fr-FR" sz="1600" dirty="0"/>
              <a:t>👉 Le sampling :</a:t>
            </a:r>
          </a:p>
          <a:p>
            <a:pPr>
              <a:buFont typeface="Arial" panose="020B0604020202020204" pitchFamily="34" charset="0"/>
              <a:buChar char="•"/>
            </a:pPr>
            <a:r>
              <a:rPr lang="fr-FR" sz="1600" dirty="0"/>
              <a:t>garde </a:t>
            </a:r>
            <a:r>
              <a:rPr lang="fr-FR" sz="1600" b="1" dirty="0"/>
              <a:t>1 requête sur N</a:t>
            </a:r>
            <a:r>
              <a:rPr lang="fr-FR" sz="1600" dirty="0"/>
              <a:t> </a:t>
            </a:r>
          </a:p>
          <a:p>
            <a:pPr>
              <a:buFont typeface="Arial" panose="020B0604020202020204" pitchFamily="34" charset="0"/>
              <a:buChar char="•"/>
            </a:pPr>
            <a:r>
              <a:rPr lang="fr-FR" sz="1600" dirty="0"/>
              <a:t>mais </a:t>
            </a:r>
            <a:r>
              <a:rPr lang="fr-FR" sz="1600" b="1" dirty="0"/>
              <a:t>recalcule les métriques</a:t>
            </a:r>
            <a:r>
              <a:rPr lang="fr-FR" sz="1600" dirty="0"/>
              <a:t> (ex : 1 vue = 10 requêtes estimées) </a:t>
            </a:r>
          </a:p>
          <a:p>
            <a:pPr>
              <a:buNone/>
            </a:pPr>
            <a:r>
              <a:rPr lang="fr-FR" sz="1600" b="1" dirty="0"/>
              <a:t>Exemple</a:t>
            </a:r>
          </a:p>
          <a:p>
            <a:pPr>
              <a:buFont typeface="Arial" panose="020B0604020202020204" pitchFamily="34" charset="0"/>
              <a:buChar char="•"/>
            </a:pPr>
            <a:r>
              <a:rPr lang="fr-FR" sz="1600" dirty="0"/>
              <a:t>1000 requêtes réelles </a:t>
            </a:r>
          </a:p>
          <a:p>
            <a:pPr>
              <a:buFont typeface="Arial" panose="020B0604020202020204" pitchFamily="34" charset="0"/>
              <a:buChar char="•"/>
            </a:pPr>
            <a:r>
              <a:rPr lang="fr-FR" sz="1600" dirty="0"/>
              <a:t>sampling à 10%</a:t>
            </a:r>
            <a:br>
              <a:rPr lang="fr-FR" sz="1600" dirty="0"/>
            </a:br>
            <a:r>
              <a:rPr lang="fr-FR" sz="1600" dirty="0"/>
              <a:t>👉 seulement 100 stockées</a:t>
            </a:r>
            <a:br>
              <a:rPr lang="fr-FR" sz="1600" dirty="0"/>
            </a:br>
            <a:r>
              <a:rPr lang="fr-FR" sz="1600" dirty="0"/>
              <a:t>👉 mais Azure affiche quand même ~1000</a:t>
            </a:r>
          </a:p>
          <a:p>
            <a:pP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170080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79169-FCFF-4453-0A81-9DF169479EC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C56FC11-25EF-F41C-73EC-4C596D24A5A7}"/>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69495CE0-DBD6-DCA7-AE60-ADF3DAD6A920}"/>
              </a:ext>
            </a:extLst>
          </p:cNvPr>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1</a:t>
            </a:r>
            <a:endParaRPr sz="3200" dirty="0"/>
          </a:p>
        </p:txBody>
      </p:sp>
      <p:sp>
        <p:nvSpPr>
          <p:cNvPr id="3" name="TextBox 2">
            <a:extLst>
              <a:ext uri="{FF2B5EF4-FFF2-40B4-BE49-F238E27FC236}">
                <a16:creationId xmlns:a16="http://schemas.microsoft.com/office/drawing/2014/main" id="{BD64BC2B-39AF-BD11-7A4F-D4A321FBD14A}"/>
              </a:ext>
            </a:extLst>
          </p:cNvPr>
          <p:cNvSpPr txBox="1"/>
          <p:nvPr/>
        </p:nvSpPr>
        <p:spPr>
          <a:xfrm>
            <a:off x="467096" y="1324006"/>
            <a:ext cx="8431481" cy="1631216"/>
          </a:xfrm>
          <a:prstGeom prst="rect">
            <a:avLst/>
          </a:prstGeom>
          <a:noFill/>
        </p:spPr>
        <p:txBody>
          <a:bodyPr wrap="square">
            <a:spAutoFit/>
          </a:bodyPr>
          <a:lstStyle/>
          <a:p>
            <a:pPr>
              <a:defRPr sz="2400"/>
            </a:pPr>
            <a:r>
              <a:rPr lang="fr-FR" sz="2000" dirty="0"/>
              <a:t>Comment configurer le sampling dans Application Insights en .NET </a:t>
            </a:r>
            <a:r>
              <a:rPr sz="2000" dirty="0"/>
              <a:t>?</a:t>
            </a:r>
            <a:endParaRPr lang="fr-FR" sz="2000" dirty="0"/>
          </a:p>
          <a:p>
            <a:pPr marL="457200" indent="-457200">
              <a:buFont typeface="+mj-lt"/>
              <a:buAutoNum type="arabicPeriod"/>
              <a:defRPr sz="2400"/>
            </a:pPr>
            <a:r>
              <a:rPr lang="fr-FR" sz="2000" dirty="0"/>
              <a:t>Via le SDK (code) ou automatiquement</a:t>
            </a:r>
          </a:p>
          <a:p>
            <a:pPr marL="457200" indent="-457200">
              <a:buFont typeface="+mj-lt"/>
              <a:buAutoNum type="arabicPeriod"/>
              <a:defRPr sz="2400"/>
            </a:pPr>
            <a:r>
              <a:rPr lang="fr-FR" sz="2000" dirty="0"/>
              <a:t>Uniquement via le portail Azure</a:t>
            </a:r>
          </a:p>
          <a:p>
            <a:pPr marL="457200" indent="-457200">
              <a:buFont typeface="+mj-lt"/>
              <a:buAutoNum type="arabicPeriod"/>
              <a:defRPr sz="2400"/>
            </a:pPr>
            <a:r>
              <a:rPr lang="fr-FR" sz="2000" dirty="0"/>
              <a:t>Via Azure SQL</a:t>
            </a:r>
          </a:p>
          <a:p>
            <a:pPr marL="457200" indent="-457200">
              <a:buFont typeface="+mj-lt"/>
              <a:buAutoNum type="arabicPeriod"/>
              <a:defRPr sz="2400"/>
            </a:pPr>
            <a:r>
              <a:rPr lang="fr-FR" sz="2000" dirty="0"/>
              <a:t>Ce n’est pas configurable</a:t>
            </a:r>
            <a:endParaRPr dirty="0"/>
          </a:p>
        </p:txBody>
      </p:sp>
      <p:sp>
        <p:nvSpPr>
          <p:cNvPr id="8" name="TextBox 7">
            <a:extLst>
              <a:ext uri="{FF2B5EF4-FFF2-40B4-BE49-F238E27FC236}">
                <a16:creationId xmlns:a16="http://schemas.microsoft.com/office/drawing/2014/main" id="{9BDA2B6F-D504-B660-24D6-01D36E014F21}"/>
              </a:ext>
            </a:extLst>
          </p:cNvPr>
          <p:cNvSpPr txBox="1"/>
          <p:nvPr/>
        </p:nvSpPr>
        <p:spPr>
          <a:xfrm>
            <a:off x="6444208" y="2708920"/>
            <a:ext cx="1427635" cy="369332"/>
          </a:xfrm>
          <a:prstGeom prst="rect">
            <a:avLst/>
          </a:prstGeom>
          <a:noFill/>
        </p:spPr>
        <p:txBody>
          <a:bodyPr wrap="none">
            <a:spAutoFit/>
          </a:bodyPr>
          <a:lstStyle/>
          <a:p>
            <a:pPr>
              <a:defRPr sz="1800" b="1"/>
            </a:pPr>
            <a:r>
              <a:rPr u="sng" dirty="0" err="1"/>
              <a:t>Réponse</a:t>
            </a:r>
            <a:r>
              <a:rPr u="sng" dirty="0"/>
              <a:t> : </a:t>
            </a:r>
            <a:r>
              <a:rPr lang="fr-FR" u="sng" dirty="0"/>
              <a:t>1</a:t>
            </a:r>
            <a:endParaRPr u="sng" dirty="0" err="1"/>
          </a:p>
        </p:txBody>
      </p:sp>
      <p:sp>
        <p:nvSpPr>
          <p:cNvPr id="9" name="TextBox 8">
            <a:extLst>
              <a:ext uri="{FF2B5EF4-FFF2-40B4-BE49-F238E27FC236}">
                <a16:creationId xmlns:a16="http://schemas.microsoft.com/office/drawing/2014/main" id="{D5367D7B-91DB-7E44-8E85-793F64378A1B}"/>
              </a:ext>
            </a:extLst>
          </p:cNvPr>
          <p:cNvSpPr txBox="1"/>
          <p:nvPr/>
        </p:nvSpPr>
        <p:spPr>
          <a:xfrm>
            <a:off x="474051" y="3453897"/>
            <a:ext cx="7435195" cy="3447098"/>
          </a:xfrm>
          <a:prstGeom prst="rect">
            <a:avLst/>
          </a:prstGeom>
          <a:noFill/>
        </p:spPr>
        <p:txBody>
          <a:bodyPr wrap="square">
            <a:spAutoFit/>
          </a:bodyPr>
          <a:lstStyle/>
          <a:p>
            <a:r>
              <a:rPr lang="fr-FR" dirty="0"/>
              <a:t>Le sampling peut être automatique (adaptive) ou configuré via le SDK en code.</a:t>
            </a:r>
            <a:br>
              <a:rPr lang="fr-FR" dirty="0"/>
            </a:br>
            <a:r>
              <a:rPr lang="fr-FR" dirty="0"/>
              <a:t>Le mode par défaut est l’adaptive sampling.</a:t>
            </a:r>
            <a:br>
              <a:rPr lang="fr-FR" dirty="0"/>
            </a:br>
            <a:br>
              <a:rPr lang="fr-FR" dirty="0"/>
            </a:br>
            <a:r>
              <a:rPr lang="fr-FR" dirty="0"/>
              <a:t>Exemple pour le désactiver : </a:t>
            </a:r>
            <a:br>
              <a:rPr lang="fr-FR" dirty="0"/>
            </a:br>
            <a:r>
              <a:rPr lang="fr-FR" sz="1400" dirty="0" err="1">
                <a:latin typeface="Courier New" panose="02070309020205020404" pitchFamily="49" charset="0"/>
                <a:cs typeface="Courier New" panose="02070309020205020404" pitchFamily="49" charset="0"/>
              </a:rPr>
              <a:t>builder.Services.AddApplicationInsightsTelemetry</a:t>
            </a:r>
            <a:r>
              <a:rPr lang="fr-FR" sz="1400" dirty="0">
                <a:latin typeface="Courier New" panose="02070309020205020404" pitchFamily="49" charset="0"/>
                <a:cs typeface="Courier New" panose="02070309020205020404" pitchFamily="49" charset="0"/>
              </a:rPr>
              <a:t>(options =&gt;</a:t>
            </a:r>
          </a:p>
          <a:p>
            <a:r>
              <a:rPr lang="fr-FR" sz="1400" dirty="0">
                <a:latin typeface="Courier New" panose="02070309020205020404" pitchFamily="49" charset="0"/>
                <a:cs typeface="Courier New" panose="02070309020205020404" pitchFamily="49" charset="0"/>
              </a:rPr>
              <a:t>{</a:t>
            </a:r>
          </a:p>
          <a:p>
            <a:r>
              <a:rPr lang="fr-FR" sz="1400" dirty="0">
                <a:latin typeface="Courier New" panose="02070309020205020404" pitchFamily="49" charset="0"/>
                <a:cs typeface="Courier New" panose="02070309020205020404" pitchFamily="49" charset="0"/>
              </a:rPr>
              <a:t>    </a:t>
            </a:r>
            <a:r>
              <a:rPr lang="fr-FR" sz="1400" dirty="0" err="1">
                <a:latin typeface="Courier New" panose="02070309020205020404" pitchFamily="49" charset="0"/>
                <a:cs typeface="Courier New" panose="02070309020205020404" pitchFamily="49" charset="0"/>
              </a:rPr>
              <a:t>options.EnableAdaptiveSampling</a:t>
            </a:r>
            <a:r>
              <a:rPr lang="fr-FR" sz="1400" dirty="0">
                <a:latin typeface="Courier New" panose="02070309020205020404" pitchFamily="49" charset="0"/>
                <a:cs typeface="Courier New" panose="02070309020205020404" pitchFamily="49" charset="0"/>
              </a:rPr>
              <a:t> = false;</a:t>
            </a:r>
          </a:p>
          <a:p>
            <a:r>
              <a:rPr lang="fr-FR" sz="1400" dirty="0">
                <a:latin typeface="Courier New" panose="02070309020205020404" pitchFamily="49" charset="0"/>
                <a:cs typeface="Courier New" panose="02070309020205020404" pitchFamily="49" charset="0"/>
              </a:rPr>
              <a:t>});</a:t>
            </a:r>
          </a:p>
          <a:p>
            <a:pPr>
              <a:buNone/>
            </a:pPr>
            <a:endParaRPr lang="fr-FR" dirty="0"/>
          </a:p>
          <a:p>
            <a:r>
              <a:rPr lang="fr-FR" b="1" dirty="0"/>
              <a:t>❗ 1. Le sampling s’applique côté SDK</a:t>
            </a:r>
          </a:p>
          <a:p>
            <a:r>
              <a:rPr lang="fr-FR" dirty="0"/>
              <a:t>👉 donc : les données </a:t>
            </a:r>
            <a:r>
              <a:rPr lang="fr-FR" b="1" dirty="0"/>
              <a:t>non envoyées → non récupérables</a:t>
            </a:r>
            <a:endParaRPr lang="fr-FR" dirty="0"/>
          </a:p>
          <a:p>
            <a:pPr>
              <a:buNone/>
            </a:pPr>
            <a:endParaRPr dirty="0"/>
          </a:p>
        </p:txBody>
      </p:sp>
      <p:sp>
        <p:nvSpPr>
          <p:cNvPr id="13" name="ZoneTexte 12">
            <a:extLst>
              <a:ext uri="{FF2B5EF4-FFF2-40B4-BE49-F238E27FC236}">
                <a16:creationId xmlns:a16="http://schemas.microsoft.com/office/drawing/2014/main" id="{14A9CD6A-6521-E7F9-977A-3D534AEBAAAB}"/>
              </a:ext>
            </a:extLst>
          </p:cNvPr>
          <p:cNvSpPr txBox="1"/>
          <p:nvPr/>
        </p:nvSpPr>
        <p:spPr>
          <a:xfrm>
            <a:off x="114794" y="1700808"/>
            <a:ext cx="557808" cy="369332"/>
          </a:xfrm>
          <a:prstGeom prst="rect">
            <a:avLst/>
          </a:prstGeom>
          <a:noFill/>
        </p:spPr>
        <p:txBody>
          <a:bodyPr wrap="square">
            <a:spAutoFit/>
          </a:bodyPr>
          <a:lstStyle/>
          <a:p>
            <a:r>
              <a:rPr lang="fr-FR" b="1" dirty="0"/>
              <a:t>✅</a:t>
            </a:r>
            <a:endParaRPr lang="fr-FR" dirty="0"/>
          </a:p>
        </p:txBody>
      </p:sp>
    </p:spTree>
    <p:extLst>
      <p:ext uri="{BB962C8B-B14F-4D97-AF65-F5344CB8AC3E}">
        <p14:creationId xmlns:p14="http://schemas.microsoft.com/office/powerpoint/2010/main" val="1549166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2</a:t>
            </a:r>
            <a:endParaRPr sz="3200" dirty="0"/>
          </a:p>
        </p:txBody>
      </p:sp>
      <p:sp>
        <p:nvSpPr>
          <p:cNvPr id="3" name="TextBox 2"/>
          <p:cNvSpPr txBox="1"/>
          <p:nvPr/>
        </p:nvSpPr>
        <p:spPr>
          <a:xfrm>
            <a:off x="467096" y="1324006"/>
            <a:ext cx="8431481" cy="2862322"/>
          </a:xfrm>
          <a:prstGeom prst="rect">
            <a:avLst/>
          </a:prstGeom>
          <a:noFill/>
        </p:spPr>
        <p:txBody>
          <a:bodyPr wrap="square">
            <a:spAutoFit/>
          </a:bodyPr>
          <a:lstStyle/>
          <a:p>
            <a:pPr>
              <a:defRPr sz="2400"/>
            </a:pPr>
            <a:r>
              <a:rPr sz="2000" dirty="0"/>
              <a:t>Quel type de données Application Insights </a:t>
            </a:r>
            <a:r>
              <a:rPr sz="2000" dirty="0" err="1"/>
              <a:t>peut</a:t>
            </a:r>
            <a:r>
              <a:rPr sz="2000" dirty="0"/>
              <a:t>-il </a:t>
            </a:r>
            <a:r>
              <a:rPr sz="2000" dirty="0" err="1"/>
              <a:t>collecter</a:t>
            </a:r>
            <a:r>
              <a:rPr sz="2000" dirty="0"/>
              <a:t> </a:t>
            </a:r>
            <a:r>
              <a:rPr sz="2000" dirty="0" err="1"/>
              <a:t>automatiquement</a:t>
            </a:r>
            <a:r>
              <a:rPr sz="2000" dirty="0"/>
              <a:t> ?</a:t>
            </a:r>
            <a:r>
              <a:rPr lang="fr-FR" sz="2000" dirty="0"/>
              <a:t> Plusieurs bonnes réponses.</a:t>
            </a:r>
          </a:p>
          <a:p>
            <a:pPr marL="457200" indent="-457200">
              <a:buFont typeface="+mj-lt"/>
              <a:buAutoNum type="arabicPeriod"/>
              <a:defRPr sz="2400"/>
            </a:pPr>
            <a:r>
              <a:rPr lang="fr-FR" sz="2000" dirty="0"/>
              <a:t>Requêtes HTTP</a:t>
            </a:r>
          </a:p>
          <a:p>
            <a:pPr marL="457200" indent="-457200">
              <a:buFont typeface="+mj-lt"/>
              <a:buAutoNum type="arabicPeriod"/>
              <a:defRPr sz="2400"/>
            </a:pPr>
            <a:r>
              <a:rPr lang="fr-FR" sz="2000" dirty="0"/>
              <a:t>Exceptions</a:t>
            </a:r>
          </a:p>
          <a:p>
            <a:pPr marL="457200" indent="-457200">
              <a:buFont typeface="+mj-lt"/>
              <a:buAutoNum type="arabicPeriod"/>
              <a:defRPr sz="2400"/>
            </a:pPr>
            <a:r>
              <a:rPr lang="fr-FR" sz="2000" dirty="0"/>
              <a:t>Dépendances (SQL, API externes)</a:t>
            </a:r>
          </a:p>
          <a:p>
            <a:pPr marL="457200" indent="-457200">
              <a:buFont typeface="+mj-lt"/>
              <a:buAutoNum type="arabicPeriod"/>
              <a:defRPr sz="2400"/>
            </a:pPr>
            <a:r>
              <a:rPr lang="fr-FR" sz="2000" dirty="0"/>
              <a:t>Logs système Windows</a:t>
            </a:r>
          </a:p>
          <a:p>
            <a:pPr marL="457200" indent="-457200">
              <a:buFont typeface="+mj-lt"/>
              <a:buAutoNum type="arabicPeriod"/>
              <a:defRPr sz="2400"/>
            </a:pPr>
            <a:r>
              <a:rPr lang="fr-FR" sz="2000" dirty="0"/>
              <a:t>Requêtes SQL internes à la base</a:t>
            </a:r>
          </a:p>
          <a:p>
            <a:pPr marL="457200" indent="-457200">
              <a:buFont typeface="+mj-lt"/>
              <a:buAutoNum type="arabicPeriod"/>
              <a:defRPr sz="2400"/>
            </a:pPr>
            <a:r>
              <a:rPr lang="fr-FR" sz="2000" dirty="0"/>
              <a:t>Traces (logs applicatifs via </a:t>
            </a:r>
            <a:r>
              <a:rPr lang="fr-FR" sz="2000" dirty="0" err="1"/>
              <a:t>ILogger</a:t>
            </a:r>
            <a:r>
              <a:rPr lang="fr-FR" sz="2000" dirty="0"/>
              <a:t>)</a:t>
            </a:r>
          </a:p>
          <a:p>
            <a:pPr marL="457200" indent="-457200">
              <a:buFont typeface="+mj-lt"/>
              <a:buAutoNum type="arabicPeriod"/>
              <a:defRPr sz="2400"/>
            </a:pPr>
            <a:r>
              <a:rPr lang="fr-FR" sz="2000" dirty="0"/>
              <a:t>Performances CPU du serveur</a:t>
            </a:r>
          </a:p>
        </p:txBody>
      </p:sp>
      <p:sp>
        <p:nvSpPr>
          <p:cNvPr id="8" name="TextBox 7"/>
          <p:cNvSpPr txBox="1"/>
          <p:nvPr/>
        </p:nvSpPr>
        <p:spPr>
          <a:xfrm>
            <a:off x="6066751" y="3758064"/>
            <a:ext cx="2078454" cy="369332"/>
          </a:xfrm>
          <a:prstGeom prst="rect">
            <a:avLst/>
          </a:prstGeom>
          <a:noFill/>
        </p:spPr>
        <p:txBody>
          <a:bodyPr wrap="none">
            <a:spAutoFit/>
          </a:bodyPr>
          <a:lstStyle/>
          <a:p>
            <a:pPr>
              <a:defRPr sz="1800" b="1"/>
            </a:pPr>
            <a:r>
              <a:rPr u="sng" dirty="0" err="1"/>
              <a:t>Réponse</a:t>
            </a:r>
            <a:r>
              <a:rPr u="sng" dirty="0"/>
              <a:t> : </a:t>
            </a:r>
            <a:r>
              <a:rPr lang="fr-FR" u="sng" dirty="0"/>
              <a:t>1,2,3,6</a:t>
            </a:r>
            <a:endParaRPr u="sng" dirty="0" err="1"/>
          </a:p>
        </p:txBody>
      </p:sp>
      <p:sp>
        <p:nvSpPr>
          <p:cNvPr id="9" name="TextBox 8"/>
          <p:cNvSpPr txBox="1"/>
          <p:nvPr/>
        </p:nvSpPr>
        <p:spPr>
          <a:xfrm>
            <a:off x="1025237" y="4930239"/>
            <a:ext cx="7723227" cy="1077218"/>
          </a:xfrm>
          <a:prstGeom prst="rect">
            <a:avLst/>
          </a:prstGeom>
          <a:noFill/>
        </p:spPr>
        <p:txBody>
          <a:bodyPr wrap="square">
            <a:spAutoFit/>
          </a:bodyPr>
          <a:lstStyle/>
          <a:p>
            <a:pPr>
              <a:defRPr sz="1600"/>
            </a:pPr>
            <a:r>
              <a:rPr lang="fr-FR" dirty="0"/>
              <a:t>Application Insights collecte automatiquement les requêtes, exceptions, dépendances et traces. </a:t>
            </a:r>
          </a:p>
          <a:p>
            <a:pPr>
              <a:defRPr sz="1600"/>
            </a:pPr>
            <a:r>
              <a:rPr lang="fr-FR" dirty="0"/>
              <a:t>Les logs système ou les requêtes SQL internes ne sont pas collectés automatiquement sans instrumentation spécifique</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24764" y="1988840"/>
            <a:ext cx="557808" cy="369332"/>
          </a:xfrm>
          <a:prstGeom prst="rect">
            <a:avLst/>
          </a:prstGeom>
          <a:noFill/>
        </p:spPr>
        <p:txBody>
          <a:bodyPr wrap="square">
            <a:spAutoFit/>
          </a:bodyPr>
          <a:lstStyle/>
          <a:p>
            <a:r>
              <a:rPr lang="fr-FR" b="1" dirty="0"/>
              <a:t>✅</a:t>
            </a:r>
            <a:endParaRPr lang="fr-FR" dirty="0"/>
          </a:p>
        </p:txBody>
      </p:sp>
      <p:sp>
        <p:nvSpPr>
          <p:cNvPr id="4" name="ZoneTexte 3">
            <a:extLst>
              <a:ext uri="{FF2B5EF4-FFF2-40B4-BE49-F238E27FC236}">
                <a16:creationId xmlns:a16="http://schemas.microsoft.com/office/drawing/2014/main" id="{29EC0A74-3BBD-C96B-6743-EA2498B74072}"/>
              </a:ext>
            </a:extLst>
          </p:cNvPr>
          <p:cNvSpPr txBox="1"/>
          <p:nvPr/>
        </p:nvSpPr>
        <p:spPr>
          <a:xfrm>
            <a:off x="24764" y="2267151"/>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476088C5-BC90-F5B2-1CD1-C22C075D6A88}"/>
              </a:ext>
            </a:extLst>
          </p:cNvPr>
          <p:cNvSpPr txBox="1"/>
          <p:nvPr/>
        </p:nvSpPr>
        <p:spPr>
          <a:xfrm>
            <a:off x="12204" y="2543528"/>
            <a:ext cx="557808" cy="369332"/>
          </a:xfrm>
          <a:prstGeom prst="rect">
            <a:avLst/>
          </a:prstGeom>
          <a:noFill/>
        </p:spPr>
        <p:txBody>
          <a:bodyPr wrap="square">
            <a:spAutoFit/>
          </a:bodyPr>
          <a:lstStyle/>
          <a:p>
            <a:r>
              <a:rPr lang="fr-FR" b="1" dirty="0"/>
              <a:t>✅</a:t>
            </a:r>
            <a:endParaRPr lang="fr-FR" dirty="0"/>
          </a:p>
        </p:txBody>
      </p:sp>
      <p:sp>
        <p:nvSpPr>
          <p:cNvPr id="6" name="ZoneTexte 5">
            <a:extLst>
              <a:ext uri="{FF2B5EF4-FFF2-40B4-BE49-F238E27FC236}">
                <a16:creationId xmlns:a16="http://schemas.microsoft.com/office/drawing/2014/main" id="{B8727ECB-B839-541F-E89D-5833721C574E}"/>
              </a:ext>
            </a:extLst>
          </p:cNvPr>
          <p:cNvSpPr txBox="1"/>
          <p:nvPr/>
        </p:nvSpPr>
        <p:spPr>
          <a:xfrm>
            <a:off x="12204" y="346588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4" grpId="0"/>
      <p:bldP spid="5" grpId="0"/>
      <p:bldP spid="6"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3</a:t>
            </a:r>
            <a:endParaRPr sz="3200" dirty="0"/>
          </a:p>
        </p:txBody>
      </p:sp>
      <p:sp>
        <p:nvSpPr>
          <p:cNvPr id="3" name="TextBox 2"/>
          <p:cNvSpPr txBox="1"/>
          <p:nvPr/>
        </p:nvSpPr>
        <p:spPr>
          <a:xfrm>
            <a:off x="467096" y="1324006"/>
            <a:ext cx="8431481" cy="2616101"/>
          </a:xfrm>
          <a:prstGeom prst="rect">
            <a:avLst/>
          </a:prstGeom>
          <a:noFill/>
        </p:spPr>
        <p:txBody>
          <a:bodyPr wrap="square">
            <a:spAutoFit/>
          </a:bodyPr>
          <a:lstStyle/>
          <a:p>
            <a:pPr>
              <a:defRPr sz="2400"/>
            </a:pPr>
            <a:r>
              <a:rPr sz="2000" dirty="0"/>
              <a:t>Quel est l’intérêt des "Dependency tracking"</a:t>
            </a:r>
            <a:r>
              <a:rPr lang="fr-FR" sz="2000" dirty="0"/>
              <a:t> dans Application Insights </a:t>
            </a:r>
            <a:r>
              <a:rPr sz="2000" dirty="0"/>
              <a:t>?</a:t>
            </a:r>
            <a:r>
              <a:rPr lang="fr-FR" sz="2000" dirty="0"/>
              <a:t> Plusieurs bonnes réponses.</a:t>
            </a:r>
          </a:p>
          <a:p>
            <a:pPr marL="457200" indent="-457200">
              <a:buFont typeface="+mj-lt"/>
              <a:buAutoNum type="arabicPeriod"/>
              <a:defRPr sz="2400"/>
            </a:pPr>
            <a:r>
              <a:rPr lang="fr-FR" sz="2000" dirty="0"/>
              <a:t>Suivre les appels vers des services externes (API, base de données, etc.)</a:t>
            </a:r>
          </a:p>
          <a:p>
            <a:pPr marL="457200" indent="-457200">
              <a:buFont typeface="+mj-lt"/>
              <a:buAutoNum type="arabicPeriod"/>
              <a:defRPr sz="2400"/>
            </a:pPr>
            <a:r>
              <a:rPr lang="fr-FR" sz="2000" dirty="0"/>
              <a:t>Analyser les performances internes du code méthode par méthode</a:t>
            </a:r>
          </a:p>
          <a:p>
            <a:pPr marL="457200" indent="-457200">
              <a:buFont typeface="+mj-lt"/>
              <a:buAutoNum type="arabicPeriod"/>
              <a:defRPr sz="2400"/>
            </a:pPr>
            <a:r>
              <a:rPr lang="fr-FR" sz="2000" dirty="0"/>
              <a:t>Mesurer les interactions avec des ressources externes et leur impact sur les performances</a:t>
            </a:r>
          </a:p>
          <a:p>
            <a:pPr marL="457200" indent="-457200">
              <a:buFont typeface="+mj-lt"/>
              <a:buAutoNum type="arabicPeriod"/>
              <a:defRPr sz="2400"/>
            </a:pPr>
            <a:r>
              <a:rPr lang="fr-FR" sz="2000" dirty="0"/>
              <a:t>Tracer les actions des utilisateurs dans l’interface</a:t>
            </a:r>
            <a:endParaRPr dirty="0"/>
          </a:p>
        </p:txBody>
      </p:sp>
      <p:sp>
        <p:nvSpPr>
          <p:cNvPr id="8" name="TextBox 7"/>
          <p:cNvSpPr txBox="1"/>
          <p:nvPr/>
        </p:nvSpPr>
        <p:spPr>
          <a:xfrm>
            <a:off x="6804248" y="3668906"/>
            <a:ext cx="1623201" cy="369332"/>
          </a:xfrm>
          <a:prstGeom prst="rect">
            <a:avLst/>
          </a:prstGeom>
          <a:noFill/>
        </p:spPr>
        <p:txBody>
          <a:bodyPr wrap="none">
            <a:spAutoFit/>
          </a:bodyPr>
          <a:lstStyle/>
          <a:p>
            <a:pPr>
              <a:defRPr sz="1800" b="1"/>
            </a:pPr>
            <a:r>
              <a:rPr u="sng" dirty="0" err="1"/>
              <a:t>Réponse</a:t>
            </a:r>
            <a:r>
              <a:rPr u="sng" dirty="0"/>
              <a:t> : </a:t>
            </a:r>
            <a:r>
              <a:rPr lang="fr-FR" u="sng" dirty="0"/>
              <a:t>1,3</a:t>
            </a:r>
            <a:endParaRPr u="sng" dirty="0" err="1"/>
          </a:p>
        </p:txBody>
      </p:sp>
      <p:sp>
        <p:nvSpPr>
          <p:cNvPr id="9" name="TextBox 8"/>
          <p:cNvSpPr txBox="1"/>
          <p:nvPr/>
        </p:nvSpPr>
        <p:spPr>
          <a:xfrm>
            <a:off x="143205" y="4023427"/>
            <a:ext cx="6589036" cy="2554545"/>
          </a:xfrm>
          <a:prstGeom prst="rect">
            <a:avLst/>
          </a:prstGeom>
          <a:noFill/>
        </p:spPr>
        <p:txBody>
          <a:bodyPr wrap="square">
            <a:spAutoFit/>
          </a:bodyPr>
          <a:lstStyle/>
          <a:p>
            <a:pPr>
              <a:defRPr sz="1600"/>
            </a:pPr>
            <a:r>
              <a:rPr lang="fr-FR" b="1" dirty="0"/>
              <a:t>Une dépendance est un composant appelé par ton application</a:t>
            </a:r>
            <a:endParaRPr lang="fr-FR" sz="1200" b="1" dirty="0"/>
          </a:p>
          <a:p>
            <a:pPr>
              <a:defRPr sz="1600"/>
            </a:pPr>
            <a:r>
              <a:rPr lang="fr-FR" sz="1200" dirty="0">
                <a:hlinkClick r:id="rId3"/>
              </a:rPr>
              <a:t>https://learn.microsoft.com/en-us/azure/azure-monitor/app/dependencies</a:t>
            </a:r>
            <a:endParaRPr lang="fr-FR" sz="1200" dirty="0"/>
          </a:p>
          <a:p>
            <a:pPr>
              <a:defRPr sz="1600"/>
            </a:pPr>
            <a:endParaRPr lang="fr-FR" dirty="0"/>
          </a:p>
          <a:p>
            <a:pPr>
              <a:defRPr sz="1600"/>
            </a:pPr>
            <a:r>
              <a:rPr lang="fr-FR" dirty="0"/>
              <a:t>Le </a:t>
            </a:r>
            <a:r>
              <a:rPr lang="fr-FR" dirty="0" err="1"/>
              <a:t>dependency</a:t>
            </a:r>
            <a:r>
              <a:rPr lang="fr-FR" dirty="0"/>
              <a:t> </a:t>
            </a:r>
            <a:r>
              <a:rPr lang="fr-FR" dirty="0" err="1"/>
              <a:t>tracking</a:t>
            </a:r>
            <a:r>
              <a:rPr lang="fr-FR" dirty="0"/>
              <a:t> permet de suivre les appels vers des services externes (SQL, API, etc.) et d’analyser leur impact sur les performances globales.</a:t>
            </a:r>
          </a:p>
          <a:p>
            <a:pPr>
              <a:defRPr sz="1600"/>
            </a:pPr>
            <a:endParaRPr lang="fr-FR" dirty="0"/>
          </a:p>
          <a:p>
            <a:pPr>
              <a:defRPr sz="1600"/>
            </a:pPr>
            <a:r>
              <a:rPr lang="fr-FR" dirty="0"/>
              <a:t>Attention à ne pas confondre avec le profiling interne du code  (.NET Profiler)</a:t>
            </a:r>
          </a:p>
          <a:p>
            <a:pPr>
              <a:defRPr sz="1600"/>
            </a:pPr>
            <a:r>
              <a:rPr lang="fr-FR" dirty="0"/>
              <a:t>ou le suivi utilisateur (User </a:t>
            </a:r>
            <a:r>
              <a:rPr lang="fr-FR" dirty="0" err="1"/>
              <a:t>telemetry</a:t>
            </a:r>
            <a:r>
              <a:rPr lang="fr-FR" dirty="0"/>
              <a:t>).</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61453" y="1950431"/>
            <a:ext cx="557808" cy="369332"/>
          </a:xfrm>
          <a:prstGeom prst="rect">
            <a:avLst/>
          </a:prstGeom>
          <a:noFill/>
        </p:spPr>
        <p:txBody>
          <a:bodyPr wrap="square">
            <a:spAutoFit/>
          </a:bodyPr>
          <a:lstStyle/>
          <a:p>
            <a:r>
              <a:rPr lang="fr-FR" b="1" dirty="0"/>
              <a:t>✅</a:t>
            </a:r>
            <a:endParaRPr lang="fr-FR" dirty="0"/>
          </a:p>
        </p:txBody>
      </p:sp>
      <p:sp>
        <p:nvSpPr>
          <p:cNvPr id="4" name="ZoneTexte 3">
            <a:extLst>
              <a:ext uri="{FF2B5EF4-FFF2-40B4-BE49-F238E27FC236}">
                <a16:creationId xmlns:a16="http://schemas.microsoft.com/office/drawing/2014/main" id="{AEDF2640-2090-FE74-B940-B26D6C77018C}"/>
              </a:ext>
            </a:extLst>
          </p:cNvPr>
          <p:cNvSpPr txBox="1"/>
          <p:nvPr/>
        </p:nvSpPr>
        <p:spPr>
          <a:xfrm>
            <a:off x="61453" y="2852936"/>
            <a:ext cx="557808" cy="369332"/>
          </a:xfrm>
          <a:prstGeom prst="rect">
            <a:avLst/>
          </a:prstGeom>
          <a:noFill/>
        </p:spPr>
        <p:txBody>
          <a:bodyPr wrap="square">
            <a:spAutoFit/>
          </a:bodyPr>
          <a:lstStyle/>
          <a:p>
            <a:r>
              <a:rPr lang="fr-FR" b="1" dirty="0"/>
              <a:t>✅</a:t>
            </a:r>
            <a:endParaRPr lang="fr-FR" dirty="0"/>
          </a:p>
        </p:txBody>
      </p:sp>
      <p:graphicFrame>
        <p:nvGraphicFramePr>
          <p:cNvPr id="7" name="Tableau 6">
            <a:extLst>
              <a:ext uri="{FF2B5EF4-FFF2-40B4-BE49-F238E27FC236}">
                <a16:creationId xmlns:a16="http://schemas.microsoft.com/office/drawing/2014/main" id="{0A45C7A8-9CD6-47A2-BA92-5439FF18142D}"/>
              </a:ext>
            </a:extLst>
          </p:cNvPr>
          <p:cNvGraphicFramePr>
            <a:graphicFrameLocks noGrp="1"/>
          </p:cNvGraphicFramePr>
          <p:nvPr>
            <p:extLst>
              <p:ext uri="{D42A27DB-BD31-4B8C-83A1-F6EECF244321}">
                <p14:modId xmlns:p14="http://schemas.microsoft.com/office/powerpoint/2010/main" val="2474906013"/>
              </p:ext>
            </p:extLst>
          </p:nvPr>
        </p:nvGraphicFramePr>
        <p:xfrm>
          <a:off x="6660232" y="4741266"/>
          <a:ext cx="2483768" cy="1208013"/>
        </p:xfrm>
        <a:graphic>
          <a:graphicData uri="http://schemas.openxmlformats.org/drawingml/2006/table">
            <a:tbl>
              <a:tblPr>
                <a:tableStyleId>{BC89EF96-8CEA-46FF-86C4-4CE0E7609802}</a:tableStyleId>
              </a:tblPr>
              <a:tblGrid>
                <a:gridCol w="1241884">
                  <a:extLst>
                    <a:ext uri="{9D8B030D-6E8A-4147-A177-3AD203B41FA5}">
                      <a16:colId xmlns:a16="http://schemas.microsoft.com/office/drawing/2014/main" val="1877920576"/>
                    </a:ext>
                  </a:extLst>
                </a:gridCol>
                <a:gridCol w="1241884">
                  <a:extLst>
                    <a:ext uri="{9D8B030D-6E8A-4147-A177-3AD203B41FA5}">
                      <a16:colId xmlns:a16="http://schemas.microsoft.com/office/drawing/2014/main" val="1343876758"/>
                    </a:ext>
                  </a:extLst>
                </a:gridCol>
              </a:tblGrid>
              <a:tr h="670282">
                <a:tc>
                  <a:txBody>
                    <a:bodyPr/>
                    <a:lstStyle/>
                    <a:p>
                      <a:pPr algn="l" fontAlgn="b">
                        <a:buNone/>
                      </a:pPr>
                      <a:r>
                        <a:rPr lang="fr-FR" sz="1100" u="none" strike="noStrike" dirty="0" err="1">
                          <a:effectLst/>
                        </a:rPr>
                        <a:t>Dependency</a:t>
                      </a:r>
                      <a:r>
                        <a:rPr lang="fr-FR" sz="1100" u="none" strike="noStrike" dirty="0">
                          <a:effectLst/>
                        </a:rPr>
                        <a:t> </a:t>
                      </a:r>
                      <a:r>
                        <a:rPr lang="fr-FR" sz="1100" u="none" strike="noStrike" dirty="0" err="1">
                          <a:effectLst/>
                        </a:rPr>
                        <a:t>Tracking</a:t>
                      </a:r>
                      <a:endParaRPr lang="fr-FR"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buNone/>
                      </a:pPr>
                      <a:r>
                        <a:rPr lang="fr-FR" sz="1100" u="none" strike="noStrike" dirty="0">
                          <a:effectLst/>
                        </a:rPr>
                        <a:t>Ce que l'application appelle côté serveur</a:t>
                      </a:r>
                      <a:endParaRPr lang="fr-F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20580029"/>
                  </a:ext>
                </a:extLst>
              </a:tr>
              <a:tr h="537731">
                <a:tc>
                  <a:txBody>
                    <a:bodyPr/>
                    <a:lstStyle/>
                    <a:p>
                      <a:pPr algn="l" fontAlgn="b">
                        <a:buNone/>
                      </a:pPr>
                      <a:r>
                        <a:rPr lang="fr-FR" sz="1100" u="none" strike="noStrike">
                          <a:effectLst/>
                        </a:rPr>
                        <a:t>User Telemetry</a:t>
                      </a:r>
                      <a:endParaRPr lang="fr-FR"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fr-FR" sz="1100" u="none" strike="noStrike" dirty="0">
                          <a:effectLst/>
                        </a:rPr>
                        <a:t>Ce que l'utilisateur fait côté client</a:t>
                      </a:r>
                      <a:endParaRPr lang="fr-F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6615762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4"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Comment identifier qu’un ralentissement d’une requête HTTP est dû à une base SQL dans Application Insights ?</a:t>
            </a:r>
            <a:endParaRPr lang="fr-FR" sz="2000" dirty="0"/>
          </a:p>
          <a:p>
            <a:pPr marL="457200" indent="-457200">
              <a:buFont typeface="+mj-lt"/>
              <a:buAutoNum type="arabicPeriod"/>
              <a:defRPr sz="2400"/>
            </a:pPr>
            <a:r>
              <a:rPr lang="fr-FR" sz="2000" dirty="0"/>
              <a:t>En regardant uniquement les logs applicatifs</a:t>
            </a:r>
          </a:p>
          <a:p>
            <a:pPr marL="457200" indent="-457200">
              <a:buFont typeface="+mj-lt"/>
              <a:buAutoNum type="arabicPeriod"/>
              <a:defRPr sz="2400"/>
            </a:pPr>
            <a:r>
              <a:rPr lang="fr-FR" sz="2000" dirty="0"/>
              <a:t>En analysant les dependencies associées à la requête</a:t>
            </a:r>
          </a:p>
          <a:p>
            <a:pPr marL="457200" indent="-457200">
              <a:buFont typeface="+mj-lt"/>
              <a:buAutoNum type="arabicPeriod"/>
              <a:defRPr sz="2400"/>
            </a:pPr>
            <a:r>
              <a:rPr lang="fr-FR" sz="2000" dirty="0"/>
              <a:t>En regardant le CPU Azure</a:t>
            </a:r>
          </a:p>
          <a:p>
            <a:pPr marL="457200" indent="-457200">
              <a:buFont typeface="+mj-lt"/>
              <a:buAutoNum type="arabicPeriod"/>
              <a:defRPr sz="2400"/>
            </a:pPr>
            <a:r>
              <a:rPr lang="fr-FR" sz="2000" dirty="0"/>
              <a:t>Ce n’est pas possible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723227" cy="584775"/>
          </a:xfrm>
          <a:prstGeom prst="rect">
            <a:avLst/>
          </a:prstGeom>
          <a:noFill/>
        </p:spPr>
        <p:txBody>
          <a:bodyPr wrap="square">
            <a:spAutoFit/>
          </a:bodyPr>
          <a:lstStyle/>
          <a:p>
            <a:pPr>
              <a:defRPr sz="1600"/>
            </a:pPr>
            <a:r>
              <a:rPr dirty="0"/>
              <a:t>Les dependencies permettent d’identifier les appels SQL et leur durée, ce qui permet de détecter un goulot d’étranglement.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5237" y="220486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5</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outil permet de visualiser la chaîne d’appels d’une requête ?</a:t>
            </a:r>
            <a:endParaRPr lang="fr-FR" sz="2000" dirty="0"/>
          </a:p>
          <a:p>
            <a:pPr marL="457200" indent="-457200">
              <a:buFont typeface="+mj-lt"/>
              <a:buAutoNum type="arabicPeriod"/>
              <a:defRPr sz="2400"/>
            </a:pPr>
            <a:r>
              <a:rPr lang="fr-FR" sz="2000" dirty="0"/>
              <a:t>Metrics Explorer</a:t>
            </a:r>
          </a:p>
          <a:p>
            <a:pPr marL="457200" indent="-457200">
              <a:buFont typeface="+mj-lt"/>
              <a:buAutoNum type="arabicPeriod"/>
              <a:defRPr sz="2400"/>
            </a:pPr>
            <a:r>
              <a:rPr lang="fr-FR" sz="2000" dirty="0"/>
              <a:t>Application Map</a:t>
            </a:r>
          </a:p>
          <a:p>
            <a:pPr marL="457200" indent="-457200">
              <a:buFont typeface="+mj-lt"/>
              <a:buAutoNum type="arabicPeriod"/>
              <a:defRPr sz="2400"/>
            </a:pPr>
            <a:r>
              <a:rPr lang="fr-FR" sz="2000" dirty="0"/>
              <a:t>Log Stream</a:t>
            </a:r>
          </a:p>
          <a:p>
            <a:pPr marL="457200" indent="-457200">
              <a:buFont typeface="+mj-lt"/>
              <a:buAutoNum type="arabicPeriod"/>
              <a:defRPr sz="2400"/>
            </a:pPr>
            <a:r>
              <a:rPr lang="fr-FR" sz="2000" dirty="0"/>
              <a:t>Deployment Center</a:t>
            </a:r>
          </a:p>
          <a:p>
            <a:pPr>
              <a:defRPr sz="2400"/>
            </a:pPr>
            <a:endParaRPr dirty="0"/>
          </a:p>
        </p:txBody>
      </p:sp>
      <p:sp>
        <p:nvSpPr>
          <p:cNvPr id="8" name="TextBox 7"/>
          <p:cNvSpPr txBox="1"/>
          <p:nvPr/>
        </p:nvSpPr>
        <p:spPr>
          <a:xfrm>
            <a:off x="5796136" y="213961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442634" y="4574498"/>
            <a:ext cx="2427579" cy="830997"/>
          </a:xfrm>
          <a:prstGeom prst="rect">
            <a:avLst/>
          </a:prstGeom>
          <a:noFill/>
        </p:spPr>
        <p:txBody>
          <a:bodyPr wrap="square">
            <a:spAutoFit/>
          </a:bodyPr>
          <a:lstStyle/>
          <a:p>
            <a:pPr>
              <a:defRPr sz="1600"/>
            </a:pPr>
            <a:r>
              <a:rPr dirty="0"/>
              <a:t>Application Map montre les dépendances entre services.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5290" y="1954948"/>
            <a:ext cx="557808" cy="369332"/>
          </a:xfrm>
          <a:prstGeom prst="rect">
            <a:avLst/>
          </a:prstGeom>
          <a:noFill/>
        </p:spPr>
        <p:txBody>
          <a:bodyPr wrap="square">
            <a:spAutoFit/>
          </a:bodyPr>
          <a:lstStyle/>
          <a:p>
            <a:r>
              <a:rPr lang="fr-FR" b="1" dirty="0"/>
              <a:t>✅</a:t>
            </a:r>
            <a:endParaRPr lang="fr-FR" dirty="0"/>
          </a:p>
        </p:txBody>
      </p:sp>
      <p:pic>
        <p:nvPicPr>
          <p:cNvPr id="5" name="Image 4">
            <a:extLst>
              <a:ext uri="{FF2B5EF4-FFF2-40B4-BE49-F238E27FC236}">
                <a16:creationId xmlns:a16="http://schemas.microsoft.com/office/drawing/2014/main" id="{71500A1A-8306-886E-4DEB-21E45E5B4279}"/>
              </a:ext>
            </a:extLst>
          </p:cNvPr>
          <p:cNvPicPr>
            <a:picLocks noChangeAspect="1"/>
          </p:cNvPicPr>
          <p:nvPr/>
        </p:nvPicPr>
        <p:blipFill>
          <a:blip r:embed="rId3"/>
          <a:stretch>
            <a:fillRect/>
          </a:stretch>
        </p:blipFill>
        <p:spPr>
          <a:xfrm>
            <a:off x="3190899" y="2924944"/>
            <a:ext cx="5757696" cy="38015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6</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permet le Log Stream dans App Service ?</a:t>
            </a:r>
            <a:endParaRPr lang="fr-FR" sz="2000" dirty="0"/>
          </a:p>
          <a:p>
            <a:pPr marL="457200" indent="-457200">
              <a:buFont typeface="+mj-lt"/>
              <a:buAutoNum type="arabicPeriod"/>
              <a:defRPr sz="2400"/>
            </a:pPr>
            <a:r>
              <a:rPr lang="fr-FR" sz="2000" dirty="0"/>
              <a:t>Voir les logs en direct</a:t>
            </a:r>
          </a:p>
          <a:p>
            <a:pPr marL="457200" indent="-457200">
              <a:buFont typeface="+mj-lt"/>
              <a:buAutoNum type="arabicPeriod"/>
              <a:defRPr sz="2400"/>
            </a:pPr>
            <a:r>
              <a:rPr lang="fr-FR" sz="2000" dirty="0"/>
              <a:t>Créer des alertes</a:t>
            </a:r>
          </a:p>
          <a:p>
            <a:pPr marL="457200" indent="-457200">
              <a:buFont typeface="+mj-lt"/>
              <a:buAutoNum type="arabicPeriod"/>
              <a:defRPr sz="2400"/>
            </a:pPr>
            <a:r>
              <a:rPr lang="fr-FR" sz="2000" dirty="0"/>
              <a:t>Déployer une app</a:t>
            </a:r>
          </a:p>
          <a:p>
            <a:pPr marL="457200" indent="-457200">
              <a:buFont typeface="+mj-lt"/>
              <a:buAutoNum type="arabicPeriod"/>
              <a:defRPr sz="2400"/>
            </a:pPr>
            <a:r>
              <a:rPr lang="fr-FR" sz="2000" dirty="0"/>
              <a:t>Modifier le code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Permet de voir les logs en temps réel.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157436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7</a:t>
            </a:r>
            <a:endParaRPr sz="3200" dirty="0"/>
          </a:p>
        </p:txBody>
      </p:sp>
      <p:sp>
        <p:nvSpPr>
          <p:cNvPr id="3" name="TextBox 2"/>
          <p:cNvSpPr txBox="1"/>
          <p:nvPr/>
        </p:nvSpPr>
        <p:spPr>
          <a:xfrm>
            <a:off x="467096" y="1324006"/>
            <a:ext cx="8431481" cy="1938992"/>
          </a:xfrm>
          <a:prstGeom prst="rect">
            <a:avLst/>
          </a:prstGeom>
          <a:noFill/>
        </p:spPr>
        <p:txBody>
          <a:bodyPr wrap="square">
            <a:spAutoFit/>
          </a:bodyPr>
          <a:lstStyle/>
          <a:p>
            <a:pPr>
              <a:defRPr sz="2400"/>
            </a:pPr>
            <a:r>
              <a:rPr sz="2000" dirty="0"/>
              <a:t>Quelle écriture permet de créer un </a:t>
            </a:r>
            <a:r>
              <a:rPr sz="2000" u="sng" dirty="0"/>
              <a:t>log structuré </a:t>
            </a:r>
            <a:r>
              <a:rPr sz="2000" dirty="0"/>
              <a:t>avec ILogger ?</a:t>
            </a:r>
            <a:endParaRPr lang="fr-FR" sz="2000" dirty="0"/>
          </a:p>
          <a:p>
            <a:pPr marL="457200" indent="-457200">
              <a:buFont typeface="+mj-lt"/>
              <a:buAutoNum type="arabicPeriod"/>
              <a:defRPr sz="2400"/>
            </a:pPr>
            <a:r>
              <a:rPr lang="fr-FR" sz="1900" dirty="0">
                <a:latin typeface="Courier New" panose="02070309020205020404" pitchFamily="49" charset="0"/>
                <a:cs typeface="Courier New" panose="02070309020205020404" pitchFamily="49" charset="0"/>
              </a:rPr>
              <a:t>logger.LogInformation($"Commande {orderId}")</a:t>
            </a:r>
          </a:p>
          <a:p>
            <a:pPr marL="457200" indent="-457200">
              <a:buFont typeface="+mj-lt"/>
              <a:buAutoNum type="arabicPeriod"/>
              <a:defRPr sz="2400"/>
            </a:pPr>
            <a:r>
              <a:rPr lang="fr-FR" sz="1900" dirty="0">
                <a:latin typeface="Courier New" panose="02070309020205020404" pitchFamily="49" charset="0"/>
                <a:cs typeface="Courier New" panose="02070309020205020404" pitchFamily="49" charset="0"/>
              </a:rPr>
              <a:t>logger.LogInformation("Commande " + orderId)</a:t>
            </a:r>
          </a:p>
          <a:p>
            <a:pPr marL="457200" indent="-457200">
              <a:buFont typeface="+mj-lt"/>
              <a:buAutoNum type="arabicPeriod"/>
              <a:defRPr sz="2400"/>
            </a:pPr>
            <a:r>
              <a:rPr lang="fr-FR" sz="1900" dirty="0">
                <a:latin typeface="Courier New" panose="02070309020205020404" pitchFamily="49" charset="0"/>
                <a:cs typeface="Courier New" panose="02070309020205020404" pitchFamily="49" charset="0"/>
              </a:rPr>
              <a:t>logger.LogInformation("Commande {OrderId}", orderId)</a:t>
            </a:r>
          </a:p>
          <a:p>
            <a:pPr marL="457200" indent="-457200">
              <a:buFont typeface="+mj-lt"/>
              <a:buAutoNum type="arabicPeriod"/>
              <a:defRPr sz="2400"/>
            </a:pPr>
            <a:r>
              <a:rPr lang="fr-FR" sz="1900" dirty="0">
                <a:latin typeface="Courier New" panose="02070309020205020404" pitchFamily="49" charset="0"/>
                <a:cs typeface="Courier New" panose="02070309020205020404" pitchFamily="49" charset="0"/>
              </a:rPr>
              <a:t>Console.WriteLine("Commande {orderId}")</a:t>
            </a:r>
          </a:p>
          <a:p>
            <a:pPr>
              <a:defRPr sz="2400"/>
            </a:pPr>
            <a:endParaRPr dirty="0"/>
          </a:p>
        </p:txBody>
      </p:sp>
      <p:sp>
        <p:nvSpPr>
          <p:cNvPr id="8" name="TextBox 7"/>
          <p:cNvSpPr txBox="1"/>
          <p:nvPr/>
        </p:nvSpPr>
        <p:spPr>
          <a:xfrm>
            <a:off x="6156176" y="2893666"/>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467097" y="3367876"/>
            <a:ext cx="8431480" cy="3077766"/>
          </a:xfrm>
          <a:prstGeom prst="rect">
            <a:avLst/>
          </a:prstGeom>
          <a:noFill/>
        </p:spPr>
        <p:txBody>
          <a:bodyPr wrap="square">
            <a:spAutoFit/>
          </a:bodyPr>
          <a:lstStyle/>
          <a:p>
            <a:pPr>
              <a:defRPr sz="1600"/>
            </a:pPr>
            <a:r>
              <a:rPr dirty="0"/>
              <a:t>Seule la syntaxe avec placeholders permet de créer des propriétés structurées </a:t>
            </a:r>
            <a:r>
              <a:rPr dirty="0" err="1"/>
              <a:t>exploitables</a:t>
            </a:r>
            <a:r>
              <a:rPr dirty="0"/>
              <a:t>.</a:t>
            </a:r>
            <a:endParaRPr lang="fr-FR" dirty="0"/>
          </a:p>
          <a:p>
            <a:pPr>
              <a:defRPr sz="1600"/>
            </a:pPr>
            <a:endParaRPr lang="fr-FR" dirty="0"/>
          </a:p>
          <a:p>
            <a:pPr>
              <a:defRPr sz="1600"/>
            </a:pPr>
            <a:r>
              <a:rPr lang="fr-FR" dirty="0"/>
              <a:t>Exemple :</a:t>
            </a:r>
          </a:p>
          <a:p>
            <a:pPr>
              <a:defRPr sz="1600"/>
            </a:pPr>
            <a:r>
              <a:rPr lang="fr-FR" sz="1200" dirty="0" err="1">
                <a:latin typeface="Courier New" panose="02070309020205020404" pitchFamily="49" charset="0"/>
                <a:cs typeface="Courier New" panose="02070309020205020404" pitchFamily="49" charset="0"/>
              </a:rPr>
              <a:t>logger.LogInformation</a:t>
            </a:r>
            <a:r>
              <a:rPr lang="fr-FR" sz="1200" dirty="0">
                <a:latin typeface="Courier New" panose="02070309020205020404" pitchFamily="49" charset="0"/>
                <a:cs typeface="Courier New" panose="02070309020205020404" pitchFamily="49" charset="0"/>
              </a:rPr>
              <a:t>("Commande {</a:t>
            </a:r>
            <a:r>
              <a:rPr lang="fr-FR" sz="1200" dirty="0" err="1">
                <a:latin typeface="Courier New" panose="02070309020205020404" pitchFamily="49" charset="0"/>
                <a:cs typeface="Courier New" panose="02070309020205020404" pitchFamily="49" charset="0"/>
              </a:rPr>
              <a:t>OrderId</a:t>
            </a:r>
            <a:r>
              <a:rPr lang="fr-FR" sz="1200" dirty="0">
                <a:latin typeface="Courier New" panose="02070309020205020404" pitchFamily="49" charset="0"/>
                <a:cs typeface="Courier New" panose="02070309020205020404" pitchFamily="49" charset="0"/>
              </a:rPr>
              <a:t>} traitée pour {</a:t>
            </a:r>
            <a:r>
              <a:rPr lang="fr-FR" sz="1200" dirty="0" err="1">
                <a:latin typeface="Courier New" panose="02070309020205020404" pitchFamily="49" charset="0"/>
                <a:cs typeface="Courier New" panose="02070309020205020404" pitchFamily="49" charset="0"/>
              </a:rPr>
              <a:t>UserId</a:t>
            </a:r>
            <a:r>
              <a:rPr lang="fr-FR" sz="1200" dirty="0">
                <a:latin typeface="Courier New" panose="02070309020205020404" pitchFamily="49" charset="0"/>
                <a:cs typeface="Courier New" panose="02070309020205020404" pitchFamily="49" charset="0"/>
              </a:rPr>
              <a:t>}", </a:t>
            </a:r>
            <a:r>
              <a:rPr lang="fr-FR" sz="1200" dirty="0" err="1">
                <a:latin typeface="Courier New" panose="02070309020205020404" pitchFamily="49" charset="0"/>
                <a:cs typeface="Courier New" panose="02070309020205020404" pitchFamily="49" charset="0"/>
              </a:rPr>
              <a:t>orderId</a:t>
            </a:r>
            <a:r>
              <a:rPr lang="fr-FR" sz="1200" dirty="0">
                <a:latin typeface="Courier New" panose="02070309020205020404" pitchFamily="49" charset="0"/>
                <a:cs typeface="Courier New" panose="02070309020205020404" pitchFamily="49" charset="0"/>
              </a:rPr>
              <a:t>, </a:t>
            </a:r>
            <a:r>
              <a:rPr lang="fr-FR" sz="1200" dirty="0" err="1">
                <a:latin typeface="Courier New" panose="02070309020205020404" pitchFamily="49" charset="0"/>
                <a:cs typeface="Courier New" panose="02070309020205020404" pitchFamily="49" charset="0"/>
              </a:rPr>
              <a:t>userId</a:t>
            </a:r>
            <a:r>
              <a:rPr lang="fr-FR" sz="1200" dirty="0">
                <a:latin typeface="Courier New" panose="02070309020205020404" pitchFamily="49" charset="0"/>
                <a:cs typeface="Courier New" panose="02070309020205020404" pitchFamily="49" charset="0"/>
              </a:rPr>
              <a:t>);</a:t>
            </a:r>
          </a:p>
          <a:p>
            <a:r>
              <a:rPr lang="fr-FR" sz="1600" dirty="0"/>
              <a:t>👉 Ici :</a:t>
            </a:r>
          </a:p>
          <a:p>
            <a:pPr marL="285750" indent="-285750">
              <a:buFont typeface="Arial" panose="020B0604020202020204" pitchFamily="34" charset="0"/>
              <a:buChar char="•"/>
            </a:pPr>
            <a:r>
              <a:rPr lang="fr-FR" sz="1600" dirty="0" err="1">
                <a:latin typeface="Courier New" panose="02070309020205020404" pitchFamily="49" charset="0"/>
                <a:cs typeface="Courier New" panose="02070309020205020404" pitchFamily="49" charset="0"/>
              </a:rPr>
              <a:t>OrderId</a:t>
            </a:r>
            <a:r>
              <a:rPr lang="fr-FR" sz="1600" dirty="0"/>
              <a:t> et </a:t>
            </a:r>
            <a:r>
              <a:rPr lang="fr-FR" sz="1600" dirty="0" err="1">
                <a:latin typeface="Courier New" panose="02070309020205020404" pitchFamily="49" charset="0"/>
                <a:cs typeface="Courier New" panose="02070309020205020404" pitchFamily="49" charset="0"/>
              </a:rPr>
              <a:t>UserId</a:t>
            </a:r>
            <a:r>
              <a:rPr lang="fr-FR" sz="1600" dirty="0"/>
              <a:t> deviennent </a:t>
            </a:r>
            <a:r>
              <a:rPr lang="fr-FR" sz="1600" b="1" dirty="0"/>
              <a:t>des champs</a:t>
            </a:r>
            <a:r>
              <a:rPr lang="fr-FR" sz="1600" dirty="0"/>
              <a:t> </a:t>
            </a:r>
          </a:p>
          <a:p>
            <a:pPr marL="285750" indent="-285750">
              <a:buFont typeface="Arial" panose="020B0604020202020204" pitchFamily="34" charset="0"/>
              <a:buChar char="•"/>
            </a:pPr>
            <a:r>
              <a:rPr lang="fr-FR" sz="1600" dirty="0"/>
              <a:t>pas juste du texte </a:t>
            </a:r>
          </a:p>
          <a:p>
            <a:r>
              <a:rPr lang="fr-FR" sz="1600" dirty="0"/>
              <a:t>Dans Application Insights :</a:t>
            </a:r>
          </a:p>
          <a:p>
            <a:pPr marL="285750" indent="-28575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message</a:t>
            </a:r>
            <a:r>
              <a:rPr lang="fr-FR" sz="1600" dirty="0"/>
              <a:t> = "Commande 123 traitée pour 456" </a:t>
            </a:r>
          </a:p>
          <a:p>
            <a:pPr marL="285750" indent="-285750">
              <a:buFont typeface="Arial" panose="020B0604020202020204" pitchFamily="34" charset="0"/>
              <a:buChar char="•"/>
            </a:pPr>
            <a:r>
              <a:rPr lang="fr-FR" sz="1600" dirty="0"/>
              <a:t>MAIS aussi : </a:t>
            </a:r>
          </a:p>
          <a:p>
            <a:pPr marL="742950" lvl="1" indent="-285750">
              <a:buFont typeface="Arial" panose="020B0604020202020204" pitchFamily="34" charset="0"/>
              <a:buChar char="•"/>
            </a:pPr>
            <a:r>
              <a:rPr lang="fr-FR" sz="1600" dirty="0" err="1">
                <a:latin typeface="Courier New" panose="02070309020205020404" pitchFamily="49" charset="0"/>
                <a:cs typeface="Courier New" panose="02070309020205020404" pitchFamily="49" charset="0"/>
              </a:rPr>
              <a:t>OrderId</a:t>
            </a:r>
            <a:r>
              <a:rPr lang="fr-FR" sz="1600" dirty="0">
                <a:latin typeface="Courier New" panose="02070309020205020404" pitchFamily="49" charset="0"/>
                <a:cs typeface="Courier New" panose="02070309020205020404" pitchFamily="49" charset="0"/>
              </a:rPr>
              <a:t> = 123 </a:t>
            </a:r>
          </a:p>
          <a:p>
            <a:pPr marL="742950" lvl="1" indent="-285750">
              <a:buFont typeface="Arial" panose="020B0604020202020204" pitchFamily="34" charset="0"/>
              <a:buChar char="•"/>
            </a:pPr>
            <a:r>
              <a:rPr lang="fr-FR" sz="1600" dirty="0" err="1">
                <a:latin typeface="Courier New" panose="02070309020205020404" pitchFamily="49" charset="0"/>
                <a:cs typeface="Courier New" panose="02070309020205020404" pitchFamily="49" charset="0"/>
              </a:rPr>
              <a:t>UserId</a:t>
            </a:r>
            <a:r>
              <a:rPr lang="fr-FR" sz="1600" dirty="0">
                <a:latin typeface="Courier New" panose="02070309020205020404" pitchFamily="49" charset="0"/>
                <a:cs typeface="Courier New" panose="02070309020205020404" pitchFamily="49" charset="0"/>
              </a:rPr>
              <a:t> = 456</a:t>
            </a:r>
            <a:endParaRPr sz="1600" dirty="0">
              <a:latin typeface="Courier New" panose="02070309020205020404" pitchFamily="49" charset="0"/>
              <a:cs typeface="Courier New" panose="02070309020205020404" pitchFamily="49" charset="0"/>
            </a:endParaRPr>
          </a:p>
        </p:txBody>
      </p:sp>
      <p:sp>
        <p:nvSpPr>
          <p:cNvPr id="13" name="ZoneTexte 12">
            <a:extLst>
              <a:ext uri="{FF2B5EF4-FFF2-40B4-BE49-F238E27FC236}">
                <a16:creationId xmlns:a16="http://schemas.microsoft.com/office/drawing/2014/main" id="{E1725EF7-87C3-CDD6-A02E-8E79EB6F99D4}"/>
              </a:ext>
            </a:extLst>
          </p:cNvPr>
          <p:cNvSpPr txBox="1"/>
          <p:nvPr/>
        </p:nvSpPr>
        <p:spPr>
          <a:xfrm>
            <a:off x="112397" y="2204864"/>
            <a:ext cx="557808" cy="369332"/>
          </a:xfrm>
          <a:prstGeom prst="rect">
            <a:avLst/>
          </a:prstGeom>
          <a:noFill/>
        </p:spPr>
        <p:txBody>
          <a:bodyPr wrap="square">
            <a:spAutoFit/>
          </a:bodyPr>
          <a:lstStyle/>
          <a:p>
            <a:r>
              <a:rPr lang="fr-FR" b="1" dirty="0"/>
              <a:t>✅</a:t>
            </a:r>
            <a:endParaRPr lang="fr-FR" dirty="0"/>
          </a:p>
        </p:txBody>
      </p:sp>
      <p:sp>
        <p:nvSpPr>
          <p:cNvPr id="4" name="ZoneTexte 3">
            <a:extLst>
              <a:ext uri="{FF2B5EF4-FFF2-40B4-BE49-F238E27FC236}">
                <a16:creationId xmlns:a16="http://schemas.microsoft.com/office/drawing/2014/main" id="{F149C9D5-ABA1-6479-9397-569971550517}"/>
              </a:ext>
            </a:extLst>
          </p:cNvPr>
          <p:cNvSpPr txBox="1"/>
          <p:nvPr/>
        </p:nvSpPr>
        <p:spPr>
          <a:xfrm>
            <a:off x="5505228" y="4906759"/>
            <a:ext cx="3647152" cy="1708160"/>
          </a:xfrm>
          <a:prstGeom prst="rect">
            <a:avLst/>
          </a:prstGeom>
          <a:noFill/>
        </p:spPr>
        <p:txBody>
          <a:bodyPr wrap="none" rtlCol="0">
            <a:spAutoFit/>
          </a:bodyPr>
          <a:lstStyle/>
          <a:p>
            <a:r>
              <a:rPr lang="fr-FR" sz="1500" dirty="0">
                <a:latin typeface="Courier New" panose="02070309020205020404" pitchFamily="49" charset="0"/>
                <a:cs typeface="Courier New" panose="02070309020205020404" pitchFamily="49" charset="0"/>
              </a:rPr>
              <a:t>traces</a:t>
            </a:r>
          </a:p>
          <a:p>
            <a:r>
              <a:rPr lang="fr-FR" sz="1500" dirty="0">
                <a:latin typeface="Courier New" panose="02070309020205020404" pitchFamily="49" charset="0"/>
                <a:cs typeface="Courier New" panose="02070309020205020404" pitchFamily="49" charset="0"/>
              </a:rPr>
              <a:t>| </a:t>
            </a:r>
            <a:r>
              <a:rPr lang="fr-FR" sz="1500" dirty="0" err="1">
                <a:latin typeface="Courier New" panose="02070309020205020404" pitchFamily="49" charset="0"/>
                <a:cs typeface="Courier New" panose="02070309020205020404" pitchFamily="49" charset="0"/>
              </a:rPr>
              <a:t>where</a:t>
            </a:r>
            <a:r>
              <a:rPr lang="fr-FR" sz="1500" dirty="0">
                <a:latin typeface="Courier New" panose="02070309020205020404" pitchFamily="49" charset="0"/>
                <a:cs typeface="Courier New" panose="02070309020205020404" pitchFamily="49" charset="0"/>
              </a:rPr>
              <a:t> </a:t>
            </a:r>
            <a:r>
              <a:rPr lang="fr-FR" sz="1500" dirty="0" err="1">
                <a:latin typeface="Courier New" panose="02070309020205020404" pitchFamily="49" charset="0"/>
                <a:cs typeface="Courier New" panose="02070309020205020404" pitchFamily="49" charset="0"/>
              </a:rPr>
              <a:t>OrderId</a:t>
            </a:r>
            <a:r>
              <a:rPr lang="fr-FR" sz="1500" dirty="0">
                <a:latin typeface="Courier New" panose="02070309020205020404" pitchFamily="49" charset="0"/>
                <a:cs typeface="Courier New" panose="02070309020205020404" pitchFamily="49" charset="0"/>
              </a:rPr>
              <a:t> == 123</a:t>
            </a:r>
          </a:p>
          <a:p>
            <a:endParaRPr lang="fr-FR" sz="1500" dirty="0">
              <a:latin typeface="Courier New" panose="02070309020205020404" pitchFamily="49" charset="0"/>
              <a:cs typeface="Courier New" panose="02070309020205020404" pitchFamily="49" charset="0"/>
            </a:endParaRPr>
          </a:p>
          <a:p>
            <a:r>
              <a:rPr lang="fr-FR" sz="1500" dirty="0">
                <a:latin typeface="Courier New" panose="02070309020205020404" pitchFamily="49" charset="0"/>
                <a:cs typeface="Courier New" panose="02070309020205020404" pitchFamily="49" charset="0"/>
              </a:rPr>
              <a:t>vs</a:t>
            </a:r>
          </a:p>
          <a:p>
            <a:endParaRPr lang="fr-FR" sz="1500" dirty="0">
              <a:latin typeface="Courier New" panose="02070309020205020404" pitchFamily="49" charset="0"/>
              <a:cs typeface="Courier New" panose="02070309020205020404" pitchFamily="49" charset="0"/>
            </a:endParaRPr>
          </a:p>
          <a:p>
            <a:r>
              <a:rPr lang="fr-FR" sz="1500" dirty="0">
                <a:latin typeface="Courier New" panose="02070309020205020404" pitchFamily="49" charset="0"/>
                <a:cs typeface="Courier New" panose="02070309020205020404" pitchFamily="49" charset="0"/>
              </a:rPr>
              <a:t>traces</a:t>
            </a:r>
          </a:p>
          <a:p>
            <a:r>
              <a:rPr lang="fr-FR" sz="1500" dirty="0">
                <a:latin typeface="Courier New" panose="02070309020205020404" pitchFamily="49" charset="0"/>
                <a:cs typeface="Courier New" panose="02070309020205020404" pitchFamily="49" charset="0"/>
              </a:rPr>
              <a:t>| </a:t>
            </a:r>
            <a:r>
              <a:rPr lang="fr-FR" sz="1500" dirty="0" err="1">
                <a:latin typeface="Courier New" panose="02070309020205020404" pitchFamily="49" charset="0"/>
                <a:cs typeface="Courier New" panose="02070309020205020404" pitchFamily="49" charset="0"/>
              </a:rPr>
              <a:t>where</a:t>
            </a:r>
            <a:r>
              <a:rPr lang="fr-FR" sz="1500" dirty="0">
                <a:latin typeface="Courier New" panose="02070309020205020404" pitchFamily="49" charset="0"/>
                <a:cs typeface="Courier New" panose="02070309020205020404" pitchFamily="49" charset="0"/>
              </a:rPr>
              <a:t> message </a:t>
            </a:r>
            <a:r>
              <a:rPr lang="fr-FR" sz="1500" dirty="0" err="1">
                <a:latin typeface="Courier New" panose="02070309020205020404" pitchFamily="49" charset="0"/>
                <a:cs typeface="Courier New" panose="02070309020205020404" pitchFamily="49" charset="0"/>
              </a:rPr>
              <a:t>contains</a:t>
            </a:r>
            <a:r>
              <a:rPr lang="fr-FR" sz="1500" dirty="0">
                <a:latin typeface="Courier New" panose="02070309020205020404" pitchFamily="49" charset="0"/>
                <a:cs typeface="Courier New" panose="02070309020205020404" pitchFamily="49" charset="0"/>
              </a:rPr>
              <a:t> "123"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4"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r>
              <a:rPr lang="fr-FR" sz="3200" dirty="0"/>
              <a:t>8</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est la première étape pour centraliser les logs de plusieurs ressources Azure ?</a:t>
            </a:r>
            <a:endParaRPr lang="fr-FR" sz="2000" dirty="0"/>
          </a:p>
          <a:p>
            <a:pPr marL="457200" indent="-457200">
              <a:buFont typeface="+mj-lt"/>
              <a:buAutoNum type="arabicPeriod"/>
              <a:defRPr sz="2400"/>
            </a:pPr>
            <a:r>
              <a:rPr lang="fr-FR" sz="2000" dirty="0"/>
              <a:t>Créer un Log Analytics Workspace</a:t>
            </a:r>
          </a:p>
          <a:p>
            <a:pPr marL="457200" indent="-457200">
              <a:buFont typeface="+mj-lt"/>
              <a:buAutoNum type="arabicPeriod"/>
              <a:defRPr sz="2400"/>
            </a:pPr>
            <a:r>
              <a:rPr lang="fr-FR" sz="2000" dirty="0"/>
              <a:t>Activer Azure DevOps</a:t>
            </a:r>
          </a:p>
          <a:p>
            <a:pPr marL="457200" indent="-457200">
              <a:buFont typeface="+mj-lt"/>
              <a:buAutoNum type="arabicPeriod"/>
              <a:defRPr sz="2400"/>
            </a:pPr>
            <a:r>
              <a:rPr lang="fr-FR" sz="2000" dirty="0"/>
              <a:t>Créer une base SQL</a:t>
            </a:r>
          </a:p>
          <a:p>
            <a:pPr marL="457200" indent="-457200">
              <a:buFont typeface="+mj-lt"/>
              <a:buAutoNum type="arabicPeriod"/>
              <a:defRPr sz="2400"/>
            </a:pPr>
            <a:r>
              <a:rPr lang="fr-FR" sz="2000" dirty="0"/>
              <a:t>Activer Application Insights uniquement</a:t>
            </a:r>
          </a:p>
          <a:p>
            <a:pPr>
              <a:defRPr sz="2400"/>
            </a:pPr>
            <a:endParaRPr dirty="0"/>
          </a:p>
        </p:txBody>
      </p:sp>
      <p:sp>
        <p:nvSpPr>
          <p:cNvPr id="8" name="TextBox 7"/>
          <p:cNvSpPr txBox="1"/>
          <p:nvPr/>
        </p:nvSpPr>
        <p:spPr>
          <a:xfrm>
            <a:off x="6331647" y="2969387"/>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467096" y="3540476"/>
            <a:ext cx="6410088" cy="1815882"/>
          </a:xfrm>
          <a:prstGeom prst="rect">
            <a:avLst/>
          </a:prstGeom>
          <a:noFill/>
        </p:spPr>
        <p:txBody>
          <a:bodyPr wrap="none">
            <a:spAutoFit/>
          </a:bodyPr>
          <a:lstStyle/>
          <a:p>
            <a:pPr>
              <a:defRPr sz="1600"/>
            </a:pPr>
            <a:r>
              <a:rPr dirty="0"/>
              <a:t>Le Log Analytics Workspace est le point central de stockage des logs.</a:t>
            </a:r>
            <a:endParaRPr lang="fr-FR" dirty="0"/>
          </a:p>
          <a:p>
            <a:pPr>
              <a:defRPr sz="1600"/>
            </a:pPr>
            <a:r>
              <a:rPr lang="fr-FR" dirty="0"/>
              <a:t>Dans le TP, créé automatiquement.</a:t>
            </a:r>
          </a:p>
          <a:p>
            <a:pPr>
              <a:defRPr sz="1600"/>
            </a:pPr>
            <a:endParaRPr lang="fr-FR" dirty="0"/>
          </a:p>
          <a:p>
            <a:pPr marL="342900" indent="-342900">
              <a:buAutoNum type="arabicPeriod"/>
              <a:defRPr sz="1600"/>
            </a:pPr>
            <a:r>
              <a:rPr lang="fr-FR" dirty="0"/>
              <a:t>Azure Monitor = collecte</a:t>
            </a:r>
          </a:p>
          <a:p>
            <a:pPr marL="342900" indent="-342900">
              <a:buAutoNum type="arabicPeriod"/>
              <a:defRPr sz="1600"/>
            </a:pPr>
            <a:r>
              <a:rPr lang="fr-FR" dirty="0"/>
              <a:t>Log Analytics = stockage + requêtes</a:t>
            </a:r>
          </a:p>
          <a:p>
            <a:pPr marL="342900" indent="-342900">
              <a:buAutoNum type="arabicPeriod"/>
              <a:defRPr sz="1600"/>
            </a:pPr>
            <a:r>
              <a:rPr lang="fr-FR" dirty="0"/>
              <a:t>Toutes les ressources ne loggent pas pareil</a:t>
            </a:r>
          </a:p>
          <a:p>
            <a:pPr marL="342900" indent="-342900">
              <a:buAutoNum type="arabicPeriod"/>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48095"/>
            <a:ext cx="557808" cy="369332"/>
          </a:xfrm>
          <a:prstGeom prst="rect">
            <a:avLst/>
          </a:prstGeom>
          <a:noFill/>
        </p:spPr>
        <p:txBody>
          <a:bodyPr wrap="square">
            <a:spAutoFit/>
          </a:bodyPr>
          <a:lstStyle/>
          <a:p>
            <a:r>
              <a:rPr lang="fr-FR" b="1" dirty="0"/>
              <a:t>✅</a:t>
            </a:r>
            <a:endParaRPr lang="fr-FR" dirty="0"/>
          </a:p>
        </p:txBody>
      </p:sp>
      <p:graphicFrame>
        <p:nvGraphicFramePr>
          <p:cNvPr id="5" name="Tableau 4">
            <a:extLst>
              <a:ext uri="{FF2B5EF4-FFF2-40B4-BE49-F238E27FC236}">
                <a16:creationId xmlns:a16="http://schemas.microsoft.com/office/drawing/2014/main" id="{CC320ED1-EB38-963F-23D3-6F583698B0FD}"/>
              </a:ext>
            </a:extLst>
          </p:cNvPr>
          <p:cNvGraphicFramePr>
            <a:graphicFrameLocks noGrp="1"/>
          </p:cNvGraphicFramePr>
          <p:nvPr>
            <p:extLst>
              <p:ext uri="{D42A27DB-BD31-4B8C-83A1-F6EECF244321}">
                <p14:modId xmlns:p14="http://schemas.microsoft.com/office/powerpoint/2010/main" val="2656261877"/>
              </p:ext>
            </p:extLst>
          </p:nvPr>
        </p:nvGraphicFramePr>
        <p:xfrm>
          <a:off x="1578002" y="5085184"/>
          <a:ext cx="5285092" cy="1219200"/>
        </p:xfrm>
        <a:graphic>
          <a:graphicData uri="http://schemas.openxmlformats.org/drawingml/2006/table">
            <a:tbl>
              <a:tblPr/>
              <a:tblGrid>
                <a:gridCol w="2642546">
                  <a:extLst>
                    <a:ext uri="{9D8B030D-6E8A-4147-A177-3AD203B41FA5}">
                      <a16:colId xmlns:a16="http://schemas.microsoft.com/office/drawing/2014/main" val="4182014354"/>
                    </a:ext>
                  </a:extLst>
                </a:gridCol>
                <a:gridCol w="2642546">
                  <a:extLst>
                    <a:ext uri="{9D8B030D-6E8A-4147-A177-3AD203B41FA5}">
                      <a16:colId xmlns:a16="http://schemas.microsoft.com/office/drawing/2014/main" val="1333775218"/>
                    </a:ext>
                  </a:extLst>
                </a:gridCol>
              </a:tblGrid>
              <a:tr h="0">
                <a:tc>
                  <a:txBody>
                    <a:bodyPr/>
                    <a:lstStyle/>
                    <a:p>
                      <a:pPr>
                        <a:buNone/>
                      </a:pPr>
                      <a:r>
                        <a:rPr lang="fr-FR" sz="1400" b="1"/>
                        <a:t>Ressource</a:t>
                      </a:r>
                    </a:p>
                  </a:txBody>
                  <a:tcPr anchor="ctr">
                    <a:lnL>
                      <a:noFill/>
                    </a:lnL>
                    <a:lnR>
                      <a:noFill/>
                    </a:lnR>
                    <a:lnT>
                      <a:noFill/>
                    </a:lnT>
                    <a:lnB>
                      <a:noFill/>
                    </a:lnB>
                    <a:noFill/>
                  </a:tcPr>
                </a:tc>
                <a:tc>
                  <a:txBody>
                    <a:bodyPr/>
                    <a:lstStyle/>
                    <a:p>
                      <a:pPr>
                        <a:buNone/>
                      </a:pPr>
                      <a:r>
                        <a:rPr lang="fr-FR" sz="1400" b="1" dirty="0"/>
                        <a:t>Table KQL</a:t>
                      </a:r>
                    </a:p>
                  </a:txBody>
                  <a:tcPr anchor="ctr">
                    <a:lnL>
                      <a:noFill/>
                    </a:lnL>
                    <a:lnR>
                      <a:noFill/>
                    </a:lnR>
                    <a:lnT>
                      <a:noFill/>
                    </a:lnT>
                    <a:lnB>
                      <a:noFill/>
                    </a:lnB>
                    <a:noFill/>
                  </a:tcPr>
                </a:tc>
                <a:extLst>
                  <a:ext uri="{0D108BD9-81ED-4DB2-BD59-A6C34878D82A}">
                    <a16:rowId xmlns:a16="http://schemas.microsoft.com/office/drawing/2014/main" val="1001807636"/>
                  </a:ext>
                </a:extLst>
              </a:tr>
              <a:tr h="0">
                <a:tc>
                  <a:txBody>
                    <a:bodyPr/>
                    <a:lstStyle/>
                    <a:p>
                      <a:pPr>
                        <a:buNone/>
                      </a:pPr>
                      <a:r>
                        <a:rPr lang="fr-FR" sz="1400"/>
                        <a:t>App Insights</a:t>
                      </a:r>
                    </a:p>
                  </a:txBody>
                  <a:tcPr anchor="ctr">
                    <a:lnL>
                      <a:noFill/>
                    </a:lnL>
                    <a:lnR>
                      <a:noFill/>
                    </a:lnR>
                    <a:lnT>
                      <a:noFill/>
                    </a:lnT>
                    <a:lnB>
                      <a:noFill/>
                    </a:lnB>
                    <a:noFill/>
                  </a:tcPr>
                </a:tc>
                <a:tc>
                  <a:txBody>
                    <a:bodyPr/>
                    <a:lstStyle/>
                    <a:p>
                      <a:pPr>
                        <a:buNone/>
                      </a:pPr>
                      <a:r>
                        <a:rPr lang="fr-FR" sz="1400"/>
                        <a:t>AppRequests, AppTraces</a:t>
                      </a:r>
                    </a:p>
                  </a:txBody>
                  <a:tcPr anchor="ctr">
                    <a:lnL>
                      <a:noFill/>
                    </a:lnL>
                    <a:lnR>
                      <a:noFill/>
                    </a:lnR>
                    <a:lnT>
                      <a:noFill/>
                    </a:lnT>
                    <a:lnB>
                      <a:noFill/>
                    </a:lnB>
                    <a:noFill/>
                  </a:tcPr>
                </a:tc>
                <a:extLst>
                  <a:ext uri="{0D108BD9-81ED-4DB2-BD59-A6C34878D82A}">
                    <a16:rowId xmlns:a16="http://schemas.microsoft.com/office/drawing/2014/main" val="3980767326"/>
                  </a:ext>
                </a:extLst>
              </a:tr>
              <a:tr h="0">
                <a:tc>
                  <a:txBody>
                    <a:bodyPr/>
                    <a:lstStyle/>
                    <a:p>
                      <a:pPr>
                        <a:buNone/>
                      </a:pPr>
                      <a:r>
                        <a:rPr lang="fr-FR" sz="1400"/>
                        <a:t>App Service</a:t>
                      </a:r>
                    </a:p>
                  </a:txBody>
                  <a:tcPr anchor="ctr">
                    <a:lnL>
                      <a:noFill/>
                    </a:lnL>
                    <a:lnR>
                      <a:noFill/>
                    </a:lnR>
                    <a:lnT>
                      <a:noFill/>
                    </a:lnT>
                    <a:lnB>
                      <a:noFill/>
                    </a:lnB>
                    <a:noFill/>
                  </a:tcPr>
                </a:tc>
                <a:tc>
                  <a:txBody>
                    <a:bodyPr/>
                    <a:lstStyle/>
                    <a:p>
                      <a:pPr>
                        <a:buNone/>
                      </a:pPr>
                      <a:r>
                        <a:rPr lang="fr-FR" sz="1400"/>
                        <a:t>AzureDiagnostics</a:t>
                      </a:r>
                    </a:p>
                  </a:txBody>
                  <a:tcPr anchor="ctr">
                    <a:lnL>
                      <a:noFill/>
                    </a:lnL>
                    <a:lnR>
                      <a:noFill/>
                    </a:lnR>
                    <a:lnT>
                      <a:noFill/>
                    </a:lnT>
                    <a:lnB>
                      <a:noFill/>
                    </a:lnB>
                    <a:noFill/>
                  </a:tcPr>
                </a:tc>
                <a:extLst>
                  <a:ext uri="{0D108BD9-81ED-4DB2-BD59-A6C34878D82A}">
                    <a16:rowId xmlns:a16="http://schemas.microsoft.com/office/drawing/2014/main" val="2259978577"/>
                  </a:ext>
                </a:extLst>
              </a:tr>
              <a:tr h="0">
                <a:tc>
                  <a:txBody>
                    <a:bodyPr/>
                    <a:lstStyle/>
                    <a:p>
                      <a:pPr>
                        <a:buNone/>
                      </a:pPr>
                      <a:r>
                        <a:rPr lang="fr-FR" sz="1400"/>
                        <a:t>SQL</a:t>
                      </a:r>
                    </a:p>
                  </a:txBody>
                  <a:tcPr anchor="ctr">
                    <a:lnL>
                      <a:noFill/>
                    </a:lnL>
                    <a:lnR>
                      <a:noFill/>
                    </a:lnR>
                    <a:lnT>
                      <a:noFill/>
                    </a:lnT>
                    <a:lnB>
                      <a:noFill/>
                    </a:lnB>
                    <a:noFill/>
                  </a:tcPr>
                </a:tc>
                <a:tc>
                  <a:txBody>
                    <a:bodyPr/>
                    <a:lstStyle/>
                    <a:p>
                      <a:pPr>
                        <a:buNone/>
                      </a:pPr>
                      <a:r>
                        <a:rPr lang="fr-FR" sz="1400" dirty="0" err="1"/>
                        <a:t>AzureDiagnostics</a:t>
                      </a:r>
                      <a:endParaRPr lang="fr-FR" sz="1400" dirty="0"/>
                    </a:p>
                  </a:txBody>
                  <a:tcPr anchor="ctr">
                    <a:lnL>
                      <a:noFill/>
                    </a:lnL>
                    <a:lnR>
                      <a:noFill/>
                    </a:lnR>
                    <a:lnT>
                      <a:noFill/>
                    </a:lnT>
                    <a:lnB>
                      <a:noFill/>
                    </a:lnB>
                    <a:noFill/>
                  </a:tcPr>
                </a:tc>
                <a:extLst>
                  <a:ext uri="{0D108BD9-81ED-4DB2-BD59-A6C34878D82A}">
                    <a16:rowId xmlns:a16="http://schemas.microsoft.com/office/drawing/2014/main" val="255740311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19</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Vous souhaitez analyser les logs d’une Web App, d’une Azure Function et d’une base SQL dans un même outil avec des requêtes KQL. Quelle solution utiliser ?</a:t>
            </a:r>
            <a:endParaRPr lang="fr-FR" sz="2000" dirty="0"/>
          </a:p>
          <a:p>
            <a:pPr marL="457200" indent="-457200">
              <a:buFont typeface="+mj-lt"/>
              <a:buAutoNum type="arabicPeriod"/>
              <a:defRPr sz="2400"/>
            </a:pPr>
            <a:r>
              <a:rPr lang="fr-FR" sz="2000" dirty="0"/>
              <a:t>Azure Storage</a:t>
            </a:r>
          </a:p>
          <a:p>
            <a:pPr marL="457200" indent="-457200">
              <a:buFont typeface="+mj-lt"/>
              <a:buAutoNum type="arabicPeriod"/>
              <a:defRPr sz="2400"/>
            </a:pPr>
            <a:r>
              <a:rPr lang="fr-FR" sz="2000" dirty="0"/>
              <a:t>Azure Monitor avec un Log Analytics Workspace</a:t>
            </a:r>
          </a:p>
          <a:p>
            <a:pPr marL="457200" indent="-457200">
              <a:buFont typeface="+mj-lt"/>
              <a:buAutoNum type="arabicPeriod"/>
              <a:defRPr sz="2400"/>
            </a:pPr>
            <a:r>
              <a:rPr lang="fr-FR" sz="2000" dirty="0"/>
              <a:t>Azure DevOps</a:t>
            </a:r>
          </a:p>
          <a:p>
            <a:pPr marL="457200" indent="-457200">
              <a:buFont typeface="+mj-lt"/>
              <a:buAutoNum type="arabicPeriod"/>
              <a:defRPr sz="2400"/>
            </a:pPr>
            <a:r>
              <a:rPr lang="fr-FR" sz="2000" dirty="0"/>
              <a:t>Application Insights uniquement</a:t>
            </a:r>
          </a:p>
          <a:p>
            <a:pPr>
              <a:defRPr sz="2400"/>
            </a:pPr>
            <a:endParaRPr dirty="0"/>
          </a:p>
        </p:txBody>
      </p:sp>
      <p:sp>
        <p:nvSpPr>
          <p:cNvPr id="8" name="TextBox 7"/>
          <p:cNvSpPr txBox="1"/>
          <p:nvPr/>
        </p:nvSpPr>
        <p:spPr>
          <a:xfrm>
            <a:off x="6084168" y="3164115"/>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258746" y="3714860"/>
            <a:ext cx="8626507" cy="584775"/>
          </a:xfrm>
          <a:prstGeom prst="rect">
            <a:avLst/>
          </a:prstGeom>
          <a:noFill/>
        </p:spPr>
        <p:txBody>
          <a:bodyPr wrap="square">
            <a:spAutoFit/>
          </a:bodyPr>
          <a:lstStyle/>
          <a:p>
            <a:pPr>
              <a:defRPr sz="1600"/>
            </a:pPr>
            <a:r>
              <a:rPr dirty="0"/>
              <a:t>Azure Monitor permet de centraliser les logs de plusieurs ressources dans un Log Analytics Workspace.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94290" y="2564904"/>
            <a:ext cx="557808" cy="369332"/>
          </a:xfrm>
          <a:prstGeom prst="rect">
            <a:avLst/>
          </a:prstGeom>
          <a:noFill/>
        </p:spPr>
        <p:txBody>
          <a:bodyPr wrap="square">
            <a:spAutoFit/>
          </a:bodyPr>
          <a:lstStyle/>
          <a:p>
            <a:r>
              <a:rPr lang="fr-FR" b="1" dirty="0"/>
              <a:t>✅</a:t>
            </a:r>
            <a:endParaRPr lang="fr-FR" dirty="0"/>
          </a:p>
        </p:txBody>
      </p:sp>
      <p:pic>
        <p:nvPicPr>
          <p:cNvPr id="5" name="Image 4">
            <a:extLst>
              <a:ext uri="{FF2B5EF4-FFF2-40B4-BE49-F238E27FC236}">
                <a16:creationId xmlns:a16="http://schemas.microsoft.com/office/drawing/2014/main" id="{98FEC3D9-108C-D333-50EB-25EF3FBBC783}"/>
              </a:ext>
            </a:extLst>
          </p:cNvPr>
          <p:cNvPicPr>
            <a:picLocks noChangeAspect="1"/>
          </p:cNvPicPr>
          <p:nvPr/>
        </p:nvPicPr>
        <p:blipFill>
          <a:blip r:embed="rId3"/>
          <a:stretch>
            <a:fillRect/>
          </a:stretch>
        </p:blipFill>
        <p:spPr>
          <a:xfrm>
            <a:off x="4197" y="4362607"/>
            <a:ext cx="4283968" cy="2473163"/>
          </a:xfrm>
          <a:prstGeom prst="rect">
            <a:avLst/>
          </a:prstGeom>
        </p:spPr>
      </p:pic>
      <p:pic>
        <p:nvPicPr>
          <p:cNvPr id="7" name="Image 6">
            <a:extLst>
              <a:ext uri="{FF2B5EF4-FFF2-40B4-BE49-F238E27FC236}">
                <a16:creationId xmlns:a16="http://schemas.microsoft.com/office/drawing/2014/main" id="{7C5FE2A1-5C18-E69B-D912-B8587054492A}"/>
              </a:ext>
            </a:extLst>
          </p:cNvPr>
          <p:cNvPicPr>
            <a:picLocks noChangeAspect="1"/>
          </p:cNvPicPr>
          <p:nvPr/>
        </p:nvPicPr>
        <p:blipFill>
          <a:blip r:embed="rId4"/>
          <a:stretch>
            <a:fillRect/>
          </a:stretch>
        </p:blipFill>
        <p:spPr>
          <a:xfrm>
            <a:off x="4761768" y="4196756"/>
            <a:ext cx="4378035" cy="26390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20</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Qu’est-ce qu’un Log Analytics Workspace ?</a:t>
            </a:r>
            <a:endParaRPr lang="fr-FR" sz="2000" dirty="0"/>
          </a:p>
          <a:p>
            <a:pPr marL="457200" indent="-457200">
              <a:buFont typeface="+mj-lt"/>
              <a:buAutoNum type="arabicPeriod"/>
              <a:defRPr sz="2400"/>
            </a:pPr>
            <a:r>
              <a:rPr lang="fr-FR" sz="2000" dirty="0"/>
              <a:t>Une base de données SQL</a:t>
            </a:r>
          </a:p>
          <a:p>
            <a:pPr marL="457200" indent="-457200">
              <a:buFont typeface="+mj-lt"/>
              <a:buAutoNum type="arabicPeriod"/>
              <a:defRPr sz="2400"/>
            </a:pPr>
            <a:r>
              <a:rPr lang="fr-FR" sz="2000" dirty="0"/>
              <a:t>Un stockage de logs</a:t>
            </a:r>
          </a:p>
          <a:p>
            <a:pPr marL="457200" indent="-457200">
              <a:buFont typeface="+mj-lt"/>
              <a:buAutoNum type="arabicPeriod"/>
              <a:defRPr sz="2400"/>
            </a:pPr>
            <a:r>
              <a:rPr lang="fr-FR" sz="2000" dirty="0"/>
              <a:t>Un serveur web</a:t>
            </a:r>
          </a:p>
          <a:p>
            <a:pPr marL="457200" indent="-457200">
              <a:buFont typeface="+mj-lt"/>
              <a:buAutoNum type="arabicPeriod"/>
              <a:defRPr sz="2400"/>
            </a:pPr>
            <a:r>
              <a:rPr lang="fr-FR" sz="2000" dirty="0"/>
              <a:t>Un outil de déploiement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C’est un espace de stockage et d’analyse des logs.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9429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21</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permet une Action Group dans Azure Monitor ?</a:t>
            </a:r>
            <a:endParaRPr lang="fr-FR" sz="2000" dirty="0"/>
          </a:p>
          <a:p>
            <a:pPr marL="457200" indent="-457200">
              <a:buFont typeface="+mj-lt"/>
              <a:buAutoNum type="arabicPeriod"/>
              <a:defRPr sz="2400"/>
            </a:pPr>
            <a:r>
              <a:rPr lang="fr-FR" sz="2000" dirty="0"/>
              <a:t>Créer des logs</a:t>
            </a:r>
          </a:p>
          <a:p>
            <a:pPr marL="457200" indent="-457200">
              <a:buFont typeface="+mj-lt"/>
              <a:buAutoNum type="arabicPeriod"/>
              <a:defRPr sz="2400"/>
            </a:pPr>
            <a:r>
              <a:rPr lang="fr-FR" sz="2000" dirty="0"/>
              <a:t>Définir des actions lors d’alertes</a:t>
            </a:r>
          </a:p>
          <a:p>
            <a:pPr marL="457200" indent="-457200">
              <a:buFont typeface="+mj-lt"/>
              <a:buAutoNum type="arabicPeriod"/>
              <a:defRPr sz="2400"/>
            </a:pPr>
            <a:r>
              <a:rPr lang="fr-FR" sz="2000" dirty="0"/>
              <a:t>Déployer des apps</a:t>
            </a:r>
          </a:p>
          <a:p>
            <a:pPr marL="457200" indent="-457200">
              <a:buFont typeface="+mj-lt"/>
              <a:buAutoNum type="arabicPeriod"/>
              <a:defRPr sz="2400"/>
            </a:pPr>
            <a:r>
              <a:rPr lang="fr-FR" sz="2000" dirty="0"/>
              <a:t>Gérer les utilisateurs</a:t>
            </a:r>
          </a:p>
          <a:p>
            <a:pPr>
              <a:defRPr sz="2400"/>
            </a:pPr>
            <a:endParaRPr dirty="0"/>
          </a:p>
        </p:txBody>
      </p:sp>
      <p:sp>
        <p:nvSpPr>
          <p:cNvPr id="8" name="TextBox 7"/>
          <p:cNvSpPr txBox="1"/>
          <p:nvPr/>
        </p:nvSpPr>
        <p:spPr>
          <a:xfrm>
            <a:off x="5580112" y="3354758"/>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323528" y="4077072"/>
            <a:ext cx="7852342" cy="830997"/>
          </a:xfrm>
          <a:prstGeom prst="rect">
            <a:avLst/>
          </a:prstGeom>
          <a:noFill/>
        </p:spPr>
        <p:txBody>
          <a:bodyPr wrap="none">
            <a:spAutoFit/>
          </a:bodyPr>
          <a:lstStyle/>
          <a:p>
            <a:pPr>
              <a:defRPr sz="1600"/>
            </a:pPr>
            <a:r>
              <a:rPr dirty="0"/>
              <a:t>Permet d’envoyer emails, SMS, webhooks.</a:t>
            </a:r>
            <a:endParaRPr lang="fr-FR" dirty="0"/>
          </a:p>
          <a:p>
            <a:pPr>
              <a:defRPr sz="1600"/>
            </a:pPr>
            <a:endParaRPr lang="fr-FR" dirty="0"/>
          </a:p>
          <a:p>
            <a:pPr>
              <a:defRPr sz="1600"/>
            </a:pPr>
            <a:r>
              <a:rPr lang="fr-FR" dirty="0"/>
              <a:t>Dans Application Insights </a:t>
            </a:r>
            <a:r>
              <a:rPr lang="fr-FR" dirty="0">
                <a:sym typeface="Wingdings" panose="05000000000000000000" pitchFamily="2" charset="2"/>
              </a:rPr>
              <a:t> </a:t>
            </a:r>
            <a:r>
              <a:rPr lang="fr-FR" dirty="0" err="1">
                <a:sym typeface="Wingdings" panose="05000000000000000000" pitchFamily="2" charset="2"/>
              </a:rPr>
              <a:t>Alerts</a:t>
            </a:r>
            <a:r>
              <a:rPr lang="fr-FR" dirty="0">
                <a:sym typeface="Wingdings" panose="05000000000000000000" pitchFamily="2" charset="2"/>
              </a:rPr>
              <a:t>  Actions  </a:t>
            </a:r>
            <a:r>
              <a:rPr lang="fr-FR" dirty="0" err="1">
                <a:sym typeface="Wingdings" panose="05000000000000000000" pitchFamily="2" charset="2"/>
              </a:rPr>
              <a:t>Create</a:t>
            </a:r>
            <a:r>
              <a:rPr lang="fr-FR" dirty="0">
                <a:sym typeface="Wingdings" panose="05000000000000000000" pitchFamily="2" charset="2"/>
              </a:rPr>
              <a:t> action group  Notifications</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44624"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r>
              <a:rPr lang="fr-FR" sz="3200" dirty="0"/>
              <a:t>2</a:t>
            </a:r>
            <a:endParaRPr sz="3200" dirty="0"/>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est la principale limite des logs App Service (File System) ?</a:t>
            </a:r>
            <a:endParaRPr lang="fr-FR" sz="2000" dirty="0"/>
          </a:p>
          <a:p>
            <a:pPr marL="457200" indent="-457200">
              <a:buFont typeface="+mj-lt"/>
              <a:buAutoNum type="arabicPeriod"/>
              <a:defRPr sz="2400"/>
            </a:pPr>
            <a:r>
              <a:rPr lang="fr-FR" sz="2000" dirty="0"/>
              <a:t>Ils sont trop rapides</a:t>
            </a:r>
          </a:p>
          <a:p>
            <a:pPr marL="457200" indent="-457200">
              <a:buFont typeface="+mj-lt"/>
              <a:buAutoNum type="arabicPeriod"/>
              <a:defRPr sz="2400"/>
            </a:pPr>
            <a:r>
              <a:rPr lang="fr-FR" sz="2000" dirty="0"/>
              <a:t>Ils sont chiffrés</a:t>
            </a:r>
          </a:p>
          <a:p>
            <a:pPr marL="457200" indent="-457200">
              <a:buFont typeface="+mj-lt"/>
              <a:buAutoNum type="arabicPeriod"/>
              <a:defRPr sz="2400"/>
            </a:pPr>
            <a:r>
              <a:rPr lang="fr-FR" sz="2000" dirty="0"/>
              <a:t>Ils sont temporaires</a:t>
            </a:r>
          </a:p>
          <a:p>
            <a:pPr marL="457200" indent="-457200">
              <a:buFont typeface="+mj-lt"/>
              <a:buAutoNum type="arabicPeriod"/>
              <a:defRPr sz="2400"/>
            </a:pPr>
            <a:r>
              <a:rPr lang="fr-FR" sz="2000" dirty="0"/>
              <a:t>Ils sont inutilisables</a:t>
            </a:r>
          </a:p>
          <a:p>
            <a:pPr>
              <a:defRPr sz="2400"/>
            </a:pPr>
            <a:endParaRPr dirty="0"/>
          </a:p>
        </p:txBody>
      </p:sp>
      <p:sp>
        <p:nvSpPr>
          <p:cNvPr id="8" name="TextBox 7"/>
          <p:cNvSpPr txBox="1"/>
          <p:nvPr/>
        </p:nvSpPr>
        <p:spPr>
          <a:xfrm>
            <a:off x="6588224" y="2636912"/>
            <a:ext cx="1427635" cy="369332"/>
          </a:xfrm>
          <a:prstGeom prst="rect">
            <a:avLst/>
          </a:prstGeom>
          <a:noFill/>
        </p:spPr>
        <p:txBody>
          <a:bodyPr wrap="none">
            <a:spAutoFit/>
          </a:bodyPr>
          <a:lstStyle/>
          <a:p>
            <a:pPr>
              <a:defRPr sz="1800" b="1"/>
            </a:pPr>
            <a:r>
              <a:rPr u="sng" dirty="0" err="1"/>
              <a:t>Réponse</a:t>
            </a:r>
            <a:r>
              <a:rPr u="sng" dirty="0"/>
              <a:t> : </a:t>
            </a:r>
            <a:r>
              <a:rPr lang="fr-FR" u="sng" dirty="0"/>
              <a:t>3</a:t>
            </a:r>
            <a:endParaRPr u="sng" dirty="0" err="1"/>
          </a:p>
        </p:txBody>
      </p:sp>
      <p:sp>
        <p:nvSpPr>
          <p:cNvPr id="9" name="TextBox 8"/>
          <p:cNvSpPr txBox="1"/>
          <p:nvPr/>
        </p:nvSpPr>
        <p:spPr>
          <a:xfrm>
            <a:off x="467096" y="3058301"/>
            <a:ext cx="5015412" cy="1569660"/>
          </a:xfrm>
          <a:prstGeom prst="rect">
            <a:avLst/>
          </a:prstGeom>
          <a:noFill/>
        </p:spPr>
        <p:txBody>
          <a:bodyPr wrap="none">
            <a:spAutoFit/>
          </a:bodyPr>
          <a:lstStyle/>
          <a:p>
            <a:pPr>
              <a:defRPr sz="1600"/>
            </a:pPr>
            <a:r>
              <a:rPr dirty="0"/>
              <a:t>Ils sont </a:t>
            </a:r>
            <a:r>
              <a:rPr dirty="0" err="1"/>
              <a:t>stockés</a:t>
            </a:r>
            <a:r>
              <a:rPr dirty="0"/>
              <a:t> </a:t>
            </a:r>
            <a:r>
              <a:rPr lang="fr-FR" dirty="0"/>
              <a:t>sur disque de la machine App Service</a:t>
            </a:r>
            <a:r>
              <a:rPr dirty="0"/>
              <a:t>.</a:t>
            </a:r>
            <a:endParaRPr lang="fr-FR" dirty="0"/>
          </a:p>
          <a:p>
            <a:pPr marL="285750" indent="-285750">
              <a:buFont typeface="Arial" panose="020B0604020202020204" pitchFamily="34" charset="0"/>
              <a:buChar char="•"/>
              <a:defRPr sz="1600"/>
            </a:pPr>
            <a:r>
              <a:rPr lang="fr-FR" dirty="0"/>
              <a:t>si l’instance redémarre → ❌ logs perdus</a:t>
            </a:r>
          </a:p>
          <a:p>
            <a:pPr marL="285750" indent="-285750">
              <a:buFont typeface="Arial" panose="020B0604020202020204" pitchFamily="34" charset="0"/>
              <a:buChar char="•"/>
              <a:defRPr sz="1600"/>
            </a:pPr>
            <a:r>
              <a:rPr lang="fr-FR" dirty="0"/>
              <a:t>si Azure change de machine → ❌ logs perdus</a:t>
            </a:r>
          </a:p>
          <a:p>
            <a:pPr>
              <a:defRPr sz="1600"/>
            </a:pPr>
            <a:r>
              <a:rPr lang="fr-FR" dirty="0"/>
              <a:t>Pour les voir : Log Stream</a:t>
            </a:r>
          </a:p>
          <a:p>
            <a:pPr>
              <a:defRPr sz="1600"/>
            </a:pPr>
            <a:endParaRPr lang="fr-FR" dirty="0"/>
          </a:p>
          <a:p>
            <a:pPr>
              <a:defRPr sz="1600"/>
            </a:pPr>
            <a:r>
              <a:rPr lang="fr-FR" dirty="0"/>
              <a:t>Différent de Application Insights</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70842" y="2242620"/>
            <a:ext cx="557808" cy="369332"/>
          </a:xfrm>
          <a:prstGeom prst="rect">
            <a:avLst/>
          </a:prstGeom>
          <a:noFill/>
        </p:spPr>
        <p:txBody>
          <a:bodyPr wrap="square">
            <a:spAutoFit/>
          </a:bodyPr>
          <a:lstStyle/>
          <a:p>
            <a:r>
              <a:rPr lang="fr-FR" b="1" dirty="0"/>
              <a:t>✅</a:t>
            </a:r>
            <a:endParaRPr lang="fr-FR" dirty="0"/>
          </a:p>
        </p:txBody>
      </p:sp>
      <p:graphicFrame>
        <p:nvGraphicFramePr>
          <p:cNvPr id="4" name="Tableau 3">
            <a:extLst>
              <a:ext uri="{FF2B5EF4-FFF2-40B4-BE49-F238E27FC236}">
                <a16:creationId xmlns:a16="http://schemas.microsoft.com/office/drawing/2014/main" id="{675BF5A8-C3F2-101C-BF55-A8C89117FAB1}"/>
              </a:ext>
            </a:extLst>
          </p:cNvPr>
          <p:cNvGraphicFramePr>
            <a:graphicFrameLocks noGrp="1"/>
          </p:cNvGraphicFramePr>
          <p:nvPr>
            <p:extLst>
              <p:ext uri="{D42A27DB-BD31-4B8C-83A1-F6EECF244321}">
                <p14:modId xmlns:p14="http://schemas.microsoft.com/office/powerpoint/2010/main" val="2832117232"/>
              </p:ext>
            </p:extLst>
          </p:nvPr>
        </p:nvGraphicFramePr>
        <p:xfrm>
          <a:off x="454026" y="4797152"/>
          <a:ext cx="4519414" cy="1219200"/>
        </p:xfrm>
        <a:graphic>
          <a:graphicData uri="http://schemas.openxmlformats.org/drawingml/2006/table">
            <a:tbl>
              <a:tblPr/>
              <a:tblGrid>
                <a:gridCol w="919013">
                  <a:extLst>
                    <a:ext uri="{9D8B030D-6E8A-4147-A177-3AD203B41FA5}">
                      <a16:colId xmlns:a16="http://schemas.microsoft.com/office/drawing/2014/main" val="4033975775"/>
                    </a:ext>
                  </a:extLst>
                </a:gridCol>
                <a:gridCol w="1368152">
                  <a:extLst>
                    <a:ext uri="{9D8B030D-6E8A-4147-A177-3AD203B41FA5}">
                      <a16:colId xmlns:a16="http://schemas.microsoft.com/office/drawing/2014/main" val="272566701"/>
                    </a:ext>
                  </a:extLst>
                </a:gridCol>
                <a:gridCol w="2232249">
                  <a:extLst>
                    <a:ext uri="{9D8B030D-6E8A-4147-A177-3AD203B41FA5}">
                      <a16:colId xmlns:a16="http://schemas.microsoft.com/office/drawing/2014/main" val="3374195400"/>
                    </a:ext>
                  </a:extLst>
                </a:gridCol>
              </a:tblGrid>
              <a:tr h="0">
                <a:tc>
                  <a:txBody>
                    <a:bodyPr/>
                    <a:lstStyle/>
                    <a:p>
                      <a:pPr>
                        <a:buNone/>
                      </a:pPr>
                      <a:endParaRPr lang="fr-FR" sz="1400"/>
                    </a:p>
                  </a:txBody>
                  <a:tcPr anchor="ctr">
                    <a:lnL>
                      <a:noFill/>
                    </a:lnL>
                    <a:lnR>
                      <a:noFill/>
                    </a:lnR>
                    <a:lnT>
                      <a:noFill/>
                    </a:lnT>
                    <a:lnB>
                      <a:noFill/>
                    </a:lnB>
                    <a:noFill/>
                  </a:tcPr>
                </a:tc>
                <a:tc>
                  <a:txBody>
                    <a:bodyPr/>
                    <a:lstStyle/>
                    <a:p>
                      <a:pPr>
                        <a:buNone/>
                      </a:pPr>
                      <a:r>
                        <a:rPr lang="fr-FR" sz="1400"/>
                        <a:t>File System</a:t>
                      </a:r>
                    </a:p>
                  </a:txBody>
                  <a:tcPr anchor="ctr">
                    <a:lnL>
                      <a:noFill/>
                    </a:lnL>
                    <a:lnR>
                      <a:noFill/>
                    </a:lnR>
                    <a:lnT>
                      <a:noFill/>
                    </a:lnT>
                    <a:lnB>
                      <a:noFill/>
                    </a:lnB>
                    <a:noFill/>
                  </a:tcPr>
                </a:tc>
                <a:tc>
                  <a:txBody>
                    <a:bodyPr/>
                    <a:lstStyle/>
                    <a:p>
                      <a:pPr>
                        <a:buNone/>
                      </a:pPr>
                      <a:r>
                        <a:rPr lang="fr-FR" sz="1400"/>
                        <a:t>Application Insights</a:t>
                      </a:r>
                    </a:p>
                  </a:txBody>
                  <a:tcPr anchor="ctr">
                    <a:lnL>
                      <a:noFill/>
                    </a:lnL>
                    <a:lnR>
                      <a:noFill/>
                    </a:lnR>
                    <a:lnT>
                      <a:noFill/>
                    </a:lnT>
                    <a:lnB>
                      <a:noFill/>
                    </a:lnB>
                    <a:noFill/>
                  </a:tcPr>
                </a:tc>
                <a:extLst>
                  <a:ext uri="{0D108BD9-81ED-4DB2-BD59-A6C34878D82A}">
                    <a16:rowId xmlns:a16="http://schemas.microsoft.com/office/drawing/2014/main" val="745208306"/>
                  </a:ext>
                </a:extLst>
              </a:tr>
              <a:tr h="0">
                <a:tc>
                  <a:txBody>
                    <a:bodyPr/>
                    <a:lstStyle/>
                    <a:p>
                      <a:pPr>
                        <a:buNone/>
                      </a:pPr>
                      <a:r>
                        <a:rPr lang="fr-FR" sz="1400"/>
                        <a:t>Stockage</a:t>
                      </a:r>
                    </a:p>
                  </a:txBody>
                  <a:tcPr anchor="ctr">
                    <a:lnL>
                      <a:noFill/>
                    </a:lnL>
                    <a:lnR>
                      <a:noFill/>
                    </a:lnR>
                    <a:lnT>
                      <a:noFill/>
                    </a:lnT>
                    <a:lnB>
                      <a:noFill/>
                    </a:lnB>
                    <a:noFill/>
                  </a:tcPr>
                </a:tc>
                <a:tc>
                  <a:txBody>
                    <a:bodyPr/>
                    <a:lstStyle/>
                    <a:p>
                      <a:pPr>
                        <a:buNone/>
                      </a:pPr>
                      <a:r>
                        <a:rPr lang="fr-FR" sz="1400" dirty="0"/>
                        <a:t>Local serveur</a:t>
                      </a:r>
                    </a:p>
                  </a:txBody>
                  <a:tcPr anchor="ctr">
                    <a:lnL>
                      <a:noFill/>
                    </a:lnL>
                    <a:lnR>
                      <a:noFill/>
                    </a:lnR>
                    <a:lnT>
                      <a:noFill/>
                    </a:lnT>
                    <a:lnB>
                      <a:noFill/>
                    </a:lnB>
                    <a:noFill/>
                  </a:tcPr>
                </a:tc>
                <a:tc>
                  <a:txBody>
                    <a:bodyPr/>
                    <a:lstStyle/>
                    <a:p>
                      <a:pPr>
                        <a:buNone/>
                      </a:pPr>
                      <a:r>
                        <a:rPr lang="fr-FR" sz="1400" dirty="0"/>
                        <a:t>Azure (cloud)</a:t>
                      </a:r>
                    </a:p>
                  </a:txBody>
                  <a:tcPr anchor="ctr">
                    <a:lnL>
                      <a:noFill/>
                    </a:lnL>
                    <a:lnR>
                      <a:noFill/>
                    </a:lnR>
                    <a:lnT>
                      <a:noFill/>
                    </a:lnT>
                    <a:lnB>
                      <a:noFill/>
                    </a:lnB>
                    <a:noFill/>
                  </a:tcPr>
                </a:tc>
                <a:extLst>
                  <a:ext uri="{0D108BD9-81ED-4DB2-BD59-A6C34878D82A}">
                    <a16:rowId xmlns:a16="http://schemas.microsoft.com/office/drawing/2014/main" val="832004026"/>
                  </a:ext>
                </a:extLst>
              </a:tr>
              <a:tr h="0">
                <a:tc>
                  <a:txBody>
                    <a:bodyPr/>
                    <a:lstStyle/>
                    <a:p>
                      <a:pPr>
                        <a:buNone/>
                      </a:pPr>
                      <a:r>
                        <a:rPr lang="fr-FR" sz="1400"/>
                        <a:t>Durée</a:t>
                      </a:r>
                    </a:p>
                  </a:txBody>
                  <a:tcPr anchor="ctr">
                    <a:lnL>
                      <a:noFill/>
                    </a:lnL>
                    <a:lnR>
                      <a:noFill/>
                    </a:lnR>
                    <a:lnT>
                      <a:noFill/>
                    </a:lnT>
                    <a:lnB>
                      <a:noFill/>
                    </a:lnB>
                    <a:noFill/>
                  </a:tcPr>
                </a:tc>
                <a:tc>
                  <a:txBody>
                    <a:bodyPr/>
                    <a:lstStyle/>
                    <a:p>
                      <a:pPr>
                        <a:buNone/>
                      </a:pPr>
                      <a:r>
                        <a:rPr lang="fr-FR" sz="1400"/>
                        <a:t>Temporaire</a:t>
                      </a:r>
                    </a:p>
                  </a:txBody>
                  <a:tcPr anchor="ctr">
                    <a:lnL>
                      <a:noFill/>
                    </a:lnL>
                    <a:lnR>
                      <a:noFill/>
                    </a:lnR>
                    <a:lnT>
                      <a:noFill/>
                    </a:lnT>
                    <a:lnB>
                      <a:noFill/>
                    </a:lnB>
                    <a:noFill/>
                  </a:tcPr>
                </a:tc>
                <a:tc>
                  <a:txBody>
                    <a:bodyPr/>
                    <a:lstStyle/>
                    <a:p>
                      <a:pPr>
                        <a:buNone/>
                      </a:pPr>
                      <a:r>
                        <a:rPr lang="fr-FR" sz="1400"/>
                        <a:t>Configurable (jours/mois)</a:t>
                      </a:r>
                    </a:p>
                  </a:txBody>
                  <a:tcPr anchor="ctr">
                    <a:lnL>
                      <a:noFill/>
                    </a:lnL>
                    <a:lnR>
                      <a:noFill/>
                    </a:lnR>
                    <a:lnT>
                      <a:noFill/>
                    </a:lnT>
                    <a:lnB>
                      <a:noFill/>
                    </a:lnB>
                    <a:noFill/>
                  </a:tcPr>
                </a:tc>
                <a:extLst>
                  <a:ext uri="{0D108BD9-81ED-4DB2-BD59-A6C34878D82A}">
                    <a16:rowId xmlns:a16="http://schemas.microsoft.com/office/drawing/2014/main" val="487594369"/>
                  </a:ext>
                </a:extLst>
              </a:tr>
              <a:tr h="0">
                <a:tc>
                  <a:txBody>
                    <a:bodyPr/>
                    <a:lstStyle/>
                    <a:p>
                      <a:pPr>
                        <a:buNone/>
                      </a:pPr>
                      <a:r>
                        <a:rPr lang="fr-FR" sz="1400"/>
                        <a:t>Analyse</a:t>
                      </a:r>
                    </a:p>
                  </a:txBody>
                  <a:tcPr anchor="ctr">
                    <a:lnL>
                      <a:noFill/>
                    </a:lnL>
                    <a:lnR>
                      <a:noFill/>
                    </a:lnR>
                    <a:lnT>
                      <a:noFill/>
                    </a:lnT>
                    <a:lnB>
                      <a:noFill/>
                    </a:lnB>
                    <a:noFill/>
                  </a:tcPr>
                </a:tc>
                <a:tc>
                  <a:txBody>
                    <a:bodyPr/>
                    <a:lstStyle/>
                    <a:p>
                      <a:pPr>
                        <a:buNone/>
                      </a:pPr>
                      <a:r>
                        <a:rPr lang="fr-FR" sz="1400"/>
                        <a:t>❌ limitée</a:t>
                      </a:r>
                    </a:p>
                  </a:txBody>
                  <a:tcPr anchor="ctr">
                    <a:lnL>
                      <a:noFill/>
                    </a:lnL>
                    <a:lnR>
                      <a:noFill/>
                    </a:lnR>
                    <a:lnT>
                      <a:noFill/>
                    </a:lnT>
                    <a:lnB>
                      <a:noFill/>
                    </a:lnB>
                    <a:noFill/>
                  </a:tcPr>
                </a:tc>
                <a:tc>
                  <a:txBody>
                    <a:bodyPr/>
                    <a:lstStyle/>
                    <a:p>
                      <a:pPr>
                        <a:buNone/>
                      </a:pPr>
                      <a:r>
                        <a:rPr lang="fr-FR" sz="1400" dirty="0"/>
                        <a:t>✔ KQL</a:t>
                      </a:r>
                    </a:p>
                  </a:txBody>
                  <a:tcPr anchor="ctr">
                    <a:lnL>
                      <a:noFill/>
                    </a:lnL>
                    <a:lnR>
                      <a:noFill/>
                    </a:lnR>
                    <a:lnT>
                      <a:noFill/>
                    </a:lnT>
                    <a:lnB>
                      <a:noFill/>
                    </a:lnB>
                    <a:noFill/>
                  </a:tcPr>
                </a:tc>
                <a:extLst>
                  <a:ext uri="{0D108BD9-81ED-4DB2-BD59-A6C34878D82A}">
                    <a16:rowId xmlns:a16="http://schemas.microsoft.com/office/drawing/2014/main" val="2974472544"/>
                  </a:ext>
                </a:extLst>
              </a:tr>
            </a:tbl>
          </a:graphicData>
        </a:graphic>
      </p:graphicFrame>
      <p:pic>
        <p:nvPicPr>
          <p:cNvPr id="6" name="Image 5">
            <a:extLst>
              <a:ext uri="{FF2B5EF4-FFF2-40B4-BE49-F238E27FC236}">
                <a16:creationId xmlns:a16="http://schemas.microsoft.com/office/drawing/2014/main" id="{9AC453C7-2385-8D9F-CD2A-705345C86495}"/>
              </a:ext>
            </a:extLst>
          </p:cNvPr>
          <p:cNvPicPr>
            <a:picLocks noChangeAspect="1"/>
          </p:cNvPicPr>
          <p:nvPr/>
        </p:nvPicPr>
        <p:blipFill>
          <a:blip r:embed="rId3"/>
          <a:stretch>
            <a:fillRect/>
          </a:stretch>
        </p:blipFill>
        <p:spPr>
          <a:xfrm>
            <a:off x="5163127" y="4509120"/>
            <a:ext cx="3793313" cy="2142975"/>
          </a:xfrm>
          <a:prstGeom prst="rect">
            <a:avLst/>
          </a:prstGeom>
        </p:spPr>
      </p:pic>
      <p:cxnSp>
        <p:nvCxnSpPr>
          <p:cNvPr id="11" name="Connecteur droit avec flèche 10">
            <a:extLst>
              <a:ext uri="{FF2B5EF4-FFF2-40B4-BE49-F238E27FC236}">
                <a16:creationId xmlns:a16="http://schemas.microsoft.com/office/drawing/2014/main" id="{F4E4BC1B-1A3C-A479-EC7D-BE41F69DD9C9}"/>
              </a:ext>
            </a:extLst>
          </p:cNvPr>
          <p:cNvCxnSpPr>
            <a:cxnSpLocks/>
          </p:cNvCxnSpPr>
          <p:nvPr/>
        </p:nvCxnSpPr>
        <p:spPr>
          <a:xfrm flipV="1">
            <a:off x="4860032" y="4627961"/>
            <a:ext cx="1944216" cy="961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BC7FD-713F-90B3-A473-D61B38F0C828}"/>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6FD28175-F546-F83B-FA6F-F8E4D71F2308}"/>
              </a:ext>
            </a:extLst>
          </p:cNvPr>
          <p:cNvSpPr>
            <a:spLocks noGrp="1"/>
          </p:cNvSpPr>
          <p:nvPr>
            <p:ph type="body" sz="quarter" idx="11"/>
          </p:nvPr>
        </p:nvSpPr>
        <p:spPr/>
        <p:txBody>
          <a:bodyPr/>
          <a:lstStyle/>
          <a:p>
            <a:r>
              <a:rPr lang="fr-FR" dirty="0"/>
              <a:t>Containers</a:t>
            </a:r>
          </a:p>
        </p:txBody>
      </p:sp>
      <p:sp>
        <p:nvSpPr>
          <p:cNvPr id="3" name="Espace réservé du texte 2">
            <a:extLst>
              <a:ext uri="{FF2B5EF4-FFF2-40B4-BE49-F238E27FC236}">
                <a16:creationId xmlns:a16="http://schemas.microsoft.com/office/drawing/2014/main" id="{707769ED-7AFC-0FA5-C54B-00F868580EBC}"/>
              </a:ext>
            </a:extLst>
          </p:cNvPr>
          <p:cNvSpPr>
            <a:spLocks noGrp="1"/>
          </p:cNvSpPr>
          <p:nvPr>
            <p:ph type="body" sz="quarter" idx="12"/>
          </p:nvPr>
        </p:nvSpPr>
        <p:spPr>
          <a:xfrm>
            <a:off x="2604868" y="3501008"/>
            <a:ext cx="5624732" cy="1432560"/>
          </a:xfrm>
        </p:spPr>
        <p:txBody>
          <a:bodyPr/>
          <a:lstStyle/>
          <a:p>
            <a:r>
              <a:rPr lang="fr-FR" dirty="0"/>
              <a:t>Métaphore camions</a:t>
            </a:r>
          </a:p>
        </p:txBody>
      </p:sp>
    </p:spTree>
    <p:extLst>
      <p:ext uri="{BB962C8B-B14F-4D97-AF65-F5344CB8AC3E}">
        <p14:creationId xmlns:p14="http://schemas.microsoft.com/office/powerpoint/2010/main" val="59564699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DE1A5-28A2-E171-F698-9C84FD96E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F8E19-3127-DBE8-4386-670AFC6E67FF}"/>
              </a:ext>
            </a:extLst>
          </p:cNvPr>
          <p:cNvSpPr>
            <a:spLocks noGrp="1"/>
          </p:cNvSpPr>
          <p:nvPr>
            <p:ph type="title"/>
          </p:nvPr>
        </p:nvSpPr>
        <p:spPr/>
        <p:txBody>
          <a:bodyPr/>
          <a:lstStyle/>
          <a:p>
            <a:r>
              <a:rPr lang="en-US" dirty="0"/>
              <a:t>Le </a:t>
            </a:r>
            <a:r>
              <a:rPr lang="en-US" dirty="0" err="1"/>
              <a:t>conteneur</a:t>
            </a:r>
            <a:r>
              <a:rPr lang="en-US" dirty="0"/>
              <a:t> : </a:t>
            </a:r>
            <a:r>
              <a:rPr lang="en-US" dirty="0" err="1"/>
              <a:t>notre</a:t>
            </a:r>
            <a:r>
              <a:rPr lang="en-US" dirty="0"/>
              <a:t> camion</a:t>
            </a:r>
          </a:p>
        </p:txBody>
      </p:sp>
      <p:sp>
        <p:nvSpPr>
          <p:cNvPr id="9" name="Espace réservé du texte 8">
            <a:extLst>
              <a:ext uri="{FF2B5EF4-FFF2-40B4-BE49-F238E27FC236}">
                <a16:creationId xmlns:a16="http://schemas.microsoft.com/office/drawing/2014/main" id="{9C430D2B-4265-88B3-65B2-A1F56F277DFD}"/>
              </a:ext>
            </a:extLst>
          </p:cNvPr>
          <p:cNvSpPr>
            <a:spLocks noGrp="1"/>
          </p:cNvSpPr>
          <p:nvPr>
            <p:ph type="body" sz="quarter" idx="13"/>
          </p:nvPr>
        </p:nvSpPr>
        <p:spPr/>
        <p:txBody>
          <a:bodyPr/>
          <a:lstStyle/>
          <a:p>
            <a:r>
              <a:rPr lang="fr-FR" sz="2400" dirty="0"/>
              <a:t>📋 Plan de construction du camion = </a:t>
            </a:r>
            <a:r>
              <a:rPr lang="fr-FR" sz="2400" dirty="0" err="1"/>
              <a:t>Dockerfile</a:t>
            </a:r>
            <a:endParaRPr lang="fr-FR" sz="2400" dirty="0"/>
          </a:p>
          <a:p>
            <a:r>
              <a:rPr lang="fr-FR" sz="2400" dirty="0"/>
              <a:t>🚚 Camion prêt à rouler = Image Docker</a:t>
            </a:r>
          </a:p>
          <a:p>
            <a:r>
              <a:rPr lang="fr-FR" sz="2400" dirty="0"/>
              <a:t>🚚 Camion en circulation = Conteneur</a:t>
            </a:r>
          </a:p>
          <a:p>
            <a:r>
              <a:rPr lang="fr-FR" sz="2400" dirty="0"/>
              <a:t>📦 Colis à livrer = Requêtes HTTP / messages</a:t>
            </a:r>
          </a:p>
          <a:p>
            <a:endParaRPr lang="fr-FR" sz="2400" dirty="0"/>
          </a:p>
          <a:p>
            <a:r>
              <a:rPr lang="fr-FR" sz="2400" dirty="0"/>
              <a:t>Cycle de vie : </a:t>
            </a:r>
            <a:r>
              <a:rPr lang="fr-FR" sz="2400" dirty="0" err="1"/>
              <a:t>Dockerfile</a:t>
            </a:r>
            <a:r>
              <a:rPr lang="fr-FR" sz="2400" dirty="0"/>
              <a:t> → Image Docker → Conteneur</a:t>
            </a:r>
          </a:p>
          <a:p>
            <a:endParaRPr lang="fr-FR" sz="2400" dirty="0"/>
          </a:p>
        </p:txBody>
      </p:sp>
    </p:spTree>
    <p:extLst>
      <p:ext uri="{BB962C8B-B14F-4D97-AF65-F5344CB8AC3E}">
        <p14:creationId xmlns:p14="http://schemas.microsoft.com/office/powerpoint/2010/main" val="26590143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7C5D9-C253-85BB-4874-753C78083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E30F7-AE00-FB2E-AE5D-784421CEC5E1}"/>
              </a:ext>
            </a:extLst>
          </p:cNvPr>
          <p:cNvSpPr>
            <a:spLocks noGrp="1"/>
          </p:cNvSpPr>
          <p:nvPr>
            <p:ph type="title"/>
          </p:nvPr>
        </p:nvSpPr>
        <p:spPr/>
        <p:txBody>
          <a:bodyPr/>
          <a:lstStyle/>
          <a:p>
            <a:r>
              <a:rPr lang="fr-FR" dirty="0"/>
              <a:t>Azure Container </a:t>
            </a:r>
            <a:r>
              <a:rPr lang="fr-FR" dirty="0" err="1"/>
              <a:t>Registry</a:t>
            </a:r>
            <a:r>
              <a:rPr lang="fr-FR" dirty="0"/>
              <a:t> (ACR)</a:t>
            </a:r>
            <a:endParaRPr lang="en-US" dirty="0"/>
          </a:p>
        </p:txBody>
      </p:sp>
      <p:sp>
        <p:nvSpPr>
          <p:cNvPr id="9" name="Espace réservé du texte 8">
            <a:extLst>
              <a:ext uri="{FF2B5EF4-FFF2-40B4-BE49-F238E27FC236}">
                <a16:creationId xmlns:a16="http://schemas.microsoft.com/office/drawing/2014/main" id="{ECB218B0-6792-AC7F-3F5E-44BE708454DF}"/>
              </a:ext>
            </a:extLst>
          </p:cNvPr>
          <p:cNvSpPr>
            <a:spLocks noGrp="1"/>
          </p:cNvSpPr>
          <p:nvPr>
            <p:ph type="body" sz="quarter" idx="13"/>
          </p:nvPr>
        </p:nvSpPr>
        <p:spPr/>
        <p:txBody>
          <a:bodyPr/>
          <a:lstStyle/>
          <a:p>
            <a:r>
              <a:rPr lang="fr-FR" sz="2400" dirty="0"/>
              <a:t>🏬 Dépôt de modèles de camions</a:t>
            </a:r>
          </a:p>
          <a:p>
            <a:endParaRPr lang="fr-FR" sz="2400" dirty="0"/>
          </a:p>
          <a:p>
            <a:r>
              <a:rPr lang="fr-FR" sz="2400" dirty="0" err="1">
                <a:highlight>
                  <a:srgbClr val="C0C0C0"/>
                </a:highlight>
              </a:rPr>
              <a:t>Dockerfile</a:t>
            </a:r>
            <a:r>
              <a:rPr lang="fr-FR" sz="2400" dirty="0"/>
              <a:t> → </a:t>
            </a:r>
            <a:r>
              <a:rPr lang="fr-FR" sz="2400" i="1" dirty="0" err="1"/>
              <a:t>build</a:t>
            </a:r>
            <a:r>
              <a:rPr lang="fr-FR" sz="2400" dirty="0"/>
              <a:t> → </a:t>
            </a:r>
            <a:r>
              <a:rPr lang="fr-FR" sz="2400" dirty="0">
                <a:highlight>
                  <a:srgbClr val="C0C0C0"/>
                </a:highlight>
              </a:rPr>
              <a:t>Image Docker </a:t>
            </a:r>
            <a:r>
              <a:rPr lang="fr-FR" sz="2400" dirty="0"/>
              <a:t>→ </a:t>
            </a:r>
            <a:r>
              <a:rPr lang="fr-FR" sz="2400" i="1" dirty="0"/>
              <a:t>push</a:t>
            </a:r>
            <a:r>
              <a:rPr lang="fr-FR" sz="2400" dirty="0"/>
              <a:t> → </a:t>
            </a:r>
            <a:r>
              <a:rPr lang="fr-FR" sz="2400" dirty="0">
                <a:highlight>
                  <a:srgbClr val="C0C0C0"/>
                </a:highlight>
              </a:rPr>
              <a:t>ACR</a:t>
            </a:r>
          </a:p>
          <a:p>
            <a:endParaRPr lang="fr-FR" sz="2400" dirty="0"/>
          </a:p>
          <a:p>
            <a:r>
              <a:rPr lang="fr-FR" sz="2400" dirty="0"/>
              <a:t>ACR stocke les modèles de camions prêts à être déployés (images Docker)</a:t>
            </a:r>
          </a:p>
          <a:p>
            <a:endParaRPr lang="fr-FR" sz="2400" dirty="0"/>
          </a:p>
        </p:txBody>
      </p:sp>
    </p:spTree>
    <p:extLst>
      <p:ext uri="{BB962C8B-B14F-4D97-AF65-F5344CB8AC3E}">
        <p14:creationId xmlns:p14="http://schemas.microsoft.com/office/powerpoint/2010/main" val="338444553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F29FB-F436-56BC-0D3F-83A2ACEA04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27833-26BA-239A-DA34-69AB8CAAB067}"/>
              </a:ext>
            </a:extLst>
          </p:cNvPr>
          <p:cNvSpPr>
            <a:spLocks noGrp="1"/>
          </p:cNvSpPr>
          <p:nvPr>
            <p:ph type="title"/>
          </p:nvPr>
        </p:nvSpPr>
        <p:spPr/>
        <p:txBody>
          <a:bodyPr/>
          <a:lstStyle/>
          <a:p>
            <a:r>
              <a:rPr lang="fr-FR" dirty="0"/>
              <a:t>Azure Container Instances (ACI)</a:t>
            </a:r>
            <a:endParaRPr lang="en-US" dirty="0"/>
          </a:p>
        </p:txBody>
      </p:sp>
      <p:sp>
        <p:nvSpPr>
          <p:cNvPr id="9" name="Espace réservé du texte 8">
            <a:extLst>
              <a:ext uri="{FF2B5EF4-FFF2-40B4-BE49-F238E27FC236}">
                <a16:creationId xmlns:a16="http://schemas.microsoft.com/office/drawing/2014/main" id="{D29E499D-7B2B-8D53-B0FF-73599EFAFCE0}"/>
              </a:ext>
            </a:extLst>
          </p:cNvPr>
          <p:cNvSpPr>
            <a:spLocks noGrp="1"/>
          </p:cNvSpPr>
          <p:nvPr>
            <p:ph type="body" sz="quarter" idx="13"/>
          </p:nvPr>
        </p:nvSpPr>
        <p:spPr/>
        <p:txBody>
          <a:bodyPr/>
          <a:lstStyle/>
          <a:p>
            <a:r>
              <a:rPr lang="fr-FR" dirty="0"/>
              <a:t>🏬 ACR → 🚚 → 🅿️ ACI</a:t>
            </a:r>
          </a:p>
          <a:p>
            <a:r>
              <a:rPr lang="fr-FR" dirty="0"/>
              <a:t>ACI = Azure met à disposition une place de parking et fait tourner votre camion dessus.</a:t>
            </a:r>
          </a:p>
          <a:p>
            <a:r>
              <a:rPr lang="fr-FR" dirty="0"/>
              <a:t>Simple, rapide, peu de configuration</a:t>
            </a:r>
          </a:p>
          <a:p>
            <a:endParaRPr lang="fr-FR" dirty="0"/>
          </a:p>
        </p:txBody>
      </p:sp>
    </p:spTree>
    <p:extLst>
      <p:ext uri="{BB962C8B-B14F-4D97-AF65-F5344CB8AC3E}">
        <p14:creationId xmlns:p14="http://schemas.microsoft.com/office/powerpoint/2010/main" val="311277252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848AE-55D7-B6EC-2631-9B76B15D7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4E007-50E3-9480-85F3-307CE3735A6B}"/>
              </a:ext>
            </a:extLst>
          </p:cNvPr>
          <p:cNvSpPr>
            <a:spLocks noGrp="1"/>
          </p:cNvSpPr>
          <p:nvPr>
            <p:ph type="title"/>
          </p:nvPr>
        </p:nvSpPr>
        <p:spPr/>
        <p:txBody>
          <a:bodyPr/>
          <a:lstStyle/>
          <a:p>
            <a:r>
              <a:rPr lang="fr-FR" dirty="0"/>
              <a:t>Azure Container Apps (ACA)</a:t>
            </a:r>
            <a:endParaRPr lang="en-US" dirty="0"/>
          </a:p>
        </p:txBody>
      </p:sp>
      <p:sp>
        <p:nvSpPr>
          <p:cNvPr id="9" name="Espace réservé du texte 8">
            <a:extLst>
              <a:ext uri="{FF2B5EF4-FFF2-40B4-BE49-F238E27FC236}">
                <a16:creationId xmlns:a16="http://schemas.microsoft.com/office/drawing/2014/main" id="{50E3AF65-68BB-27E0-555F-C02ED0C48D64}"/>
              </a:ext>
            </a:extLst>
          </p:cNvPr>
          <p:cNvSpPr>
            <a:spLocks noGrp="1"/>
          </p:cNvSpPr>
          <p:nvPr>
            <p:ph type="body" sz="quarter" idx="13"/>
          </p:nvPr>
        </p:nvSpPr>
        <p:spPr/>
        <p:txBody>
          <a:bodyPr/>
          <a:lstStyle/>
          <a:p>
            <a:r>
              <a:rPr lang="fr-FR" dirty="0"/>
              <a:t>Quand les colis augmentent : 📦📦📦📦📦</a:t>
            </a:r>
          </a:p>
          <a:p>
            <a:r>
              <a:rPr lang="fr-FR" dirty="0"/>
              <a:t>Il faut plus de camions : 🚚🚚🚚🚚🚚</a:t>
            </a:r>
          </a:p>
          <a:p>
            <a:r>
              <a:rPr lang="fr-FR" dirty="0"/>
              <a:t>Et donc plus de places : 🅿️🚚 🅿️🚚 🅿️🚚</a:t>
            </a:r>
          </a:p>
          <a:p>
            <a:r>
              <a:rPr lang="fr-FR" dirty="0"/>
              <a:t>Qui gère toute cette logistique ? </a:t>
            </a:r>
            <a:r>
              <a:rPr lang="fr-FR" dirty="0">
                <a:sym typeface="Wingdings" panose="05000000000000000000" pitchFamily="2" charset="2"/>
              </a:rPr>
              <a:t> ACA</a:t>
            </a:r>
            <a:endParaRPr lang="fr-FR" dirty="0"/>
          </a:p>
          <a:p>
            <a:r>
              <a:rPr lang="fr-FR" sz="2600" dirty="0"/>
              <a:t>Azure Container Instances ne fournit pas automatiquement :</a:t>
            </a:r>
          </a:p>
          <a:p>
            <a:pPr lvl="1"/>
            <a:r>
              <a:rPr lang="fr-FR" sz="2200" dirty="0"/>
              <a:t>l'ajout de camions </a:t>
            </a:r>
          </a:p>
          <a:p>
            <a:pPr lvl="1"/>
            <a:r>
              <a:rPr lang="fr-FR" sz="2200" dirty="0"/>
              <a:t>le retrait de camions </a:t>
            </a:r>
          </a:p>
          <a:p>
            <a:pPr lvl="1"/>
            <a:r>
              <a:rPr lang="fr-FR" sz="2200" dirty="0"/>
              <a:t>la répartition des colis </a:t>
            </a:r>
          </a:p>
          <a:p>
            <a:pPr lvl="1"/>
            <a:r>
              <a:rPr lang="fr-FR" sz="2200" dirty="0"/>
              <a:t>les mises à jour progressives </a:t>
            </a:r>
          </a:p>
          <a:p>
            <a:r>
              <a:rPr lang="fr-FR" sz="2600" dirty="0"/>
              <a:t>👉 C'est le problème qu'Azure Container Apps cherche à résoudre.</a:t>
            </a:r>
          </a:p>
          <a:p>
            <a:endParaRPr lang="fr-FR" dirty="0"/>
          </a:p>
          <a:p>
            <a:endParaRPr lang="fr-FR" dirty="0"/>
          </a:p>
        </p:txBody>
      </p:sp>
    </p:spTree>
    <p:extLst>
      <p:ext uri="{BB962C8B-B14F-4D97-AF65-F5344CB8AC3E}">
        <p14:creationId xmlns:p14="http://schemas.microsoft.com/office/powerpoint/2010/main" val="256613658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07070-343B-225A-0CF5-13C2ADC9B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9DA60-919B-7E9C-5281-07802F86DA64}"/>
              </a:ext>
            </a:extLst>
          </p:cNvPr>
          <p:cNvSpPr>
            <a:spLocks noGrp="1"/>
          </p:cNvSpPr>
          <p:nvPr>
            <p:ph type="title"/>
          </p:nvPr>
        </p:nvSpPr>
        <p:spPr/>
        <p:txBody>
          <a:bodyPr/>
          <a:lstStyle/>
          <a:p>
            <a:r>
              <a:rPr lang="fr-FR" dirty="0"/>
              <a:t>ACA </a:t>
            </a:r>
            <a:r>
              <a:rPr lang="fr-FR" dirty="0" err="1"/>
              <a:t>Environment</a:t>
            </a:r>
            <a:r>
              <a:rPr lang="fr-FR" dirty="0"/>
              <a:t> : la zone logistique 1/2</a:t>
            </a:r>
            <a:endParaRPr lang="en-US" dirty="0"/>
          </a:p>
        </p:txBody>
      </p:sp>
      <p:sp>
        <p:nvSpPr>
          <p:cNvPr id="9" name="Espace réservé du texte 8">
            <a:extLst>
              <a:ext uri="{FF2B5EF4-FFF2-40B4-BE49-F238E27FC236}">
                <a16:creationId xmlns:a16="http://schemas.microsoft.com/office/drawing/2014/main" id="{8908E7BE-6C44-5EE1-1E71-3FF35DDEC300}"/>
              </a:ext>
            </a:extLst>
          </p:cNvPr>
          <p:cNvSpPr>
            <a:spLocks noGrp="1"/>
          </p:cNvSpPr>
          <p:nvPr>
            <p:ph type="body" sz="quarter" idx="13"/>
          </p:nvPr>
        </p:nvSpPr>
        <p:spPr/>
        <p:txBody>
          <a:bodyPr/>
          <a:lstStyle/>
          <a:p>
            <a:r>
              <a:rPr lang="fr-FR" sz="2400" dirty="0"/>
              <a:t>Azure Container Apps s'appuie sur un ACA </a:t>
            </a:r>
            <a:r>
              <a:rPr lang="fr-FR" sz="2400" dirty="0" err="1"/>
              <a:t>Environment</a:t>
            </a:r>
            <a:endParaRPr lang="fr-FR" sz="2400" dirty="0"/>
          </a:p>
          <a:p>
            <a:r>
              <a:rPr lang="fr-FR" sz="2400" dirty="0"/>
              <a:t>🏭 ACA </a:t>
            </a:r>
            <a:r>
              <a:rPr lang="fr-FR" sz="2400" dirty="0" err="1"/>
              <a:t>Environment</a:t>
            </a:r>
            <a:r>
              <a:rPr lang="fr-FR" sz="2400" dirty="0"/>
              <a:t> = zone logistique partagée</a:t>
            </a:r>
          </a:p>
          <a:p>
            <a:r>
              <a:rPr lang="fr-FR" sz="2400" b="1" dirty="0"/>
              <a:t>Azure fournit</a:t>
            </a:r>
          </a:p>
          <a:p>
            <a:pPr lvl="1"/>
            <a:r>
              <a:rPr lang="fr-FR" sz="2000" dirty="0"/>
              <a:t>les routes </a:t>
            </a:r>
          </a:p>
          <a:p>
            <a:pPr lvl="1"/>
            <a:r>
              <a:rPr lang="fr-FR" sz="2000" dirty="0"/>
              <a:t>les parkings </a:t>
            </a:r>
          </a:p>
          <a:p>
            <a:pPr lvl="1"/>
            <a:r>
              <a:rPr lang="fr-FR" sz="2000" dirty="0"/>
              <a:t>les quais </a:t>
            </a:r>
          </a:p>
          <a:p>
            <a:pPr lvl="1"/>
            <a:r>
              <a:rPr lang="fr-FR" sz="2000" dirty="0"/>
              <a:t>la sécurité </a:t>
            </a:r>
          </a:p>
          <a:p>
            <a:pPr lvl="1"/>
            <a:r>
              <a:rPr lang="fr-FR" sz="2000" dirty="0"/>
              <a:t>le réseau </a:t>
            </a:r>
          </a:p>
          <a:p>
            <a:pPr lvl="1"/>
            <a:r>
              <a:rPr lang="fr-FR" sz="2000" dirty="0"/>
              <a:t>l'infrastructure </a:t>
            </a:r>
            <a:r>
              <a:rPr lang="fr-FR" sz="2000" dirty="0" err="1"/>
              <a:t>Kubernetes</a:t>
            </a:r>
            <a:endParaRPr lang="fr-FR" sz="2000" dirty="0"/>
          </a:p>
          <a:p>
            <a:endParaRPr lang="fr-FR" dirty="0"/>
          </a:p>
        </p:txBody>
      </p:sp>
    </p:spTree>
    <p:extLst>
      <p:ext uri="{BB962C8B-B14F-4D97-AF65-F5344CB8AC3E}">
        <p14:creationId xmlns:p14="http://schemas.microsoft.com/office/powerpoint/2010/main" val="240672141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F75A9-25E8-5C78-5BC9-E46FE4C89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50146-5EB9-8A2D-C8F7-25005C557049}"/>
              </a:ext>
            </a:extLst>
          </p:cNvPr>
          <p:cNvSpPr>
            <a:spLocks noGrp="1"/>
          </p:cNvSpPr>
          <p:nvPr>
            <p:ph type="title"/>
          </p:nvPr>
        </p:nvSpPr>
        <p:spPr/>
        <p:txBody>
          <a:bodyPr/>
          <a:lstStyle/>
          <a:p>
            <a:r>
              <a:rPr lang="fr-FR" dirty="0"/>
              <a:t>ACA </a:t>
            </a:r>
            <a:r>
              <a:rPr lang="fr-FR" dirty="0" err="1"/>
              <a:t>Environment</a:t>
            </a:r>
            <a:r>
              <a:rPr lang="fr-FR" dirty="0"/>
              <a:t> : la zone logistique 2/2</a:t>
            </a:r>
            <a:endParaRPr lang="en-US" dirty="0"/>
          </a:p>
        </p:txBody>
      </p:sp>
      <p:sp>
        <p:nvSpPr>
          <p:cNvPr id="9" name="Espace réservé du texte 8">
            <a:extLst>
              <a:ext uri="{FF2B5EF4-FFF2-40B4-BE49-F238E27FC236}">
                <a16:creationId xmlns:a16="http://schemas.microsoft.com/office/drawing/2014/main" id="{0488B277-5C38-7A40-BDCE-5DF35315C9CB}"/>
              </a:ext>
            </a:extLst>
          </p:cNvPr>
          <p:cNvSpPr>
            <a:spLocks noGrp="1"/>
          </p:cNvSpPr>
          <p:nvPr>
            <p:ph type="body" sz="quarter" idx="13"/>
          </p:nvPr>
        </p:nvSpPr>
        <p:spPr/>
        <p:txBody>
          <a:bodyPr/>
          <a:lstStyle/>
          <a:p>
            <a:r>
              <a:rPr lang="fr-FR" dirty="0"/>
              <a:t>Les entreprises de la zone</a:t>
            </a:r>
          </a:p>
          <a:p>
            <a:r>
              <a:rPr lang="fr-FR" dirty="0"/>
              <a:t>🏭 ACA </a:t>
            </a:r>
            <a:r>
              <a:rPr lang="fr-FR" dirty="0" err="1"/>
              <a:t>Environment</a:t>
            </a:r>
            <a:endParaRPr lang="fr-FR" dirty="0"/>
          </a:p>
          <a:p>
            <a:pPr lvl="1"/>
            <a:r>
              <a:rPr lang="fr-FR" dirty="0"/>
              <a:t>🚚 </a:t>
            </a:r>
            <a:r>
              <a:rPr lang="fr-FR" dirty="0" err="1"/>
              <a:t>Front-End</a:t>
            </a:r>
            <a:endParaRPr lang="fr-FR" dirty="0"/>
          </a:p>
          <a:p>
            <a:pPr lvl="1"/>
            <a:r>
              <a:rPr lang="fr-FR" dirty="0"/>
              <a:t>🚚 API</a:t>
            </a:r>
          </a:p>
          <a:p>
            <a:pPr lvl="1"/>
            <a:r>
              <a:rPr lang="fr-FR" dirty="0"/>
              <a:t>🚚 </a:t>
            </a:r>
            <a:r>
              <a:rPr lang="fr-FR" dirty="0" err="1"/>
              <a:t>Worker</a:t>
            </a:r>
            <a:endParaRPr lang="fr-FR" dirty="0"/>
          </a:p>
          <a:p>
            <a:endParaRPr lang="fr-FR" dirty="0"/>
          </a:p>
          <a:p>
            <a:r>
              <a:rPr lang="fr-FR" dirty="0"/>
              <a:t>Chaque entreprise possède ses propres camions mais partage la même zone</a:t>
            </a:r>
          </a:p>
          <a:p>
            <a:endParaRPr lang="fr-FR" dirty="0"/>
          </a:p>
        </p:txBody>
      </p:sp>
    </p:spTree>
    <p:extLst>
      <p:ext uri="{BB962C8B-B14F-4D97-AF65-F5344CB8AC3E}">
        <p14:creationId xmlns:p14="http://schemas.microsoft.com/office/powerpoint/2010/main" val="368553158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2FD20-4B99-9A27-9B99-729D8A257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CAF68-B024-8DAB-0E12-F2CA25507477}"/>
              </a:ext>
            </a:extLst>
          </p:cNvPr>
          <p:cNvSpPr>
            <a:spLocks noGrp="1"/>
          </p:cNvSpPr>
          <p:nvPr>
            <p:ph type="title"/>
          </p:nvPr>
        </p:nvSpPr>
        <p:spPr/>
        <p:txBody>
          <a:bodyPr/>
          <a:lstStyle/>
          <a:p>
            <a:r>
              <a:rPr lang="fr-FR" dirty="0"/>
              <a:t>Services mutualisés de la zone</a:t>
            </a:r>
            <a:endParaRPr lang="en-US" dirty="0"/>
          </a:p>
        </p:txBody>
      </p:sp>
      <p:sp>
        <p:nvSpPr>
          <p:cNvPr id="9" name="Espace réservé du texte 8">
            <a:extLst>
              <a:ext uri="{FF2B5EF4-FFF2-40B4-BE49-F238E27FC236}">
                <a16:creationId xmlns:a16="http://schemas.microsoft.com/office/drawing/2014/main" id="{52002D52-4A41-1282-8B7A-39C68DAE5434}"/>
              </a:ext>
            </a:extLst>
          </p:cNvPr>
          <p:cNvSpPr>
            <a:spLocks noGrp="1"/>
          </p:cNvSpPr>
          <p:nvPr>
            <p:ph type="body" sz="quarter" idx="13"/>
          </p:nvPr>
        </p:nvSpPr>
        <p:spPr/>
        <p:txBody>
          <a:bodyPr/>
          <a:lstStyle/>
          <a:p>
            <a:r>
              <a:rPr lang="fr-FR" dirty="0"/>
              <a:t>Correspondance Azure :</a:t>
            </a:r>
          </a:p>
          <a:p>
            <a:endParaRPr lang="fr-FR" dirty="0"/>
          </a:p>
          <a:p>
            <a:endParaRPr lang="fr-FR" dirty="0"/>
          </a:p>
          <a:p>
            <a:endParaRPr lang="fr-FR" dirty="0"/>
          </a:p>
        </p:txBody>
      </p:sp>
      <p:graphicFrame>
        <p:nvGraphicFramePr>
          <p:cNvPr id="3" name="Tableau 2">
            <a:extLst>
              <a:ext uri="{FF2B5EF4-FFF2-40B4-BE49-F238E27FC236}">
                <a16:creationId xmlns:a16="http://schemas.microsoft.com/office/drawing/2014/main" id="{A0D369E3-CEAC-8E5A-A0D3-C6DD443F62CF}"/>
              </a:ext>
            </a:extLst>
          </p:cNvPr>
          <p:cNvGraphicFramePr>
            <a:graphicFrameLocks noGrp="1"/>
          </p:cNvGraphicFramePr>
          <p:nvPr>
            <p:extLst>
              <p:ext uri="{D42A27DB-BD31-4B8C-83A1-F6EECF244321}">
                <p14:modId xmlns:p14="http://schemas.microsoft.com/office/powerpoint/2010/main" val="1833973007"/>
              </p:ext>
            </p:extLst>
          </p:nvPr>
        </p:nvGraphicFramePr>
        <p:xfrm>
          <a:off x="323528" y="2204864"/>
          <a:ext cx="8229600" cy="2926080"/>
        </p:xfrm>
        <a:graphic>
          <a:graphicData uri="http://schemas.openxmlformats.org/drawingml/2006/table">
            <a:tbl>
              <a:tblPr/>
              <a:tblGrid>
                <a:gridCol w="4114800">
                  <a:extLst>
                    <a:ext uri="{9D8B030D-6E8A-4147-A177-3AD203B41FA5}">
                      <a16:colId xmlns:a16="http://schemas.microsoft.com/office/drawing/2014/main" val="2406823351"/>
                    </a:ext>
                  </a:extLst>
                </a:gridCol>
                <a:gridCol w="4114800">
                  <a:extLst>
                    <a:ext uri="{9D8B030D-6E8A-4147-A177-3AD203B41FA5}">
                      <a16:colId xmlns:a16="http://schemas.microsoft.com/office/drawing/2014/main" val="4231401823"/>
                    </a:ext>
                  </a:extLst>
                </a:gridCol>
              </a:tblGrid>
              <a:tr h="0">
                <a:tc>
                  <a:txBody>
                    <a:bodyPr/>
                    <a:lstStyle/>
                    <a:p>
                      <a:pPr>
                        <a:buNone/>
                      </a:pPr>
                      <a:r>
                        <a:rPr lang="fr-FR" b="1"/>
                        <a:t>Métaphore</a:t>
                      </a:r>
                    </a:p>
                  </a:txBody>
                  <a:tcPr anchor="ctr">
                    <a:lnL>
                      <a:noFill/>
                    </a:lnL>
                    <a:lnR>
                      <a:noFill/>
                    </a:lnR>
                    <a:lnT>
                      <a:noFill/>
                    </a:lnT>
                    <a:lnB>
                      <a:noFill/>
                    </a:lnB>
                    <a:noFill/>
                  </a:tcPr>
                </a:tc>
                <a:tc>
                  <a:txBody>
                    <a:bodyPr/>
                    <a:lstStyle/>
                    <a:p>
                      <a:pPr>
                        <a:buNone/>
                      </a:pPr>
                      <a:r>
                        <a:rPr lang="fr-FR" b="1" dirty="0"/>
                        <a:t>Azure</a:t>
                      </a:r>
                    </a:p>
                  </a:txBody>
                  <a:tcPr anchor="ctr">
                    <a:lnL>
                      <a:noFill/>
                    </a:lnL>
                    <a:lnR>
                      <a:noFill/>
                    </a:lnR>
                    <a:lnT>
                      <a:noFill/>
                    </a:lnT>
                    <a:lnB>
                      <a:noFill/>
                    </a:lnB>
                    <a:noFill/>
                  </a:tcPr>
                </a:tc>
                <a:extLst>
                  <a:ext uri="{0D108BD9-81ED-4DB2-BD59-A6C34878D82A}">
                    <a16:rowId xmlns:a16="http://schemas.microsoft.com/office/drawing/2014/main" val="3493095290"/>
                  </a:ext>
                </a:extLst>
              </a:tr>
              <a:tr h="0">
                <a:tc>
                  <a:txBody>
                    <a:bodyPr/>
                    <a:lstStyle/>
                    <a:p>
                      <a:pPr>
                        <a:buNone/>
                      </a:pPr>
                      <a:r>
                        <a:rPr lang="fr-FR" dirty="0"/>
                        <a:t>🏭 Centre logistique</a:t>
                      </a:r>
                    </a:p>
                  </a:txBody>
                  <a:tcPr anchor="ctr">
                    <a:lnL>
                      <a:noFill/>
                    </a:lnL>
                    <a:lnR>
                      <a:noFill/>
                    </a:lnR>
                    <a:lnT>
                      <a:noFill/>
                    </a:lnT>
                    <a:lnB>
                      <a:noFill/>
                    </a:lnB>
                    <a:noFill/>
                  </a:tcPr>
                </a:tc>
                <a:tc>
                  <a:txBody>
                    <a:bodyPr/>
                    <a:lstStyle/>
                    <a:p>
                      <a:pPr>
                        <a:buNone/>
                      </a:pPr>
                      <a:r>
                        <a:rPr lang="fr-FR"/>
                        <a:t>ACA Environment</a:t>
                      </a:r>
                    </a:p>
                  </a:txBody>
                  <a:tcPr anchor="ctr">
                    <a:lnL>
                      <a:noFill/>
                    </a:lnL>
                    <a:lnR>
                      <a:noFill/>
                    </a:lnR>
                    <a:lnT>
                      <a:noFill/>
                    </a:lnT>
                    <a:lnB>
                      <a:noFill/>
                    </a:lnB>
                    <a:noFill/>
                  </a:tcPr>
                </a:tc>
                <a:extLst>
                  <a:ext uri="{0D108BD9-81ED-4DB2-BD59-A6C34878D82A}">
                    <a16:rowId xmlns:a16="http://schemas.microsoft.com/office/drawing/2014/main" val="1288861805"/>
                  </a:ext>
                </a:extLst>
              </a:tr>
              <a:tr h="0">
                <a:tc>
                  <a:txBody>
                    <a:bodyPr/>
                    <a:lstStyle/>
                    <a:p>
                      <a:pPr>
                        <a:buNone/>
                      </a:pPr>
                      <a:r>
                        <a:rPr lang="fr-FR" dirty="0"/>
                        <a:t>👷 Chef logistique</a:t>
                      </a:r>
                    </a:p>
                  </a:txBody>
                  <a:tcPr anchor="ctr">
                    <a:lnL>
                      <a:noFill/>
                    </a:lnL>
                    <a:lnR>
                      <a:noFill/>
                    </a:lnR>
                    <a:lnT>
                      <a:noFill/>
                    </a:lnT>
                    <a:lnB>
                      <a:noFill/>
                    </a:lnB>
                    <a:noFill/>
                  </a:tcPr>
                </a:tc>
                <a:tc>
                  <a:txBody>
                    <a:bodyPr/>
                    <a:lstStyle/>
                    <a:p>
                      <a:pPr>
                        <a:buNone/>
                      </a:pPr>
                      <a:r>
                        <a:rPr lang="fr-FR" dirty="0"/>
                        <a:t>Azure Container Apps</a:t>
                      </a:r>
                    </a:p>
                  </a:txBody>
                  <a:tcPr anchor="ctr">
                    <a:lnL>
                      <a:noFill/>
                    </a:lnL>
                    <a:lnR>
                      <a:noFill/>
                    </a:lnR>
                    <a:lnT>
                      <a:noFill/>
                    </a:lnT>
                    <a:lnB>
                      <a:noFill/>
                    </a:lnB>
                    <a:noFill/>
                  </a:tcPr>
                </a:tc>
                <a:extLst>
                  <a:ext uri="{0D108BD9-81ED-4DB2-BD59-A6C34878D82A}">
                    <a16:rowId xmlns:a16="http://schemas.microsoft.com/office/drawing/2014/main" val="1139010303"/>
                  </a:ext>
                </a:extLst>
              </a:tr>
              <a:tr h="0">
                <a:tc>
                  <a:txBody>
                    <a:bodyPr/>
                    <a:lstStyle/>
                    <a:p>
                      <a:pPr>
                        <a:buNone/>
                      </a:pPr>
                      <a:r>
                        <a:rPr lang="fr-FR"/>
                        <a:t>🚚 Camion</a:t>
                      </a:r>
                    </a:p>
                  </a:txBody>
                  <a:tcPr anchor="ctr">
                    <a:lnL>
                      <a:noFill/>
                    </a:lnL>
                    <a:lnR>
                      <a:noFill/>
                    </a:lnR>
                    <a:lnT>
                      <a:noFill/>
                    </a:lnT>
                    <a:lnB>
                      <a:noFill/>
                    </a:lnB>
                    <a:noFill/>
                  </a:tcPr>
                </a:tc>
                <a:tc>
                  <a:txBody>
                    <a:bodyPr/>
                    <a:lstStyle/>
                    <a:p>
                      <a:pPr>
                        <a:buNone/>
                      </a:pPr>
                      <a:r>
                        <a:rPr lang="fr-FR"/>
                        <a:t>Replica</a:t>
                      </a:r>
                    </a:p>
                  </a:txBody>
                  <a:tcPr anchor="ctr">
                    <a:lnL>
                      <a:noFill/>
                    </a:lnL>
                    <a:lnR>
                      <a:noFill/>
                    </a:lnR>
                    <a:lnT>
                      <a:noFill/>
                    </a:lnT>
                    <a:lnB>
                      <a:noFill/>
                    </a:lnB>
                    <a:noFill/>
                  </a:tcPr>
                </a:tc>
                <a:extLst>
                  <a:ext uri="{0D108BD9-81ED-4DB2-BD59-A6C34878D82A}">
                    <a16:rowId xmlns:a16="http://schemas.microsoft.com/office/drawing/2014/main" val="3878685297"/>
                  </a:ext>
                </a:extLst>
              </a:tr>
              <a:tr h="0">
                <a:tc>
                  <a:txBody>
                    <a:bodyPr/>
                    <a:lstStyle/>
                    <a:p>
                      <a:pPr>
                        <a:buNone/>
                      </a:pPr>
                      <a:r>
                        <a:rPr lang="fr-FR"/>
                        <a:t>➕ Ajout de camions</a:t>
                      </a:r>
                    </a:p>
                  </a:txBody>
                  <a:tcPr anchor="ctr">
                    <a:lnL>
                      <a:noFill/>
                    </a:lnL>
                    <a:lnR>
                      <a:noFill/>
                    </a:lnR>
                    <a:lnT>
                      <a:noFill/>
                    </a:lnT>
                    <a:lnB>
                      <a:noFill/>
                    </a:lnB>
                    <a:noFill/>
                  </a:tcPr>
                </a:tc>
                <a:tc>
                  <a:txBody>
                    <a:bodyPr/>
                    <a:lstStyle/>
                    <a:p>
                      <a:pPr>
                        <a:buNone/>
                      </a:pPr>
                      <a:r>
                        <a:rPr lang="fr-FR" dirty="0"/>
                        <a:t>KEDA / </a:t>
                      </a:r>
                      <a:r>
                        <a:rPr lang="fr-FR" dirty="0" err="1"/>
                        <a:t>Autoscaling</a:t>
                      </a:r>
                      <a:endParaRPr lang="fr-FR" dirty="0"/>
                    </a:p>
                  </a:txBody>
                  <a:tcPr anchor="ctr">
                    <a:lnL>
                      <a:noFill/>
                    </a:lnL>
                    <a:lnR>
                      <a:noFill/>
                    </a:lnR>
                    <a:lnT>
                      <a:noFill/>
                    </a:lnT>
                    <a:lnB>
                      <a:noFill/>
                    </a:lnB>
                    <a:noFill/>
                  </a:tcPr>
                </a:tc>
                <a:extLst>
                  <a:ext uri="{0D108BD9-81ED-4DB2-BD59-A6C34878D82A}">
                    <a16:rowId xmlns:a16="http://schemas.microsoft.com/office/drawing/2014/main" val="3328692020"/>
                  </a:ext>
                </a:extLst>
              </a:tr>
              <a:tr h="0">
                <a:tc>
                  <a:txBody>
                    <a:bodyPr/>
                    <a:lstStyle/>
                    <a:p>
                      <a:pPr>
                        <a:buNone/>
                      </a:pPr>
                      <a:r>
                        <a:rPr lang="fr-FR"/>
                        <a:t>📦 Répartition des colis</a:t>
                      </a:r>
                    </a:p>
                  </a:txBody>
                  <a:tcPr anchor="ctr">
                    <a:lnL>
                      <a:noFill/>
                    </a:lnL>
                    <a:lnR>
                      <a:noFill/>
                    </a:lnR>
                    <a:lnT>
                      <a:noFill/>
                    </a:lnT>
                    <a:lnB>
                      <a:noFill/>
                    </a:lnB>
                    <a:noFill/>
                  </a:tcPr>
                </a:tc>
                <a:tc>
                  <a:txBody>
                    <a:bodyPr/>
                    <a:lstStyle/>
                    <a:p>
                      <a:pPr>
                        <a:buNone/>
                      </a:pPr>
                      <a:r>
                        <a:rPr lang="fr-FR"/>
                        <a:t>Load Balancing</a:t>
                      </a:r>
                    </a:p>
                  </a:txBody>
                  <a:tcPr anchor="ctr">
                    <a:lnL>
                      <a:noFill/>
                    </a:lnL>
                    <a:lnR>
                      <a:noFill/>
                    </a:lnR>
                    <a:lnT>
                      <a:noFill/>
                    </a:lnT>
                    <a:lnB>
                      <a:noFill/>
                    </a:lnB>
                    <a:noFill/>
                  </a:tcPr>
                </a:tc>
                <a:extLst>
                  <a:ext uri="{0D108BD9-81ED-4DB2-BD59-A6C34878D82A}">
                    <a16:rowId xmlns:a16="http://schemas.microsoft.com/office/drawing/2014/main" val="2897884624"/>
                  </a:ext>
                </a:extLst>
              </a:tr>
              <a:tr h="0">
                <a:tc>
                  <a:txBody>
                    <a:bodyPr/>
                    <a:lstStyle/>
                    <a:p>
                      <a:pPr>
                        <a:buNone/>
                      </a:pPr>
                      <a:r>
                        <a:rPr lang="fr-FR"/>
                        <a:t>🌐 Gestion des accès</a:t>
                      </a:r>
                    </a:p>
                  </a:txBody>
                  <a:tcPr anchor="ctr">
                    <a:lnL>
                      <a:noFill/>
                    </a:lnL>
                    <a:lnR>
                      <a:noFill/>
                    </a:lnR>
                    <a:lnT>
                      <a:noFill/>
                    </a:lnT>
                    <a:lnB>
                      <a:noFill/>
                    </a:lnB>
                    <a:noFill/>
                  </a:tcPr>
                </a:tc>
                <a:tc>
                  <a:txBody>
                    <a:bodyPr/>
                    <a:lstStyle/>
                    <a:p>
                      <a:pPr>
                        <a:buNone/>
                      </a:pPr>
                      <a:r>
                        <a:rPr lang="fr-FR"/>
                        <a:t>Ingress</a:t>
                      </a:r>
                    </a:p>
                  </a:txBody>
                  <a:tcPr anchor="ctr">
                    <a:lnL>
                      <a:noFill/>
                    </a:lnL>
                    <a:lnR>
                      <a:noFill/>
                    </a:lnR>
                    <a:lnT>
                      <a:noFill/>
                    </a:lnT>
                    <a:lnB>
                      <a:noFill/>
                    </a:lnB>
                    <a:noFill/>
                  </a:tcPr>
                </a:tc>
                <a:extLst>
                  <a:ext uri="{0D108BD9-81ED-4DB2-BD59-A6C34878D82A}">
                    <a16:rowId xmlns:a16="http://schemas.microsoft.com/office/drawing/2014/main" val="1326835426"/>
                  </a:ext>
                </a:extLst>
              </a:tr>
              <a:tr h="0">
                <a:tc>
                  <a:txBody>
                    <a:bodyPr/>
                    <a:lstStyle/>
                    <a:p>
                      <a:pPr>
                        <a:buNone/>
                      </a:pPr>
                      <a:r>
                        <a:rPr lang="fr-FR"/>
                        <a:t>🔄 Remplacement des camions</a:t>
                      </a:r>
                    </a:p>
                  </a:txBody>
                  <a:tcPr anchor="ctr">
                    <a:lnL>
                      <a:noFill/>
                    </a:lnL>
                    <a:lnR>
                      <a:noFill/>
                    </a:lnR>
                    <a:lnT>
                      <a:noFill/>
                    </a:lnT>
                    <a:lnB>
                      <a:noFill/>
                    </a:lnB>
                    <a:noFill/>
                  </a:tcPr>
                </a:tc>
                <a:tc>
                  <a:txBody>
                    <a:bodyPr/>
                    <a:lstStyle/>
                    <a:p>
                      <a:pPr>
                        <a:buNone/>
                      </a:pPr>
                      <a:r>
                        <a:rPr lang="fr-FR" dirty="0" err="1"/>
                        <a:t>Revisions</a:t>
                      </a:r>
                      <a:r>
                        <a:rPr lang="fr-FR" dirty="0"/>
                        <a:t> / Blue-Green</a:t>
                      </a:r>
                    </a:p>
                  </a:txBody>
                  <a:tcPr anchor="ctr">
                    <a:lnL>
                      <a:noFill/>
                    </a:lnL>
                    <a:lnR>
                      <a:noFill/>
                    </a:lnR>
                    <a:lnT>
                      <a:noFill/>
                    </a:lnT>
                    <a:lnB>
                      <a:noFill/>
                    </a:lnB>
                    <a:noFill/>
                  </a:tcPr>
                </a:tc>
                <a:extLst>
                  <a:ext uri="{0D108BD9-81ED-4DB2-BD59-A6C34878D82A}">
                    <a16:rowId xmlns:a16="http://schemas.microsoft.com/office/drawing/2014/main" val="2188258539"/>
                  </a:ext>
                </a:extLst>
              </a:tr>
            </a:tbl>
          </a:graphicData>
        </a:graphic>
      </p:graphicFrame>
    </p:spTree>
    <p:extLst>
      <p:ext uri="{BB962C8B-B14F-4D97-AF65-F5344CB8AC3E}">
        <p14:creationId xmlns:p14="http://schemas.microsoft.com/office/powerpoint/2010/main" val="230603460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EDAEE-36C4-39D7-04C4-6973AA766A02}"/>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CD9B6CF-390B-D8F0-C8B3-D12B5DAC1667}"/>
              </a:ext>
            </a:extLst>
          </p:cNvPr>
          <p:cNvSpPr>
            <a:spLocks noGrp="1"/>
          </p:cNvSpPr>
          <p:nvPr>
            <p:ph type="body" sz="quarter" idx="11"/>
          </p:nvPr>
        </p:nvSpPr>
        <p:spPr/>
        <p:txBody>
          <a:bodyPr/>
          <a:lstStyle/>
          <a:p>
            <a:r>
              <a:rPr lang="fr-FR" dirty="0"/>
              <a:t>Quizz 13</a:t>
            </a:r>
          </a:p>
        </p:txBody>
      </p:sp>
      <p:sp>
        <p:nvSpPr>
          <p:cNvPr id="3" name="Espace réservé du texte 2">
            <a:extLst>
              <a:ext uri="{FF2B5EF4-FFF2-40B4-BE49-F238E27FC236}">
                <a16:creationId xmlns:a16="http://schemas.microsoft.com/office/drawing/2014/main" id="{BF522880-DB1F-60C6-7932-FFDB3CF4910E}"/>
              </a:ext>
            </a:extLst>
          </p:cNvPr>
          <p:cNvSpPr>
            <a:spLocks noGrp="1"/>
          </p:cNvSpPr>
          <p:nvPr>
            <p:ph type="body" sz="quarter" idx="12"/>
          </p:nvPr>
        </p:nvSpPr>
        <p:spPr>
          <a:xfrm>
            <a:off x="2604868" y="3501008"/>
            <a:ext cx="5624732" cy="1432560"/>
          </a:xfrm>
        </p:spPr>
        <p:txBody>
          <a:bodyPr/>
          <a:lstStyle/>
          <a:p>
            <a:r>
              <a:rPr lang="pt-BR" dirty="0"/>
              <a:t>Azure Cosmos DB for NoSQL</a:t>
            </a:r>
          </a:p>
        </p:txBody>
      </p:sp>
    </p:spTree>
    <p:extLst>
      <p:ext uri="{BB962C8B-B14F-4D97-AF65-F5344CB8AC3E}">
        <p14:creationId xmlns:p14="http://schemas.microsoft.com/office/powerpoint/2010/main" val="247980754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modèle de données est utilisé par Azure Cosmos DB for NoSQL ?</a:t>
            </a:r>
            <a:endParaRPr lang="fr-FR" sz="2000" dirty="0"/>
          </a:p>
          <a:p>
            <a:pPr marL="457200" indent="-457200">
              <a:buFont typeface="+mj-lt"/>
              <a:buAutoNum type="arabicPeriod"/>
              <a:defRPr sz="2400"/>
            </a:pPr>
            <a:r>
              <a:rPr lang="fr-FR" sz="2000" dirty="0"/>
              <a:t>Relationnel</a:t>
            </a:r>
          </a:p>
          <a:p>
            <a:pPr marL="457200" indent="-457200">
              <a:buFont typeface="+mj-lt"/>
              <a:buAutoNum type="arabicPeriod"/>
              <a:defRPr sz="2400"/>
            </a:pPr>
            <a:r>
              <a:rPr lang="fr-FR" sz="2000" dirty="0"/>
              <a:t>Clé/Valeur uniquement</a:t>
            </a:r>
          </a:p>
          <a:p>
            <a:pPr marL="457200" indent="-457200">
              <a:buFont typeface="+mj-lt"/>
              <a:buAutoNum type="arabicPeriod"/>
              <a:defRPr sz="2400"/>
            </a:pPr>
            <a:r>
              <a:rPr lang="fr-FR" sz="2000" dirty="0"/>
              <a:t>XML</a:t>
            </a:r>
          </a:p>
          <a:p>
            <a:pPr marL="457200" indent="-457200">
              <a:buFont typeface="+mj-lt"/>
              <a:buAutoNum type="arabicPeriod"/>
              <a:defRPr sz="2400"/>
            </a:pPr>
            <a:r>
              <a:rPr lang="fr-FR" sz="2000" dirty="0"/>
              <a:t>Document JSON</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039931" cy="1077218"/>
          </a:xfrm>
          <a:prstGeom prst="rect">
            <a:avLst/>
          </a:prstGeom>
          <a:noFill/>
        </p:spPr>
        <p:txBody>
          <a:bodyPr wrap="square">
            <a:spAutoFit/>
          </a:bodyPr>
          <a:lstStyle/>
          <a:p>
            <a:pPr>
              <a:defRPr sz="1600"/>
            </a:pPr>
            <a:r>
              <a:rPr dirty="0"/>
              <a:t>L'API native Azure Cosmos DB for NoSQL stocke les entités sous forme de documents JSON (JavaScript Object Notation). Les structures de données peuvent être dénormalisées et inclure des objets ou des tableaux fortement imbriqués sans schéma rigide imposé.</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7626" y="256893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champ doit obligatoirement être présent dans chaque document JSON au sein d'un conteneur Cosmos DB ?</a:t>
            </a:r>
            <a:endParaRPr lang="fr-FR" sz="2000" dirty="0"/>
          </a:p>
          <a:p>
            <a:pPr marL="457200" indent="-457200">
              <a:buFont typeface="+mj-lt"/>
              <a:buAutoNum type="arabicPeriod"/>
              <a:defRPr sz="2400"/>
            </a:pPr>
            <a:r>
              <a:rPr lang="fr-FR" sz="2000" dirty="0"/>
              <a:t>id</a:t>
            </a:r>
          </a:p>
          <a:p>
            <a:pPr marL="457200" indent="-457200">
              <a:buFont typeface="+mj-lt"/>
              <a:buAutoNum type="arabicPeriod"/>
              <a:defRPr sz="2400"/>
            </a:pPr>
            <a:r>
              <a:rPr lang="fr-FR" sz="2000" dirty="0"/>
              <a:t>partitionKey</a:t>
            </a:r>
          </a:p>
          <a:p>
            <a:pPr marL="457200" indent="-457200">
              <a:buFont typeface="+mj-lt"/>
              <a:buAutoNum type="arabicPeriod"/>
              <a:defRPr sz="2400"/>
            </a:pPr>
            <a:r>
              <a:rPr lang="fr-FR" sz="2000" dirty="0"/>
              <a:t>userId</a:t>
            </a:r>
          </a:p>
          <a:p>
            <a:pPr marL="457200" indent="-457200">
              <a:buFont typeface="+mj-lt"/>
              <a:buAutoNum type="arabicPeriod"/>
              <a:defRPr sz="2400"/>
            </a:pPr>
            <a:r>
              <a:rPr lang="fr-FR" sz="2000" dirty="0"/>
              <a:t>score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403604" y="4665544"/>
            <a:ext cx="8008403" cy="830997"/>
          </a:xfrm>
          <a:prstGeom prst="rect">
            <a:avLst/>
          </a:prstGeom>
          <a:noFill/>
        </p:spPr>
        <p:txBody>
          <a:bodyPr wrap="square">
            <a:spAutoFit/>
          </a:bodyPr>
          <a:lstStyle/>
          <a:p>
            <a:pPr>
              <a:defRPr sz="1600"/>
            </a:pPr>
            <a:r>
              <a:rPr dirty="0"/>
              <a:t>Chaque document stocké dans Cosmos DB doit obligatoirement comporter une propriété nommée 'id' (en minuscules) de type chaîne de caractères (string). Cet identifiant doit être strictement unique au sein d'une même partition logique.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5"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représente une Request Unit (RU) dans Cosmos DB ?</a:t>
            </a:r>
            <a:endParaRPr lang="fr-FR" sz="2000" dirty="0"/>
          </a:p>
          <a:p>
            <a:pPr marL="457200" indent="-457200">
              <a:buFont typeface="+mj-lt"/>
              <a:buAutoNum type="arabicPeriod"/>
              <a:defRPr sz="2400"/>
            </a:pPr>
            <a:r>
              <a:rPr lang="fr-FR" sz="2000" dirty="0"/>
              <a:t>La taille maximale d'un document</a:t>
            </a:r>
          </a:p>
          <a:p>
            <a:pPr marL="457200" indent="-457200">
              <a:buFont typeface="+mj-lt"/>
              <a:buAutoNum type="arabicPeriod"/>
              <a:defRPr sz="2400"/>
            </a:pPr>
            <a:r>
              <a:rPr lang="fr-FR" sz="2000" dirty="0"/>
              <a:t>Une unité de coût d'une opération</a:t>
            </a:r>
          </a:p>
          <a:p>
            <a:pPr marL="457200" indent="-457200">
              <a:buFont typeface="+mj-lt"/>
              <a:buAutoNum type="arabicPeriod"/>
              <a:defRPr sz="2400"/>
            </a:pPr>
            <a:r>
              <a:rPr lang="fr-FR" sz="2000" dirty="0"/>
              <a:t>Le nombre de partitions physiques</a:t>
            </a:r>
          </a:p>
          <a:p>
            <a:pPr marL="457200" indent="-457200">
              <a:buFont typeface="+mj-lt"/>
              <a:buAutoNum type="arabicPeriod"/>
              <a:defRPr sz="2400"/>
            </a:pPr>
            <a:r>
              <a:rPr lang="fr-FR" sz="2000" dirty="0"/>
              <a:t>La quantité de stockage utilisée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6871489" cy="1077218"/>
          </a:xfrm>
          <a:prstGeom prst="rect">
            <a:avLst/>
          </a:prstGeom>
          <a:noFill/>
        </p:spPr>
        <p:txBody>
          <a:bodyPr wrap="square">
            <a:spAutoFit/>
          </a:bodyPr>
          <a:lstStyle/>
          <a:p>
            <a:pPr>
              <a:defRPr sz="1600"/>
            </a:pPr>
            <a:r>
              <a:rPr dirty="0"/>
              <a:t>Une unité de requête (Request Unit - RU) est l'unité de mesure de performance et de coût dans Azure Cosmos DB. Elle abstrait les ressources matérielles (CPU, mémoire, IOPS) nécessaires pour exécuter une opération de base de données (lecture, écriture, requête, exécution de procédure stockée).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généralement le moyen le plus économique et le plus rapide de récupérer un document Cosmos DB ?</a:t>
            </a:r>
            <a:endParaRPr lang="fr-FR" sz="2000" dirty="0"/>
          </a:p>
          <a:p>
            <a:pPr marL="457200" indent="-457200">
              <a:buFont typeface="+mj-lt"/>
              <a:buAutoNum type="arabicPeriod"/>
              <a:defRPr sz="2400"/>
            </a:pPr>
            <a:r>
              <a:rPr lang="fr-FR" sz="2000" dirty="0"/>
              <a:t>SELECT * FROM c WHERE c.id = @id</a:t>
            </a:r>
          </a:p>
          <a:p>
            <a:pPr marL="457200" indent="-457200">
              <a:buFont typeface="+mj-lt"/>
              <a:buAutoNum type="arabicPeriod"/>
              <a:defRPr sz="2400"/>
            </a:pPr>
            <a:r>
              <a:rPr lang="fr-FR" sz="2000" dirty="0"/>
              <a:t>Point </a:t>
            </a:r>
            <a:r>
              <a:rPr lang="fr-FR" sz="2000" dirty="0" err="1"/>
              <a:t>ReadORDER</a:t>
            </a:r>
            <a:r>
              <a:rPr lang="fr-FR" sz="2000" dirty="0"/>
              <a:t> BY c._ts DESC</a:t>
            </a:r>
          </a:p>
          <a:p>
            <a:pPr marL="457200" indent="-457200">
              <a:buFont typeface="+mj-lt"/>
              <a:buAutoNum type="arabicPeriod"/>
              <a:defRPr sz="2400"/>
            </a:pPr>
            <a:r>
              <a:rPr lang="fr-FR" sz="2000" dirty="0"/>
              <a:t>L'utilisation d'une clause JOIN</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6851437" cy="1323439"/>
          </a:xfrm>
          <a:prstGeom prst="rect">
            <a:avLst/>
          </a:prstGeom>
          <a:noFill/>
        </p:spPr>
        <p:txBody>
          <a:bodyPr wrap="square">
            <a:spAutoFit/>
          </a:bodyPr>
          <a:lstStyle/>
          <a:p>
            <a:pPr>
              <a:defRPr sz="1600"/>
            </a:pPr>
            <a:r>
              <a:rPr dirty="0"/>
              <a:t>Un 'Point Read' (lecture </a:t>
            </a:r>
            <a:r>
              <a:rPr dirty="0" err="1"/>
              <a:t>répertoirée</a:t>
            </a:r>
            <a:r>
              <a:rPr lang="fr-FR" dirty="0"/>
              <a:t> – </a:t>
            </a:r>
            <a:r>
              <a:rPr lang="fr-FR" dirty="0" err="1"/>
              <a:t>methode</a:t>
            </a:r>
            <a:r>
              <a:rPr lang="fr-FR" dirty="0"/>
              <a:t> </a:t>
            </a:r>
            <a:r>
              <a:rPr lang="fr-FR" dirty="0" err="1"/>
              <a:t>ReadItemAsync</a:t>
            </a:r>
            <a:r>
              <a:rPr lang="fr-FR" dirty="0"/>
              <a:t>()</a:t>
            </a:r>
            <a:r>
              <a:rPr dirty="0"/>
              <a:t>) est un accès direct clé-valeur qui contourne le moteur d'exécution des requêtes SQL. En fournissant simultanément l'identifiant ('id') et la clé de partition ('partition key'), Cosmos DB localise instantanément le document pour un coût fixe de 1 RU (pour 1 Ko), ce qui </a:t>
            </a:r>
            <a:r>
              <a:rPr dirty="0" err="1"/>
              <a:t>est</a:t>
            </a:r>
            <a:r>
              <a:rPr dirty="0"/>
              <a:t> </a:t>
            </a:r>
            <a:r>
              <a:rPr lang="fr-FR" dirty="0"/>
              <a:t>2</a:t>
            </a:r>
            <a:r>
              <a:rPr dirty="0"/>
              <a:t> fois moins coûteux qu'une requête SQL équivalente.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7637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le choix de la clé de partition (partition key) est-il crucial lors de la configuration d'un conteneur Cosmos DB ?</a:t>
            </a:r>
            <a:endParaRPr lang="fr-FR" sz="2000" dirty="0"/>
          </a:p>
          <a:p>
            <a:pPr marL="457200" indent="-457200">
              <a:buFont typeface="+mj-lt"/>
              <a:buAutoNum type="arabicPeriod"/>
              <a:defRPr sz="2400"/>
            </a:pPr>
            <a:r>
              <a:rPr lang="fr-FR" sz="2000" dirty="0"/>
              <a:t>Pour automatiser le chiffrement des données au repos</a:t>
            </a:r>
          </a:p>
          <a:p>
            <a:pPr marL="457200" indent="-457200">
              <a:buFont typeface="+mj-lt"/>
              <a:buAutoNum type="arabicPeriod"/>
              <a:defRPr sz="2400"/>
            </a:pPr>
            <a:r>
              <a:rPr lang="fr-FR" sz="2000" dirty="0"/>
              <a:t>Pour distribuer équitablement les données et la charge de requêtes (RU)</a:t>
            </a:r>
          </a:p>
          <a:p>
            <a:pPr marL="457200" indent="-457200">
              <a:buFont typeface="+mj-lt"/>
              <a:buAutoNum type="arabicPeriod"/>
              <a:defRPr sz="2400"/>
            </a:pPr>
            <a:r>
              <a:rPr lang="fr-FR" sz="2000" dirty="0"/>
              <a:t>Pour réduire artificiellement la taille de stockage des documents JSON</a:t>
            </a:r>
          </a:p>
          <a:p>
            <a:pPr marL="457200" indent="-457200">
              <a:buFont typeface="+mj-lt"/>
              <a:buAutoNum type="arabicPeriod"/>
              <a:defRPr sz="2400"/>
            </a:pPr>
            <a:r>
              <a:rPr lang="fr-FR" sz="2000" dirty="0"/>
              <a:t>Pour définir les droits d'accès RBAC des utilisateurs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055974" cy="1323439"/>
          </a:xfrm>
          <a:prstGeom prst="rect">
            <a:avLst/>
          </a:prstGeom>
          <a:noFill/>
        </p:spPr>
        <p:txBody>
          <a:bodyPr wrap="square">
            <a:spAutoFit/>
          </a:bodyPr>
          <a:lstStyle/>
          <a:p>
            <a:pPr>
              <a:defRPr sz="1600"/>
            </a:pPr>
            <a:r>
              <a:rPr dirty="0"/>
              <a:t>La clé de partition détermine la manière dont Cosmos DB distribue logiquement et physiquement les données entre les serveurs sous-jacents. Une clé bien choisie doit avoir une cardinalité élevée pour répartir équitablement le stockage et la consommation des RU, évitant ainsi la création de partitions chaudes ('hot partitions') qui saturent le conteneur.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6835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niveau de cohérence (consistency level) Cosmos DB garantit que les clients lisent systématiquement la version la plus récente d'un document ?</a:t>
            </a:r>
            <a:endParaRPr lang="fr-FR" sz="2000" dirty="0"/>
          </a:p>
          <a:p>
            <a:pPr marL="457200" indent="-457200">
              <a:buFont typeface="+mj-lt"/>
              <a:buAutoNum type="arabicPeriod"/>
              <a:defRPr sz="2400"/>
            </a:pPr>
            <a:r>
              <a:rPr lang="fr-FR" sz="2000" dirty="0"/>
              <a:t>Session</a:t>
            </a:r>
          </a:p>
          <a:p>
            <a:pPr marL="457200" indent="-457200">
              <a:buFont typeface="+mj-lt"/>
              <a:buAutoNum type="arabicPeriod"/>
              <a:defRPr sz="2400"/>
            </a:pPr>
            <a:r>
              <a:rPr lang="fr-FR" sz="2000" dirty="0"/>
              <a:t>Consistent Prefix</a:t>
            </a:r>
          </a:p>
          <a:p>
            <a:pPr marL="457200" indent="-457200">
              <a:buFont typeface="+mj-lt"/>
              <a:buAutoNum type="arabicPeriod"/>
              <a:defRPr sz="2400"/>
            </a:pPr>
            <a:r>
              <a:rPr lang="fr-FR" sz="2000" dirty="0"/>
              <a:t>Eventual</a:t>
            </a:r>
          </a:p>
          <a:p>
            <a:pPr marL="457200" indent="-457200">
              <a:buFont typeface="+mj-lt"/>
              <a:buAutoNum type="arabicPeriod"/>
              <a:defRPr sz="2400"/>
            </a:pPr>
            <a:r>
              <a:rPr lang="fr-FR" sz="2000" dirty="0"/>
              <a:t>Strong</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386771" cy="1077218"/>
          </a:xfrm>
          <a:prstGeom prst="rect">
            <a:avLst/>
          </a:prstGeom>
          <a:noFill/>
        </p:spPr>
        <p:txBody>
          <a:bodyPr wrap="square">
            <a:spAutoFit/>
          </a:bodyPr>
          <a:lstStyle/>
          <a:p>
            <a:pPr>
              <a:defRPr sz="1600"/>
            </a:pPr>
            <a:r>
              <a:rPr dirty="0"/>
              <a:t>Le niveau de cohérence Forte ('Strong') offre des garanties similaires à une base relationnelle ACID classique. Il garantit qu'une lecture retourne toujours la version la plus récente d'un document ayant fait l'objet d'une écriture validée. Pour cela, l'écriture doit être répliquée sur un quorum de régions avant d'être acquittée.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3406" y="285790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niveau de cohérence par défaut d'un compte Azure Cosmos DB nouvellement créé ?</a:t>
            </a:r>
            <a:endParaRPr lang="fr-FR" sz="2000" dirty="0"/>
          </a:p>
          <a:p>
            <a:pPr marL="457200" indent="-457200">
              <a:buFont typeface="+mj-lt"/>
              <a:buAutoNum type="arabicPeriod"/>
              <a:defRPr sz="2400"/>
            </a:pPr>
            <a:r>
              <a:rPr lang="fr-FR" sz="2000" dirty="0"/>
              <a:t>Strong</a:t>
            </a:r>
          </a:p>
          <a:p>
            <a:pPr marL="457200" indent="-457200">
              <a:buFont typeface="+mj-lt"/>
              <a:buAutoNum type="arabicPeriod"/>
              <a:defRPr sz="2400"/>
            </a:pPr>
            <a:r>
              <a:rPr lang="fr-FR" sz="2000" dirty="0"/>
              <a:t>Session</a:t>
            </a:r>
          </a:p>
          <a:p>
            <a:pPr marL="457200" indent="-457200">
              <a:buFont typeface="+mj-lt"/>
              <a:buAutoNum type="arabicPeriod"/>
              <a:defRPr sz="2400"/>
            </a:pPr>
            <a:r>
              <a:rPr lang="fr-FR" sz="2000" dirty="0"/>
              <a:t>Eventual</a:t>
            </a:r>
          </a:p>
          <a:p>
            <a:pPr marL="457200" indent="-457200">
              <a:buFont typeface="+mj-lt"/>
              <a:buAutoNum type="arabicPeriod"/>
              <a:defRPr sz="2400"/>
            </a:pPr>
            <a:r>
              <a:rPr lang="fr-FR" sz="2000" dirty="0"/>
              <a:t>Bounded Staleness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5724479" cy="1569660"/>
          </a:xfrm>
          <a:prstGeom prst="rect">
            <a:avLst/>
          </a:prstGeom>
          <a:noFill/>
        </p:spPr>
        <p:txBody>
          <a:bodyPr wrap="square">
            <a:spAutoFit/>
          </a:bodyPr>
          <a:lstStyle/>
          <a:p>
            <a:pPr>
              <a:defRPr sz="1600"/>
            </a:pPr>
            <a:r>
              <a:rPr dirty="0"/>
              <a:t>Le niveau de cohérence de Session ('Session') est configuré par défaut. Il offre une cohérence maximale (lectures monotones, écriture suit la lecture) à l'échelle d'une session client unique. Si un serveur écrit une donnée, il est assuré de la relire immédiatement, tandis que les autres clients verront la modification de manière asynchrone mais ordonnée.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5958" y="224830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mécanisme natif permet de suivre et de réagir en temps réel aux modifications (insertions et mises à jour) de documents dans un conteneur Cosmos DB ?</a:t>
            </a:r>
            <a:endParaRPr lang="fr-FR" sz="2000" dirty="0"/>
          </a:p>
          <a:p>
            <a:pPr marL="457200" indent="-457200">
              <a:buFont typeface="+mj-lt"/>
              <a:buAutoNum type="arabicPeriod"/>
              <a:defRPr sz="2400"/>
            </a:pPr>
            <a:r>
              <a:rPr lang="fr-FR" sz="2000" dirty="0"/>
              <a:t>TTL (Time to Live)</a:t>
            </a:r>
          </a:p>
          <a:p>
            <a:pPr marL="457200" indent="-457200">
              <a:buFont typeface="+mj-lt"/>
              <a:buAutoNum type="arabicPeriod"/>
              <a:defRPr sz="2400"/>
            </a:pPr>
            <a:r>
              <a:rPr lang="fr-FR" sz="2000" dirty="0"/>
              <a:t>Change Feed</a:t>
            </a:r>
          </a:p>
          <a:p>
            <a:pPr marL="457200" indent="-457200">
              <a:buFont typeface="+mj-lt"/>
              <a:buAutoNum type="arabicPeriod"/>
              <a:defRPr sz="2400"/>
            </a:pPr>
            <a:r>
              <a:rPr lang="fr-FR" sz="2000" dirty="0"/>
              <a:t>Stored Procedure (Procédure stockée)</a:t>
            </a:r>
          </a:p>
          <a:p>
            <a:pPr marL="457200" indent="-457200">
              <a:buFont typeface="+mj-lt"/>
              <a:buAutoNum type="arabicPeriod"/>
              <a:defRPr sz="2400"/>
            </a:pPr>
            <a:r>
              <a:rPr lang="fr-FR" sz="2000" dirty="0"/>
              <a:t>Index Policy</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557289" cy="1323439"/>
          </a:xfrm>
          <a:prstGeom prst="rect">
            <a:avLst/>
          </a:prstGeom>
          <a:noFill/>
        </p:spPr>
        <p:txBody>
          <a:bodyPr wrap="square">
            <a:spAutoFit/>
          </a:bodyPr>
          <a:lstStyle/>
          <a:p>
            <a:pPr>
              <a:defRPr sz="1600"/>
            </a:pPr>
            <a:r>
              <a:rPr dirty="0"/>
              <a:t>Le flux de modification (Change Feed) écoute en continu le conteneur Cosmos DB et expose un journal trié et persistant des modifications apportées aux documents (uniquement les créations et les modifications, pas les suppressions par défaut). Les applications peuvent consommer ce flux de manière asynchrone pour déclencher des traitements logiques.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55310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scénario d'architecture applicative est particulièrement adapté à l'utilisation du Change Feed ?</a:t>
            </a:r>
            <a:endParaRPr lang="fr-FR" sz="2000" dirty="0"/>
          </a:p>
          <a:p>
            <a:pPr marL="457200" indent="-457200">
              <a:buFont typeface="+mj-lt"/>
              <a:buAutoNum type="arabicPeriod"/>
              <a:defRPr sz="2400"/>
            </a:pPr>
            <a:r>
              <a:rPr lang="fr-FR" sz="2000" dirty="0"/>
              <a:t>Sauvegarder des fichiers de logs dans Azure Blob Storage</a:t>
            </a:r>
          </a:p>
          <a:p>
            <a:pPr marL="457200" indent="-457200">
              <a:buFont typeface="+mj-lt"/>
              <a:buAutoNum type="arabicPeriod"/>
              <a:defRPr sz="2400"/>
            </a:pPr>
            <a:r>
              <a:rPr lang="fr-FR" sz="2000" dirty="0"/>
              <a:t>Déclencher une Azure Function pour envoyer un e-mail dès qu'une commande est enregistrée</a:t>
            </a:r>
          </a:p>
          <a:p>
            <a:pPr marL="457200" indent="-457200">
              <a:buFont typeface="+mj-lt"/>
              <a:buAutoNum type="arabicPeriod"/>
              <a:defRPr sz="2400"/>
            </a:pPr>
            <a:r>
              <a:rPr lang="fr-FR" sz="2000" dirty="0"/>
              <a:t>Forcer la réindexation immédiate d'une partition physique</a:t>
            </a:r>
          </a:p>
          <a:p>
            <a:pPr marL="457200" indent="-457200">
              <a:buFont typeface="+mj-lt"/>
              <a:buAutoNum type="arabicPeriod"/>
              <a:defRPr sz="2400"/>
            </a:pPr>
            <a:r>
              <a:rPr lang="fr-FR" sz="2000" dirty="0"/>
              <a:t>Modifier dynamiquement la politique de distribution globale du compte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6735131" cy="1323439"/>
          </a:xfrm>
          <a:prstGeom prst="rect">
            <a:avLst/>
          </a:prstGeom>
          <a:noFill/>
        </p:spPr>
        <p:txBody>
          <a:bodyPr wrap="square">
            <a:spAutoFit/>
          </a:bodyPr>
          <a:lstStyle/>
          <a:p>
            <a:pPr>
              <a:defRPr sz="1600"/>
            </a:pPr>
            <a:r>
              <a:rPr dirty="0"/>
              <a:t>Le Change Feed est idéal pour les architectures réactives. En utilisant le déclencheur natif 'Cosmos DB Trigger' pour Azure Functions, l'infrastructure exécute automatiquement du code personnalisé dès qu'un document JSON est inséré ou modifié dans la base de données, sans avoir à faire de requêtes répétitives (polling) coûteuses.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353" y="232668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À quoi sert la fonctionnalité TTL (Time To Live) dans Azure Cosmos DB ?</a:t>
            </a:r>
            <a:endParaRPr lang="fr-FR" sz="2000" dirty="0"/>
          </a:p>
          <a:p>
            <a:pPr marL="457200" indent="-457200">
              <a:buFont typeface="+mj-lt"/>
              <a:buAutoNum type="arabicPeriod"/>
              <a:defRPr sz="2400"/>
            </a:pPr>
            <a:r>
              <a:rPr lang="fr-FR" sz="2000" dirty="0"/>
              <a:t>Limiter la taille maximale d'un conteneur en octets</a:t>
            </a:r>
          </a:p>
          <a:p>
            <a:pPr marL="457200" indent="-457200">
              <a:buFont typeface="+mj-lt"/>
              <a:buAutoNum type="arabicPeriod"/>
              <a:defRPr sz="2400"/>
            </a:pPr>
            <a:r>
              <a:rPr lang="fr-FR" sz="2000" dirty="0"/>
              <a:t>Supprimer automatiquement des documents après une durée d'inactivité spécifiée</a:t>
            </a:r>
          </a:p>
          <a:p>
            <a:pPr marL="457200" indent="-457200">
              <a:buFont typeface="+mj-lt"/>
              <a:buAutoNum type="arabicPeriod"/>
              <a:defRPr sz="2400"/>
            </a:pPr>
            <a:r>
              <a:rPr lang="fr-FR" sz="2000" dirty="0"/>
              <a:t>Planifier des instantanés (backups) automatiques vers un compte de stockage</a:t>
            </a:r>
          </a:p>
          <a:p>
            <a:pPr marL="457200" indent="-457200">
              <a:buFont typeface="+mj-lt"/>
              <a:buAutoNum type="arabicPeriod"/>
              <a:defRPr sz="2400"/>
            </a:pPr>
            <a:r>
              <a:rPr lang="fr-FR" sz="2000" dirty="0"/>
              <a:t>Compresser les vieux documents pour économiser les coûts de stockage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386771" cy="1323439"/>
          </a:xfrm>
          <a:prstGeom prst="rect">
            <a:avLst/>
          </a:prstGeom>
          <a:noFill/>
        </p:spPr>
        <p:txBody>
          <a:bodyPr wrap="square">
            <a:spAutoFit/>
          </a:bodyPr>
          <a:lstStyle/>
          <a:p>
            <a:pPr>
              <a:defRPr sz="1600"/>
            </a:pPr>
            <a:r>
              <a:rPr dirty="0"/>
              <a:t>Le Time to Live (TTL) permet de définir une durée de vie (exprimée en secondes) au niveau d'un conteneur complet ou de manière chirurgicale sur un document spécifique. Une fois la durée écoulée depuis la dernière modification, Cosmos DB supprime automatiquement le document en arrière-plan sans consommer les RU de votre forfait.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5" y="208788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mécanisme géré par Cosmos DB permet de détecter et d'éviter les conflits d'écritures concurrentes (Optimistic Concurrency Control) ?</a:t>
            </a:r>
            <a:endParaRPr lang="fr-FR" sz="2000" dirty="0"/>
          </a:p>
          <a:p>
            <a:pPr marL="457200" indent="-457200">
              <a:buFont typeface="+mj-lt"/>
              <a:buAutoNum type="arabicPeriod"/>
              <a:defRPr sz="2400"/>
            </a:pPr>
            <a:r>
              <a:rPr lang="fr-FR" sz="2000" dirty="0"/>
              <a:t>La propriété de hachage de la Partition Key</a:t>
            </a:r>
          </a:p>
          <a:p>
            <a:pPr marL="457200" indent="-457200">
              <a:buFont typeface="+mj-lt"/>
              <a:buAutoNum type="arabicPeriod"/>
              <a:defRPr sz="2400"/>
            </a:pPr>
            <a:r>
              <a:rPr lang="fr-FR" sz="2000" dirty="0"/>
              <a:t>Le suivi strict de l'utilisation des RU applicatives</a:t>
            </a:r>
          </a:p>
          <a:p>
            <a:pPr marL="457200" indent="-457200">
              <a:buFont typeface="+mj-lt"/>
              <a:buAutoNum type="arabicPeriod"/>
              <a:defRPr sz="2400"/>
            </a:pPr>
            <a:r>
              <a:rPr lang="fr-FR" sz="2000" dirty="0"/>
              <a:t>La propriété système _etag</a:t>
            </a:r>
          </a:p>
          <a:p>
            <a:pPr marL="457200" indent="-457200">
              <a:buFont typeface="+mj-lt"/>
              <a:buAutoNum type="arabicPeriod"/>
              <a:defRPr sz="2400"/>
            </a:pPr>
            <a:r>
              <a:rPr lang="fr-FR" sz="2000" dirty="0"/>
              <a:t>La politique d'expiration de données TTL</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7180300" cy="1323439"/>
          </a:xfrm>
          <a:prstGeom prst="rect">
            <a:avLst/>
          </a:prstGeom>
          <a:noFill/>
        </p:spPr>
        <p:txBody>
          <a:bodyPr wrap="square">
            <a:spAutoFit/>
          </a:bodyPr>
          <a:lstStyle/>
          <a:p>
            <a:pPr>
              <a:defRPr sz="1600"/>
            </a:pPr>
            <a:r>
              <a:rPr dirty="0"/>
              <a:t>Chaque fois qu'un document est créé ou modifié, Cosmos DB lui attribue automatiquement une valeur unique de jeton système nommée '_etag'. Lors d'une mise à jour, le client renvoie cet _etag via les en-têtes de requête (AccessCondition). Si l'_etag a changé entre-temps sur le serveur, l'opération échoue, signalant qu'un autre utilisateur a modifié le document en parallèle.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3459" y="257716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API Azure Cosmos DB est recommandée pour la création de nouveaux développements applicatifs clouds natifs ?</a:t>
            </a:r>
            <a:endParaRPr lang="fr-FR" sz="2000" dirty="0"/>
          </a:p>
          <a:p>
            <a:pPr marL="457200" indent="-457200">
              <a:buFont typeface="+mj-lt"/>
              <a:buAutoNum type="arabicPeriod"/>
              <a:defRPr sz="2400"/>
            </a:pPr>
            <a:r>
              <a:rPr lang="fr-FR" sz="2000" dirty="0"/>
              <a:t>Gremlin (Graph API)</a:t>
            </a:r>
          </a:p>
          <a:p>
            <a:pPr marL="457200" indent="-457200">
              <a:buFont typeface="+mj-lt"/>
              <a:buAutoNum type="arabicPeriod"/>
              <a:defRPr sz="2400"/>
            </a:pPr>
            <a:r>
              <a:rPr lang="fr-FR" sz="2000" dirty="0"/>
              <a:t>MongoDB API</a:t>
            </a:r>
          </a:p>
          <a:p>
            <a:pPr marL="457200" indent="-457200">
              <a:buFont typeface="+mj-lt"/>
              <a:buAutoNum type="arabicPeriod"/>
              <a:defRPr sz="2400"/>
            </a:pPr>
            <a:r>
              <a:rPr lang="fr-FR" sz="2000" dirty="0"/>
              <a:t>Cassandra API</a:t>
            </a:r>
          </a:p>
          <a:p>
            <a:pPr marL="457200" indent="-457200">
              <a:buFont typeface="+mj-lt"/>
              <a:buAutoNum type="arabicPeriod"/>
              <a:defRPr sz="2400"/>
            </a:pPr>
            <a:r>
              <a:rPr lang="fr-FR" sz="2000" dirty="0"/>
              <a:t>NoSQL (anciennement Core API)</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160247" cy="1077218"/>
          </a:xfrm>
          <a:prstGeom prst="rect">
            <a:avLst/>
          </a:prstGeom>
          <a:noFill/>
        </p:spPr>
        <p:txBody>
          <a:bodyPr wrap="square">
            <a:spAutoFit/>
          </a:bodyPr>
          <a:lstStyle/>
          <a:p>
            <a:pPr>
              <a:defRPr sz="1600"/>
            </a:pPr>
            <a:r>
              <a:rPr dirty="0"/>
              <a:t>L'API for NoSQL est l'API native historique de Cosmos DB. C'est elle qui implémente les fonctionnalités du produit en premier, qui offre les meilleures performances (latence la plus faible), les SDK les plus complets et qui utilise une syntaxe de requête familière proche du SQL traditionnel.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86993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API Cosmos DB devez-vous sélectionner si vous souhaitez migrer une application existante qui utilise des pilotes et du code basés sur MongoDB ?</a:t>
            </a:r>
            <a:endParaRPr lang="fr-FR" sz="2000" dirty="0"/>
          </a:p>
          <a:p>
            <a:pPr marL="457200" indent="-457200">
              <a:buFont typeface="+mj-lt"/>
              <a:buAutoNum type="arabicPeriod"/>
              <a:defRPr sz="2400"/>
            </a:pPr>
            <a:r>
              <a:rPr lang="fr-FR" sz="2000" dirty="0"/>
              <a:t>NoSQL</a:t>
            </a:r>
          </a:p>
          <a:p>
            <a:pPr marL="457200" indent="-457200">
              <a:buFont typeface="+mj-lt"/>
              <a:buAutoNum type="arabicPeriod"/>
              <a:defRPr sz="2400"/>
            </a:pPr>
            <a:r>
              <a:rPr lang="fr-FR" sz="2000" dirty="0"/>
              <a:t>Gremlin</a:t>
            </a:r>
          </a:p>
          <a:p>
            <a:pPr marL="457200" indent="-457200">
              <a:buFont typeface="+mj-lt"/>
              <a:buAutoNum type="arabicPeriod"/>
              <a:defRPr sz="2400"/>
            </a:pPr>
            <a:r>
              <a:rPr lang="fr-FR" sz="2000" dirty="0"/>
              <a:t>MongoDB</a:t>
            </a:r>
          </a:p>
          <a:p>
            <a:pPr marL="457200" indent="-457200">
              <a:buFont typeface="+mj-lt"/>
              <a:buAutoNum type="arabicPeriod"/>
              <a:defRPr sz="2400"/>
            </a:pPr>
            <a:r>
              <a:rPr lang="fr-FR" sz="2000" dirty="0"/>
              <a:t>Table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7316658" cy="1323439"/>
          </a:xfrm>
          <a:prstGeom prst="rect">
            <a:avLst/>
          </a:prstGeom>
          <a:noFill/>
        </p:spPr>
        <p:txBody>
          <a:bodyPr wrap="square">
            <a:spAutoFit/>
          </a:bodyPr>
          <a:lstStyle/>
          <a:p>
            <a:pPr>
              <a:defRPr sz="1600"/>
            </a:pPr>
            <a:r>
              <a:rPr dirty="0"/>
              <a:t>L'API Azure Cosmos DB for MongoDB implémente le protocole de communication filaire de MongoDB. Elle permet à votre application de communiquer avec Cosmos DB comme s'il s'agissait d'un serveur MongoDB natif, vous permettant de conserver vos pilotes, vos bibliothèques d'accès (comme Mongoose ou le SDK Mongo officiel) et vos outils tiers.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3406" y="256914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mode de capacité de débit convient le mieux pour une application en cours de développement avec un trafic très faible et imprévisible ?</a:t>
            </a:r>
            <a:endParaRPr lang="fr-FR" sz="2000" dirty="0"/>
          </a:p>
          <a:p>
            <a:pPr marL="457200" indent="-457200">
              <a:buFont typeface="+mj-lt"/>
              <a:buAutoNum type="arabicPeriod"/>
              <a:defRPr sz="2400"/>
            </a:pPr>
            <a:r>
              <a:rPr lang="fr-FR" sz="2000" dirty="0"/>
              <a:t>Provisioned Throughput (Débit provisionné)</a:t>
            </a:r>
          </a:p>
          <a:p>
            <a:pPr marL="457200" indent="-457200">
              <a:buFont typeface="+mj-lt"/>
              <a:buAutoNum type="arabicPeriod"/>
              <a:defRPr sz="2400"/>
            </a:pPr>
            <a:r>
              <a:rPr lang="fr-FR" sz="2000" dirty="0"/>
              <a:t>Dedicated Gateway (Passerelle dédiée)</a:t>
            </a:r>
          </a:p>
          <a:p>
            <a:pPr marL="457200" indent="-457200">
              <a:buFont typeface="+mj-lt"/>
              <a:buAutoNum type="arabicPeriod"/>
              <a:defRPr sz="2400"/>
            </a:pPr>
            <a:r>
              <a:rPr lang="fr-FR" sz="2000" dirty="0"/>
              <a:t>Serverless (Sans serveur)</a:t>
            </a:r>
          </a:p>
          <a:p>
            <a:pPr marL="457200" indent="-457200">
              <a:buFont typeface="+mj-lt"/>
              <a:buAutoNum type="arabicPeriod"/>
              <a:defRPr sz="2400"/>
            </a:pPr>
            <a:r>
              <a:rPr lang="fr-FR" sz="2000" dirty="0"/>
              <a:t>Autoscale (Mise à l'échelle automatique)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6614816" cy="1077218"/>
          </a:xfrm>
          <a:prstGeom prst="rect">
            <a:avLst/>
          </a:prstGeom>
          <a:noFill/>
        </p:spPr>
        <p:txBody>
          <a:bodyPr wrap="square">
            <a:spAutoFit/>
          </a:bodyPr>
          <a:lstStyle/>
          <a:p>
            <a:pPr>
              <a:defRPr sz="1600"/>
            </a:pPr>
            <a:r>
              <a:rPr dirty="0"/>
              <a:t>Le mode 'Serverless' ne requiert aucun provisionnement de débit en amont. Vous ne payez pas pour une capacité de serveurs réservée à l'heure, mais uniquement pour la somme exacte de RU consommées par vos requêtes et pour l'espace de stockage consommé par vos documents JSON.</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5385" y="254508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mode de capacité de débit devez-vous choisir pour une application de production ayant un trafic variable mais récurrent, afin de garantir un ajustement automatique de la capacité sans intervention manuelle ?</a:t>
            </a:r>
            <a:endParaRPr lang="fr-FR" sz="2000" dirty="0"/>
          </a:p>
          <a:p>
            <a:pPr marL="457200" indent="-457200">
              <a:buFont typeface="+mj-lt"/>
              <a:buAutoNum type="arabicPeriod"/>
              <a:defRPr sz="2400"/>
            </a:pPr>
            <a:r>
              <a:rPr lang="fr-FR" sz="2000" dirty="0"/>
              <a:t>Serverless</a:t>
            </a:r>
          </a:p>
          <a:p>
            <a:pPr marL="457200" indent="-457200">
              <a:buFont typeface="+mj-lt"/>
              <a:buAutoNum type="arabicPeriod"/>
              <a:defRPr sz="2400"/>
            </a:pPr>
            <a:r>
              <a:rPr lang="fr-FR" sz="2000" dirty="0"/>
              <a:t>Autoscale</a:t>
            </a:r>
          </a:p>
          <a:p>
            <a:pPr marL="457200" indent="-457200">
              <a:buFont typeface="+mj-lt"/>
              <a:buAutoNum type="arabicPeriod"/>
              <a:defRPr sz="2400"/>
            </a:pPr>
            <a:r>
              <a:rPr lang="fr-FR" sz="2000" dirty="0"/>
              <a:t>Manual</a:t>
            </a:r>
          </a:p>
          <a:p>
            <a:pPr marL="457200" indent="-457200">
              <a:buFont typeface="+mj-lt"/>
              <a:buAutoNum type="arabicPeriod"/>
              <a:defRPr sz="2400"/>
            </a:pPr>
            <a:r>
              <a:rPr lang="fr-FR" sz="2000" dirty="0"/>
              <a:t>Dedicated</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084047" cy="1077218"/>
          </a:xfrm>
          <a:prstGeom prst="rect">
            <a:avLst/>
          </a:prstGeom>
          <a:noFill/>
        </p:spPr>
        <p:txBody>
          <a:bodyPr wrap="square">
            <a:spAutoFit/>
          </a:bodyPr>
          <a:lstStyle/>
          <a:p>
            <a:pPr>
              <a:defRPr sz="1600"/>
            </a:pPr>
            <a:r>
              <a:rPr dirty="0"/>
              <a:t>Le mode 'Autoscale' permet de définir une limite maximale de RU/s (ex: 4000 RU/s). Cosmos DB ajuste instantanément et automatiquement le débit disponible entre 10 % de cette valeur maximale (400 RU/s) et le maximum défini, en fonction de la charge réelle du trafic.</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60925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l'avantage principal de la politique d'indexation automatique par défaut dans Azure Cosmos DB ?</a:t>
            </a:r>
            <a:endParaRPr lang="fr-FR" sz="2000" dirty="0"/>
          </a:p>
          <a:p>
            <a:pPr marL="457200" indent="-457200">
              <a:buFont typeface="+mj-lt"/>
              <a:buAutoNum type="arabicPeriod"/>
              <a:defRPr sz="2400"/>
            </a:pPr>
            <a:r>
              <a:rPr lang="fr-FR" sz="2000" dirty="0"/>
              <a:t>Elle élimine le besoin de concevoir des clés de partition</a:t>
            </a:r>
          </a:p>
          <a:p>
            <a:pPr marL="457200" indent="-457200">
              <a:buFont typeface="+mj-lt"/>
              <a:buAutoNum type="arabicPeriod"/>
              <a:defRPr sz="2400"/>
            </a:pPr>
            <a:r>
              <a:rPr lang="fr-FR" sz="2000" dirty="0"/>
              <a:t>Toutes les propriétés de chaque document sont indexées immédiatement sans configuration manuelle</a:t>
            </a:r>
          </a:p>
          <a:p>
            <a:pPr marL="457200" indent="-457200">
              <a:buFont typeface="+mj-lt"/>
              <a:buAutoNum type="arabicPeriod"/>
              <a:defRPr sz="2400"/>
            </a:pPr>
            <a:r>
              <a:rPr lang="fr-FR" sz="2000" dirty="0"/>
              <a:t>Elle réduit de moitié l'espace de stockage physique requis sur le disque</a:t>
            </a:r>
          </a:p>
          <a:p>
            <a:pPr marL="457200" indent="-457200">
              <a:buFont typeface="+mj-lt"/>
              <a:buAutoNum type="arabicPeriod"/>
              <a:defRPr sz="2400"/>
            </a:pPr>
            <a:r>
              <a:rPr lang="fr-FR" sz="2000" dirty="0"/>
              <a:t>Elle supprime la consommation de RU lors des écritures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6374184" cy="1323439"/>
          </a:xfrm>
          <a:prstGeom prst="rect">
            <a:avLst/>
          </a:prstGeom>
          <a:noFill/>
        </p:spPr>
        <p:txBody>
          <a:bodyPr wrap="square">
            <a:spAutoFit/>
          </a:bodyPr>
          <a:lstStyle/>
          <a:p>
            <a:pPr>
              <a:defRPr sz="1600"/>
            </a:pPr>
            <a:r>
              <a:rPr dirty="0"/>
              <a:t>Par défaut, Azure Cosmos DB indexe automatiquement chaque propriété de chaque document JSON ajouté à un conteneur, y compris les objets imbriqués et les tableaux. Le développeur peut immédiatement exécuter des requêtes SQL complexes filtrant sur n'importe quel attribut sans avoir à créer manuellement d'index.</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37664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Parmi les opérations suivantes exécutées sur un grand volume de données, laquelle consomme généralement le plus grand nombre de Request Units (RU) ?</a:t>
            </a:r>
            <a:endParaRPr lang="fr-FR" sz="2000" dirty="0"/>
          </a:p>
          <a:p>
            <a:pPr marL="457200" indent="-457200">
              <a:buFont typeface="+mj-lt"/>
              <a:buAutoNum type="arabicPeriod"/>
              <a:defRPr sz="2400"/>
            </a:pPr>
            <a:r>
              <a:rPr lang="fr-FR" sz="2000" dirty="0"/>
              <a:t>Un Point Read d'un document de 1 Ko</a:t>
            </a:r>
          </a:p>
          <a:p>
            <a:pPr marL="457200" indent="-457200">
              <a:buFont typeface="+mj-lt"/>
              <a:buAutoNum type="arabicPeriod"/>
              <a:defRPr sz="2400"/>
            </a:pPr>
            <a:r>
              <a:rPr lang="fr-FR" sz="2000" dirty="0"/>
              <a:t>La lecture d'un document unique par son identifiant</a:t>
            </a:r>
          </a:p>
          <a:p>
            <a:pPr marL="457200" indent="-457200">
              <a:buFont typeface="+mj-lt"/>
              <a:buAutoNum type="arabicPeriod"/>
              <a:defRPr sz="2400"/>
            </a:pPr>
            <a:r>
              <a:rPr lang="fr-FR" sz="2000" dirty="0"/>
              <a:t>Une requête SQL effectuant un tri (ORDER BY) et un regroupement sur plusieurs partitions logiques</a:t>
            </a:r>
          </a:p>
          <a:p>
            <a:pPr marL="457200" indent="-457200">
              <a:buFont typeface="+mj-lt"/>
              <a:buAutoNum type="arabicPeriod"/>
              <a:defRPr sz="2400"/>
            </a:pPr>
            <a:r>
              <a:rPr lang="fr-FR" sz="2000" dirty="0"/>
              <a:t>L'insertion d'un document JSON simple de moins de 1 Ko</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42922" y="4900681"/>
            <a:ext cx="8269086" cy="1077218"/>
          </a:xfrm>
          <a:prstGeom prst="rect">
            <a:avLst/>
          </a:prstGeom>
          <a:noFill/>
        </p:spPr>
        <p:txBody>
          <a:bodyPr wrap="square">
            <a:spAutoFit/>
          </a:bodyPr>
          <a:lstStyle/>
          <a:p>
            <a:pPr>
              <a:defRPr sz="1600"/>
            </a:pPr>
            <a:r>
              <a:rPr dirty="0"/>
              <a:t>Les requêtes dites 'cross-partition' (qui interrogent plusieurs partitions physiques) et qui incluent des opérations lourdes de calcul comme 'ORDER BY' (tri), 'GROUP BY' ou des agrégations exigent que Cosmos DB rassemble et trie les résultats provenant de plusieurs serveurs. Cela consomme énormément de ressources et fait s'envoler la facture en RU.</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1427" y="298731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native d'Azure Cosmos DB permet d'étendre la disponibilité des données à l'échelle planétaire avec des latences de lecture inférieures à 10 millisecondes ?</a:t>
            </a:r>
            <a:endParaRPr lang="fr-FR" sz="2000" dirty="0"/>
          </a:p>
          <a:p>
            <a:pPr marL="457200" indent="-457200">
              <a:buFont typeface="+mj-lt"/>
              <a:buAutoNum type="arabicPeriod"/>
              <a:defRPr sz="2400"/>
            </a:pPr>
            <a:r>
              <a:rPr lang="fr-FR" sz="2000" dirty="0"/>
              <a:t>Global Distribution</a:t>
            </a:r>
          </a:p>
          <a:p>
            <a:pPr marL="457200" indent="-457200">
              <a:buFont typeface="+mj-lt"/>
              <a:buAutoNum type="arabicPeriod"/>
              <a:defRPr sz="2400"/>
            </a:pPr>
            <a:r>
              <a:rPr lang="fr-FR" sz="2000" dirty="0"/>
              <a:t>Change Feed</a:t>
            </a:r>
          </a:p>
          <a:p>
            <a:pPr marL="457200" indent="-457200">
              <a:buFont typeface="+mj-lt"/>
              <a:buAutoNum type="arabicPeriod"/>
              <a:defRPr sz="2400"/>
            </a:pPr>
            <a:r>
              <a:rPr lang="fr-FR" sz="2000" dirty="0"/>
              <a:t>TTL</a:t>
            </a:r>
          </a:p>
          <a:p>
            <a:pPr marL="457200" indent="-457200">
              <a:buFont typeface="+mj-lt"/>
              <a:buAutoNum type="arabicPeriod"/>
              <a:defRPr sz="2400"/>
            </a:pPr>
            <a:r>
              <a:rPr lang="fr-FR" sz="2000" dirty="0"/>
              <a:t>Dedicated Gateway</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043942" cy="1323439"/>
          </a:xfrm>
          <a:prstGeom prst="rect">
            <a:avLst/>
          </a:prstGeom>
          <a:noFill/>
        </p:spPr>
        <p:txBody>
          <a:bodyPr wrap="square">
            <a:spAutoFit/>
          </a:bodyPr>
          <a:lstStyle/>
          <a:p>
            <a:pPr>
              <a:defRPr sz="1600"/>
            </a:pPr>
            <a:r>
              <a:rPr dirty="0"/>
              <a:t>La distribution mondiale (Global Distribution) permet de répliquer vos données de manière transparente dans autant de régions Azure que vous le souhaitez, en cochant simplement des cases sur une carte. Les utilisateurs finaux sont automatiquement redirigés vers la région géographique la plus proche d'eux pour leurs opérations de lecture et d'écriture.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5632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l'intérêt principal d'utiliser la fonctionnalité Transactional Batch du SDK Azure Cosmos DB ?</a:t>
            </a:r>
            <a:endParaRPr lang="fr-FR" sz="2000" dirty="0"/>
          </a:p>
          <a:p>
            <a:pPr marL="457200" indent="-457200">
              <a:buFont typeface="+mj-lt"/>
              <a:buAutoNum type="arabicPeriod"/>
              <a:defRPr sz="2400"/>
            </a:pPr>
            <a:r>
              <a:rPr lang="fr-FR" sz="2000" dirty="0"/>
              <a:t>Garantir l'exécution atomique (ACID) de plusieurs opérations portant sur des documents d'une même partition logique</a:t>
            </a:r>
          </a:p>
          <a:p>
            <a:pPr marL="457200" indent="-457200">
              <a:buFont typeface="+mj-lt"/>
              <a:buAutoNum type="arabicPeriod"/>
              <a:defRPr sz="2400"/>
            </a:pPr>
            <a:r>
              <a:rPr lang="fr-FR" sz="2000" dirty="0"/>
              <a:t>Permettre la fusion asynchrone de plusieurs bases de données Cosmos distinctes</a:t>
            </a:r>
          </a:p>
          <a:p>
            <a:pPr marL="457200" indent="-457200">
              <a:buFont typeface="+mj-lt"/>
              <a:buAutoNum type="arabicPeriod"/>
              <a:defRPr sz="2400"/>
            </a:pPr>
            <a:r>
              <a:rPr lang="fr-FR" sz="2000" dirty="0"/>
              <a:t>Accélérer la réplication géodistribuée des données entre plusieurs régions</a:t>
            </a:r>
          </a:p>
          <a:p>
            <a:pPr marL="457200" indent="-457200">
              <a:buFont typeface="+mj-lt"/>
              <a:buAutoNum type="arabicPeriod"/>
              <a:defRPr sz="2400"/>
            </a:pPr>
            <a:r>
              <a:rPr lang="fr-FR" sz="2000" dirty="0"/>
              <a:t>Forcer l'indexation simultanée de plusieurs conteneurs au sein d'un même compte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6" y="4930239"/>
            <a:ext cx="7063995" cy="1323439"/>
          </a:xfrm>
          <a:prstGeom prst="rect">
            <a:avLst/>
          </a:prstGeom>
          <a:noFill/>
        </p:spPr>
        <p:txBody>
          <a:bodyPr wrap="square">
            <a:spAutoFit/>
          </a:bodyPr>
          <a:lstStyle/>
          <a:p>
            <a:pPr>
              <a:defRPr sz="1600"/>
            </a:pPr>
            <a:r>
              <a:rPr dirty="0"/>
              <a:t>Le Transactional Batch permet de regrouper une suite d'opérations de manipulation de données (création, modification, suppression) dans une transaction unique qui respecte les propriétés ACID. Si une seule opération du lot échoue, l'intégralité de la transaction est annulée (rollback). Tous les documents modifiés doivent obligatoirement appartenir à la même clé de partition logique.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1428" y="204777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combinaison de paramètres est techniquement requise au niveau du SDK pour pouvoir exécuter avec succès une opération de Point Read ?</a:t>
            </a:r>
            <a:endParaRPr lang="fr-FR" sz="2000" dirty="0"/>
          </a:p>
          <a:p>
            <a:pPr marL="457200" indent="-457200">
              <a:buFont typeface="+mj-lt"/>
              <a:buAutoNum type="arabicPeriod"/>
              <a:defRPr sz="2400"/>
            </a:pPr>
            <a:r>
              <a:rPr lang="fr-FR" sz="2000" dirty="0"/>
              <a:t>La valeur de la propriété id uniquement</a:t>
            </a:r>
          </a:p>
          <a:p>
            <a:pPr marL="457200" indent="-457200">
              <a:buFont typeface="+mj-lt"/>
              <a:buAutoNum type="arabicPeriod"/>
              <a:defRPr sz="2400"/>
            </a:pPr>
            <a:r>
              <a:rPr lang="fr-FR" sz="2000" dirty="0"/>
              <a:t>La valeur de la clé de partition (partition key) uniquement</a:t>
            </a:r>
          </a:p>
          <a:p>
            <a:pPr marL="457200" indent="-457200">
              <a:buFont typeface="+mj-lt"/>
              <a:buAutoNum type="arabicPeriod"/>
              <a:defRPr sz="2400"/>
            </a:pPr>
            <a:r>
              <a:rPr lang="fr-FR" sz="2000" dirty="0"/>
              <a:t>L'association stricte de la valeur de l'id et de la valeur de la partition key</a:t>
            </a:r>
          </a:p>
          <a:p>
            <a:pPr marL="457200" indent="-457200">
              <a:buFont typeface="+mj-lt"/>
              <a:buAutoNum type="arabicPeriod"/>
              <a:defRPr sz="2400"/>
            </a:pPr>
            <a:r>
              <a:rPr lang="fr-FR" sz="2000" dirty="0"/>
              <a:t>La valeur de l'ETag système associée à la valeur de l'id</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7685626" cy="830997"/>
          </a:xfrm>
          <a:prstGeom prst="rect">
            <a:avLst/>
          </a:prstGeom>
          <a:noFill/>
        </p:spPr>
        <p:txBody>
          <a:bodyPr wrap="square">
            <a:spAutoFit/>
          </a:bodyPr>
          <a:lstStyle/>
          <a:p>
            <a:pPr>
              <a:defRPr sz="1600"/>
            </a:pPr>
            <a:r>
              <a:rPr dirty="0"/>
              <a:t>Pour réaliser un Point Read (l'opération de lecture la plus performante), le SDK doit connaître l'identifiant exact de l'élément ('id') pour cibler le document, et la clé de partition ('partition key') pour savoir sur quelle partition physique l'élément est stocké.</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9396" y="254508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C7596-B8FF-E011-0070-32CDD98CE551}"/>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263825F-030A-0A57-3653-9BC12A74D71E}"/>
              </a:ext>
            </a:extLst>
          </p:cNvPr>
          <p:cNvSpPr>
            <a:spLocks noGrp="1"/>
          </p:cNvSpPr>
          <p:nvPr>
            <p:ph type="body" sz="quarter" idx="11"/>
          </p:nvPr>
        </p:nvSpPr>
        <p:spPr/>
        <p:txBody>
          <a:bodyPr/>
          <a:lstStyle/>
          <a:p>
            <a:r>
              <a:rPr lang="fr-FR" dirty="0"/>
              <a:t>Quizz 14</a:t>
            </a:r>
          </a:p>
        </p:txBody>
      </p:sp>
      <p:sp>
        <p:nvSpPr>
          <p:cNvPr id="3" name="Espace réservé du texte 2">
            <a:extLst>
              <a:ext uri="{FF2B5EF4-FFF2-40B4-BE49-F238E27FC236}">
                <a16:creationId xmlns:a16="http://schemas.microsoft.com/office/drawing/2014/main" id="{C157591E-478C-D002-E3E1-9B060B84D866}"/>
              </a:ext>
            </a:extLst>
          </p:cNvPr>
          <p:cNvSpPr>
            <a:spLocks noGrp="1"/>
          </p:cNvSpPr>
          <p:nvPr>
            <p:ph type="body" sz="quarter" idx="12"/>
          </p:nvPr>
        </p:nvSpPr>
        <p:spPr>
          <a:xfrm>
            <a:off x="2604868" y="3501008"/>
            <a:ext cx="5624732" cy="1432560"/>
          </a:xfrm>
        </p:spPr>
        <p:txBody>
          <a:bodyPr/>
          <a:lstStyle/>
          <a:p>
            <a:r>
              <a:rPr lang="fr-FR" dirty="0"/>
              <a:t>Containerisation, Docker, ACR et ACI</a:t>
            </a:r>
          </a:p>
        </p:txBody>
      </p:sp>
    </p:spTree>
    <p:extLst>
      <p:ext uri="{BB962C8B-B14F-4D97-AF65-F5344CB8AC3E}">
        <p14:creationId xmlns:p14="http://schemas.microsoft.com/office/powerpoint/2010/main" val="309824272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rôle principal d'un Dockerfile ?</a:t>
            </a:r>
            <a:endParaRPr lang="fr-FR" sz="2000" dirty="0"/>
          </a:p>
          <a:p>
            <a:pPr marL="457200" indent="-457200">
              <a:buFont typeface="+mj-lt"/>
              <a:buAutoNum type="arabicPeriod"/>
              <a:defRPr sz="2400"/>
            </a:pPr>
            <a:r>
              <a:rPr lang="fr-FR" sz="2000" dirty="0"/>
              <a:t>Décrire comment construire une image Docker</a:t>
            </a:r>
          </a:p>
          <a:p>
            <a:pPr marL="457200" indent="-457200">
              <a:buFont typeface="+mj-lt"/>
              <a:buAutoNum type="arabicPeriod"/>
              <a:defRPr sz="2400"/>
            </a:pPr>
            <a:r>
              <a:rPr lang="fr-FR" sz="2000" dirty="0"/>
              <a:t>Exécuter un conteneur</a:t>
            </a:r>
          </a:p>
          <a:p>
            <a:pPr marL="457200" indent="-457200">
              <a:buFont typeface="+mj-lt"/>
              <a:buAutoNum type="arabicPeriod"/>
              <a:defRPr sz="2400"/>
            </a:pPr>
            <a:r>
              <a:rPr lang="fr-FR" sz="2000" dirty="0"/>
              <a:t>Superviser les logs d'un conteneur</a:t>
            </a:r>
          </a:p>
          <a:p>
            <a:pPr marL="457200" indent="-457200">
              <a:buFont typeface="+mj-lt"/>
              <a:buAutoNum type="arabicPeriod"/>
              <a:defRPr sz="2400"/>
            </a:pPr>
            <a:r>
              <a:rPr lang="fr-FR" sz="2000" dirty="0"/>
              <a:t>Créer un registre Docker</a:t>
            </a:r>
          </a:p>
          <a:p>
            <a:pPr>
              <a:defRPr sz="2400"/>
            </a:pPr>
            <a:endParaRPr dirty="0"/>
          </a:p>
        </p:txBody>
      </p:sp>
      <p:sp>
        <p:nvSpPr>
          <p:cNvPr id="8" name="TextBox 7"/>
          <p:cNvSpPr txBox="1"/>
          <p:nvPr/>
        </p:nvSpPr>
        <p:spPr>
          <a:xfrm>
            <a:off x="6483846" y="2803559"/>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696687" y="3853021"/>
            <a:ext cx="4513300" cy="1077218"/>
          </a:xfrm>
          <a:prstGeom prst="rect">
            <a:avLst/>
          </a:prstGeom>
          <a:noFill/>
        </p:spPr>
        <p:txBody>
          <a:bodyPr wrap="square">
            <a:spAutoFit/>
          </a:bodyPr>
          <a:lstStyle/>
          <a:p>
            <a:pPr>
              <a:defRPr sz="1600"/>
            </a:pPr>
            <a:r>
              <a:rPr dirty="0"/>
              <a:t>Le Dockerfile est un script texte contenant une suite séquentielle d'instructions et de commandes que Docker exécute pour assembler et construire une image Docker immuable.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5957" y="159120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instruction Docker permet de définir l'image de base utilisée pour construire une image ?</a:t>
            </a:r>
            <a:endParaRPr lang="fr-FR" sz="2000" dirty="0"/>
          </a:p>
          <a:p>
            <a:pPr marL="457200" indent="-457200">
              <a:buFont typeface="+mj-lt"/>
              <a:buAutoNum type="arabicPeriod"/>
              <a:defRPr sz="2400"/>
            </a:pPr>
            <a:r>
              <a:rPr lang="fr-FR" sz="2000" dirty="0"/>
              <a:t>COPY</a:t>
            </a:r>
          </a:p>
          <a:p>
            <a:pPr marL="457200" indent="-457200">
              <a:buFont typeface="+mj-lt"/>
              <a:buAutoNum type="arabicPeriod"/>
              <a:defRPr sz="2400"/>
            </a:pPr>
            <a:r>
              <a:rPr lang="fr-FR" sz="2000" dirty="0"/>
              <a:t>ENTRYPOINT</a:t>
            </a:r>
          </a:p>
          <a:p>
            <a:pPr marL="457200" indent="-457200">
              <a:buFont typeface="+mj-lt"/>
              <a:buAutoNum type="arabicPeriod"/>
              <a:defRPr sz="2400"/>
            </a:pPr>
            <a:r>
              <a:rPr lang="fr-FR" sz="2000" dirty="0"/>
              <a:t>EXPOSE</a:t>
            </a:r>
          </a:p>
          <a:p>
            <a:pPr marL="457200" indent="-457200">
              <a:buFont typeface="+mj-lt"/>
              <a:buAutoNum type="arabicPeriod"/>
              <a:defRPr sz="2400"/>
            </a:pPr>
            <a:r>
              <a:rPr lang="fr-FR" sz="2000" dirty="0"/>
              <a:t>FROM</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241464" y="4281055"/>
            <a:ext cx="5255247" cy="2431435"/>
          </a:xfrm>
          <a:prstGeom prst="rect">
            <a:avLst/>
          </a:prstGeom>
          <a:noFill/>
        </p:spPr>
        <p:txBody>
          <a:bodyPr wrap="square">
            <a:spAutoFit/>
          </a:bodyPr>
          <a:lstStyle/>
          <a:p>
            <a:pPr>
              <a:defRPr sz="1600"/>
            </a:pPr>
            <a:r>
              <a:rPr dirty="0"/>
              <a:t>L'instruction FROM initialise une nouvelle étape de build et définit l'image de base (venant d'un registre public ou privé) sur laquelle les couches suivantes seront </a:t>
            </a:r>
            <a:r>
              <a:rPr dirty="0" err="1"/>
              <a:t>appliquées</a:t>
            </a:r>
            <a:r>
              <a:rPr dirty="0"/>
              <a:t>.</a:t>
            </a:r>
            <a:endParaRPr lang="fr-FR" dirty="0"/>
          </a:p>
          <a:p>
            <a:pPr>
              <a:defRPr sz="1600"/>
            </a:pPr>
            <a:endParaRPr lang="fr-FR" dirty="0"/>
          </a:p>
          <a:p>
            <a:endParaRPr lang="fr-FR" dirty="0"/>
          </a:p>
          <a:p>
            <a:r>
              <a:rPr lang="fr-FR" dirty="0"/>
              <a:t>Un </a:t>
            </a:r>
            <a:r>
              <a:rPr lang="fr-FR" dirty="0" err="1"/>
              <a:t>Dockerfile</a:t>
            </a:r>
            <a:r>
              <a:rPr lang="fr-FR" dirty="0"/>
              <a:t> valide doit presque toujours commencer par l'instruction FROM (sauf de rares exceptions comme l'utilisation d'ARG avant le FROM).</a:t>
            </a:r>
          </a:p>
          <a:p>
            <a:pP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89800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l'intérêt principal d'Azure Container Registry (ACR) ?</a:t>
            </a:r>
            <a:endParaRPr lang="fr-FR" sz="2000" dirty="0"/>
          </a:p>
          <a:p>
            <a:pPr marL="457200" indent="-457200">
              <a:buFont typeface="+mj-lt"/>
              <a:buAutoNum type="arabicPeriod"/>
              <a:defRPr sz="2400"/>
            </a:pPr>
            <a:r>
              <a:rPr lang="fr-FR" sz="2000" dirty="0"/>
              <a:t>Exécuter des conteneurs</a:t>
            </a:r>
          </a:p>
          <a:p>
            <a:pPr marL="457200" indent="-457200">
              <a:buFont typeface="+mj-lt"/>
              <a:buAutoNum type="arabicPeriod"/>
              <a:defRPr sz="2400"/>
            </a:pPr>
            <a:r>
              <a:rPr lang="fr-FR" sz="2000" dirty="0"/>
              <a:t>Monter des volumes persistants</a:t>
            </a:r>
          </a:p>
          <a:p>
            <a:pPr marL="457200" indent="-457200">
              <a:buFont typeface="+mj-lt"/>
              <a:buAutoNum type="arabicPeriod"/>
              <a:defRPr sz="2400"/>
            </a:pPr>
            <a:r>
              <a:rPr lang="fr-FR" sz="2000" dirty="0"/>
              <a:t>Stocker et distribuer des images de conteneurs</a:t>
            </a:r>
          </a:p>
          <a:p>
            <a:pPr marL="457200" indent="-457200">
              <a:buFont typeface="+mj-lt"/>
              <a:buAutoNum type="arabicPeriod"/>
              <a:defRPr sz="2400"/>
            </a:pPr>
            <a:r>
              <a:rPr lang="fr-FR" sz="2000" dirty="0"/>
              <a:t>Superviser les applications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482357" y="4280935"/>
            <a:ext cx="4200479" cy="1323439"/>
          </a:xfrm>
          <a:prstGeom prst="rect">
            <a:avLst/>
          </a:prstGeom>
          <a:noFill/>
        </p:spPr>
        <p:txBody>
          <a:bodyPr wrap="square">
            <a:spAutoFit/>
          </a:bodyPr>
          <a:lstStyle/>
          <a:p>
            <a:pPr>
              <a:defRPr sz="1600"/>
            </a:pPr>
            <a:r>
              <a:rPr dirty="0"/>
              <a:t>Azure Container Registry (ACR) est un service de registre privé géré, basé sur la spécification open-source Docker Registry 2.0. Il permet de stocker, gérer et sécuriser des images de conteneurs de manière privée au sein d'Azure.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28038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commande Docker permet d'afficher les images présentes localement ?</a:t>
            </a:r>
            <a:endParaRPr lang="fr-FR" sz="2000" dirty="0"/>
          </a:p>
          <a:p>
            <a:pPr marL="457200" indent="-457200">
              <a:buFont typeface="+mj-lt"/>
              <a:buAutoNum type="arabicPeriod"/>
              <a:defRPr sz="2400"/>
            </a:pPr>
            <a:r>
              <a:rPr lang="fr-FR" sz="2000" dirty="0"/>
              <a:t>docker container ls</a:t>
            </a:r>
          </a:p>
          <a:p>
            <a:pPr marL="457200" indent="-457200">
              <a:buFont typeface="+mj-lt"/>
              <a:buAutoNum type="arabicPeriod"/>
              <a:defRPr sz="2400"/>
            </a:pPr>
            <a:r>
              <a:rPr lang="fr-FR" sz="2000" dirty="0"/>
              <a:t>docker run</a:t>
            </a:r>
          </a:p>
          <a:p>
            <a:pPr marL="457200" indent="-457200">
              <a:buFont typeface="+mj-lt"/>
              <a:buAutoNum type="arabicPeriod"/>
              <a:defRPr sz="2400"/>
            </a:pPr>
            <a:r>
              <a:rPr lang="fr-FR" sz="2000" dirty="0"/>
              <a:t>docker logs</a:t>
            </a:r>
          </a:p>
          <a:p>
            <a:pPr marL="457200" indent="-457200">
              <a:buFont typeface="+mj-lt"/>
              <a:buAutoNum type="arabicPeriod"/>
              <a:defRPr sz="2400"/>
            </a:pPr>
            <a:r>
              <a:rPr lang="fr-FR" sz="2000" dirty="0"/>
              <a:t>docker image ls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4328816" cy="1323439"/>
          </a:xfrm>
          <a:prstGeom prst="rect">
            <a:avLst/>
          </a:prstGeom>
          <a:noFill/>
        </p:spPr>
        <p:txBody>
          <a:bodyPr wrap="square">
            <a:spAutoFit/>
          </a:bodyPr>
          <a:lstStyle/>
          <a:p>
            <a:pPr>
              <a:defRPr sz="1600"/>
            </a:pPr>
            <a:r>
              <a:rPr dirty="0"/>
              <a:t>La commande 'docker image ls' (ou son alias historique 'docker images') interroge le démon Docker local pour lister toutes les images téléchargées ou construites localement, avec leurs tags et tailles.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55711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commande est utilisée pour publier une image locale dans un registre ?</a:t>
            </a:r>
            <a:endParaRPr lang="fr-FR" sz="2000" dirty="0"/>
          </a:p>
          <a:p>
            <a:pPr marL="457200" indent="-457200">
              <a:buFont typeface="+mj-lt"/>
              <a:buAutoNum type="arabicPeriod"/>
              <a:defRPr sz="2400"/>
            </a:pPr>
            <a:r>
              <a:rPr lang="fr-FR" sz="2000" dirty="0"/>
              <a:t>docker push</a:t>
            </a:r>
          </a:p>
          <a:p>
            <a:pPr marL="457200" indent="-457200">
              <a:buFont typeface="+mj-lt"/>
              <a:buAutoNum type="arabicPeriod"/>
              <a:defRPr sz="2400"/>
            </a:pPr>
            <a:r>
              <a:rPr lang="fr-FR" sz="2000" dirty="0"/>
              <a:t>docker pull</a:t>
            </a:r>
          </a:p>
          <a:p>
            <a:pPr marL="457200" indent="-457200">
              <a:buFont typeface="+mj-lt"/>
              <a:buAutoNum type="arabicPeriod"/>
              <a:defRPr sz="2400"/>
            </a:pPr>
            <a:r>
              <a:rPr lang="fr-FR" sz="2000" dirty="0"/>
              <a:t>docker build</a:t>
            </a:r>
          </a:p>
          <a:p>
            <a:pPr marL="457200" indent="-457200">
              <a:buFont typeface="+mj-lt"/>
              <a:buAutoNum type="arabicPeriod"/>
              <a:defRPr sz="2400"/>
            </a:pPr>
            <a:r>
              <a:rPr lang="fr-FR" sz="2000" dirty="0"/>
              <a:t>docker exec</a:t>
            </a:r>
          </a:p>
          <a:p>
            <a:pPr>
              <a:defRPr sz="2400"/>
            </a:pPr>
            <a:endParaRPr dirty="0"/>
          </a:p>
        </p:txBody>
      </p:sp>
      <p:sp>
        <p:nvSpPr>
          <p:cNvPr id="8" name="TextBox 7"/>
          <p:cNvSpPr txBox="1"/>
          <p:nvPr/>
        </p:nvSpPr>
        <p:spPr>
          <a:xfrm>
            <a:off x="6023208" y="243594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577932" y="4039590"/>
            <a:ext cx="6646224" cy="830997"/>
          </a:xfrm>
          <a:prstGeom prst="rect">
            <a:avLst/>
          </a:prstGeom>
          <a:noFill/>
        </p:spPr>
        <p:txBody>
          <a:bodyPr wrap="square">
            <a:spAutoFit/>
          </a:bodyPr>
          <a:lstStyle/>
          <a:p>
            <a:pPr>
              <a:defRPr sz="1600"/>
            </a:pPr>
            <a:r>
              <a:rPr dirty="0"/>
              <a:t>La commande 'docker push' permet d'envoyer (pousser) une image locale ou ses couches modifiées vers un registre distant (comme ACR ou Docker Hub) après s'être correctement authentifié.</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164271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représente un tag Docker comme 'v1' ou 'latest' ?</a:t>
            </a:r>
            <a:endParaRPr lang="fr-FR" sz="2000" dirty="0"/>
          </a:p>
          <a:p>
            <a:pPr marL="457200" indent="-457200">
              <a:buFont typeface="+mj-lt"/>
              <a:buAutoNum type="arabicPeriod"/>
              <a:defRPr sz="2400"/>
            </a:pPr>
            <a:r>
              <a:rPr lang="fr-FR" sz="2000" dirty="0"/>
              <a:t>Une adresse IP</a:t>
            </a:r>
          </a:p>
          <a:p>
            <a:pPr marL="457200" indent="-457200">
              <a:buFont typeface="+mj-lt"/>
              <a:buAutoNum type="arabicPeriod"/>
              <a:defRPr sz="2400"/>
            </a:pPr>
            <a:r>
              <a:rPr lang="fr-FR" sz="2000" dirty="0"/>
              <a:t>Un nom de conteneur</a:t>
            </a:r>
          </a:p>
          <a:p>
            <a:pPr marL="457200" indent="-457200">
              <a:buFont typeface="+mj-lt"/>
              <a:buAutoNum type="arabicPeriod"/>
              <a:defRPr sz="2400"/>
            </a:pPr>
            <a:r>
              <a:rPr lang="fr-FR" sz="2000" dirty="0"/>
              <a:t>Un volume Docker</a:t>
            </a:r>
          </a:p>
          <a:p>
            <a:pPr marL="457200" indent="-457200">
              <a:buFont typeface="+mj-lt"/>
              <a:buAutoNum type="arabicPeriod"/>
              <a:defRPr sz="2400"/>
            </a:pPr>
            <a:r>
              <a:rPr lang="fr-FR" sz="2000" dirty="0"/>
              <a:t>Une version ou un alias d'image</a:t>
            </a:r>
          </a:p>
          <a:p>
            <a:pPr>
              <a:defRPr sz="2400"/>
            </a:pPr>
            <a:endParaRPr dirty="0"/>
          </a:p>
        </p:txBody>
      </p:sp>
      <p:sp>
        <p:nvSpPr>
          <p:cNvPr id="8" name="TextBox 7"/>
          <p:cNvSpPr txBox="1"/>
          <p:nvPr/>
        </p:nvSpPr>
        <p:spPr>
          <a:xfrm>
            <a:off x="6134929" y="2988043"/>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633351" y="3825834"/>
            <a:ext cx="5756563" cy="830997"/>
          </a:xfrm>
          <a:prstGeom prst="rect">
            <a:avLst/>
          </a:prstGeom>
          <a:noFill/>
        </p:spPr>
        <p:txBody>
          <a:bodyPr wrap="square">
            <a:spAutoFit/>
          </a:bodyPr>
          <a:lstStyle/>
          <a:p>
            <a:pPr>
              <a:defRPr sz="1600"/>
            </a:pPr>
            <a:r>
              <a:rPr dirty="0"/>
              <a:t>Un tag est un pointeur ou un alias textuel attaché à un identifiant unique d'image (ID SHA256). Il permet de versionner les images pour identifier facilement les versions (builds) d'une application.</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6513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permet d'exécuter rapidement un conteneur sans gérer de cluster Kubernetes ?</a:t>
            </a:r>
            <a:endParaRPr lang="fr-FR" sz="2000" dirty="0"/>
          </a:p>
          <a:p>
            <a:pPr marL="457200" indent="-457200">
              <a:buFont typeface="+mj-lt"/>
              <a:buAutoNum type="arabicPeriod"/>
              <a:defRPr sz="2400"/>
            </a:pPr>
            <a:r>
              <a:rPr lang="fr-FR" sz="2000" dirty="0"/>
              <a:t>Azure Kubernetes Service</a:t>
            </a:r>
          </a:p>
          <a:p>
            <a:pPr marL="457200" indent="-457200">
              <a:buFont typeface="+mj-lt"/>
              <a:buAutoNum type="arabicPeriod"/>
              <a:defRPr sz="2400"/>
            </a:pPr>
            <a:r>
              <a:rPr lang="fr-FR" sz="2000" dirty="0"/>
              <a:t>Azure Virtual Machines</a:t>
            </a:r>
          </a:p>
          <a:p>
            <a:pPr marL="457200" indent="-457200">
              <a:buFont typeface="+mj-lt"/>
              <a:buAutoNum type="arabicPeriod"/>
              <a:defRPr sz="2400"/>
            </a:pPr>
            <a:r>
              <a:rPr lang="fr-FR" sz="2000" dirty="0"/>
              <a:t>Azure Container Instances</a:t>
            </a:r>
          </a:p>
          <a:p>
            <a:pPr marL="457200" indent="-457200">
              <a:buFont typeface="+mj-lt"/>
              <a:buAutoNum type="arabicPeriod"/>
              <a:defRPr sz="2400"/>
            </a:pPr>
            <a:r>
              <a:rPr lang="fr-FR" sz="2000" dirty="0"/>
              <a:t>Azure Functions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379542" y="4561672"/>
            <a:ext cx="6414290" cy="1077218"/>
          </a:xfrm>
          <a:prstGeom prst="rect">
            <a:avLst/>
          </a:prstGeom>
          <a:noFill/>
        </p:spPr>
        <p:txBody>
          <a:bodyPr wrap="square">
            <a:spAutoFit/>
          </a:bodyPr>
          <a:lstStyle/>
          <a:p>
            <a:pPr>
              <a:defRPr sz="1600"/>
            </a:pPr>
            <a:r>
              <a:rPr dirty="0"/>
              <a:t>Azure Container Instances (ACI) est la solution Serverless (sans serveur) d'Azure pour exécuter des conteneurs isolés à la demande. Il élimine le besoin de provisionner des machines virtuelles ou d'adopter un orchestrateur complexe.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6112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se passe-t-il lorsqu'un conteneur ACI est supprimé puis recréé sans volume persistant ?</a:t>
            </a:r>
            <a:endParaRPr lang="fr-FR" sz="2000" dirty="0"/>
          </a:p>
          <a:p>
            <a:pPr marL="457200" indent="-457200">
              <a:buFont typeface="+mj-lt"/>
              <a:buAutoNum type="arabicPeriod"/>
              <a:defRPr sz="2400"/>
            </a:pPr>
            <a:r>
              <a:rPr lang="fr-FR" sz="2000" dirty="0"/>
              <a:t>Les données locales du conteneur sont perdues</a:t>
            </a:r>
          </a:p>
          <a:p>
            <a:pPr marL="457200" indent="-457200">
              <a:buFont typeface="+mj-lt"/>
              <a:buAutoNum type="arabicPeriod"/>
              <a:defRPr sz="2400"/>
            </a:pPr>
            <a:r>
              <a:rPr lang="fr-FR" sz="2000" dirty="0"/>
              <a:t>Les données du système de fichiers sont conservées</a:t>
            </a:r>
          </a:p>
          <a:p>
            <a:pPr marL="457200" indent="-457200">
              <a:buFont typeface="+mj-lt"/>
              <a:buAutoNum type="arabicPeriod"/>
              <a:defRPr sz="2400"/>
            </a:pPr>
            <a:r>
              <a:rPr lang="fr-FR" sz="2000" dirty="0"/>
              <a:t>Les logs Azure sont supprimés</a:t>
            </a:r>
          </a:p>
          <a:p>
            <a:pPr marL="457200" indent="-457200">
              <a:buFont typeface="+mj-lt"/>
              <a:buAutoNum type="arabicPeriod"/>
              <a:defRPr sz="2400"/>
            </a:pPr>
            <a:r>
              <a:rPr lang="fr-FR" sz="2000" dirty="0"/>
              <a:t>L'image ACR est supprimée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558139" y="4125417"/>
            <a:ext cx="5251237" cy="1323439"/>
          </a:xfrm>
          <a:prstGeom prst="rect">
            <a:avLst/>
          </a:prstGeom>
          <a:noFill/>
        </p:spPr>
        <p:txBody>
          <a:bodyPr wrap="square">
            <a:spAutoFit/>
          </a:bodyPr>
          <a:lstStyle/>
          <a:p>
            <a:pPr>
              <a:defRPr sz="1600"/>
            </a:pPr>
            <a:r>
              <a:rPr dirty="0"/>
              <a:t>Les conteneurs par nature sont éphémères (stateless). Le stockage local d'un conteneur est lié à son cycle de vie. Si l'instance du conteneur s'arrête ou est supprimée, toutes les modifications écrites sur son système de fichiers local sont définitivement perdues.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7364"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solution Azure permet de fournir un partage de fichiers persistant à un conteneur ACI ?</a:t>
            </a:r>
            <a:endParaRPr lang="fr-FR" sz="2000" dirty="0"/>
          </a:p>
          <a:p>
            <a:pPr marL="457200" indent="-457200">
              <a:buFont typeface="+mj-lt"/>
              <a:buAutoNum type="arabicPeriod"/>
              <a:defRPr sz="2400"/>
            </a:pPr>
            <a:r>
              <a:rPr lang="fr-FR" sz="2000" dirty="0"/>
              <a:t>Azure Key Vault</a:t>
            </a:r>
          </a:p>
          <a:p>
            <a:pPr marL="457200" indent="-457200">
              <a:buFont typeface="+mj-lt"/>
              <a:buAutoNum type="arabicPeriod"/>
              <a:defRPr sz="2400"/>
            </a:pPr>
            <a:r>
              <a:rPr lang="fr-FR" sz="2000" dirty="0"/>
              <a:t>Azure Monitor</a:t>
            </a:r>
          </a:p>
          <a:p>
            <a:pPr marL="457200" indent="-457200">
              <a:buFont typeface="+mj-lt"/>
              <a:buAutoNum type="arabicPeriod"/>
              <a:defRPr sz="2400"/>
            </a:pPr>
            <a:r>
              <a:rPr lang="fr-FR" sz="2000" dirty="0"/>
              <a:t>Azure Queue Storage</a:t>
            </a:r>
          </a:p>
          <a:p>
            <a:pPr marL="457200" indent="-457200">
              <a:buFont typeface="+mj-lt"/>
              <a:buAutoNum type="arabicPeriod"/>
              <a:defRPr sz="2400"/>
            </a:pPr>
            <a:r>
              <a:rPr lang="fr-FR" sz="2000" dirty="0"/>
              <a:t>Azure Files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6650910" cy="1077218"/>
          </a:xfrm>
          <a:prstGeom prst="rect">
            <a:avLst/>
          </a:prstGeom>
          <a:noFill/>
        </p:spPr>
        <p:txBody>
          <a:bodyPr wrap="square">
            <a:spAutoFit/>
          </a:bodyPr>
          <a:lstStyle/>
          <a:p>
            <a:pPr>
              <a:defRPr sz="1600"/>
            </a:pPr>
            <a:r>
              <a:rPr dirty="0"/>
              <a:t>Azure Container Instances prend en charge le montage de volumes distants à partir d'un partage de fichiers Azure Files (partage SMB/NFS basé sur un compte de stockage Azure). Cela permet de conserver les données de manière persistante au-delà du cycle de vie du conteneur.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91806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ASP.NET Core exécuté dans un conteneur modernisé (.NET 8+), quelle variable d'environnement simplifiée permet de définir le port d'écoute HTTP du serveur ?</a:t>
            </a:r>
            <a:endParaRPr lang="fr-FR" sz="2000" dirty="0"/>
          </a:p>
          <a:p>
            <a:pPr marL="457200" indent="-457200">
              <a:buFont typeface="+mj-lt"/>
              <a:buAutoNum type="arabicPeriod"/>
              <a:defRPr sz="2400"/>
            </a:pPr>
            <a:r>
              <a:rPr lang="fr-FR" sz="2000" dirty="0"/>
              <a:t>DOTNET_URL</a:t>
            </a:r>
          </a:p>
          <a:p>
            <a:pPr marL="457200" indent="-457200">
              <a:buFont typeface="+mj-lt"/>
              <a:buAutoNum type="arabicPeriod"/>
              <a:defRPr sz="2400"/>
            </a:pPr>
            <a:r>
              <a:rPr lang="fr-FR" sz="2000" dirty="0"/>
              <a:t>HTTP_PORTS</a:t>
            </a:r>
          </a:p>
          <a:p>
            <a:pPr marL="457200" indent="-457200">
              <a:buFont typeface="+mj-lt"/>
              <a:buAutoNum type="arabicPeriod"/>
              <a:defRPr sz="2400"/>
            </a:pPr>
            <a:r>
              <a:rPr lang="fr-FR" sz="2000" dirty="0"/>
              <a:t>DOTNET_ENVIRONMENT</a:t>
            </a:r>
          </a:p>
          <a:p>
            <a:pPr marL="457200" indent="-457200">
              <a:buFont typeface="+mj-lt"/>
              <a:buAutoNum type="arabicPeriod"/>
              <a:defRPr sz="2400"/>
            </a:pPr>
            <a:r>
              <a:rPr lang="fr-FR" sz="2000" dirty="0"/>
              <a:t>WEBSITE_HOSTNAME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375530" y="4717681"/>
            <a:ext cx="6943628" cy="1077218"/>
          </a:xfrm>
          <a:prstGeom prst="rect">
            <a:avLst/>
          </a:prstGeom>
          <a:noFill/>
        </p:spPr>
        <p:txBody>
          <a:bodyPr wrap="square">
            <a:spAutoFit/>
          </a:bodyPr>
          <a:lstStyle/>
          <a:p>
            <a:pPr>
              <a:defRPr sz="1600"/>
            </a:pPr>
            <a:r>
              <a:rPr dirty="0"/>
              <a:t>Bien que 'ASPNETCORE_URLS' reste historique, les versions modernes de .NET (8+) privilégient l'utilisation de la variable simplifiée 'HTTP_PORTS' (ex: HTTP_PORTS=8080) pour configurer les ports d'écoute par défaut du serveur web Kestrel.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3406" y="257716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À quoi sert l'instruction EXPOSE dans un Dockerfile ?</a:t>
            </a:r>
            <a:endParaRPr lang="fr-FR" sz="2000" dirty="0"/>
          </a:p>
          <a:p>
            <a:pPr marL="457200" indent="-457200">
              <a:buFont typeface="+mj-lt"/>
              <a:buAutoNum type="arabicPeriod"/>
              <a:defRPr sz="2400"/>
            </a:pPr>
            <a:r>
              <a:rPr lang="fr-FR" sz="2000" dirty="0"/>
              <a:t>Ouvrir automatiquement un port sur Azure</a:t>
            </a:r>
          </a:p>
          <a:p>
            <a:pPr marL="457200" indent="-457200">
              <a:buFont typeface="+mj-lt"/>
              <a:buAutoNum type="arabicPeriod"/>
              <a:defRPr sz="2400"/>
            </a:pPr>
            <a:r>
              <a:rPr lang="fr-FR" sz="2000" dirty="0"/>
              <a:t>Documenter le port prévu pour l'application</a:t>
            </a:r>
          </a:p>
          <a:p>
            <a:pPr marL="457200" indent="-457200">
              <a:buFont typeface="+mj-lt"/>
              <a:buAutoNum type="arabicPeriod"/>
              <a:defRPr sz="2400"/>
            </a:pPr>
            <a:r>
              <a:rPr lang="fr-FR" sz="2000" dirty="0"/>
              <a:t>Créer une règle réseau</a:t>
            </a:r>
          </a:p>
          <a:p>
            <a:pPr marL="457200" indent="-457200">
              <a:buFont typeface="+mj-lt"/>
              <a:buAutoNum type="arabicPeriod"/>
              <a:defRPr sz="2400"/>
            </a:pPr>
            <a:r>
              <a:rPr lang="fr-FR" sz="2000" dirty="0"/>
              <a:t>Activer TLS</a:t>
            </a:r>
          </a:p>
          <a:p>
            <a:pPr>
              <a:defRPr sz="2400"/>
            </a:pPr>
            <a:endParaRPr dirty="0"/>
          </a:p>
        </p:txBody>
      </p:sp>
      <p:sp>
        <p:nvSpPr>
          <p:cNvPr id="8" name="TextBox 7"/>
          <p:cNvSpPr txBox="1"/>
          <p:nvPr/>
        </p:nvSpPr>
        <p:spPr>
          <a:xfrm>
            <a:off x="5982530" y="2470685"/>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494805" y="3853021"/>
            <a:ext cx="6430331" cy="2554545"/>
          </a:xfrm>
          <a:prstGeom prst="rect">
            <a:avLst/>
          </a:prstGeom>
          <a:noFill/>
        </p:spPr>
        <p:txBody>
          <a:bodyPr wrap="square">
            <a:spAutoFit/>
          </a:bodyPr>
          <a:lstStyle/>
          <a:p>
            <a:r>
              <a:rPr dirty="0"/>
              <a:t>L'instruction EXPOSE n'ouvre pas réellement les ports et ne configure pas de règles réseau. Elle sert uniquement de métadonnée d'information (documentation) entre la personne qui construit l'image et celle qui va exécuter le </a:t>
            </a:r>
            <a:r>
              <a:rPr dirty="0" err="1"/>
              <a:t>conteneur</a:t>
            </a:r>
            <a:r>
              <a:rPr dirty="0"/>
              <a:t>.</a:t>
            </a:r>
            <a:br>
              <a:rPr lang="fr-FR" dirty="0"/>
            </a:br>
            <a:endParaRPr lang="fr-FR" dirty="0"/>
          </a:p>
          <a:p>
            <a:r>
              <a:rPr lang="fr-FR" dirty="0"/>
              <a:t>Pour ouvrir réellement l'accès réseau lors de l'exécution locale, il faut utiliser le paramètre '-p' ou '--</a:t>
            </a:r>
            <a:r>
              <a:rPr lang="fr-FR" dirty="0" err="1"/>
              <a:t>publish</a:t>
            </a:r>
            <a:r>
              <a:rPr lang="fr-FR" dirty="0"/>
              <a:t>' avec la commande 'docker run'.	</a:t>
            </a:r>
          </a:p>
          <a:p>
            <a:pPr>
              <a:defRPr sz="1600"/>
            </a:pP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191141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commande Docker permet d'exécuter une image sous forme de conteneur ?</a:t>
            </a:r>
            <a:endParaRPr lang="fr-FR" sz="2000" dirty="0"/>
          </a:p>
          <a:p>
            <a:pPr marL="457200" indent="-457200">
              <a:buFont typeface="+mj-lt"/>
              <a:buAutoNum type="arabicPeriod"/>
              <a:defRPr sz="2400"/>
            </a:pPr>
            <a:r>
              <a:rPr lang="fr-FR" sz="2000" dirty="0"/>
              <a:t>docker build</a:t>
            </a:r>
          </a:p>
          <a:p>
            <a:pPr marL="457200" indent="-457200">
              <a:buFont typeface="+mj-lt"/>
              <a:buAutoNum type="arabicPeriod"/>
              <a:defRPr sz="2400"/>
            </a:pPr>
            <a:r>
              <a:rPr lang="fr-FR" sz="2000" dirty="0"/>
              <a:t>docker push</a:t>
            </a:r>
          </a:p>
          <a:p>
            <a:pPr marL="457200" indent="-457200">
              <a:buFont typeface="+mj-lt"/>
              <a:buAutoNum type="arabicPeriod"/>
              <a:defRPr sz="2400"/>
            </a:pPr>
            <a:r>
              <a:rPr lang="fr-FR" sz="2000" dirty="0"/>
              <a:t>docker tag</a:t>
            </a:r>
          </a:p>
          <a:p>
            <a:pPr marL="457200" indent="-457200">
              <a:buFont typeface="+mj-lt"/>
              <a:buAutoNum type="arabicPeriod"/>
              <a:defRPr sz="2400"/>
            </a:pPr>
            <a:r>
              <a:rPr lang="fr-FR" sz="2000" dirty="0"/>
              <a:t>docker run</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6923626" cy="1077218"/>
          </a:xfrm>
          <a:prstGeom prst="rect">
            <a:avLst/>
          </a:prstGeom>
          <a:noFill/>
        </p:spPr>
        <p:txBody>
          <a:bodyPr wrap="square">
            <a:spAutoFit/>
          </a:bodyPr>
          <a:lstStyle/>
          <a:p>
            <a:pPr>
              <a:defRPr sz="1600"/>
            </a:pPr>
            <a:r>
              <a:rPr dirty="0"/>
              <a:t>La commande 'docker run' combine en </a:t>
            </a:r>
            <a:r>
              <a:rPr dirty="0" err="1"/>
              <a:t>réalité</a:t>
            </a:r>
            <a:r>
              <a:rPr dirty="0"/>
              <a:t> </a:t>
            </a:r>
            <a:r>
              <a:rPr lang="fr-FR" dirty="0"/>
              <a:t>2</a:t>
            </a:r>
            <a:r>
              <a:rPr dirty="0"/>
              <a:t> opérations : </a:t>
            </a:r>
            <a:endParaRPr lang="fr-FR" dirty="0"/>
          </a:p>
          <a:p>
            <a:pPr marL="285750" indent="-285750">
              <a:buFontTx/>
              <a:buChar char="-"/>
              <a:defRPr sz="1600"/>
            </a:pPr>
            <a:r>
              <a:rPr dirty="0" err="1"/>
              <a:t>elle</a:t>
            </a:r>
            <a:r>
              <a:rPr dirty="0"/>
              <a:t> crée d'abord une instance de conteneur modifiable à partir d'une image spécifiée ('docker create'), </a:t>
            </a:r>
            <a:endParaRPr lang="fr-FR" dirty="0"/>
          </a:p>
          <a:p>
            <a:pPr marL="285750" indent="-285750">
              <a:buFontTx/>
              <a:buChar char="-"/>
              <a:defRPr sz="1600"/>
            </a:pPr>
            <a:r>
              <a:rPr dirty="0" err="1"/>
              <a:t>puis</a:t>
            </a:r>
            <a:r>
              <a:rPr dirty="0"/>
              <a:t> elle démarre ce conteneur ('docker start').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86993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est la méthode recommandée pour fournir une configuration différente entre développement et production dans un conteneur ?</a:t>
            </a:r>
            <a:endParaRPr lang="fr-FR" sz="2000" dirty="0"/>
          </a:p>
          <a:p>
            <a:pPr marL="457200" indent="-457200">
              <a:buFont typeface="+mj-lt"/>
              <a:buAutoNum type="arabicPeriod"/>
              <a:defRPr sz="2400"/>
            </a:pPr>
            <a:r>
              <a:rPr lang="fr-FR" sz="2000" dirty="0"/>
              <a:t>Modifier l'image après le déploiement</a:t>
            </a:r>
          </a:p>
          <a:p>
            <a:pPr marL="457200" indent="-457200">
              <a:buFont typeface="+mj-lt"/>
              <a:buAutoNum type="arabicPeriod"/>
              <a:defRPr sz="2400"/>
            </a:pPr>
            <a:r>
              <a:rPr lang="fr-FR" sz="2000" dirty="0"/>
              <a:t>Utiliser des variables d'environnement</a:t>
            </a:r>
          </a:p>
          <a:p>
            <a:pPr marL="457200" indent="-457200">
              <a:buFont typeface="+mj-lt"/>
              <a:buAutoNum type="arabicPeriod"/>
              <a:defRPr sz="2400"/>
            </a:pPr>
            <a:r>
              <a:rPr lang="fr-FR" sz="2000" dirty="0"/>
              <a:t>Créer une machine virtuelle dédiée</a:t>
            </a:r>
          </a:p>
          <a:p>
            <a:pPr marL="457200" indent="-457200">
              <a:buFont typeface="+mj-lt"/>
              <a:buAutoNum type="arabicPeriod"/>
              <a:defRPr sz="2400"/>
            </a:pPr>
            <a:r>
              <a:rPr lang="fr-FR" sz="2000" dirty="0"/>
              <a:t>Modifier le code source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6293974" cy="1323439"/>
          </a:xfrm>
          <a:prstGeom prst="rect">
            <a:avLst/>
          </a:prstGeom>
          <a:noFill/>
        </p:spPr>
        <p:txBody>
          <a:bodyPr wrap="square">
            <a:spAutoFit/>
          </a:bodyPr>
          <a:lstStyle/>
          <a:p>
            <a:pPr>
              <a:defRPr sz="1600"/>
            </a:pPr>
            <a:r>
              <a:rPr dirty="0"/>
              <a:t>Une image de conteneur doit rester strictement identique (immuable) à travers tous les environnements (Dev, Test, Prod). La méthode standard pour modifier son comportement ou ses chaînes de connexion consiste à injecter des configurations via des variables d'environnement lors de l'instanciation du conteneur.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7236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est-il déconseillé de stocker des mots de passe directement dans une image Docker ?</a:t>
            </a:r>
            <a:endParaRPr lang="fr-FR" sz="2000" dirty="0"/>
          </a:p>
          <a:p>
            <a:pPr marL="457200" indent="-457200">
              <a:buFont typeface="+mj-lt"/>
              <a:buAutoNum type="arabicPeriod"/>
              <a:defRPr sz="2400"/>
            </a:pPr>
            <a:r>
              <a:rPr lang="fr-FR" sz="2000" dirty="0"/>
              <a:t>Les secrets peuvent être récupérés par toute personne ayant accès à l'image</a:t>
            </a:r>
          </a:p>
          <a:p>
            <a:pPr marL="457200" indent="-457200">
              <a:buFont typeface="+mj-lt"/>
              <a:buAutoNum type="arabicPeriod"/>
              <a:defRPr sz="2400"/>
            </a:pPr>
            <a:r>
              <a:rPr lang="fr-FR" sz="2000" dirty="0"/>
              <a:t>Les images deviennent plus lentes</a:t>
            </a:r>
          </a:p>
          <a:p>
            <a:pPr marL="457200" indent="-457200">
              <a:buFont typeface="+mj-lt"/>
              <a:buAutoNum type="arabicPeriod"/>
              <a:defRPr sz="2400"/>
            </a:pPr>
            <a:r>
              <a:rPr lang="fr-FR" sz="2000" dirty="0"/>
              <a:t>Docker ne supporte pas les mots de passe</a:t>
            </a:r>
          </a:p>
          <a:p>
            <a:pPr marL="457200" indent="-457200">
              <a:buFont typeface="+mj-lt"/>
              <a:buAutoNum type="arabicPeriod"/>
              <a:defRPr sz="2400"/>
            </a:pPr>
            <a:r>
              <a:rPr lang="fr-FR" sz="2000" dirty="0"/>
              <a:t>ACR refuse les images contenant des secrets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359489" y="4773829"/>
            <a:ext cx="7786983" cy="1077218"/>
          </a:xfrm>
          <a:prstGeom prst="rect">
            <a:avLst/>
          </a:prstGeom>
          <a:noFill/>
        </p:spPr>
        <p:txBody>
          <a:bodyPr wrap="square">
            <a:spAutoFit/>
          </a:bodyPr>
          <a:lstStyle/>
          <a:p>
            <a:pPr>
              <a:defRPr sz="1600"/>
            </a:pPr>
            <a:r>
              <a:rPr dirty="0"/>
              <a:t>Les images Docker sont composées d'une superposition de couches de système de fichiers. Même si un secret est supprimé ou écrasé dans une étape ultérieure du Dockerfile, il reste présent de manière définitive dans l'historique des couches précédentes et peut être extrait facilement.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commande Azure CLI permet de consulter les logs d'une Azure Container Instance ?</a:t>
            </a:r>
            <a:endParaRPr lang="fr-FR" sz="2000" dirty="0"/>
          </a:p>
          <a:p>
            <a:pPr marL="457200" indent="-457200">
              <a:buFont typeface="+mj-lt"/>
              <a:buAutoNum type="arabicPeriod"/>
              <a:defRPr sz="2400"/>
            </a:pPr>
            <a:r>
              <a:rPr lang="fr-FR" sz="2000" dirty="0"/>
              <a:t>az monitor logs</a:t>
            </a:r>
          </a:p>
          <a:p>
            <a:pPr marL="457200" indent="-457200">
              <a:buFont typeface="+mj-lt"/>
              <a:buAutoNum type="arabicPeriod"/>
              <a:defRPr sz="2400"/>
            </a:pPr>
            <a:r>
              <a:rPr lang="fr-FR" sz="2000" dirty="0"/>
              <a:t>az acr logs</a:t>
            </a:r>
          </a:p>
          <a:p>
            <a:pPr marL="457200" indent="-457200">
              <a:buFont typeface="+mj-lt"/>
              <a:buAutoNum type="arabicPeriod"/>
              <a:defRPr sz="2400"/>
            </a:pPr>
            <a:r>
              <a:rPr lang="fr-FR" sz="2000" dirty="0"/>
              <a:t>az container logs</a:t>
            </a:r>
          </a:p>
          <a:p>
            <a:pPr marL="457200" indent="-457200">
              <a:buFont typeface="+mj-lt"/>
              <a:buAutoNum type="arabicPeriod"/>
              <a:defRPr sz="2400"/>
            </a:pPr>
            <a:r>
              <a:rPr lang="fr-FR" sz="2000" dirty="0"/>
              <a:t>az vm logs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467096" y="4693618"/>
            <a:ext cx="6479136" cy="830997"/>
          </a:xfrm>
          <a:prstGeom prst="rect">
            <a:avLst/>
          </a:prstGeom>
          <a:noFill/>
        </p:spPr>
        <p:txBody>
          <a:bodyPr wrap="square">
            <a:spAutoFit/>
          </a:bodyPr>
          <a:lstStyle/>
          <a:p>
            <a:pPr>
              <a:defRPr sz="1600"/>
            </a:pPr>
            <a:r>
              <a:rPr dirty="0"/>
              <a:t>La commande Azure CLI 'az container logs' extrait et affiche la sortie standard (stdout) et l'erreur standard (stderr) générées par les processus s'exécutant à l'intérieur du conteneur hébergé dans ACI.</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57315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avantage principal apporte la conteneurisation ?</a:t>
            </a:r>
            <a:endParaRPr lang="fr-FR" sz="2000" dirty="0"/>
          </a:p>
          <a:p>
            <a:pPr marL="457200" indent="-457200">
              <a:buFont typeface="+mj-lt"/>
              <a:buAutoNum type="arabicPeriod"/>
              <a:defRPr sz="2400"/>
            </a:pPr>
            <a:r>
              <a:rPr lang="fr-FR" sz="2000" dirty="0"/>
              <a:t>L'application dépend davantage du système d'exploitation</a:t>
            </a:r>
          </a:p>
          <a:p>
            <a:pPr marL="457200" indent="-457200">
              <a:buFont typeface="+mj-lt"/>
              <a:buAutoNum type="arabicPeriod"/>
              <a:defRPr sz="2400"/>
            </a:pPr>
            <a:r>
              <a:rPr lang="fr-FR" sz="2000" dirty="0"/>
              <a:t>L'application s'exécute de manière cohérente dans différents environnements</a:t>
            </a:r>
          </a:p>
          <a:p>
            <a:pPr marL="457200" indent="-457200">
              <a:buFont typeface="+mj-lt"/>
              <a:buAutoNum type="arabicPeriod"/>
              <a:defRPr sz="2400"/>
            </a:pPr>
            <a:r>
              <a:rPr lang="fr-FR" sz="2000" dirty="0"/>
              <a:t>Les mises à jour Azure deviennent automatiques</a:t>
            </a:r>
          </a:p>
          <a:p>
            <a:pPr marL="457200" indent="-457200">
              <a:buFont typeface="+mj-lt"/>
              <a:buAutoNum type="arabicPeriod"/>
              <a:defRPr sz="2400"/>
            </a:pPr>
            <a:r>
              <a:rPr lang="fr-FR" sz="2000" dirty="0"/>
              <a:t>Le code source est automatiquement compilé</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499857" y="4473039"/>
            <a:ext cx="7220405" cy="1077218"/>
          </a:xfrm>
          <a:prstGeom prst="rect">
            <a:avLst/>
          </a:prstGeom>
          <a:noFill/>
        </p:spPr>
        <p:txBody>
          <a:bodyPr wrap="square">
            <a:spAutoFit/>
          </a:bodyPr>
          <a:lstStyle/>
          <a:p>
            <a:pPr>
              <a:defRPr sz="1600"/>
            </a:pPr>
            <a:r>
              <a:rPr dirty="0"/>
              <a:t>En encapsulant l'application, ses binaires, ses bibliothèques système et ses configurations dans un package unique et isolé (le conteneur), on s'affranchit des disparités de l'infrastructure sous-jacente. L'environnement d'exécution reste strictement identique du poste du développeur jusqu'à la production Azure.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3459" y="204376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affirmation est vraie concernant Azure Container Instances ?</a:t>
            </a:r>
            <a:endParaRPr lang="fr-FR" sz="2000" dirty="0"/>
          </a:p>
          <a:p>
            <a:pPr marL="457200" indent="-457200">
              <a:buFont typeface="+mj-lt"/>
              <a:buAutoNum type="arabicPeriod"/>
              <a:defRPr sz="2400"/>
            </a:pPr>
            <a:r>
              <a:rPr lang="fr-FR" sz="2000" dirty="0"/>
              <a:t>ACI fournit un orchestrateur Kubernetes complet</a:t>
            </a:r>
          </a:p>
          <a:p>
            <a:pPr marL="457200" indent="-457200">
              <a:buFont typeface="+mj-lt"/>
              <a:buAutoNum type="arabicPeriod"/>
              <a:defRPr sz="2400"/>
            </a:pPr>
            <a:r>
              <a:rPr lang="fr-FR" sz="2000" dirty="0"/>
              <a:t>ACI nécessite obligatoirement un AKS</a:t>
            </a:r>
          </a:p>
          <a:p>
            <a:pPr marL="457200" indent="-457200">
              <a:buFont typeface="+mj-lt"/>
              <a:buAutoNum type="arabicPeriod"/>
              <a:defRPr sz="2400"/>
            </a:pPr>
            <a:r>
              <a:rPr lang="fr-FR" sz="2000" dirty="0"/>
              <a:t>ACI permet d'exécuter des conteneurs à la demande sans gérer d'infrastructure</a:t>
            </a:r>
          </a:p>
          <a:p>
            <a:pPr marL="457200" indent="-457200">
              <a:buFont typeface="+mj-lt"/>
              <a:buAutoNum type="arabicPeriod"/>
              <a:defRPr sz="2400"/>
            </a:pPr>
            <a:r>
              <a:rPr lang="fr-FR" sz="2000" dirty="0"/>
              <a:t>ACI ne supporte pas les images Docker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275268" y="4473039"/>
            <a:ext cx="7453016" cy="1077218"/>
          </a:xfrm>
          <a:prstGeom prst="rect">
            <a:avLst/>
          </a:prstGeom>
          <a:noFill/>
        </p:spPr>
        <p:txBody>
          <a:bodyPr wrap="square">
            <a:spAutoFit/>
          </a:bodyPr>
          <a:lstStyle/>
          <a:p>
            <a:pPr>
              <a:defRPr sz="1600"/>
            </a:pPr>
            <a:r>
              <a:rPr dirty="0"/>
              <a:t>Azure Container Instances (ACI) est un service de calcul serverless d'Azure. </a:t>
            </a:r>
            <a:endParaRPr lang="fr-FR" dirty="0"/>
          </a:p>
          <a:p>
            <a:pPr>
              <a:defRPr sz="1600"/>
            </a:pPr>
            <a:r>
              <a:rPr dirty="0"/>
              <a:t>Vous ne payez que pour les ressources de processeur (vCPU) et de mémoire (Go) consommées à la seconde près par vos conteneurs, sans aucune gestion de système d'exploitation ou de serveur sous-jacent.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32428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permet la commande docker tag ?</a:t>
            </a:r>
            <a:endParaRPr lang="fr-FR" sz="2000" dirty="0"/>
          </a:p>
          <a:p>
            <a:pPr marL="457200" indent="-457200">
              <a:buFont typeface="+mj-lt"/>
              <a:buAutoNum type="arabicPeriod"/>
              <a:defRPr sz="2400"/>
            </a:pPr>
            <a:r>
              <a:rPr lang="fr-FR" sz="2000" dirty="0"/>
              <a:t>Créer une copie logique d'une image sous un autre nom ou une autre version</a:t>
            </a:r>
          </a:p>
          <a:p>
            <a:pPr marL="457200" indent="-457200">
              <a:buFont typeface="+mj-lt"/>
              <a:buAutoNum type="arabicPeriod"/>
              <a:defRPr sz="2400"/>
            </a:pPr>
            <a:r>
              <a:rPr lang="fr-FR" sz="2000" dirty="0"/>
              <a:t>Supprimer une image</a:t>
            </a:r>
          </a:p>
          <a:p>
            <a:pPr marL="457200" indent="-457200">
              <a:buFont typeface="+mj-lt"/>
              <a:buAutoNum type="arabicPeriod"/>
              <a:defRPr sz="2400"/>
            </a:pPr>
            <a:r>
              <a:rPr lang="fr-FR" sz="2000" dirty="0"/>
              <a:t>Créer un volume</a:t>
            </a:r>
          </a:p>
          <a:p>
            <a:pPr marL="457200" indent="-457200">
              <a:buFont typeface="+mj-lt"/>
              <a:buAutoNum type="arabicPeriod"/>
              <a:defRPr sz="2400"/>
            </a:pPr>
            <a:r>
              <a:rPr lang="fr-FR" sz="2000" dirty="0"/>
              <a:t>Afficher les logs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348915" y="4702997"/>
            <a:ext cx="8292658" cy="830997"/>
          </a:xfrm>
          <a:prstGeom prst="rect">
            <a:avLst/>
          </a:prstGeom>
          <a:noFill/>
        </p:spPr>
        <p:txBody>
          <a:bodyPr wrap="square">
            <a:spAutoFit/>
          </a:bodyPr>
          <a:lstStyle/>
          <a:p>
            <a:pPr>
              <a:defRPr sz="1600"/>
            </a:pPr>
            <a:r>
              <a:rPr dirty="0"/>
              <a:t>La commande 'docker tag' ne duplique pas les données physiques sur le disque. </a:t>
            </a:r>
            <a:endParaRPr lang="fr-FR" dirty="0"/>
          </a:p>
          <a:p>
            <a:pPr>
              <a:defRPr sz="1600"/>
            </a:pPr>
            <a:r>
              <a:rPr dirty="0"/>
              <a:t>Elle crée un pointeur (une référence ou un alias) supplémentaire vers une image existante. Cela permet de renommer localement une image pour l'associer à un registre spécifique.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69762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principal avantage d'utiliser un registre privé comme ACR plutôt qu'un registre public ?</a:t>
            </a:r>
            <a:endParaRPr lang="fr-FR" sz="2000" dirty="0"/>
          </a:p>
          <a:p>
            <a:pPr marL="457200" indent="-457200">
              <a:buFont typeface="+mj-lt"/>
              <a:buAutoNum type="arabicPeriod"/>
              <a:defRPr sz="2400"/>
            </a:pPr>
            <a:r>
              <a:rPr lang="fr-FR" sz="2000" dirty="0"/>
              <a:t>Les images sont plus petites</a:t>
            </a:r>
          </a:p>
          <a:p>
            <a:pPr marL="457200" indent="-457200">
              <a:buFont typeface="+mj-lt"/>
              <a:buAutoNum type="arabicPeriod"/>
              <a:defRPr sz="2400"/>
            </a:pPr>
            <a:r>
              <a:rPr lang="fr-FR" sz="2000" dirty="0"/>
              <a:t>Les images sont automatiquement chiffrées dans le code</a:t>
            </a:r>
          </a:p>
          <a:p>
            <a:pPr marL="457200" indent="-457200">
              <a:buFont typeface="+mj-lt"/>
              <a:buAutoNum type="arabicPeriod"/>
              <a:defRPr sz="2400"/>
            </a:pPr>
            <a:r>
              <a:rPr lang="fr-FR" sz="2000" dirty="0"/>
              <a:t>Docker n'est plus nécessaire</a:t>
            </a:r>
          </a:p>
          <a:p>
            <a:pPr marL="457200" indent="-457200">
              <a:buFont typeface="+mj-lt"/>
              <a:buAutoNum type="arabicPeriod"/>
              <a:defRPr sz="2400"/>
            </a:pPr>
            <a:r>
              <a:rPr lang="fr-FR" sz="2000" dirty="0"/>
              <a:t>Le contrôle d'accès et la sécurité sont renforcés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585849" y="4560906"/>
            <a:ext cx="6318037" cy="1323439"/>
          </a:xfrm>
          <a:prstGeom prst="rect">
            <a:avLst/>
          </a:prstGeom>
          <a:noFill/>
        </p:spPr>
        <p:txBody>
          <a:bodyPr wrap="square">
            <a:spAutoFit/>
          </a:bodyPr>
          <a:lstStyle/>
          <a:p>
            <a:pPr>
              <a:defRPr sz="1600"/>
            </a:pPr>
            <a:r>
              <a:rPr dirty="0"/>
              <a:t>Contrairement à Docker Hub public, Azure Container Registry (ACR) offre un contrôle d'accès granulaire intégré au cloud Microsoft via Azure RBAC (Role-Based Access Control). Il permet de restreindre l'accès en lecture/écriture à des utilisateurs spécifiques ou à des ressources Azure via des Identités Managées (Managed Identities).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86592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Azure, quel service est recommandé lorsqu'on souhaite un contrôle total sur l'infrastructure d'un cluster Kubernetes à grande échelle ?</a:t>
            </a:r>
            <a:endParaRPr lang="fr-FR" sz="2000" dirty="0"/>
          </a:p>
          <a:p>
            <a:pPr marL="457200" indent="-457200">
              <a:buFont typeface="+mj-lt"/>
              <a:buAutoNum type="arabicPeriod"/>
              <a:defRPr sz="2400"/>
            </a:pPr>
            <a:r>
              <a:rPr lang="fr-FR" sz="2000" dirty="0"/>
              <a:t>Azure Container Instances</a:t>
            </a:r>
          </a:p>
          <a:p>
            <a:pPr marL="457200" indent="-457200">
              <a:buFont typeface="+mj-lt"/>
              <a:buAutoNum type="arabicPeriod"/>
              <a:defRPr sz="2400"/>
            </a:pPr>
            <a:r>
              <a:rPr lang="fr-FR" sz="2000" dirty="0"/>
              <a:t>Azure Kubernetes Service</a:t>
            </a:r>
          </a:p>
          <a:p>
            <a:pPr marL="457200" indent="-457200">
              <a:buFont typeface="+mj-lt"/>
              <a:buAutoNum type="arabicPeriod"/>
              <a:defRPr sz="2400"/>
            </a:pPr>
            <a:r>
              <a:rPr lang="fr-FR" sz="2000" dirty="0"/>
              <a:t>Azure Files</a:t>
            </a:r>
          </a:p>
          <a:p>
            <a:pPr marL="457200" indent="-457200">
              <a:buFont typeface="+mj-lt"/>
              <a:buAutoNum type="arabicPeriod"/>
              <a:defRPr sz="2400"/>
            </a:pPr>
            <a:r>
              <a:rPr lang="fr-FR" sz="2000" dirty="0"/>
              <a:t>Azure Storage Queue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315372" y="4640228"/>
            <a:ext cx="7669585" cy="830997"/>
          </a:xfrm>
          <a:prstGeom prst="rect">
            <a:avLst/>
          </a:prstGeom>
          <a:noFill/>
        </p:spPr>
        <p:txBody>
          <a:bodyPr wrap="square">
            <a:spAutoFit/>
          </a:bodyPr>
          <a:lstStyle/>
          <a:p>
            <a:pPr>
              <a:defRPr sz="1600"/>
            </a:pPr>
            <a:r>
              <a:rPr dirty="0"/>
              <a:t>Azure Kubernetes Service (AKS) est le service Kubernetes managé d'Azure qui offre un contrôle complet sur la gestion des nœuds, du cluster et des configurations réseau complexes.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26434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a:t>
            </a:r>
            <a:r>
              <a:rPr lang="fr-FR" sz="3200" dirty="0"/>
              <a:t>2</a:t>
            </a:r>
            <a:r>
              <a:rPr sz="3200" dirty="0"/>
              <a:t>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Votre équipe doit déployer une architecture de microservices conteneurisés à grande échelle. Vous recherchez une solution qui gère automatiquement la mise à l'échelle basée sur le trafic (HTTP) ou des événements (KEDA), sans que vous n'ayez à provisionner, configurer ou gérer l'infrastructure de serveurs ou de clusters Kubernetes sous-jacents. Quel service Azure devez-vous choisir ?</a:t>
            </a:r>
            <a:endParaRPr lang="fr-FR" sz="2000" dirty="0"/>
          </a:p>
          <a:p>
            <a:pPr marL="457200" indent="-457200">
              <a:buFont typeface="+mj-lt"/>
              <a:buAutoNum type="arabicPeriod"/>
              <a:defRPr sz="2400"/>
            </a:pPr>
            <a:r>
              <a:rPr lang="fr-FR" sz="2000" dirty="0"/>
              <a:t>Azure Kubernetes Service (AKS)</a:t>
            </a:r>
          </a:p>
          <a:p>
            <a:pPr marL="457200" indent="-457200">
              <a:buFont typeface="+mj-lt"/>
              <a:buAutoNum type="arabicPeriod"/>
              <a:defRPr sz="2400"/>
            </a:pPr>
            <a:r>
              <a:rPr lang="fr-FR" sz="2000" dirty="0"/>
              <a:t>Azure Container Instances (ACI)</a:t>
            </a:r>
          </a:p>
          <a:p>
            <a:pPr marL="457200" indent="-457200">
              <a:buFont typeface="+mj-lt"/>
              <a:buAutoNum type="arabicPeriod"/>
              <a:defRPr sz="2400"/>
            </a:pPr>
            <a:r>
              <a:rPr lang="fr-FR" sz="2000" dirty="0"/>
              <a:t>Azure Container Apps (ACA)</a:t>
            </a:r>
          </a:p>
          <a:p>
            <a:pPr marL="457200" indent="-457200">
              <a:buFont typeface="+mj-lt"/>
              <a:buAutoNum type="arabicPeriod"/>
              <a:defRPr sz="2400"/>
            </a:pPr>
            <a:r>
              <a:rPr lang="fr-FR" sz="2000" dirty="0"/>
              <a:t>Azure App Service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486888" y="4455227"/>
            <a:ext cx="7809952" cy="2462213"/>
          </a:xfrm>
          <a:prstGeom prst="rect">
            <a:avLst/>
          </a:prstGeom>
          <a:noFill/>
        </p:spPr>
        <p:txBody>
          <a:bodyPr wrap="square">
            <a:spAutoFit/>
          </a:bodyPr>
          <a:lstStyle/>
          <a:p>
            <a:r>
              <a:rPr sz="1400" dirty="0"/>
              <a:t>Azure Container Apps (ACA) est un service serverless conçu spécifiquement pour les microservices. Il repose en arrière-plan sur Kubernetes (AKS), mais masque complètement la complexité opérationnelle (pas de gestion de nœuds, de control-plane ou de mises à jour de cluster). Il intègre nativement KEDA pour l'auto-scaling et Dapr pour l'architecture microservices. À l'inverse, Azure Kubernetes Service (AKS) offre un contrôle total sur l'infrastructure et la configuration du cluster, mais nécessite des compétences d'administration et une gestion active des nœuds (VMs).</a:t>
            </a:r>
            <a:br>
              <a:rPr lang="fr-FR" sz="1400" dirty="0"/>
            </a:br>
            <a:br>
              <a:rPr lang="fr-FR" sz="1400" dirty="0"/>
            </a:br>
            <a:r>
              <a:rPr lang="fr-FR" sz="1400" dirty="0"/>
              <a:t>Règle d'or pour l'AZ-204 : Besoin de contrôle total sur l'API </a:t>
            </a:r>
            <a:r>
              <a:rPr lang="fr-FR" sz="1400" dirty="0" err="1"/>
              <a:t>Kubernetes</a:t>
            </a:r>
            <a:r>
              <a:rPr lang="fr-FR" sz="1400" dirty="0"/>
              <a:t>/les nœuds = AKS. Besoin de </a:t>
            </a:r>
            <a:r>
              <a:rPr lang="fr-FR" sz="1400" dirty="0" err="1"/>
              <a:t>microservices</a:t>
            </a:r>
            <a:r>
              <a:rPr lang="fr-FR" sz="1400" dirty="0"/>
              <a:t>, d'auto-</a:t>
            </a:r>
            <a:r>
              <a:rPr lang="fr-FR" sz="1400" dirty="0" err="1"/>
              <a:t>scaling</a:t>
            </a:r>
            <a:r>
              <a:rPr lang="fr-FR" sz="1400" dirty="0"/>
              <a:t> dynamique à grande échelle mais sans gestion de cluster = ACA. Traitement simple/isolé à courte durée de vie = ACI.</a:t>
            </a:r>
          </a:p>
          <a:p>
            <a:pPr>
              <a:defRPr sz="1600"/>
            </a:pPr>
            <a:endParaRPr sz="1400"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55751" y="346771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55502-8EC4-7AF6-A20A-85B9736C4ECA}"/>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E2C2D12-B7EE-A304-F278-5566F90F6F38}"/>
              </a:ext>
            </a:extLst>
          </p:cNvPr>
          <p:cNvSpPr>
            <a:spLocks noGrp="1"/>
          </p:cNvSpPr>
          <p:nvPr>
            <p:ph type="body" sz="quarter" idx="11"/>
          </p:nvPr>
        </p:nvSpPr>
        <p:spPr/>
        <p:txBody>
          <a:bodyPr/>
          <a:lstStyle/>
          <a:p>
            <a:r>
              <a:rPr lang="fr-FR" dirty="0"/>
              <a:t>Quizz 15</a:t>
            </a:r>
          </a:p>
        </p:txBody>
      </p:sp>
      <p:sp>
        <p:nvSpPr>
          <p:cNvPr id="3" name="Espace réservé du texte 2">
            <a:extLst>
              <a:ext uri="{FF2B5EF4-FFF2-40B4-BE49-F238E27FC236}">
                <a16:creationId xmlns:a16="http://schemas.microsoft.com/office/drawing/2014/main" id="{0FC45613-AAFC-37C4-9EB6-50202F062824}"/>
              </a:ext>
            </a:extLst>
          </p:cNvPr>
          <p:cNvSpPr>
            <a:spLocks noGrp="1"/>
          </p:cNvSpPr>
          <p:nvPr>
            <p:ph type="body" sz="quarter" idx="12"/>
          </p:nvPr>
        </p:nvSpPr>
        <p:spPr>
          <a:xfrm>
            <a:off x="2604868" y="3501008"/>
            <a:ext cx="5624732" cy="1432560"/>
          </a:xfrm>
        </p:spPr>
        <p:txBody>
          <a:bodyPr/>
          <a:lstStyle/>
          <a:p>
            <a:r>
              <a:rPr lang="fr-FR" dirty="0"/>
              <a:t>Azure Container Apps : </a:t>
            </a:r>
            <a:r>
              <a:rPr lang="fr-FR" dirty="0" err="1"/>
              <a:t>scaling</a:t>
            </a:r>
            <a:r>
              <a:rPr lang="fr-FR" dirty="0"/>
              <a:t> et </a:t>
            </a:r>
            <a:r>
              <a:rPr lang="fr-FR" dirty="0" err="1"/>
              <a:t>traffic</a:t>
            </a:r>
            <a:r>
              <a:rPr lang="fr-FR" dirty="0"/>
              <a:t> </a:t>
            </a:r>
            <a:r>
              <a:rPr lang="fr-FR" dirty="0" err="1"/>
              <a:t>splitting</a:t>
            </a:r>
            <a:endParaRPr lang="fr-FR" dirty="0"/>
          </a:p>
        </p:txBody>
      </p:sp>
    </p:spTree>
    <p:extLst>
      <p:ext uri="{BB962C8B-B14F-4D97-AF65-F5344CB8AC3E}">
        <p14:creationId xmlns:p14="http://schemas.microsoft.com/office/powerpoint/2010/main" val="283679609"/>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permet d'exécuter des conteneurs avec autoscaling intégré sans gérer un cluster Kubernetes ?</a:t>
            </a:r>
            <a:endParaRPr lang="fr-FR" sz="2000" dirty="0"/>
          </a:p>
          <a:p>
            <a:pPr marL="457200" indent="-457200">
              <a:buFont typeface="+mj-lt"/>
              <a:buAutoNum type="arabicPeriod"/>
              <a:defRPr sz="2400"/>
            </a:pPr>
            <a:r>
              <a:rPr lang="fr-FR" sz="2000" dirty="0"/>
              <a:t>Azure Virtual Machines</a:t>
            </a:r>
          </a:p>
          <a:p>
            <a:pPr marL="457200" indent="-457200">
              <a:buFont typeface="+mj-lt"/>
              <a:buAutoNum type="arabicPeriod"/>
              <a:defRPr sz="2400"/>
            </a:pPr>
            <a:r>
              <a:rPr lang="fr-FR" sz="2000" dirty="0"/>
              <a:t>Azure Container Instances</a:t>
            </a:r>
          </a:p>
          <a:p>
            <a:pPr marL="457200" indent="-457200">
              <a:buFont typeface="+mj-lt"/>
              <a:buAutoNum type="arabicPeriod"/>
              <a:defRPr sz="2400"/>
            </a:pPr>
            <a:r>
              <a:rPr lang="fr-FR" sz="2000" dirty="0"/>
              <a:t>Azure Container Apps</a:t>
            </a:r>
          </a:p>
          <a:p>
            <a:pPr marL="457200" indent="-457200">
              <a:buFont typeface="+mj-lt"/>
              <a:buAutoNum type="arabicPeriod"/>
              <a:defRPr sz="2400"/>
            </a:pPr>
            <a:r>
              <a:rPr lang="fr-FR" sz="2000" dirty="0"/>
              <a:t>Azure Batch</a:t>
            </a:r>
          </a:p>
          <a:p>
            <a:pPr>
              <a:defRPr sz="2400"/>
            </a:pPr>
            <a:endParaRPr dirty="0"/>
          </a:p>
        </p:txBody>
      </p:sp>
      <p:sp>
        <p:nvSpPr>
          <p:cNvPr id="8" name="TextBox 7"/>
          <p:cNvSpPr txBox="1"/>
          <p:nvPr/>
        </p:nvSpPr>
        <p:spPr>
          <a:xfrm>
            <a:off x="6280507" y="3059668"/>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557808" y="4450838"/>
            <a:ext cx="6666952" cy="1077218"/>
          </a:xfrm>
          <a:prstGeom prst="rect">
            <a:avLst/>
          </a:prstGeom>
          <a:noFill/>
        </p:spPr>
        <p:txBody>
          <a:bodyPr wrap="square">
            <a:spAutoFit/>
          </a:bodyPr>
          <a:lstStyle/>
          <a:p>
            <a:pPr>
              <a:defRPr sz="1600"/>
            </a:pPr>
            <a:r>
              <a:rPr dirty="0"/>
              <a:t>Azure Container Apps (ACA) est une plateforme serverless managée pour conteneurs. Elle offre les fonctionnalités d'un orchestrateur (comme le scaling automatique basé sur le trafic ou des événements) tout en faisant abstraction de la gestion complexe des clusters Kubernetes sous-jacents.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4107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composant Azure Container Apps partage les ressources réseau et la configuration entre plusieurs Container Apps ?</a:t>
            </a:r>
            <a:endParaRPr lang="fr-FR" sz="2000" dirty="0"/>
          </a:p>
          <a:p>
            <a:pPr marL="457200" indent="-457200">
              <a:buFont typeface="+mj-lt"/>
              <a:buAutoNum type="arabicPeriod"/>
              <a:defRPr sz="2400"/>
            </a:pPr>
            <a:r>
              <a:rPr lang="fr-FR" sz="2000" dirty="0"/>
              <a:t>Azure Container Registry</a:t>
            </a:r>
          </a:p>
          <a:p>
            <a:pPr marL="457200" indent="-457200">
              <a:buFont typeface="+mj-lt"/>
              <a:buAutoNum type="arabicPeriod"/>
              <a:defRPr sz="2400"/>
            </a:pPr>
            <a:r>
              <a:rPr lang="fr-FR" sz="2000" dirty="0"/>
              <a:t>Container Apps Environment</a:t>
            </a:r>
          </a:p>
          <a:p>
            <a:pPr marL="457200" indent="-457200">
              <a:buFont typeface="+mj-lt"/>
              <a:buAutoNum type="arabicPeriod"/>
              <a:defRPr sz="2400"/>
            </a:pPr>
            <a:r>
              <a:rPr lang="fr-FR" sz="2000" dirty="0"/>
              <a:t>Revision</a:t>
            </a:r>
          </a:p>
          <a:p>
            <a:pPr marL="457200" indent="-457200">
              <a:buFont typeface="+mj-lt"/>
              <a:buAutoNum type="arabicPeriod"/>
              <a:defRPr sz="2400"/>
            </a:pPr>
            <a:r>
              <a:rPr lang="fr-FR" sz="2000" dirty="0"/>
              <a:t>Replica</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467095" y="4473039"/>
            <a:ext cx="6350799" cy="1323439"/>
          </a:xfrm>
          <a:prstGeom prst="rect">
            <a:avLst/>
          </a:prstGeom>
          <a:noFill/>
        </p:spPr>
        <p:txBody>
          <a:bodyPr wrap="square">
            <a:spAutoFit/>
          </a:bodyPr>
          <a:lstStyle/>
          <a:p>
            <a:pPr>
              <a:defRPr sz="1600"/>
            </a:pPr>
            <a:r>
              <a:rPr dirty="0"/>
              <a:t>L'environnement Azure Container Apps (Container Apps Environment) agit comme une frontière d'isolation sécurisée. Toutes les applications conteneurisées déployées au sein d'un même environnement partagent le même réseau virtuel (VNet), la même configuration de journalisation (Log Analytics) et la même infrastructure de calcul.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9709" y="224830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permet à une Container App de s'arrêter complètement lorsqu'elle ne reçoit aucun trafic ?</a:t>
            </a:r>
            <a:endParaRPr lang="fr-FR" sz="2000" dirty="0"/>
          </a:p>
          <a:p>
            <a:pPr marL="457200" indent="-457200">
              <a:buFont typeface="+mj-lt"/>
              <a:buAutoNum type="arabicPeriod"/>
              <a:defRPr sz="2400"/>
            </a:pPr>
            <a:r>
              <a:rPr lang="fr-FR" sz="2000" dirty="0"/>
              <a:t>Scale-to-zero</a:t>
            </a:r>
          </a:p>
          <a:p>
            <a:pPr marL="457200" indent="-457200">
              <a:buFont typeface="+mj-lt"/>
              <a:buAutoNum type="arabicPeriod"/>
              <a:defRPr sz="2400"/>
            </a:pPr>
            <a:r>
              <a:rPr lang="fr-FR" sz="2000" dirty="0"/>
              <a:t>Traffic splitting</a:t>
            </a:r>
          </a:p>
          <a:p>
            <a:pPr marL="457200" indent="-457200">
              <a:buFont typeface="+mj-lt"/>
              <a:buAutoNum type="arabicPeriod"/>
              <a:defRPr sz="2400"/>
            </a:pPr>
            <a:r>
              <a:rPr lang="fr-FR" sz="2000" dirty="0"/>
              <a:t>Revision mode</a:t>
            </a:r>
          </a:p>
          <a:p>
            <a:pPr marL="457200" indent="-457200">
              <a:buFont typeface="+mj-lt"/>
              <a:buAutoNum type="arabicPeriod"/>
              <a:defRPr sz="2400"/>
            </a:pPr>
            <a:r>
              <a:rPr lang="fr-FR" sz="2000" dirty="0"/>
              <a:t>Ingress internal</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87036" y="4894145"/>
            <a:ext cx="6851437" cy="1077218"/>
          </a:xfrm>
          <a:prstGeom prst="rect">
            <a:avLst/>
          </a:prstGeom>
          <a:noFill/>
        </p:spPr>
        <p:txBody>
          <a:bodyPr wrap="square">
            <a:spAutoFit/>
          </a:bodyPr>
          <a:lstStyle/>
          <a:p>
            <a:pPr>
              <a:defRPr sz="1600"/>
            </a:pPr>
            <a:r>
              <a:rPr dirty="0"/>
              <a:t>Le 'Scale-to-zero' (mise à l'échelle à zéro) est une propriété fondamentale de l'approche Serverless d'ACA. Lorsqu'aucune requête HTTP ou aucun événement n'est détecté pendant une période donnée, le nombre de réplicas actifs tombe à 0, stoppant ainsi la facturation des ressources de calcul.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l'effet principal d'une Startup Probe ?</a:t>
            </a:r>
            <a:endParaRPr lang="fr-FR" sz="2000" dirty="0"/>
          </a:p>
          <a:p>
            <a:pPr marL="457200" indent="-457200">
              <a:buFont typeface="+mj-lt"/>
              <a:buAutoNum type="arabicPeriod"/>
              <a:defRPr sz="2400"/>
            </a:pPr>
            <a:r>
              <a:rPr lang="fr-FR" sz="2000" dirty="0"/>
              <a:t>Vérifier qu'une application est prête à recevoir du trafic</a:t>
            </a:r>
          </a:p>
          <a:p>
            <a:pPr marL="457200" indent="-457200">
              <a:buFont typeface="+mj-lt"/>
              <a:buAutoNum type="arabicPeriod"/>
              <a:defRPr sz="2400"/>
            </a:pPr>
            <a:r>
              <a:rPr lang="fr-FR" sz="2000" dirty="0"/>
              <a:t>Redémarrer automatiquement le conteneur</a:t>
            </a:r>
          </a:p>
          <a:p>
            <a:pPr marL="457200" indent="-457200">
              <a:buFont typeface="+mj-lt"/>
              <a:buAutoNum type="arabicPeriod"/>
              <a:defRPr sz="2400"/>
            </a:pPr>
            <a:r>
              <a:rPr lang="fr-FR" sz="2000" dirty="0"/>
              <a:t>Mesurer les performances CPU</a:t>
            </a:r>
          </a:p>
          <a:p>
            <a:pPr marL="457200" indent="-457200">
              <a:buFont typeface="+mj-lt"/>
              <a:buAutoNum type="arabicPeriod"/>
              <a:defRPr sz="2400"/>
            </a:pPr>
            <a:r>
              <a:rPr lang="fr-FR" sz="2000" dirty="0"/>
              <a:t>Vérifier que le conteneur démarre correctement avant d'activer les autres probes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6193710" cy="1323439"/>
          </a:xfrm>
          <a:prstGeom prst="rect">
            <a:avLst/>
          </a:prstGeom>
          <a:noFill/>
        </p:spPr>
        <p:txBody>
          <a:bodyPr wrap="square">
            <a:spAutoFit/>
          </a:bodyPr>
          <a:lstStyle/>
          <a:p>
            <a:pPr>
              <a:defRPr sz="1600"/>
            </a:pPr>
            <a:r>
              <a:rPr dirty="0"/>
              <a:t>La sonde de démarrage (Startup Probe) configure un test qui s'exécute au lancement du conteneur. Tant qu'elle ne réussit pas, les sondes de disponibilité (Readiness) et de vie (Liveness) sont désactivées. Cela évite qu'un conteneur lent à s'initialiser ne soit tué prématurément par une Liveness Probe.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61727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rôle principal d'une Readiness Probe ?</a:t>
            </a:r>
            <a:endParaRPr lang="fr-FR" sz="2000" dirty="0"/>
          </a:p>
          <a:p>
            <a:pPr marL="457200" indent="-457200">
              <a:buFont typeface="+mj-lt"/>
              <a:buAutoNum type="arabicPeriod"/>
              <a:defRPr sz="2400"/>
            </a:pPr>
            <a:r>
              <a:rPr lang="fr-FR" sz="2000" dirty="0"/>
              <a:t>Vérifier la consommation mémoire</a:t>
            </a:r>
          </a:p>
          <a:p>
            <a:pPr marL="457200" indent="-457200">
              <a:buFont typeface="+mj-lt"/>
              <a:buAutoNum type="arabicPeriod"/>
              <a:defRPr sz="2400"/>
            </a:pPr>
            <a:r>
              <a:rPr lang="fr-FR" sz="2000" dirty="0"/>
              <a:t>Vérifier que le conteneur est prêt à recevoir du trafic</a:t>
            </a:r>
          </a:p>
          <a:p>
            <a:pPr marL="457200" indent="-457200">
              <a:buFont typeface="+mj-lt"/>
              <a:buAutoNum type="arabicPeriod"/>
              <a:defRPr sz="2400"/>
            </a:pPr>
            <a:r>
              <a:rPr lang="fr-FR" sz="2000" dirty="0"/>
              <a:t>Vérifier que le conteneur peut être supprimé</a:t>
            </a:r>
          </a:p>
          <a:p>
            <a:pPr marL="457200" indent="-457200">
              <a:buFont typeface="+mj-lt"/>
              <a:buAutoNum type="arabicPeriod"/>
              <a:defRPr sz="2400"/>
            </a:pPr>
            <a:r>
              <a:rPr lang="fr-FR" sz="2000" dirty="0"/>
              <a:t>Créer automatiquement une nouvelle révision</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557808" y="4843153"/>
            <a:ext cx="6570700" cy="1077218"/>
          </a:xfrm>
          <a:prstGeom prst="rect">
            <a:avLst/>
          </a:prstGeom>
          <a:noFill/>
        </p:spPr>
        <p:txBody>
          <a:bodyPr wrap="square">
            <a:spAutoFit/>
          </a:bodyPr>
          <a:lstStyle/>
          <a:p>
            <a:pPr>
              <a:defRPr sz="1600"/>
            </a:pPr>
            <a:r>
              <a:rPr dirty="0"/>
              <a:t>La sonde de disponibilité (Readiness Probe) vérifie si l'application à l'intérieur du conteneur est pleinement opérationnelle et prête à répondre aux requêtes des clients. Si le test échoue, ACA retire temporairement l'instance du conteneur du Load Balancer pour ne plus lui envoyer de trafic.</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373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rôle principal d'une Liveness Probe ?</a:t>
            </a:r>
            <a:endParaRPr lang="fr-FR" sz="2000" dirty="0"/>
          </a:p>
          <a:p>
            <a:pPr marL="457200" indent="-457200">
              <a:buFont typeface="+mj-lt"/>
              <a:buAutoNum type="arabicPeriod"/>
              <a:defRPr sz="2400"/>
            </a:pPr>
            <a:r>
              <a:rPr lang="fr-FR" sz="2000" dirty="0"/>
              <a:t>Déterminer si l'application est toujours fonctionnelle</a:t>
            </a:r>
          </a:p>
          <a:p>
            <a:pPr marL="457200" indent="-457200">
              <a:buFont typeface="+mj-lt"/>
              <a:buAutoNum type="arabicPeriod"/>
              <a:defRPr sz="2400"/>
            </a:pPr>
            <a:r>
              <a:rPr lang="fr-FR" sz="2000" dirty="0"/>
              <a:t>Mesurer le temps de réponse</a:t>
            </a:r>
          </a:p>
          <a:p>
            <a:pPr marL="457200" indent="-457200">
              <a:buFont typeface="+mj-lt"/>
              <a:buAutoNum type="arabicPeriod"/>
              <a:defRPr sz="2400"/>
            </a:pPr>
            <a:r>
              <a:rPr lang="fr-FR" sz="2000" dirty="0"/>
              <a:t>Déployer une nouvelle version</a:t>
            </a:r>
          </a:p>
          <a:p>
            <a:pPr marL="457200" indent="-457200">
              <a:buFont typeface="+mj-lt"/>
              <a:buAutoNum type="arabicPeriod"/>
              <a:defRPr sz="2400"/>
            </a:pPr>
            <a:r>
              <a:rPr lang="fr-FR" sz="2000" dirty="0"/>
              <a:t>Configurer l'autoscaling</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6723100" cy="1077218"/>
          </a:xfrm>
          <a:prstGeom prst="rect">
            <a:avLst/>
          </a:prstGeom>
          <a:noFill/>
        </p:spPr>
        <p:txBody>
          <a:bodyPr wrap="square">
            <a:spAutoFit/>
          </a:bodyPr>
          <a:lstStyle/>
          <a:p>
            <a:pPr>
              <a:defRPr sz="1600"/>
            </a:pPr>
            <a:r>
              <a:rPr dirty="0"/>
              <a:t>La sonde de vie (Liveness Probe) s'exécute en continu tout au long de la vie du conteneur pour détecter si l'application est tombée dans un état de blocage (deadlock) ou de défaillance critique. En cas d'échecs répétés, ACA détruit le réplica et en redémarre un nouveau automatiquement.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70323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identité permet à une Container App d'accéder à un Azure Container Registry sans stocker de mot de passe ?</a:t>
            </a:r>
            <a:endParaRPr lang="fr-FR" sz="2000" dirty="0"/>
          </a:p>
          <a:p>
            <a:pPr marL="457200" indent="-457200">
              <a:buFont typeface="+mj-lt"/>
              <a:buAutoNum type="arabicPeriod"/>
              <a:defRPr sz="2400"/>
            </a:pPr>
            <a:r>
              <a:rPr lang="fr-FR" sz="2000" dirty="0"/>
              <a:t>API Key</a:t>
            </a:r>
          </a:p>
          <a:p>
            <a:pPr marL="457200" indent="-457200">
              <a:buFont typeface="+mj-lt"/>
              <a:buAutoNum type="arabicPeriod"/>
              <a:defRPr sz="2400"/>
            </a:pPr>
            <a:r>
              <a:rPr lang="fr-FR" sz="2000" dirty="0"/>
              <a:t>Storage Key</a:t>
            </a:r>
          </a:p>
          <a:p>
            <a:pPr marL="457200" indent="-457200">
              <a:buFont typeface="+mj-lt"/>
              <a:buAutoNum type="arabicPeriod"/>
              <a:defRPr sz="2400"/>
            </a:pPr>
            <a:r>
              <a:rPr lang="fr-FR" sz="2000" dirty="0"/>
              <a:t>Managed Identity</a:t>
            </a:r>
          </a:p>
          <a:p>
            <a:pPr marL="457200" indent="-457200">
              <a:buFont typeface="+mj-lt"/>
              <a:buAutoNum type="arabicPeriod"/>
              <a:defRPr sz="2400"/>
            </a:pPr>
            <a:r>
              <a:rPr lang="fr-FR" sz="2000" dirty="0"/>
              <a:t>Shared Access Signature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599182" y="4451267"/>
            <a:ext cx="5696405" cy="1569660"/>
          </a:xfrm>
          <a:prstGeom prst="rect">
            <a:avLst/>
          </a:prstGeom>
          <a:noFill/>
        </p:spPr>
        <p:txBody>
          <a:bodyPr wrap="square">
            <a:spAutoFit/>
          </a:bodyPr>
          <a:lstStyle/>
          <a:p>
            <a:pPr>
              <a:defRPr sz="1600"/>
            </a:pPr>
            <a:r>
              <a:rPr dirty="0"/>
              <a:t>L'identité managée (Managed Identity) fournit une identité de sécurité automatiquement gérée par Microsoft Entra ID (anciennement Azure AD). Elle permet à la Container App de s'authentifier auprès d'ACR de manière totalement transparente, sans stocker, gérer ou faire tourner manuellement des secrets ou des identifiants dans le code ou les configurations.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4" y="259320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rôle RBAC doit généralement être attribué à une Container App pour récupérer des images depuis un ACR ?</a:t>
            </a:r>
            <a:endParaRPr lang="fr-FR" sz="2000" dirty="0"/>
          </a:p>
          <a:p>
            <a:pPr marL="457200" indent="-457200">
              <a:buFont typeface="+mj-lt"/>
              <a:buAutoNum type="arabicPeriod"/>
              <a:defRPr sz="2400"/>
            </a:pPr>
            <a:r>
              <a:rPr lang="fr-FR" sz="2000" dirty="0"/>
              <a:t>Contributor</a:t>
            </a:r>
          </a:p>
          <a:p>
            <a:pPr marL="457200" indent="-457200">
              <a:buFont typeface="+mj-lt"/>
              <a:buAutoNum type="arabicPeriod"/>
              <a:defRPr sz="2400"/>
            </a:pPr>
            <a:r>
              <a:rPr lang="fr-FR" sz="2000" dirty="0"/>
              <a:t>Owner</a:t>
            </a:r>
          </a:p>
          <a:p>
            <a:pPr marL="457200" indent="-457200">
              <a:buFont typeface="+mj-lt"/>
              <a:buAutoNum type="arabicPeriod"/>
              <a:defRPr sz="2400"/>
            </a:pPr>
            <a:r>
              <a:rPr lang="fr-FR" sz="2000" dirty="0"/>
              <a:t>Reader</a:t>
            </a:r>
          </a:p>
          <a:p>
            <a:pPr marL="457200" indent="-457200">
              <a:buFont typeface="+mj-lt"/>
              <a:buAutoNum type="arabicPeriod"/>
              <a:defRPr sz="2400"/>
            </a:pPr>
            <a:r>
              <a:rPr lang="fr-FR" sz="2000" dirty="0"/>
              <a:t>AcrPull</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Le rôle RBAC 'AcrPull' (Lecteur de registre de conteneurs) applique le principe du moindre privilège. Il accorde les permissions minimales strictes requises pour qu'une ressource de calcul (comme ACA) puisse authentifier ses requêtes d'extraction (pull) et télécharger les couches d'une image Docker depuis ACR.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88196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mode de révision permet à plusieurs versions d'une Container App de rester actives simultanément ?</a:t>
            </a:r>
            <a:endParaRPr lang="fr-FR" sz="2000" dirty="0"/>
          </a:p>
          <a:p>
            <a:pPr marL="457200" indent="-457200">
              <a:buFont typeface="+mj-lt"/>
              <a:buAutoNum type="arabicPeriod"/>
              <a:defRPr sz="2400"/>
            </a:pPr>
            <a:r>
              <a:rPr lang="fr-FR" sz="2000" dirty="0"/>
              <a:t>Single</a:t>
            </a:r>
          </a:p>
          <a:p>
            <a:pPr marL="457200" indent="-457200">
              <a:buFont typeface="+mj-lt"/>
              <a:buAutoNum type="arabicPeriod"/>
              <a:defRPr sz="2400"/>
            </a:pPr>
            <a:r>
              <a:rPr lang="fr-FR" sz="2000" dirty="0"/>
              <a:t>Multiple</a:t>
            </a:r>
          </a:p>
          <a:p>
            <a:pPr marL="457200" indent="-457200">
              <a:buFont typeface="+mj-lt"/>
              <a:buAutoNum type="arabicPeriod"/>
              <a:defRPr sz="2400"/>
            </a:pPr>
            <a:r>
              <a:rPr lang="fr-FR" sz="2000" dirty="0"/>
              <a:t>Canary</a:t>
            </a:r>
          </a:p>
          <a:p>
            <a:pPr marL="457200" indent="-457200">
              <a:buFont typeface="+mj-lt"/>
              <a:buAutoNum type="arabicPeriod"/>
              <a:defRPr sz="2400"/>
            </a:pPr>
            <a:r>
              <a:rPr lang="fr-FR" sz="2000" dirty="0"/>
              <a:t>BlueGreen</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728353" y="4047506"/>
            <a:ext cx="5207121" cy="1569660"/>
          </a:xfrm>
          <a:prstGeom prst="rect">
            <a:avLst/>
          </a:prstGeom>
          <a:noFill/>
        </p:spPr>
        <p:txBody>
          <a:bodyPr wrap="square">
            <a:spAutoFit/>
          </a:bodyPr>
          <a:lstStyle/>
          <a:p>
            <a:pPr>
              <a:defRPr sz="1600"/>
            </a:pPr>
            <a:r>
              <a:rPr dirty="0"/>
              <a:t>Par défaut, ACA utilise le mode de révision 'Single' (le déploiement d'une version désactive la précédente). Pour conserver plusieurs versions actives en même temps, il faut basculer en mode 'Multiple'. C'est le prérequis technique incontournable pour réaliser des stratégies avancées comme le Traffic Splitting.</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7364" y="225231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ACA permet de répartir le trafic entre plusieurs versions d'une application ?</a:t>
            </a:r>
            <a:endParaRPr lang="fr-FR" sz="2000" dirty="0"/>
          </a:p>
          <a:p>
            <a:pPr marL="457200" indent="-457200">
              <a:buFont typeface="+mj-lt"/>
              <a:buAutoNum type="arabicPeriod"/>
              <a:defRPr sz="2400"/>
            </a:pPr>
            <a:r>
              <a:rPr lang="fr-FR" sz="2000" dirty="0"/>
              <a:t>Autoscaling</a:t>
            </a:r>
          </a:p>
          <a:p>
            <a:pPr marL="457200" indent="-457200">
              <a:buFont typeface="+mj-lt"/>
              <a:buAutoNum type="arabicPeriod"/>
              <a:defRPr sz="2400"/>
            </a:pPr>
            <a:r>
              <a:rPr lang="fr-FR" sz="2000" dirty="0"/>
              <a:t>Managed Identity</a:t>
            </a:r>
          </a:p>
          <a:p>
            <a:pPr marL="457200" indent="-457200">
              <a:buFont typeface="+mj-lt"/>
              <a:buAutoNum type="arabicPeriod"/>
              <a:defRPr sz="2400"/>
            </a:pPr>
            <a:r>
              <a:rPr lang="fr-FR" sz="2000" dirty="0"/>
              <a:t>Traffic Splitting</a:t>
            </a:r>
          </a:p>
          <a:p>
            <a:pPr marL="457200" indent="-457200">
              <a:buFont typeface="+mj-lt"/>
              <a:buAutoNum type="arabicPeriod"/>
              <a:defRPr sz="2400"/>
            </a:pPr>
            <a:r>
              <a:rPr lang="fr-FR" sz="2000" dirty="0"/>
              <a:t>Dapr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6807321" cy="1077218"/>
          </a:xfrm>
          <a:prstGeom prst="rect">
            <a:avLst/>
          </a:prstGeom>
          <a:noFill/>
        </p:spPr>
        <p:txBody>
          <a:bodyPr wrap="square">
            <a:spAutoFit/>
          </a:bodyPr>
          <a:lstStyle/>
          <a:p>
            <a:pPr>
              <a:defRPr sz="1600"/>
            </a:pPr>
            <a:r>
              <a:rPr dirty="0"/>
              <a:t>Le fractionnement du trafic (Traffic Splitting) permet d'attribuer des pourcentages de routage ciblés sur différentes révisions actives d'une même Container App. Le contrôleur d'entrée d'ACA s'occupe de distribuer les requêtes HTTP entrantes selon ces règles.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5" y="255310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un scénario canary, quel pourcentage de trafic est généralement dirigé vers la nouvelle version au début du déploiement ?</a:t>
            </a:r>
            <a:endParaRPr lang="fr-FR" sz="2000" dirty="0"/>
          </a:p>
          <a:p>
            <a:pPr marL="457200" indent="-457200">
              <a:buFont typeface="+mj-lt"/>
              <a:buAutoNum type="arabicPeriod"/>
              <a:defRPr sz="2400"/>
            </a:pPr>
            <a:r>
              <a:rPr lang="fr-FR" sz="2000" dirty="0"/>
              <a:t>100 %</a:t>
            </a:r>
          </a:p>
          <a:p>
            <a:pPr marL="457200" indent="-457200">
              <a:buFont typeface="+mj-lt"/>
              <a:buAutoNum type="arabicPeriod"/>
              <a:defRPr sz="2400"/>
            </a:pPr>
            <a:r>
              <a:rPr lang="fr-FR" sz="2000" dirty="0"/>
              <a:t>0 %</a:t>
            </a:r>
          </a:p>
          <a:p>
            <a:pPr marL="457200" indent="-457200">
              <a:buFont typeface="+mj-lt"/>
              <a:buAutoNum type="arabicPeriod"/>
              <a:defRPr sz="2400"/>
            </a:pPr>
            <a:r>
              <a:rPr lang="fr-FR" sz="2000" dirty="0"/>
              <a:t>Une faible portion du trafic</a:t>
            </a:r>
          </a:p>
          <a:p>
            <a:pPr marL="457200" indent="-457200">
              <a:buFont typeface="+mj-lt"/>
              <a:buAutoNum type="arabicPeriod"/>
              <a:defRPr sz="2400"/>
            </a:pPr>
            <a:r>
              <a:rPr lang="fr-FR" sz="2000" dirty="0"/>
              <a:t>50 % obligatoirement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6221784" cy="1323439"/>
          </a:xfrm>
          <a:prstGeom prst="rect">
            <a:avLst/>
          </a:prstGeom>
          <a:noFill/>
        </p:spPr>
        <p:txBody>
          <a:bodyPr wrap="square">
            <a:spAutoFit/>
          </a:bodyPr>
          <a:lstStyle/>
          <a:p>
            <a:pPr>
              <a:defRPr sz="1600"/>
            </a:pPr>
            <a:r>
              <a:rPr dirty="0"/>
              <a:t>Un déploiement Canary consiste à router une petite fraction du trafic réel (ex: 5% ou 10%) vers la nouvelle version (la révision 'canari') tout en maintenant le reste sur la version stable. Cela permet de valider le comportement en production auprès de peu d'utilisateurs avant une généralisation.</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8518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l'avantage principal d'un rollback via les révisions ACA ?</a:t>
            </a:r>
            <a:endParaRPr lang="fr-FR" sz="2000" dirty="0"/>
          </a:p>
          <a:p>
            <a:pPr marL="457200" indent="-457200">
              <a:buFont typeface="+mj-lt"/>
              <a:buAutoNum type="arabicPeriod"/>
              <a:defRPr sz="2400"/>
            </a:pPr>
            <a:r>
              <a:rPr lang="fr-FR" sz="2000" dirty="0"/>
              <a:t>Reconstruction automatique de l'image</a:t>
            </a:r>
          </a:p>
          <a:p>
            <a:pPr marL="457200" indent="-457200">
              <a:buFont typeface="+mj-lt"/>
              <a:buAutoNum type="arabicPeriod"/>
              <a:defRPr sz="2400"/>
            </a:pPr>
            <a:r>
              <a:rPr lang="fr-FR" sz="2000" dirty="0"/>
              <a:t>Restauration instantanée d'une version précédente</a:t>
            </a:r>
          </a:p>
          <a:p>
            <a:pPr marL="457200" indent="-457200">
              <a:buFont typeface="+mj-lt"/>
              <a:buAutoNum type="arabicPeriod"/>
              <a:defRPr sz="2400"/>
            </a:pPr>
            <a:r>
              <a:rPr lang="fr-FR" sz="2000" dirty="0"/>
              <a:t>Suppression des logs</a:t>
            </a:r>
          </a:p>
          <a:p>
            <a:pPr marL="457200" indent="-457200">
              <a:buFont typeface="+mj-lt"/>
              <a:buAutoNum type="arabicPeriod"/>
              <a:defRPr sz="2400"/>
            </a:pPr>
            <a:r>
              <a:rPr lang="fr-FR" sz="2000" dirty="0"/>
              <a:t>Réduction du coût de stockage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823356" y="4268519"/>
            <a:ext cx="5953079" cy="1323439"/>
          </a:xfrm>
          <a:prstGeom prst="rect">
            <a:avLst/>
          </a:prstGeom>
          <a:noFill/>
        </p:spPr>
        <p:txBody>
          <a:bodyPr wrap="square">
            <a:spAutoFit/>
          </a:bodyPr>
          <a:lstStyle/>
          <a:p>
            <a:pPr>
              <a:defRPr sz="1600"/>
            </a:pPr>
            <a:r>
              <a:rPr dirty="0"/>
              <a:t>Les révisions étant immuables et persistantes dans l'environnement, effectuer un retour en arrière (rollback) consiste simplement à modifier la règle de répartition du trafic pour réallouer 100% des requêtes vers l'ancienne révision jugée stable. L'opération est logicielle et instantanée.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5385"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règle de scaling native peut être utilisée dans ACA pour une application web ?</a:t>
            </a:r>
            <a:endParaRPr lang="fr-FR" sz="2000" dirty="0"/>
          </a:p>
          <a:p>
            <a:pPr marL="457200" indent="-457200">
              <a:buFont typeface="+mj-lt"/>
              <a:buAutoNum type="arabicPeriod"/>
              <a:defRPr sz="2400"/>
            </a:pPr>
            <a:r>
              <a:rPr lang="fr-FR" sz="2000" dirty="0"/>
              <a:t>HTTP concurrent requests</a:t>
            </a:r>
          </a:p>
          <a:p>
            <a:pPr marL="457200" indent="-457200">
              <a:buFont typeface="+mj-lt"/>
              <a:buAutoNum type="arabicPeriod"/>
              <a:defRPr sz="2400"/>
            </a:pPr>
            <a:r>
              <a:rPr lang="fr-FR" sz="2000" dirty="0"/>
              <a:t>Nombre de tables SQL</a:t>
            </a:r>
          </a:p>
          <a:p>
            <a:pPr marL="457200" indent="-457200">
              <a:buFont typeface="+mj-lt"/>
              <a:buAutoNum type="arabicPeriod"/>
              <a:defRPr sz="2400"/>
            </a:pPr>
            <a:r>
              <a:rPr lang="fr-FR" sz="2000" dirty="0"/>
              <a:t>Nombre d'utilisateurs Azure AD</a:t>
            </a:r>
          </a:p>
          <a:p>
            <a:pPr marL="457200" indent="-457200">
              <a:buFont typeface="+mj-lt"/>
              <a:buAutoNum type="arabicPeriod"/>
              <a:defRPr sz="2400"/>
            </a:pPr>
            <a:r>
              <a:rPr lang="fr-FR" sz="2000" dirty="0"/>
              <a:t>Nombre d'images dans ACR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6570700" cy="1077218"/>
          </a:xfrm>
          <a:prstGeom prst="rect">
            <a:avLst/>
          </a:prstGeom>
          <a:noFill/>
        </p:spPr>
        <p:txBody>
          <a:bodyPr wrap="square">
            <a:spAutoFit/>
          </a:bodyPr>
          <a:lstStyle/>
          <a:p>
            <a:pPr>
              <a:defRPr sz="1600"/>
            </a:pPr>
            <a:r>
              <a:rPr dirty="0"/>
              <a:t>Azure Container Apps intègre nativement des règles de mise à l'échelle basées sur le trafic réseau HTTP. Vous pouvez définir un seuil de requêtes concurrentes (ex: 10 requêtes simultanées par réplica) ; si ce seuil est dépassé, ACA instancie automatiquement un nouveau réplica.</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89938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composant open source est utilisé par Azure Container Apps pour l'autoscaling basé sur les événements ?</a:t>
            </a:r>
            <a:endParaRPr lang="fr-FR" sz="2000" dirty="0"/>
          </a:p>
          <a:p>
            <a:pPr marL="457200" indent="-457200">
              <a:buFont typeface="+mj-lt"/>
              <a:buAutoNum type="arabicPeriod"/>
              <a:defRPr sz="2400"/>
            </a:pPr>
            <a:r>
              <a:rPr lang="fr-FR" sz="2000" dirty="0"/>
              <a:t>Helm</a:t>
            </a:r>
          </a:p>
          <a:p>
            <a:pPr marL="457200" indent="-457200">
              <a:buFont typeface="+mj-lt"/>
              <a:buAutoNum type="arabicPeriod"/>
              <a:defRPr sz="2400"/>
            </a:pPr>
            <a:r>
              <a:rPr lang="fr-FR" sz="2000" dirty="0"/>
              <a:t>Istio</a:t>
            </a:r>
          </a:p>
          <a:p>
            <a:pPr marL="457200" indent="-457200">
              <a:buFont typeface="+mj-lt"/>
              <a:buAutoNum type="arabicPeriod"/>
              <a:defRPr sz="2400"/>
            </a:pPr>
            <a:r>
              <a:rPr lang="fr-FR" sz="2000" dirty="0"/>
              <a:t>KEDA</a:t>
            </a:r>
          </a:p>
          <a:p>
            <a:pPr marL="457200" indent="-457200">
              <a:buFont typeface="+mj-lt"/>
              <a:buAutoNum type="arabicPeriod"/>
              <a:defRPr sz="2400"/>
            </a:pPr>
            <a:r>
              <a:rPr lang="fr-FR" sz="2000" dirty="0"/>
              <a:t>Terraform</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6799300" cy="1323439"/>
          </a:xfrm>
          <a:prstGeom prst="rect">
            <a:avLst/>
          </a:prstGeom>
          <a:noFill/>
        </p:spPr>
        <p:txBody>
          <a:bodyPr wrap="square">
            <a:spAutoFit/>
          </a:bodyPr>
          <a:lstStyle/>
          <a:p>
            <a:pPr>
              <a:defRPr sz="1600"/>
            </a:pPr>
            <a:r>
              <a:rPr dirty="0"/>
              <a:t>KEDA (Kubernetes-based Event-driven Autoscaling) est le moteur open source géré en arrière-plan par ACA. Il permet d'étendre les capacités d'autoscaling bien au-delà des métriques de base (CPU/Mémoire) en écoutant des événements applicatifs provenant de brokers de messages ou de bases de données.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5310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source d'événements peut être utilisée par KEDA pour déclencher un autoscaling ?</a:t>
            </a:r>
            <a:endParaRPr lang="fr-FR" sz="2000" dirty="0"/>
          </a:p>
          <a:p>
            <a:pPr marL="457200" indent="-457200">
              <a:buFont typeface="+mj-lt"/>
              <a:buAutoNum type="arabicPeriod"/>
              <a:defRPr sz="2400"/>
            </a:pPr>
            <a:r>
              <a:rPr lang="fr-FR" sz="2000" dirty="0"/>
              <a:t>Azure Service Bus</a:t>
            </a:r>
          </a:p>
          <a:p>
            <a:pPr marL="457200" indent="-457200">
              <a:buFont typeface="+mj-lt"/>
              <a:buAutoNum type="arabicPeriod"/>
              <a:defRPr sz="2400"/>
            </a:pPr>
            <a:r>
              <a:rPr lang="fr-FR" sz="2000" dirty="0"/>
              <a:t>Azure Queue Storage</a:t>
            </a:r>
          </a:p>
          <a:p>
            <a:pPr marL="457200" indent="-457200">
              <a:buFont typeface="+mj-lt"/>
              <a:buAutoNum type="arabicPeriod"/>
              <a:defRPr sz="2400"/>
            </a:pPr>
            <a:r>
              <a:rPr lang="fr-FR" sz="2000" dirty="0"/>
              <a:t>Apache Kafka</a:t>
            </a:r>
          </a:p>
          <a:p>
            <a:pPr marL="457200" indent="-457200">
              <a:buFont typeface="+mj-lt"/>
              <a:buAutoNum type="arabicPeriod"/>
              <a:defRPr sz="2400"/>
            </a:pPr>
            <a:r>
              <a:rPr lang="fr-FR" sz="2000" dirty="0"/>
              <a:t>Toutes les réponses précédentes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6165637" cy="1323439"/>
          </a:xfrm>
          <a:prstGeom prst="rect">
            <a:avLst/>
          </a:prstGeom>
          <a:noFill/>
        </p:spPr>
        <p:txBody>
          <a:bodyPr wrap="square">
            <a:spAutoFit/>
          </a:bodyPr>
          <a:lstStyle/>
          <a:p>
            <a:pPr>
              <a:defRPr sz="1600"/>
            </a:pPr>
            <a:r>
              <a:rPr dirty="0"/>
              <a:t>KEDA s'appuie sur un système riche de composants appelés 'Scalers'. Il prend en charge nativement des dizaines de sources de données industrielles, incluant les files d'attente Azure (Service Bus, Storage Queues) mais aussi des outils tiers ou open source comme Apache Kafka, RabbitMQ ou AWS SQS.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91806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l'intérêt principal d'un ingress externe dans ACA ?</a:t>
            </a:r>
            <a:endParaRPr lang="fr-FR" sz="2000" dirty="0"/>
          </a:p>
          <a:p>
            <a:pPr marL="457200" indent="-457200">
              <a:buFont typeface="+mj-lt"/>
              <a:buAutoNum type="arabicPeriod"/>
              <a:defRPr sz="2400"/>
            </a:pPr>
            <a:r>
              <a:rPr lang="fr-FR" sz="2000" dirty="0"/>
              <a:t>Permettre l'accès depuis Internet</a:t>
            </a:r>
          </a:p>
          <a:p>
            <a:pPr marL="457200" indent="-457200">
              <a:buFont typeface="+mj-lt"/>
              <a:buAutoNum type="arabicPeriod"/>
              <a:defRPr sz="2400"/>
            </a:pPr>
            <a:r>
              <a:rPr lang="fr-FR" sz="2000" dirty="0"/>
              <a:t>Créer une Managed Identity</a:t>
            </a:r>
          </a:p>
          <a:p>
            <a:pPr marL="457200" indent="-457200">
              <a:buFont typeface="+mj-lt"/>
              <a:buAutoNum type="arabicPeriod"/>
              <a:defRPr sz="2400"/>
            </a:pPr>
            <a:r>
              <a:rPr lang="fr-FR" sz="2000" dirty="0"/>
              <a:t>Activer Dapr</a:t>
            </a:r>
          </a:p>
          <a:p>
            <a:pPr marL="457200" indent="-457200">
              <a:buFont typeface="+mj-lt"/>
              <a:buAutoNum type="arabicPeriod"/>
              <a:defRPr sz="2400"/>
            </a:pPr>
            <a:r>
              <a:rPr lang="fr-FR" sz="2000" dirty="0"/>
              <a:t>Créer des révisions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6" y="4930239"/>
            <a:ext cx="7172279" cy="1077218"/>
          </a:xfrm>
          <a:prstGeom prst="rect">
            <a:avLst/>
          </a:prstGeom>
          <a:noFill/>
        </p:spPr>
        <p:txBody>
          <a:bodyPr wrap="square">
            <a:spAutoFit/>
          </a:bodyPr>
          <a:lstStyle/>
          <a:p>
            <a:pPr>
              <a:defRPr sz="1600"/>
            </a:pPr>
            <a:r>
              <a:rPr dirty="0"/>
              <a:t>La configuration de l'Ingress (le contrôleur d'entrée) détermine l'accessibilité réseau de votre application. Un ingress configuré sur 'External' (externe) attribue une adresse IP publique et un nom de domaine accessible depuis le réseau Internet public.</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0920" y="162667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scénario correspond le mieux à un ingress interne ?</a:t>
            </a:r>
            <a:endParaRPr lang="fr-FR" sz="2000" dirty="0"/>
          </a:p>
          <a:p>
            <a:pPr marL="457200" indent="-457200">
              <a:buFont typeface="+mj-lt"/>
              <a:buAutoNum type="arabicPeriod"/>
              <a:defRPr sz="2400"/>
            </a:pPr>
            <a:r>
              <a:rPr lang="fr-FR" sz="2000" dirty="0"/>
              <a:t>Site web public</a:t>
            </a:r>
          </a:p>
          <a:p>
            <a:pPr marL="457200" indent="-457200">
              <a:buFont typeface="+mj-lt"/>
              <a:buAutoNum type="arabicPeriod"/>
              <a:defRPr sz="2400"/>
            </a:pPr>
            <a:r>
              <a:rPr lang="fr-FR" sz="2000" dirty="0"/>
              <a:t>API consommée uniquement par d'autres Container Apps</a:t>
            </a:r>
          </a:p>
          <a:p>
            <a:pPr marL="457200" indent="-457200">
              <a:buFont typeface="+mj-lt"/>
              <a:buAutoNum type="arabicPeriod"/>
              <a:defRPr sz="2400"/>
            </a:pPr>
            <a:r>
              <a:rPr lang="fr-FR" sz="2000" dirty="0"/>
              <a:t>Application mobile publique</a:t>
            </a:r>
          </a:p>
          <a:p>
            <a:pPr marL="457200" indent="-457200">
              <a:buFont typeface="+mj-lt"/>
              <a:buAutoNum type="arabicPeriod"/>
              <a:defRPr sz="2400"/>
            </a:pPr>
            <a:r>
              <a:rPr lang="fr-FR" sz="2000" dirty="0"/>
              <a:t>Application exposée sur Internet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6021258" cy="1323439"/>
          </a:xfrm>
          <a:prstGeom prst="rect">
            <a:avLst/>
          </a:prstGeom>
          <a:noFill/>
        </p:spPr>
        <p:txBody>
          <a:bodyPr wrap="square">
            <a:spAutoFit/>
          </a:bodyPr>
          <a:lstStyle/>
          <a:p>
            <a:pPr>
              <a:defRPr sz="1600"/>
            </a:pPr>
            <a:r>
              <a:rPr dirty="0"/>
              <a:t>Un ingress 'Internal' (interne) restreint l'accès réseau à l'application uniquement pour les autres Container Apps situées au sein du même Container Apps Environment (ou du même VNet). C'est la configuration de sécurité indispensable pour isoler les API de backend des regards indiscrets.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principal objectif de Dapr dans Azure Container Apps ?</a:t>
            </a:r>
            <a:endParaRPr lang="fr-FR" sz="2000" dirty="0"/>
          </a:p>
          <a:p>
            <a:pPr marL="457200" indent="-457200">
              <a:buFont typeface="+mj-lt"/>
              <a:buAutoNum type="arabicPeriod"/>
              <a:defRPr sz="2400"/>
            </a:pPr>
            <a:r>
              <a:rPr lang="fr-FR" sz="2000" dirty="0"/>
              <a:t>Créer des images Docker</a:t>
            </a:r>
          </a:p>
          <a:p>
            <a:pPr marL="457200" indent="-457200">
              <a:buFont typeface="+mj-lt"/>
              <a:buAutoNum type="arabicPeriod"/>
              <a:defRPr sz="2400"/>
            </a:pPr>
            <a:r>
              <a:rPr lang="fr-FR" sz="2000" dirty="0"/>
              <a:t>Simplifier les architectures distribuées</a:t>
            </a:r>
          </a:p>
          <a:p>
            <a:pPr marL="457200" indent="-457200">
              <a:buFont typeface="+mj-lt"/>
              <a:buAutoNum type="arabicPeriod"/>
              <a:defRPr sz="2400"/>
            </a:pPr>
            <a:r>
              <a:rPr lang="fr-FR" sz="2000" dirty="0"/>
              <a:t>Remplacer Azure Container Registry</a:t>
            </a:r>
          </a:p>
          <a:p>
            <a:pPr marL="457200" indent="-457200">
              <a:buFont typeface="+mj-lt"/>
              <a:buAutoNum type="arabicPeriod"/>
              <a:defRPr sz="2400"/>
            </a:pPr>
            <a:r>
              <a:rPr lang="fr-FR" sz="2000" dirty="0"/>
              <a:t>Créer des machines virtuelles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467096" y="4514602"/>
            <a:ext cx="8051470" cy="1077218"/>
          </a:xfrm>
          <a:prstGeom prst="rect">
            <a:avLst/>
          </a:prstGeom>
          <a:noFill/>
        </p:spPr>
        <p:txBody>
          <a:bodyPr wrap="square">
            <a:spAutoFit/>
          </a:bodyPr>
          <a:lstStyle/>
          <a:p>
            <a:pPr>
              <a:defRPr sz="1600"/>
            </a:pPr>
            <a:r>
              <a:rPr dirty="0"/>
              <a:t>Dapr (Distributed Application Runtime) est un framework open source intégré nativement à ACA. Il fournit un ensemble d'API standardisées et prêtes à l'emploi qui résolvent les défis complexes des systèmes distribués : gestion de l'état, communication entre services, découverte, ou publication de messages (Pub/Sub).</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Dapr permet de stockage l'état d'une application sans dépendre directement d'un moteur de stockage spécifique ?</a:t>
            </a:r>
            <a:endParaRPr lang="fr-FR" sz="2000" dirty="0"/>
          </a:p>
          <a:p>
            <a:pPr marL="457200" indent="-457200">
              <a:buFont typeface="+mj-lt"/>
              <a:buAutoNum type="arabicPeriod"/>
              <a:defRPr sz="2400"/>
            </a:pPr>
            <a:r>
              <a:rPr lang="fr-FR" sz="2000" dirty="0"/>
              <a:t>Pub/Sub</a:t>
            </a:r>
          </a:p>
          <a:p>
            <a:pPr marL="457200" indent="-457200">
              <a:buFont typeface="+mj-lt"/>
              <a:buAutoNum type="arabicPeriod"/>
              <a:defRPr sz="2400"/>
            </a:pPr>
            <a:r>
              <a:rPr lang="fr-FR" sz="2000" dirty="0"/>
              <a:t>Bindings</a:t>
            </a:r>
          </a:p>
          <a:p>
            <a:pPr marL="457200" indent="-457200">
              <a:buFont typeface="+mj-lt"/>
              <a:buAutoNum type="arabicPeriod"/>
              <a:defRPr sz="2400"/>
            </a:pPr>
            <a:r>
              <a:rPr lang="fr-FR" sz="2000" dirty="0"/>
              <a:t>Service Invocation</a:t>
            </a:r>
          </a:p>
          <a:p>
            <a:pPr marL="457200" indent="-457200">
              <a:buFont typeface="+mj-lt"/>
              <a:buAutoNum type="arabicPeriod"/>
              <a:defRPr sz="2400"/>
            </a:pPr>
            <a:r>
              <a:rPr lang="fr-FR" sz="2000" dirty="0"/>
              <a:t>State Management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954331" cy="1323439"/>
          </a:xfrm>
          <a:prstGeom prst="rect">
            <a:avLst/>
          </a:prstGeom>
          <a:noFill/>
        </p:spPr>
        <p:txBody>
          <a:bodyPr wrap="square">
            <a:spAutoFit/>
          </a:bodyPr>
          <a:lstStyle/>
          <a:p>
            <a:pPr>
              <a:defRPr sz="1600"/>
            </a:pPr>
            <a:r>
              <a:rPr dirty="0"/>
              <a:t>L'API 'State Management' de Dapr permet aux développeurs d'effectuer des opérations d'écriture/lecture de clés/valeurs via des requêtes HTTP/gRPC locales simples. Dapr abstrait le support de stockage réel (Cosmos DB, Redis, Azure Blob Storage) via un fichier de configuration, permettant de changer de base de données sans modifier une seule ligne de code source.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84988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une architecture microservices sous ACA, quel avantage apporte le service discovery fourni par Dapr ?</a:t>
            </a:r>
            <a:endParaRPr lang="fr-FR" sz="2000" dirty="0"/>
          </a:p>
          <a:p>
            <a:pPr marL="457200" indent="-457200">
              <a:buFont typeface="+mj-lt"/>
              <a:buAutoNum type="arabicPeriod"/>
              <a:defRPr sz="2400"/>
            </a:pPr>
            <a:r>
              <a:rPr lang="fr-FR" sz="2000" dirty="0"/>
              <a:t>Réduire la taille des images Docker</a:t>
            </a:r>
          </a:p>
          <a:p>
            <a:pPr marL="457200" indent="-457200">
              <a:buFont typeface="+mj-lt"/>
              <a:buAutoNum type="arabicPeriod"/>
              <a:defRPr sz="2400"/>
            </a:pPr>
            <a:r>
              <a:rPr lang="fr-FR" sz="2000" dirty="0"/>
              <a:t>Éviter de connaître les URL exactes des services</a:t>
            </a:r>
          </a:p>
          <a:p>
            <a:pPr marL="457200" indent="-457200">
              <a:buFont typeface="+mj-lt"/>
              <a:buAutoNum type="arabicPeriod"/>
              <a:defRPr sz="2400"/>
            </a:pPr>
            <a:r>
              <a:rPr lang="fr-FR" sz="2000" dirty="0"/>
              <a:t>Supprimer les Managed Identities</a:t>
            </a:r>
          </a:p>
          <a:p>
            <a:pPr marL="457200" indent="-457200">
              <a:buFont typeface="+mj-lt"/>
              <a:buAutoNum type="arabicPeriod"/>
              <a:defRPr sz="2400"/>
            </a:pPr>
            <a:r>
              <a:rPr lang="fr-FR" sz="2000" dirty="0"/>
              <a:t>Créer automatiquement les bases SQL</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136184" cy="1323439"/>
          </a:xfrm>
          <a:prstGeom prst="rect">
            <a:avLst/>
          </a:prstGeom>
          <a:noFill/>
        </p:spPr>
        <p:txBody>
          <a:bodyPr wrap="square">
            <a:spAutoFit/>
          </a:bodyPr>
          <a:lstStyle/>
          <a:p>
            <a:pPr>
              <a:defRPr sz="1600"/>
            </a:pPr>
            <a:r>
              <a:rPr dirty="0"/>
              <a:t>L'API 'Service Invocation' de Dapr intègre un mécanisme de découverte de services (Service Discovery). Un microservice A peut appeler un microservice B en utilisant simplement son identifiant logique (ID d'application). Dapr se charge de localiser l'instance, de gérer le routage réseau, le chiffrement mutuel (mTLS) et les tentatives en cas d'échec.</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9396" y="219616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06420-EC9B-795B-C0F7-E119DC1C07D4}"/>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7A68A0E-0550-5319-4CCA-E56835691980}"/>
              </a:ext>
            </a:extLst>
          </p:cNvPr>
          <p:cNvSpPr>
            <a:spLocks noGrp="1"/>
          </p:cNvSpPr>
          <p:nvPr>
            <p:ph type="body" sz="quarter" idx="11"/>
          </p:nvPr>
        </p:nvSpPr>
        <p:spPr/>
        <p:txBody>
          <a:bodyPr/>
          <a:lstStyle/>
          <a:p>
            <a:r>
              <a:rPr lang="fr-FR" dirty="0"/>
              <a:t>Quizz 16</a:t>
            </a:r>
          </a:p>
        </p:txBody>
      </p:sp>
      <p:sp>
        <p:nvSpPr>
          <p:cNvPr id="3" name="Espace réservé du texte 2">
            <a:extLst>
              <a:ext uri="{FF2B5EF4-FFF2-40B4-BE49-F238E27FC236}">
                <a16:creationId xmlns:a16="http://schemas.microsoft.com/office/drawing/2014/main" id="{27FE18AE-CC0D-C656-DA03-DF2E64ABB5D4}"/>
              </a:ext>
            </a:extLst>
          </p:cNvPr>
          <p:cNvSpPr>
            <a:spLocks noGrp="1"/>
          </p:cNvSpPr>
          <p:nvPr>
            <p:ph type="body" sz="quarter" idx="12"/>
          </p:nvPr>
        </p:nvSpPr>
        <p:spPr>
          <a:xfrm>
            <a:off x="2604868" y="3501008"/>
            <a:ext cx="5624732" cy="1432560"/>
          </a:xfrm>
        </p:spPr>
        <p:txBody>
          <a:bodyPr/>
          <a:lstStyle/>
          <a:p>
            <a:r>
              <a:rPr lang="fr-FR" dirty="0"/>
              <a:t>Container : questions bonus</a:t>
            </a:r>
          </a:p>
        </p:txBody>
      </p:sp>
    </p:spTree>
    <p:extLst>
      <p:ext uri="{BB962C8B-B14F-4D97-AF65-F5344CB8AC3E}">
        <p14:creationId xmlns:p14="http://schemas.microsoft.com/office/powerpoint/2010/main" val="3180651951"/>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l'avantage principal d'un Docker multi-stage build ?</a:t>
            </a:r>
            <a:endParaRPr lang="fr-FR" sz="2000" dirty="0"/>
          </a:p>
          <a:p>
            <a:pPr marL="457200" indent="-457200">
              <a:buFont typeface="+mj-lt"/>
              <a:buAutoNum type="arabicPeriod"/>
              <a:defRPr sz="2400"/>
            </a:pPr>
            <a:r>
              <a:rPr lang="fr-FR" sz="2000" dirty="0"/>
              <a:t>Permettre plusieurs conteneurs dans la même image</a:t>
            </a:r>
          </a:p>
          <a:p>
            <a:pPr marL="457200" indent="-457200">
              <a:buFont typeface="+mj-lt"/>
              <a:buAutoNum type="arabicPeriod"/>
              <a:defRPr sz="2400"/>
            </a:pPr>
            <a:r>
              <a:rPr lang="fr-FR" sz="2000" dirty="0"/>
              <a:t>Réduire la taille de l'image finale</a:t>
            </a:r>
          </a:p>
          <a:p>
            <a:pPr marL="457200" indent="-457200">
              <a:buFont typeface="+mj-lt"/>
              <a:buAutoNum type="arabicPeriod"/>
              <a:defRPr sz="2400"/>
            </a:pPr>
            <a:r>
              <a:rPr lang="fr-FR" sz="2000" dirty="0"/>
              <a:t>Augmenter la mémoire disponible</a:t>
            </a:r>
          </a:p>
          <a:p>
            <a:pPr marL="457200" indent="-457200">
              <a:buFont typeface="+mj-lt"/>
              <a:buAutoNum type="arabicPeriod"/>
              <a:defRPr sz="2400"/>
            </a:pPr>
            <a:r>
              <a:rPr lang="fr-FR" sz="2000" dirty="0"/>
              <a:t>Créer plusieurs registres ACR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773858" cy="1323439"/>
          </a:xfrm>
          <a:prstGeom prst="rect">
            <a:avLst/>
          </a:prstGeom>
          <a:noFill/>
        </p:spPr>
        <p:txBody>
          <a:bodyPr wrap="square">
            <a:spAutoFit/>
          </a:bodyPr>
          <a:lstStyle/>
          <a:p>
            <a:pPr>
              <a:defRPr sz="1600"/>
            </a:pPr>
            <a:r>
              <a:rPr dirty="0"/>
              <a:t>Le multi-stage build (construction multi-étapes) permet d'utiliser plusieurs instructions 'FROM' temporaires dans un seul Dockerfile. On peut ainsi compiler l'application dans une première étape lourde contenant tous les SDK nécessaires, puis copier uniquement les binaires compilés (les artefacts) dans une image finale ultra-légère dépourvue d'outils de build.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0210" y="195334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un Dockerfile multi-stage, à quoi sert l'instruction COPY --from=build ?</a:t>
            </a:r>
            <a:endParaRPr lang="fr-FR" sz="2000" dirty="0"/>
          </a:p>
          <a:p>
            <a:pPr marL="457200" indent="-457200">
              <a:buFont typeface="+mj-lt"/>
              <a:buAutoNum type="arabicPeriod"/>
              <a:defRPr sz="2400"/>
            </a:pPr>
            <a:r>
              <a:rPr lang="fr-FR" sz="2000" dirty="0"/>
              <a:t>Copier des fichiers depuis un autre conteneur en cours d'exécution</a:t>
            </a:r>
          </a:p>
          <a:p>
            <a:pPr marL="457200" indent="-457200">
              <a:buFont typeface="+mj-lt"/>
              <a:buAutoNum type="arabicPeriod"/>
              <a:defRPr sz="2400"/>
            </a:pPr>
            <a:r>
              <a:rPr lang="fr-FR" sz="2000" dirty="0"/>
              <a:t>Copier des fichiers depuis Azure Files</a:t>
            </a:r>
          </a:p>
          <a:p>
            <a:pPr marL="457200" indent="-457200">
              <a:buFont typeface="+mj-lt"/>
              <a:buAutoNum type="arabicPeriod"/>
              <a:defRPr sz="2400"/>
            </a:pPr>
            <a:r>
              <a:rPr lang="fr-FR" sz="2000" dirty="0"/>
              <a:t>Copier des fichiers depuis une étape précédente du build</a:t>
            </a:r>
          </a:p>
          <a:p>
            <a:pPr marL="457200" indent="-457200">
              <a:buFont typeface="+mj-lt"/>
              <a:buAutoNum type="arabicPeriod"/>
              <a:defRPr sz="2400"/>
            </a:pPr>
            <a:r>
              <a:rPr lang="fr-FR" sz="2000" dirty="0"/>
              <a:t>Copier des fichiers depuis Docker Hub</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273133" y="4928260"/>
            <a:ext cx="7873340" cy="830997"/>
          </a:xfrm>
          <a:prstGeom prst="rect">
            <a:avLst/>
          </a:prstGeom>
          <a:noFill/>
        </p:spPr>
        <p:txBody>
          <a:bodyPr wrap="square">
            <a:spAutoFit/>
          </a:bodyPr>
          <a:lstStyle/>
          <a:p>
            <a:pPr>
              <a:defRPr sz="1600"/>
            </a:pPr>
            <a:r>
              <a:rPr dirty="0"/>
              <a:t>L'argument '--from=build' indique à l'instruction COPY que la source des fichiers n'est pas le système de fichiers local de la machine hôte (le contexte de build), mais l'arborescence d'une étape de build précédente nommée en amont via l'instruction 'FROM ... AS build'.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7601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d'Azure Container Registry permet de construire une image Docker sans Docker Desktop ?</a:t>
            </a:r>
            <a:endParaRPr lang="fr-FR" sz="2000" dirty="0"/>
          </a:p>
          <a:p>
            <a:pPr marL="457200" indent="-457200">
              <a:buFont typeface="+mj-lt"/>
              <a:buAutoNum type="arabicPeriod"/>
              <a:defRPr sz="2400"/>
            </a:pPr>
            <a:r>
              <a:rPr lang="fr-FR" sz="2000" dirty="0"/>
              <a:t>ACR Tasks</a:t>
            </a:r>
          </a:p>
          <a:p>
            <a:pPr marL="457200" indent="-457200">
              <a:buFont typeface="+mj-lt"/>
              <a:buAutoNum type="arabicPeriod"/>
              <a:defRPr sz="2400"/>
            </a:pPr>
            <a:r>
              <a:rPr lang="fr-FR" sz="2000" dirty="0"/>
              <a:t>Azure Files</a:t>
            </a:r>
          </a:p>
          <a:p>
            <a:pPr marL="457200" indent="-457200">
              <a:buFont typeface="+mj-lt"/>
              <a:buAutoNum type="arabicPeriod"/>
              <a:defRPr sz="2400"/>
            </a:pPr>
            <a:r>
              <a:rPr lang="fr-FR" sz="2000" dirty="0"/>
              <a:t>Azure Monitor</a:t>
            </a:r>
          </a:p>
          <a:p>
            <a:pPr marL="457200" indent="-457200">
              <a:buFont typeface="+mj-lt"/>
              <a:buAutoNum type="arabicPeriod"/>
              <a:defRPr sz="2400"/>
            </a:pPr>
            <a:r>
              <a:rPr lang="fr-FR" sz="2000" dirty="0"/>
              <a:t>Azure Batch</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340332" y="4669555"/>
            <a:ext cx="7492226" cy="1077218"/>
          </a:xfrm>
          <a:prstGeom prst="rect">
            <a:avLst/>
          </a:prstGeom>
          <a:noFill/>
        </p:spPr>
        <p:txBody>
          <a:bodyPr wrap="square">
            <a:spAutoFit/>
          </a:bodyPr>
          <a:lstStyle/>
          <a:p>
            <a:pPr>
              <a:defRPr sz="1600"/>
            </a:pPr>
            <a:r>
              <a:rPr dirty="0"/>
              <a:t>ACR Tasks est une suite de fonctionnalités au sein d'Azure Container Registry qui fournit une capacité de build de conteneurs basée sur le cloud. Elle permet de compiler, construire, tester et stocker des images Docker directement dans l'infrastructure d'Azure, s'affranchissant totalement du besoin d'avoir un moteur Docker local.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1428" y="193730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commande Azure CLI permet de lancer un build dans Azure Container Registry ?</a:t>
            </a:r>
            <a:endParaRPr lang="fr-FR" sz="2000" dirty="0"/>
          </a:p>
          <a:p>
            <a:pPr marL="457200" indent="-457200">
              <a:buFont typeface="+mj-lt"/>
              <a:buAutoNum type="arabicPeriod"/>
              <a:defRPr sz="2400"/>
            </a:pPr>
            <a:r>
              <a:rPr lang="fr-FR" sz="2000" dirty="0"/>
              <a:t>az acr push</a:t>
            </a:r>
          </a:p>
          <a:p>
            <a:pPr marL="457200" indent="-457200">
              <a:buFont typeface="+mj-lt"/>
              <a:buAutoNum type="arabicPeriod"/>
              <a:defRPr sz="2400"/>
            </a:pPr>
            <a:r>
              <a:rPr lang="fr-FR" sz="2000" dirty="0"/>
              <a:t>az acr compile</a:t>
            </a:r>
          </a:p>
          <a:p>
            <a:pPr marL="457200" indent="-457200">
              <a:buFont typeface="+mj-lt"/>
              <a:buAutoNum type="arabicPeriod"/>
              <a:defRPr sz="2400"/>
            </a:pPr>
            <a:r>
              <a:rPr lang="fr-FR" sz="2000" dirty="0"/>
              <a:t>az acr image create</a:t>
            </a:r>
          </a:p>
          <a:p>
            <a:pPr marL="457200" indent="-457200">
              <a:buFont typeface="+mj-lt"/>
              <a:buAutoNum type="arabicPeriod"/>
              <a:defRPr sz="2400"/>
            </a:pPr>
            <a:r>
              <a:rPr lang="fr-FR" sz="2000" dirty="0"/>
              <a:t>az acr build</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280563" cy="1077218"/>
          </a:xfrm>
          <a:prstGeom prst="rect">
            <a:avLst/>
          </a:prstGeom>
          <a:noFill/>
        </p:spPr>
        <p:txBody>
          <a:bodyPr wrap="square">
            <a:spAutoFit/>
          </a:bodyPr>
          <a:lstStyle/>
          <a:p>
            <a:pPr>
              <a:defRPr sz="1600"/>
            </a:pPr>
            <a:r>
              <a:rPr dirty="0"/>
              <a:t>La commande 'az acr build' prend le contexte local (votre code source et votre Dockerfile), le compresse, l'envoie de manière sécurisée vers le service ACR dans Azure, puis déclenche l'exécution du build via ACR Tasks. Une fois construite, l'image est automatiquement poussée et stockée dans le registre.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93757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mécanisme permet à ACR de notifier un système externe lorsqu'une image est publiée ?</a:t>
            </a:r>
            <a:endParaRPr lang="fr-FR" sz="2000" dirty="0"/>
          </a:p>
          <a:p>
            <a:pPr marL="457200" indent="-457200">
              <a:buFont typeface="+mj-lt"/>
              <a:buAutoNum type="arabicPeriod"/>
              <a:defRPr sz="2400"/>
            </a:pPr>
            <a:r>
              <a:rPr lang="fr-FR" sz="2000" dirty="0"/>
              <a:t>Health Probe</a:t>
            </a:r>
          </a:p>
          <a:p>
            <a:pPr marL="457200" indent="-457200">
              <a:buFont typeface="+mj-lt"/>
              <a:buAutoNum type="arabicPeriod"/>
              <a:defRPr sz="2400"/>
            </a:pPr>
            <a:r>
              <a:rPr lang="fr-FR" sz="2000" dirty="0"/>
              <a:t>Webhook</a:t>
            </a:r>
          </a:p>
          <a:p>
            <a:pPr marL="457200" indent="-457200">
              <a:buFont typeface="+mj-lt"/>
              <a:buAutoNum type="arabicPeriod"/>
              <a:defRPr sz="2400"/>
            </a:pPr>
            <a:r>
              <a:rPr lang="fr-FR" sz="2000" dirty="0"/>
              <a:t>Revision</a:t>
            </a:r>
          </a:p>
          <a:p>
            <a:pPr marL="457200" indent="-457200">
              <a:buFont typeface="+mj-lt"/>
              <a:buAutoNum type="arabicPeriod"/>
              <a:defRPr sz="2400"/>
            </a:pPr>
            <a:r>
              <a:rPr lang="fr-FR" sz="2000" dirty="0"/>
              <a:t>Managed Identity</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689637" cy="1323439"/>
          </a:xfrm>
          <a:prstGeom prst="rect">
            <a:avLst/>
          </a:prstGeom>
          <a:noFill/>
        </p:spPr>
        <p:txBody>
          <a:bodyPr wrap="square">
            <a:spAutoFit/>
          </a:bodyPr>
          <a:lstStyle/>
          <a:p>
            <a:pPr>
              <a:defRPr sz="1600"/>
            </a:pPr>
            <a:r>
              <a:rPr dirty="0"/>
              <a:t>Azure Container Registry prend en charge les Webhooks. Lorsqu'un événement spécifique se produit au sein du registre (comme le 'push' d'une nouvelle image ou sa suppression), ACR envoie une requête HTTP POST au format JSON vers un point de terminaison externe configuré (ex: une Azure Function, un pipeline CI/CD Jenkins/Azure DevOps ou un orchestrateur).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3406" y="225231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méthode est recommandée pour stocker un mot de passe de base de données dans Azure Container Apps ?</a:t>
            </a:r>
            <a:endParaRPr lang="fr-FR" sz="2000" dirty="0"/>
          </a:p>
          <a:p>
            <a:pPr marL="457200" indent="-457200">
              <a:buFont typeface="+mj-lt"/>
              <a:buAutoNum type="arabicPeriod"/>
              <a:defRPr sz="2400"/>
            </a:pPr>
            <a:r>
              <a:rPr lang="fr-FR" sz="2000" dirty="0"/>
              <a:t>Dans le Dockerfile</a:t>
            </a:r>
          </a:p>
          <a:p>
            <a:pPr marL="457200" indent="-457200">
              <a:buFont typeface="+mj-lt"/>
              <a:buAutoNum type="arabicPeriod"/>
              <a:defRPr sz="2400"/>
            </a:pPr>
            <a:r>
              <a:rPr lang="fr-FR" sz="2000" dirty="0"/>
              <a:t>Dans le code source</a:t>
            </a:r>
          </a:p>
          <a:p>
            <a:pPr marL="457200" indent="-457200">
              <a:buFont typeface="+mj-lt"/>
              <a:buAutoNum type="arabicPeriod"/>
              <a:defRPr sz="2400"/>
            </a:pPr>
            <a:r>
              <a:rPr lang="fr-FR" sz="2000" dirty="0"/>
              <a:t>Dans le nom de l'image</a:t>
            </a:r>
          </a:p>
          <a:p>
            <a:pPr marL="457200" indent="-457200">
              <a:buFont typeface="+mj-lt"/>
              <a:buAutoNum type="arabicPeriod"/>
              <a:defRPr sz="2400"/>
            </a:pPr>
            <a:r>
              <a:rPr lang="fr-FR" sz="2000" dirty="0"/>
              <a:t>Dans un secret ACA</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6719089" cy="1323439"/>
          </a:xfrm>
          <a:prstGeom prst="rect">
            <a:avLst/>
          </a:prstGeom>
          <a:noFill/>
        </p:spPr>
        <p:txBody>
          <a:bodyPr wrap="square">
            <a:spAutoFit/>
          </a:bodyPr>
          <a:lstStyle/>
          <a:p>
            <a:pPr>
              <a:defRPr sz="1600"/>
            </a:pPr>
            <a:r>
              <a:rPr dirty="0"/>
              <a:t>Azure Container Apps possède un magasin natif de secrets. Les secrets sont définis au niveau de l'application et sont chiffrés au repos. Une fois le secret déclaré (ex: 'db-password'), sa valeur peut être injectée de manière sécurisée dans les conteneurs sous forme de variables d'environnement ou montée comme un volume de fichiers.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98731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l'avantage principal d'une variable d'environnement basée sur un secret dans ACA ?</a:t>
            </a:r>
            <a:endParaRPr lang="fr-FR" sz="2000" dirty="0"/>
          </a:p>
          <a:p>
            <a:pPr marL="457200" indent="-457200">
              <a:buFont typeface="+mj-lt"/>
              <a:buAutoNum type="arabicPeriod"/>
              <a:defRPr sz="2400"/>
            </a:pPr>
            <a:r>
              <a:rPr lang="fr-FR" sz="2000" dirty="0"/>
              <a:t>La valeur n'est pas visible directement dans la configuration</a:t>
            </a:r>
          </a:p>
          <a:p>
            <a:pPr marL="457200" indent="-457200">
              <a:buFont typeface="+mj-lt"/>
              <a:buAutoNum type="arabicPeriod"/>
              <a:defRPr sz="2400"/>
            </a:pPr>
            <a:r>
              <a:rPr lang="fr-FR" sz="2000" dirty="0"/>
              <a:t>Elle accélère les performances</a:t>
            </a:r>
          </a:p>
          <a:p>
            <a:pPr marL="457200" indent="-457200">
              <a:buFont typeface="+mj-lt"/>
              <a:buAutoNum type="arabicPeriod"/>
              <a:defRPr sz="2400"/>
            </a:pPr>
            <a:r>
              <a:rPr lang="fr-FR" sz="2000" dirty="0"/>
              <a:t>Elle réduit le coût Azure</a:t>
            </a:r>
          </a:p>
          <a:p>
            <a:pPr marL="457200" indent="-457200">
              <a:buFont typeface="+mj-lt"/>
              <a:buAutoNum type="arabicPeriod"/>
              <a:defRPr sz="2400"/>
            </a:pPr>
            <a:r>
              <a:rPr lang="fr-FR" sz="2000" dirty="0"/>
              <a:t>Elle évite l'utilisation d'ACR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276552" cy="1077218"/>
          </a:xfrm>
          <a:prstGeom prst="rect">
            <a:avLst/>
          </a:prstGeom>
          <a:noFill/>
        </p:spPr>
        <p:txBody>
          <a:bodyPr wrap="square">
            <a:spAutoFit/>
          </a:bodyPr>
          <a:lstStyle/>
          <a:p>
            <a:pPr>
              <a:defRPr sz="1600"/>
            </a:pPr>
            <a:r>
              <a:rPr dirty="0"/>
              <a:t>Lorsqu'une variable d'environnement fait référence à un secret ACA (secretRef), la valeur sensible n'apparaît jamais en texte clair dans les fichiers de configuration de l'application, dans l'historique des déploiements ou lors des requêtes de consultation via l'Azure CLI ou le portail Azure.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9448"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source d'événement KEDA est particulièrement utilisée pour scaler des workers Azure ?</a:t>
            </a:r>
            <a:endParaRPr lang="fr-FR" sz="2000" dirty="0"/>
          </a:p>
          <a:p>
            <a:pPr marL="457200" indent="-457200">
              <a:buFont typeface="+mj-lt"/>
              <a:buAutoNum type="arabicPeriod"/>
              <a:defRPr sz="2400"/>
            </a:pPr>
            <a:r>
              <a:rPr lang="fr-FR" sz="2000" dirty="0"/>
              <a:t>Azure Service Bus</a:t>
            </a:r>
          </a:p>
          <a:p>
            <a:pPr marL="457200" indent="-457200">
              <a:buFont typeface="+mj-lt"/>
              <a:buAutoNum type="arabicPeriod"/>
              <a:defRPr sz="2400"/>
            </a:pPr>
            <a:r>
              <a:rPr lang="fr-FR" sz="2000" dirty="0"/>
              <a:t>Azure DNS</a:t>
            </a:r>
          </a:p>
          <a:p>
            <a:pPr marL="457200" indent="-457200">
              <a:buFont typeface="+mj-lt"/>
              <a:buAutoNum type="arabicPeriod"/>
              <a:defRPr sz="2400"/>
            </a:pPr>
            <a:r>
              <a:rPr lang="fr-FR" sz="2000" dirty="0"/>
              <a:t>Azure Policy</a:t>
            </a:r>
          </a:p>
          <a:p>
            <a:pPr marL="457200" indent="-457200">
              <a:buFont typeface="+mj-lt"/>
              <a:buAutoNum type="arabicPeriod"/>
              <a:defRPr sz="2400"/>
            </a:pPr>
            <a:r>
              <a:rPr lang="fr-FR" sz="2000" dirty="0"/>
              <a:t>Azure Advisor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14794" y="4829976"/>
            <a:ext cx="8636174" cy="830997"/>
          </a:xfrm>
          <a:prstGeom prst="rect">
            <a:avLst/>
          </a:prstGeom>
          <a:noFill/>
        </p:spPr>
        <p:txBody>
          <a:bodyPr wrap="square">
            <a:spAutoFit/>
          </a:bodyPr>
          <a:lstStyle/>
          <a:p>
            <a:pPr>
              <a:defRPr sz="1600"/>
            </a:pPr>
            <a:r>
              <a:rPr dirty="0"/>
              <a:t>Le scaler KEDA pour Azure Service Bus interroge en permanence le nombre de messages en attente dans une file (Queue) ou un abonnement (Subscription). Si le volume de messages augmente, KEDA demande à ACA de créer de nouveaux réplicas de workers pour paralléliser le traitement de la charge.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354"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Une application doit augmenter automatiquement son nombre de replicas lorsqu'une file Azure Storage Queue contient plus de 100 messages. Quelle technologie utiliser ?</a:t>
            </a:r>
            <a:endParaRPr lang="fr-FR" sz="2000" dirty="0"/>
          </a:p>
          <a:p>
            <a:pPr marL="457200" indent="-457200">
              <a:buFont typeface="+mj-lt"/>
              <a:buAutoNum type="arabicPeriod"/>
              <a:defRPr sz="2400"/>
            </a:pPr>
            <a:r>
              <a:rPr lang="fr-FR" sz="2000" dirty="0"/>
              <a:t>Traffic Splitting</a:t>
            </a:r>
          </a:p>
          <a:p>
            <a:pPr marL="457200" indent="-457200">
              <a:buFont typeface="+mj-lt"/>
              <a:buAutoNum type="arabicPeriod"/>
              <a:defRPr sz="2400"/>
            </a:pPr>
            <a:r>
              <a:rPr lang="fr-FR" sz="2000" dirty="0"/>
              <a:t>Azure Files</a:t>
            </a:r>
          </a:p>
          <a:p>
            <a:pPr marL="457200" indent="-457200">
              <a:buFont typeface="+mj-lt"/>
              <a:buAutoNum type="arabicPeriod"/>
              <a:defRPr sz="2400"/>
            </a:pPr>
            <a:r>
              <a:rPr lang="fr-FR" sz="2000" dirty="0"/>
              <a:t>KEDA</a:t>
            </a:r>
          </a:p>
          <a:p>
            <a:pPr marL="457200" indent="-457200">
              <a:buFont typeface="+mj-lt"/>
              <a:buAutoNum type="arabicPeriod"/>
              <a:defRPr sz="2400"/>
            </a:pPr>
            <a:r>
              <a:rPr lang="fr-FR" sz="2000" dirty="0"/>
              <a:t>Azure Backup</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7561300" cy="1077218"/>
          </a:xfrm>
          <a:prstGeom prst="rect">
            <a:avLst/>
          </a:prstGeom>
          <a:noFill/>
        </p:spPr>
        <p:txBody>
          <a:bodyPr wrap="square">
            <a:spAutoFit/>
          </a:bodyPr>
          <a:lstStyle/>
          <a:p>
            <a:pPr>
              <a:defRPr sz="1600"/>
            </a:pPr>
            <a:r>
              <a:rPr dirty="0"/>
              <a:t>KEDA (Kubernetes-based Event-driven Autoscaling) est la technologie intégrée à ACA conçue spécifiquement pour l'autoscaling basé sur des métriques externes (événements). Il supporte nativement le scaler 'azure-queue' pour mesurer la profondeur d'une file d'attente Azure Storage.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88998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l'objectif principal d'Azure Container Apps Jobs ?</a:t>
            </a:r>
            <a:endParaRPr lang="fr-FR" sz="2000" dirty="0"/>
          </a:p>
          <a:p>
            <a:pPr marL="457200" indent="-457200">
              <a:buFont typeface="+mj-lt"/>
              <a:buAutoNum type="arabicPeriod"/>
              <a:defRPr sz="2400"/>
            </a:pPr>
            <a:r>
              <a:rPr lang="fr-FR" sz="2000" dirty="0"/>
              <a:t>Héberger des applications web permanentes</a:t>
            </a:r>
          </a:p>
          <a:p>
            <a:pPr marL="457200" indent="-457200">
              <a:buFont typeface="+mj-lt"/>
              <a:buAutoNum type="arabicPeriod"/>
              <a:defRPr sz="2400"/>
            </a:pPr>
            <a:r>
              <a:rPr lang="fr-FR" sz="2000" dirty="0"/>
              <a:t>Exécuter des traitements batch ou planifiés</a:t>
            </a:r>
          </a:p>
          <a:p>
            <a:pPr marL="457200" indent="-457200">
              <a:buFont typeface="+mj-lt"/>
              <a:buAutoNum type="arabicPeriod"/>
              <a:defRPr sz="2400"/>
            </a:pPr>
            <a:r>
              <a:rPr lang="fr-FR" sz="2000" dirty="0"/>
              <a:t>Créer des registres Docker</a:t>
            </a:r>
          </a:p>
          <a:p>
            <a:pPr marL="457200" indent="-457200">
              <a:buFont typeface="+mj-lt"/>
              <a:buAutoNum type="arabicPeriod"/>
              <a:defRPr sz="2400"/>
            </a:pPr>
            <a:r>
              <a:rPr lang="fr-FR" sz="2000" dirty="0"/>
              <a:t>Créer des volumes Azure Files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136184" cy="1077218"/>
          </a:xfrm>
          <a:prstGeom prst="rect">
            <a:avLst/>
          </a:prstGeom>
          <a:noFill/>
        </p:spPr>
        <p:txBody>
          <a:bodyPr wrap="square">
            <a:spAutoFit/>
          </a:bodyPr>
          <a:lstStyle/>
          <a:p>
            <a:pPr>
              <a:defRPr sz="1600"/>
            </a:pPr>
            <a:r>
              <a:rPr dirty="0"/>
              <a:t>Contrairement aux Container Apps standards qui s'exécutent en continu pour répondre à des requêtes HTTP, les 'Container Apps Jobs' sont conçus pour exécuter des tâches qui ont un début et une fin bien définis. Ils s'exécutent à la demande, selon un calendrier planifié (Cron job) ou en réponse à des événements.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4532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méthode d'authentification est recommandée pour permettre à une Container App d'accéder à un ACR ?</a:t>
            </a:r>
            <a:endParaRPr lang="fr-FR" sz="2000" dirty="0"/>
          </a:p>
          <a:p>
            <a:pPr marL="457200" indent="-457200">
              <a:buFont typeface="+mj-lt"/>
              <a:buAutoNum type="arabicPeriod"/>
              <a:defRPr sz="2400"/>
            </a:pPr>
            <a:r>
              <a:rPr lang="fr-FR" sz="2000" dirty="0"/>
              <a:t>Admin User</a:t>
            </a:r>
          </a:p>
          <a:p>
            <a:pPr marL="457200" indent="-457200">
              <a:buFont typeface="+mj-lt"/>
              <a:buAutoNum type="arabicPeriod"/>
              <a:defRPr sz="2400"/>
            </a:pPr>
            <a:r>
              <a:rPr lang="fr-FR" sz="2000" dirty="0"/>
              <a:t>Mot de passe stocké dans le code</a:t>
            </a:r>
          </a:p>
          <a:p>
            <a:pPr marL="457200" indent="-457200">
              <a:buFont typeface="+mj-lt"/>
              <a:buAutoNum type="arabicPeriod"/>
              <a:defRPr sz="2400"/>
            </a:pPr>
            <a:r>
              <a:rPr lang="fr-FR" sz="2000" dirty="0"/>
              <a:t>Managed Identity</a:t>
            </a:r>
          </a:p>
          <a:p>
            <a:pPr marL="457200" indent="-457200">
              <a:buFont typeface="+mj-lt"/>
              <a:buAutoNum type="arabicPeriod"/>
              <a:defRPr sz="2400"/>
            </a:pPr>
            <a:r>
              <a:rPr lang="fr-FR" sz="2000" dirty="0"/>
              <a:t>Compte Azure personnel</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431679" y="4911642"/>
            <a:ext cx="8034542" cy="1077218"/>
          </a:xfrm>
          <a:prstGeom prst="rect">
            <a:avLst/>
          </a:prstGeom>
          <a:noFill/>
        </p:spPr>
        <p:txBody>
          <a:bodyPr wrap="square">
            <a:spAutoFit/>
          </a:bodyPr>
          <a:lstStyle/>
          <a:p>
            <a:pPr>
              <a:defRPr sz="1600"/>
            </a:pPr>
            <a:r>
              <a:rPr dirty="0"/>
              <a:t>L'utilisation d'une identité managée (Managed Identity) élimine complètement le besoin d'inclure des identifiants statiques dans la configuration de votre Container App. Azure gère l'authentification en arrière-plan de manière transparente auprès du registre ACR via Microsoft Entra ID.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9449" y="254107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méthode d'authentification ACR est la moins recommandée dans un environnement de production ?</a:t>
            </a:r>
            <a:endParaRPr lang="fr-FR" sz="2000" dirty="0"/>
          </a:p>
          <a:p>
            <a:pPr marL="457200" indent="-457200">
              <a:buFont typeface="+mj-lt"/>
              <a:buAutoNum type="arabicPeriod"/>
              <a:defRPr sz="2400"/>
            </a:pPr>
            <a:r>
              <a:rPr lang="fr-FR" sz="2000" dirty="0"/>
              <a:t>Managed Identity</a:t>
            </a:r>
          </a:p>
          <a:p>
            <a:pPr marL="457200" indent="-457200">
              <a:buFont typeface="+mj-lt"/>
              <a:buAutoNum type="arabicPeriod"/>
              <a:defRPr sz="2400"/>
            </a:pPr>
            <a:r>
              <a:rPr lang="fr-FR" sz="2000" dirty="0"/>
              <a:t>Service Principal</a:t>
            </a:r>
          </a:p>
          <a:p>
            <a:pPr marL="457200" indent="-457200">
              <a:buFont typeface="+mj-lt"/>
              <a:buAutoNum type="arabicPeriod"/>
              <a:defRPr sz="2400"/>
            </a:pPr>
            <a:r>
              <a:rPr lang="fr-FR" sz="2000" dirty="0"/>
              <a:t>Admin User</a:t>
            </a:r>
          </a:p>
          <a:p>
            <a:pPr marL="457200" indent="-457200">
              <a:buFont typeface="+mj-lt"/>
              <a:buAutoNum type="arabicPeriod"/>
              <a:defRPr sz="2400"/>
            </a:pPr>
            <a:r>
              <a:rPr lang="fr-FR" sz="2000" dirty="0"/>
              <a:t>Federated Identity</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613560" y="4855029"/>
            <a:ext cx="7453016" cy="1077218"/>
          </a:xfrm>
          <a:prstGeom prst="rect">
            <a:avLst/>
          </a:prstGeom>
          <a:noFill/>
        </p:spPr>
        <p:txBody>
          <a:bodyPr wrap="square">
            <a:spAutoFit/>
          </a:bodyPr>
          <a:lstStyle/>
          <a:p>
            <a:pPr>
              <a:defRPr sz="1600"/>
            </a:pPr>
            <a:r>
              <a:rPr dirty="0"/>
              <a:t>L'activation du compte utilisateur administrateur (Admin User) d'un registre ACR génère un nom d'utilisateur et des clés d'accès statiques universelles pour le registre. Ce mécanisme n'offre aucun contrôle granulaire (c'est un accès administrateur total) et comporte des risques majeurs de fuite d'identifiants.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9320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peut être monté comme système de fichiers dans un conteneur ?</a:t>
            </a:r>
            <a:endParaRPr lang="fr-FR" sz="2000" dirty="0"/>
          </a:p>
          <a:p>
            <a:pPr marL="457200" indent="-457200">
              <a:buFont typeface="+mj-lt"/>
              <a:buAutoNum type="arabicPeriod"/>
              <a:defRPr sz="2400"/>
            </a:pPr>
            <a:r>
              <a:rPr lang="fr-FR" sz="2000" dirty="0"/>
              <a:t>Azure Files</a:t>
            </a:r>
          </a:p>
          <a:p>
            <a:pPr marL="457200" indent="-457200">
              <a:buFont typeface="+mj-lt"/>
              <a:buAutoNum type="arabicPeriod"/>
              <a:defRPr sz="2400"/>
            </a:pPr>
            <a:r>
              <a:rPr lang="fr-FR" sz="2000" dirty="0"/>
              <a:t>Azure Blob Storage</a:t>
            </a:r>
          </a:p>
          <a:p>
            <a:pPr marL="457200" indent="-457200">
              <a:buFont typeface="+mj-lt"/>
              <a:buAutoNum type="arabicPeriod"/>
              <a:defRPr sz="2400"/>
            </a:pPr>
            <a:r>
              <a:rPr lang="fr-FR" sz="2000" dirty="0"/>
              <a:t>Azure Queue Storage</a:t>
            </a:r>
          </a:p>
          <a:p>
            <a:pPr marL="457200" indent="-457200">
              <a:buFont typeface="+mj-lt"/>
              <a:buAutoNum type="arabicPeriod"/>
              <a:defRPr sz="2400"/>
            </a:pPr>
            <a:r>
              <a:rPr lang="fr-FR" sz="2000" dirty="0"/>
              <a:t>Azure Event Hubs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399595" y="4693618"/>
            <a:ext cx="8219026" cy="1077218"/>
          </a:xfrm>
          <a:prstGeom prst="rect">
            <a:avLst/>
          </a:prstGeom>
          <a:noFill/>
        </p:spPr>
        <p:txBody>
          <a:bodyPr wrap="square">
            <a:spAutoFit/>
          </a:bodyPr>
          <a:lstStyle/>
          <a:p>
            <a:pPr>
              <a:defRPr sz="1600"/>
            </a:pPr>
            <a:r>
              <a:rPr dirty="0"/>
              <a:t>Azure Files fournit des partages de fichiers entièrement gérés dans le cloud, accessibles via les protocoles standard de l'industrie (SMB et NFS). De ce fait, un conteneur s'exécutant dans ACI, ACA ou AKS peut monter ce partage directement comme un répertoire local persistant de son propre système de fichiers.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Azure Blob Storage ne remplace-t-il pas directement Azure Files pour le montage traditionnel d'un volume de conteneur ?</a:t>
            </a:r>
            <a:endParaRPr lang="fr-FR" sz="2000" dirty="0"/>
          </a:p>
          <a:p>
            <a:pPr marL="457200" indent="-457200">
              <a:buFont typeface="+mj-lt"/>
              <a:buAutoNum type="arabicPeriod"/>
              <a:defRPr sz="2400"/>
            </a:pPr>
            <a:r>
              <a:rPr lang="fr-FR" sz="2000" dirty="0"/>
              <a:t>Blob Storage ne fournit pas un système de fichiers montable standard</a:t>
            </a:r>
          </a:p>
          <a:p>
            <a:pPr marL="457200" indent="-457200">
              <a:buFont typeface="+mj-lt"/>
              <a:buAutoNum type="arabicPeriod"/>
              <a:defRPr sz="2400"/>
            </a:pPr>
            <a:r>
              <a:rPr lang="fr-FR" sz="2000" dirty="0"/>
              <a:t>Blob Storage est plus lent</a:t>
            </a:r>
          </a:p>
          <a:p>
            <a:pPr marL="457200" indent="-457200">
              <a:buFont typeface="+mj-lt"/>
              <a:buAutoNum type="arabicPeriod"/>
              <a:defRPr sz="2400"/>
            </a:pPr>
            <a:r>
              <a:rPr lang="fr-FR" sz="2000" dirty="0"/>
              <a:t>Blob Storage n'est pas disponible dans Azure</a:t>
            </a:r>
          </a:p>
          <a:p>
            <a:pPr marL="457200" indent="-457200">
              <a:buFont typeface="+mj-lt"/>
              <a:buAutoNum type="arabicPeriod"/>
              <a:defRPr sz="2400"/>
            </a:pPr>
            <a:r>
              <a:rPr lang="fr-FR" sz="2000" dirty="0"/>
              <a:t>Blob Storage ne supporte pas les conteneurs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104100" cy="1323439"/>
          </a:xfrm>
          <a:prstGeom prst="rect">
            <a:avLst/>
          </a:prstGeom>
          <a:noFill/>
        </p:spPr>
        <p:txBody>
          <a:bodyPr wrap="square">
            <a:spAutoFit/>
          </a:bodyPr>
          <a:lstStyle/>
          <a:p>
            <a:pPr>
              <a:defRPr sz="1600"/>
            </a:pPr>
            <a:r>
              <a:rPr dirty="0"/>
              <a:t>Azure Blob Storage est un stockage de type 'Objet' hautement optimisé pour les données non structurées, accessible via des API REST. Il ne respecte pas nativement la sémantique d'un système de fichiers POSIX traditionnel (pas de gestion native des répertoires réels, des verrous de fichiers ou des permissions de fichiers standard), contrairement à Azure Files.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politique de redémarrage ACI convient le mieux à un traitement batch qui doit s'exécuter une seule fois ?</a:t>
            </a:r>
            <a:endParaRPr lang="fr-FR" sz="2000" dirty="0"/>
          </a:p>
          <a:p>
            <a:pPr marL="457200" indent="-457200">
              <a:buFont typeface="+mj-lt"/>
              <a:buAutoNum type="arabicPeriod"/>
              <a:defRPr sz="2400"/>
            </a:pPr>
            <a:r>
              <a:rPr lang="fr-FR" sz="2000" dirty="0"/>
              <a:t>Always</a:t>
            </a:r>
          </a:p>
          <a:p>
            <a:pPr marL="457200" indent="-457200">
              <a:buFont typeface="+mj-lt"/>
              <a:buAutoNum type="arabicPeriod"/>
              <a:defRPr sz="2400"/>
            </a:pPr>
            <a:r>
              <a:rPr lang="fr-FR" sz="2000" dirty="0"/>
              <a:t>OnFailure</a:t>
            </a:r>
          </a:p>
          <a:p>
            <a:pPr marL="457200" indent="-457200">
              <a:buFont typeface="+mj-lt"/>
              <a:buAutoNum type="arabicPeriod"/>
              <a:defRPr sz="2400"/>
            </a:pPr>
            <a:r>
              <a:rPr lang="fr-FR" sz="2000" dirty="0"/>
              <a:t>Never</a:t>
            </a:r>
          </a:p>
          <a:p>
            <a:pPr marL="457200" indent="-457200">
              <a:buFont typeface="+mj-lt"/>
              <a:buAutoNum type="arabicPeriod"/>
              <a:defRPr sz="2400"/>
            </a:pPr>
            <a:r>
              <a:rPr lang="fr-FR" sz="2000" dirty="0"/>
              <a:t>Restart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207983" y="4882113"/>
            <a:ext cx="8117869" cy="1077218"/>
          </a:xfrm>
          <a:prstGeom prst="rect">
            <a:avLst/>
          </a:prstGeom>
          <a:noFill/>
        </p:spPr>
        <p:txBody>
          <a:bodyPr wrap="square">
            <a:spAutoFit/>
          </a:bodyPr>
          <a:lstStyle/>
          <a:p>
            <a:pPr>
              <a:defRPr sz="1600"/>
            </a:pPr>
            <a:r>
              <a:rPr dirty="0"/>
              <a:t>La politique de redémarrage (Restart Policy) 'Never' (Jamais) indique à Azure Container Instances que le cycle de vie du conteneur s'arrête définitivement dès que le processus principal se termine, quel que soit son code de sortie (0 pour un succès ou un code d'erreur). Le conteneur ne sera jamais relancé automatiquement.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60809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politique de redémarrage ACI permet de relancer un conteneur uniquement en cas d'erreur ?</a:t>
            </a:r>
            <a:endParaRPr lang="fr-FR" sz="2000" dirty="0"/>
          </a:p>
          <a:p>
            <a:pPr marL="457200" indent="-457200">
              <a:buFont typeface="+mj-lt"/>
              <a:buAutoNum type="arabicPeriod"/>
              <a:defRPr sz="2400"/>
            </a:pPr>
            <a:r>
              <a:rPr lang="fr-FR" sz="2000" dirty="0"/>
              <a:t>Always</a:t>
            </a:r>
          </a:p>
          <a:p>
            <a:pPr marL="457200" indent="-457200">
              <a:buFont typeface="+mj-lt"/>
              <a:buAutoNum type="arabicPeriod"/>
              <a:defRPr sz="2400"/>
            </a:pPr>
            <a:r>
              <a:rPr lang="fr-FR" sz="2000" dirty="0"/>
              <a:t>Never</a:t>
            </a:r>
          </a:p>
          <a:p>
            <a:pPr marL="457200" indent="-457200">
              <a:buFont typeface="+mj-lt"/>
              <a:buAutoNum type="arabicPeriod"/>
              <a:defRPr sz="2400"/>
            </a:pPr>
            <a:r>
              <a:rPr lang="fr-FR" sz="2000" dirty="0"/>
              <a:t>OnFailure</a:t>
            </a:r>
          </a:p>
          <a:p>
            <a:pPr marL="457200" indent="-457200">
              <a:buFont typeface="+mj-lt"/>
              <a:buAutoNum type="arabicPeriod"/>
              <a:defRPr sz="2400"/>
            </a:pPr>
            <a:r>
              <a:rPr lang="fr-FR" sz="2000" dirty="0"/>
              <a:t>Manual</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243185" y="4970345"/>
            <a:ext cx="8616068" cy="1077218"/>
          </a:xfrm>
          <a:prstGeom prst="rect">
            <a:avLst/>
          </a:prstGeom>
          <a:noFill/>
        </p:spPr>
        <p:txBody>
          <a:bodyPr wrap="square">
            <a:spAutoFit/>
          </a:bodyPr>
          <a:lstStyle/>
          <a:p>
            <a:pPr>
              <a:defRPr sz="1600"/>
            </a:pPr>
            <a:r>
              <a:rPr dirty="0"/>
              <a:t>La politique 'OnFailure' (En cas d'échec) configure ACI pour qu'il redémarre le conteneur uniquement si le processus applicatif interne s'arrête avec un code de retour différent de zéro (signe d'un crash ou d'une exception). Si l'application se termine avec succès (code 0), le conteneur passe à l'état Arrêté sans redémarrer.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9501" y="260166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mode de révision ACA est le plus adapté lorsqu'une seule version de l'application doit être active à la fois ?</a:t>
            </a:r>
            <a:endParaRPr lang="fr-FR" sz="2000" dirty="0"/>
          </a:p>
          <a:p>
            <a:pPr marL="457200" indent="-457200">
              <a:buFont typeface="+mj-lt"/>
              <a:buAutoNum type="arabicPeriod"/>
              <a:defRPr sz="2400"/>
            </a:pPr>
            <a:r>
              <a:rPr lang="fr-FR" sz="2000" dirty="0"/>
              <a:t>Multiple</a:t>
            </a:r>
          </a:p>
          <a:p>
            <a:pPr marL="457200" indent="-457200">
              <a:buFont typeface="+mj-lt"/>
              <a:buAutoNum type="arabicPeriod"/>
              <a:defRPr sz="2400"/>
            </a:pPr>
            <a:r>
              <a:rPr lang="fr-FR" sz="2000" dirty="0"/>
              <a:t>Single</a:t>
            </a:r>
          </a:p>
          <a:p>
            <a:pPr marL="457200" indent="-457200">
              <a:buFont typeface="+mj-lt"/>
              <a:buAutoNum type="arabicPeriod"/>
              <a:defRPr sz="2400"/>
            </a:pPr>
            <a:r>
              <a:rPr lang="fr-FR" sz="2000" dirty="0"/>
              <a:t>Canary</a:t>
            </a:r>
          </a:p>
          <a:p>
            <a:pPr marL="457200" indent="-457200">
              <a:buFont typeface="+mj-lt"/>
              <a:buAutoNum type="arabicPeriod"/>
              <a:defRPr sz="2400"/>
            </a:pPr>
            <a:r>
              <a:rPr lang="fr-FR" sz="2000" dirty="0"/>
              <a:t>Rolling</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46931" y="4930239"/>
            <a:ext cx="8058605" cy="1077218"/>
          </a:xfrm>
          <a:prstGeom prst="rect">
            <a:avLst/>
          </a:prstGeom>
          <a:noFill/>
        </p:spPr>
        <p:txBody>
          <a:bodyPr wrap="square">
            <a:spAutoFit/>
          </a:bodyPr>
          <a:lstStyle/>
          <a:p>
            <a:pPr>
              <a:defRPr sz="1600"/>
            </a:pPr>
            <a:r>
              <a:rPr dirty="0"/>
              <a:t>Le mode de révision 'Single' (Unique) garantit qu'une seule révision de votre Container App prend en charge 100% du trafic. Dès qu'une nouvelle révision est créée (suite à une modification de configuration ou d'image), ACA désactive automatiquement et proprement l'ancienne version.</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1220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caractéristique distingue principalement le mode Multiple du mode Single dans ACA ?</a:t>
            </a:r>
            <a:endParaRPr lang="fr-FR" sz="2000" dirty="0"/>
          </a:p>
          <a:p>
            <a:pPr marL="457200" indent="-457200">
              <a:buFont typeface="+mj-lt"/>
              <a:buAutoNum type="arabicPeriod"/>
              <a:defRPr sz="2400"/>
            </a:pPr>
            <a:r>
              <a:rPr lang="fr-FR" sz="2000" dirty="0"/>
              <a:t>Le support des Managed Identities</a:t>
            </a:r>
          </a:p>
          <a:p>
            <a:pPr marL="457200" indent="-457200">
              <a:buFont typeface="+mj-lt"/>
              <a:buAutoNum type="arabicPeriod"/>
              <a:defRPr sz="2400"/>
            </a:pPr>
            <a:r>
              <a:rPr lang="fr-FR" sz="2000" dirty="0"/>
              <a:t>La possibilité de conserver plusieurs révisions actives simultanément</a:t>
            </a:r>
          </a:p>
          <a:p>
            <a:pPr marL="457200" indent="-457200">
              <a:buFont typeface="+mj-lt"/>
              <a:buAutoNum type="arabicPeriod"/>
              <a:defRPr sz="2400"/>
            </a:pPr>
            <a:r>
              <a:rPr lang="fr-FR" sz="2000" dirty="0"/>
              <a:t>Le support de Dapr</a:t>
            </a:r>
          </a:p>
          <a:p>
            <a:pPr marL="457200" indent="-457200">
              <a:buFont typeface="+mj-lt"/>
              <a:buAutoNum type="arabicPeriod"/>
              <a:defRPr sz="2400"/>
            </a:pPr>
            <a:r>
              <a:rPr lang="fr-FR" sz="2000" dirty="0"/>
              <a:t>Le support d'Azure Files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251205" y="4573302"/>
            <a:ext cx="8431481" cy="830997"/>
          </a:xfrm>
          <a:prstGeom prst="rect">
            <a:avLst/>
          </a:prstGeom>
          <a:noFill/>
        </p:spPr>
        <p:txBody>
          <a:bodyPr wrap="square">
            <a:spAutoFit/>
          </a:bodyPr>
          <a:lstStyle/>
          <a:p>
            <a:pPr>
              <a:defRPr sz="1600"/>
            </a:pPr>
            <a:r>
              <a:rPr dirty="0"/>
              <a:t>Le mode 'Multiple' permet à plusieurs révisions (versions figées) d'une même Container App de s'exécuter côte à côte en même temps. Cela offre la liberté technique d'allouer des quotas de trafic réseau distincts à chaque version via le contrôleur d'entrée (Ingress).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3406" y="226835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AKS, comment s'appelle l'unité minimale de déploiement contenant un ou plusieurs conteneurs ?</a:t>
            </a:r>
            <a:endParaRPr lang="fr-FR" sz="2000" dirty="0"/>
          </a:p>
          <a:p>
            <a:pPr marL="457200" indent="-457200">
              <a:buFont typeface="+mj-lt"/>
              <a:buAutoNum type="arabicPeriod"/>
              <a:defRPr sz="2400"/>
            </a:pPr>
            <a:r>
              <a:rPr lang="fr-FR" sz="2000" dirty="0"/>
              <a:t>Node</a:t>
            </a:r>
          </a:p>
          <a:p>
            <a:pPr marL="457200" indent="-457200">
              <a:buFont typeface="+mj-lt"/>
              <a:buAutoNum type="arabicPeriod"/>
              <a:defRPr sz="2400"/>
            </a:pPr>
            <a:r>
              <a:rPr lang="fr-FR" sz="2000" dirty="0"/>
              <a:t>Cluster</a:t>
            </a:r>
          </a:p>
          <a:p>
            <a:pPr marL="457200" indent="-457200">
              <a:buFont typeface="+mj-lt"/>
              <a:buAutoNum type="arabicPeriod"/>
              <a:defRPr sz="2400"/>
            </a:pPr>
            <a:r>
              <a:rPr lang="fr-FR" sz="2000" dirty="0"/>
              <a:t>Pod</a:t>
            </a:r>
          </a:p>
          <a:p>
            <a:pPr marL="457200" indent="-457200">
              <a:buFont typeface="+mj-lt"/>
              <a:buAutoNum type="arabicPeriod"/>
              <a:defRPr sz="2400"/>
            </a:pPr>
            <a:r>
              <a:rPr lang="fr-FR" sz="2000" dirty="0"/>
              <a:t>Replica Set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3657600" cy="914400"/>
          </a:xfrm>
          <a:prstGeom prst="rect">
            <a:avLst/>
          </a:prstGeom>
          <a:noFill/>
        </p:spPr>
        <p:txBody>
          <a:bodyPr wrap="none">
            <a:spAutoFit/>
          </a:bodyPr>
          <a:lstStyle/>
          <a:p>
            <a:pPr>
              <a:defRPr sz="1600"/>
            </a:pPr>
            <a:r>
              <a:rPr dirty="0"/>
              <a:t>Dans l'écosystème Kubernetes (et donc Azure Kubernetes Service), le Pod est le plus petit composant atomique de déploiement. Un Pod représente une instance d'un processus en cours d'exécution et encapsule un ou plusieurs conteneurs applicatifs qui partagent étroitement le même espace réseau (localhost) et les mêmes volumes de stockage.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3459" y="254107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outil est couramment utilisé pour déployer des applications dans Kubernetes via des packages réutilisables ?</a:t>
            </a:r>
            <a:endParaRPr lang="fr-FR" sz="2000" dirty="0"/>
          </a:p>
          <a:p>
            <a:pPr marL="457200" indent="-457200">
              <a:buFont typeface="+mj-lt"/>
              <a:buAutoNum type="arabicPeriod"/>
              <a:defRPr sz="2400"/>
            </a:pPr>
            <a:r>
              <a:rPr lang="fr-FR" sz="2000" dirty="0"/>
              <a:t>KEDA</a:t>
            </a:r>
          </a:p>
          <a:p>
            <a:pPr marL="457200" indent="-457200">
              <a:buFont typeface="+mj-lt"/>
              <a:buAutoNum type="arabicPeriod"/>
              <a:defRPr sz="2400"/>
            </a:pPr>
            <a:r>
              <a:rPr lang="fr-FR" sz="2000" dirty="0"/>
              <a:t>Helm</a:t>
            </a:r>
          </a:p>
          <a:p>
            <a:pPr marL="457200" indent="-457200">
              <a:buFont typeface="+mj-lt"/>
              <a:buAutoNum type="arabicPeriod"/>
              <a:defRPr sz="2400"/>
            </a:pPr>
            <a:r>
              <a:rPr lang="fr-FR" sz="2000" dirty="0"/>
              <a:t>Dapr</a:t>
            </a:r>
          </a:p>
          <a:p>
            <a:pPr marL="457200" indent="-457200">
              <a:buFont typeface="+mj-lt"/>
              <a:buAutoNum type="arabicPeriod"/>
              <a:defRPr sz="2400"/>
            </a:pPr>
            <a:r>
              <a:rPr lang="fr-FR" sz="2000" dirty="0"/>
              <a:t>Azure Monitor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203079" y="4947583"/>
            <a:ext cx="8259132" cy="1077218"/>
          </a:xfrm>
          <a:prstGeom prst="rect">
            <a:avLst/>
          </a:prstGeom>
          <a:noFill/>
        </p:spPr>
        <p:txBody>
          <a:bodyPr wrap="square">
            <a:spAutoFit/>
          </a:bodyPr>
          <a:lstStyle/>
          <a:p>
            <a:pPr>
              <a:defRPr sz="1600"/>
            </a:pPr>
            <a:r>
              <a:rPr dirty="0"/>
              <a:t>Helm est le gestionnaire de packages officiel pour Kubernetes (souvent décrit comme l'équivalent de NuGet pour .NET ou npm pour Node.js). Il permet de définir, installer, mettre à jour et versionner des applications Kubernetes complexes via des modèles de fichiers YAML réutilisables appelés 'Charts'.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1427" y="225632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4713-C5FF-DFCE-499C-CAB0BA12CD05}"/>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4E7C9EF-99E6-30CD-CAB0-299E95B28ADE}"/>
              </a:ext>
            </a:extLst>
          </p:cNvPr>
          <p:cNvSpPr>
            <a:spLocks noGrp="1"/>
          </p:cNvSpPr>
          <p:nvPr>
            <p:ph type="body" sz="quarter" idx="11"/>
          </p:nvPr>
        </p:nvSpPr>
        <p:spPr/>
        <p:txBody>
          <a:bodyPr/>
          <a:lstStyle/>
          <a:p>
            <a:r>
              <a:rPr lang="fr-FR" dirty="0"/>
              <a:t>Quizz 17</a:t>
            </a:r>
          </a:p>
        </p:txBody>
      </p:sp>
      <p:sp>
        <p:nvSpPr>
          <p:cNvPr id="3" name="Espace réservé du texte 2">
            <a:extLst>
              <a:ext uri="{FF2B5EF4-FFF2-40B4-BE49-F238E27FC236}">
                <a16:creationId xmlns:a16="http://schemas.microsoft.com/office/drawing/2014/main" id="{EB827BCC-2140-EBFB-B7DA-284BFAAC8015}"/>
              </a:ext>
            </a:extLst>
          </p:cNvPr>
          <p:cNvSpPr>
            <a:spLocks noGrp="1"/>
          </p:cNvSpPr>
          <p:nvPr>
            <p:ph type="body" sz="quarter" idx="12"/>
          </p:nvPr>
        </p:nvSpPr>
        <p:spPr>
          <a:xfrm>
            <a:off x="2604868" y="3501008"/>
            <a:ext cx="5624732" cy="1432560"/>
          </a:xfrm>
        </p:spPr>
        <p:txBody>
          <a:bodyPr/>
          <a:lstStyle/>
          <a:p>
            <a:r>
              <a:rPr lang="fr-FR" dirty="0"/>
              <a:t>Azure Messaging</a:t>
            </a:r>
          </a:p>
          <a:p>
            <a:r>
              <a:rPr lang="fr-FR" dirty="0"/>
              <a:t>Azure Event Hub</a:t>
            </a:r>
          </a:p>
          <a:p>
            <a:r>
              <a:rPr lang="fr-FR" dirty="0"/>
              <a:t>Azure Service Bus</a:t>
            </a:r>
          </a:p>
          <a:p>
            <a:endParaRPr lang="fr-FR" dirty="0"/>
          </a:p>
        </p:txBody>
      </p:sp>
    </p:spTree>
    <p:extLst>
      <p:ext uri="{BB962C8B-B14F-4D97-AF65-F5344CB8AC3E}">
        <p14:creationId xmlns:p14="http://schemas.microsoft.com/office/powerpoint/2010/main" val="2298287625"/>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principalement conçu pour implémenter un modèle Publish/Subscribe avec plusieurs consommateurs indépendants ?</a:t>
            </a:r>
            <a:endParaRPr lang="fr-FR" sz="2000" dirty="0"/>
          </a:p>
          <a:p>
            <a:pPr marL="457200" indent="-457200">
              <a:buFont typeface="+mj-lt"/>
              <a:buAutoNum type="arabicPeriod"/>
              <a:defRPr sz="2400"/>
            </a:pPr>
            <a:r>
              <a:rPr lang="fr-FR" sz="2000" dirty="0"/>
              <a:t>Azure Storage Queue</a:t>
            </a:r>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Blob Storage</a:t>
            </a:r>
          </a:p>
          <a:p>
            <a:pPr marL="457200" indent="-457200">
              <a:buFont typeface="+mj-lt"/>
              <a:buAutoNum type="arabicPeriod"/>
              <a:defRPr sz="2400"/>
            </a:pPr>
            <a:r>
              <a:rPr lang="fr-FR" sz="2000" dirty="0"/>
              <a:t>Azure Service Bus Topic</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6707058" cy="1323439"/>
          </a:xfrm>
          <a:prstGeom prst="rect">
            <a:avLst/>
          </a:prstGeom>
          <a:noFill/>
        </p:spPr>
        <p:txBody>
          <a:bodyPr wrap="square">
            <a:spAutoFit/>
          </a:bodyPr>
          <a:lstStyle/>
          <a:p>
            <a:pPr>
              <a:defRPr sz="1600"/>
            </a:pPr>
            <a:r>
              <a:rPr dirty="0"/>
              <a:t>Azure Service Bus Topic implémente nativement le </a:t>
            </a:r>
            <a:r>
              <a:rPr lang="fr-FR" dirty="0"/>
              <a:t>design pattern</a:t>
            </a:r>
            <a:r>
              <a:rPr dirty="0"/>
              <a:t> Publish/Subscribe : un message publié dans un Topic est copié vers chaque Subscription abonnée. Contrairement à une Queue (1 consommateur), un Topic diffuse à N abonnés indépendants, chacun recevant sa propre copie du message.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5491" y="284587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Azure Service Bus, quel composant reçoit les messages publiés dans un Topic ?</a:t>
            </a:r>
            <a:endParaRPr lang="fr-FR" sz="2000" dirty="0"/>
          </a:p>
          <a:p>
            <a:pPr marL="457200" indent="-457200">
              <a:buFont typeface="+mj-lt"/>
              <a:buAutoNum type="arabicPeriod"/>
              <a:defRPr sz="2400"/>
            </a:pPr>
            <a:r>
              <a:rPr lang="fr-FR" sz="2000" dirty="0"/>
              <a:t>Partition</a:t>
            </a:r>
          </a:p>
          <a:p>
            <a:pPr marL="457200" indent="-457200">
              <a:buFont typeface="+mj-lt"/>
              <a:buAutoNum type="arabicPeriod"/>
              <a:defRPr sz="2400"/>
            </a:pPr>
            <a:r>
              <a:rPr lang="fr-FR" sz="2000" dirty="0"/>
              <a:t>Consumer Group</a:t>
            </a:r>
          </a:p>
          <a:p>
            <a:pPr marL="457200" indent="-457200">
              <a:buFont typeface="+mj-lt"/>
              <a:buAutoNum type="arabicPeriod"/>
              <a:defRPr sz="2400"/>
            </a:pPr>
            <a:r>
              <a:rPr lang="fr-FR" sz="2000" dirty="0"/>
              <a:t>Subscription</a:t>
            </a:r>
          </a:p>
          <a:p>
            <a:pPr marL="457200" indent="-457200">
              <a:buFont typeface="+mj-lt"/>
              <a:buAutoNum type="arabicPeriod"/>
              <a:defRPr sz="2400"/>
            </a:pPr>
            <a:r>
              <a:rPr lang="fr-FR" sz="2000" dirty="0"/>
              <a:t>Checkpoint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7264521" cy="1077218"/>
          </a:xfrm>
          <a:prstGeom prst="rect">
            <a:avLst/>
          </a:prstGeom>
          <a:noFill/>
        </p:spPr>
        <p:txBody>
          <a:bodyPr wrap="square">
            <a:spAutoFit/>
          </a:bodyPr>
          <a:lstStyle/>
          <a:p>
            <a:pPr>
              <a:defRPr sz="1600"/>
            </a:pPr>
            <a:r>
              <a:rPr dirty="0"/>
              <a:t>Les messages envoyés à un Topic sont distribués vers une ou plusieurs Subscriptions. Chaque Subscription agit comme une file virtuelle indépendante avec sa propre règle de filtrage et son propre curseur de lecture, permettant à des consommateurs distincts de traiter les mêmes messages différemment.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29343" y="257315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le plus adapté à l'ingestion de millions d'événements par seconde provenant d'objets connectés ?</a:t>
            </a:r>
            <a:endParaRPr lang="fr-FR" sz="2000" dirty="0"/>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Storage Queue</a:t>
            </a:r>
          </a:p>
          <a:p>
            <a:pPr marL="457200" indent="-457200">
              <a:buFont typeface="+mj-lt"/>
              <a:buAutoNum type="arabicPeriod"/>
              <a:defRPr sz="2400"/>
            </a:pPr>
            <a:r>
              <a:rPr lang="fr-FR" sz="2000" dirty="0"/>
              <a:t>Azure App Configuration</a:t>
            </a:r>
          </a:p>
          <a:p>
            <a:pPr marL="457200" indent="-457200">
              <a:buFont typeface="+mj-lt"/>
              <a:buAutoNum type="arabicPeriod"/>
              <a:defRPr sz="2400"/>
            </a:pPr>
            <a:r>
              <a:rPr lang="fr-FR" sz="2000" dirty="0"/>
              <a:t>Azure Event Hub</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6763205" cy="1077218"/>
          </a:xfrm>
          <a:prstGeom prst="rect">
            <a:avLst/>
          </a:prstGeom>
          <a:noFill/>
        </p:spPr>
        <p:txBody>
          <a:bodyPr wrap="square">
            <a:spAutoFit/>
          </a:bodyPr>
          <a:lstStyle/>
          <a:p>
            <a:pPr>
              <a:defRPr sz="1600"/>
            </a:pPr>
            <a:r>
              <a:rPr dirty="0"/>
              <a:t>Azure Event Hub est conçu pour le streaming d'événements à très grande échelle. Il peut ingérer des millions d'événements par seconde grâce à ses partitions parallèles et à son architecture de type journal. C'est le service de choix pour les scénarios IoT, télémétrie et big data en temps réel.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89800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d'Azure Service Bus permet d'éviter le traitement d'un même message envoyé plusieurs fois ?</a:t>
            </a:r>
            <a:endParaRPr lang="fr-FR" sz="2000" dirty="0"/>
          </a:p>
          <a:p>
            <a:pPr marL="457200" indent="-457200">
              <a:buFont typeface="+mj-lt"/>
              <a:buAutoNum type="arabicPeriod"/>
              <a:defRPr sz="2400"/>
            </a:pPr>
            <a:r>
              <a:rPr lang="fr-FR" sz="2000" dirty="0"/>
              <a:t>Geo-Replication</a:t>
            </a:r>
          </a:p>
          <a:p>
            <a:pPr marL="457200" indent="-457200">
              <a:buFont typeface="+mj-lt"/>
              <a:buAutoNum type="arabicPeriod"/>
              <a:defRPr sz="2400"/>
            </a:pPr>
            <a:r>
              <a:rPr lang="fr-FR" sz="2000" dirty="0"/>
              <a:t>Consumer Groups</a:t>
            </a:r>
          </a:p>
          <a:p>
            <a:pPr marL="457200" indent="-457200">
              <a:buFont typeface="+mj-lt"/>
              <a:buAutoNum type="arabicPeriod"/>
              <a:defRPr sz="2400"/>
            </a:pPr>
            <a:r>
              <a:rPr lang="fr-FR" sz="2000" dirty="0"/>
              <a:t>Duplicate Detection</a:t>
            </a:r>
          </a:p>
          <a:p>
            <a:pPr marL="457200" indent="-457200">
              <a:buFont typeface="+mj-lt"/>
              <a:buAutoNum type="arabicPeriod"/>
              <a:defRPr sz="2400"/>
            </a:pPr>
            <a:r>
              <a:rPr lang="fr-FR" sz="2000" dirty="0"/>
              <a:t>Checkpointing</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278903" y="4923673"/>
            <a:ext cx="7986791" cy="1077218"/>
          </a:xfrm>
          <a:prstGeom prst="rect">
            <a:avLst/>
          </a:prstGeom>
          <a:noFill/>
        </p:spPr>
        <p:txBody>
          <a:bodyPr wrap="square">
            <a:spAutoFit/>
          </a:bodyPr>
          <a:lstStyle/>
          <a:p>
            <a:pPr>
              <a:defRPr sz="1600"/>
            </a:pPr>
            <a:r>
              <a:rPr dirty="0"/>
              <a:t>Duplicate Detection permet de rejeter automatiquement les doublons en s'appuyant sur le MessageId. Sur une fenêtre de temps configurable (jusqu'à 7 jours), Service Bus conserve un historique des MessageId reçus et ignore silencieusement tout message dont l'identifiant a déjà été traité.</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5310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fournit un support natif des transactions sur les messages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Storage Queue</a:t>
            </a:r>
          </a:p>
          <a:p>
            <a:pPr marL="457200" indent="-457200">
              <a:buFont typeface="+mj-lt"/>
              <a:buAutoNum type="arabicPeriod"/>
              <a:defRPr sz="2400"/>
            </a:pPr>
            <a:r>
              <a:rPr lang="fr-FR" sz="2000" dirty="0"/>
              <a:t>Azure Event Grid</a:t>
            </a:r>
          </a:p>
          <a:p>
            <a:pPr marL="457200" indent="-457200">
              <a:buFont typeface="+mj-lt"/>
              <a:buAutoNum type="arabicPeriod"/>
              <a:defRPr sz="2400"/>
            </a:pPr>
            <a:r>
              <a:rPr lang="fr-FR" sz="2000" dirty="0"/>
              <a:t>Azure Service Bus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324679" cy="1323439"/>
          </a:xfrm>
          <a:prstGeom prst="rect">
            <a:avLst/>
          </a:prstGeom>
          <a:noFill/>
        </p:spPr>
        <p:txBody>
          <a:bodyPr wrap="square">
            <a:spAutoFit/>
          </a:bodyPr>
          <a:lstStyle/>
          <a:p>
            <a:pPr>
              <a:defRPr sz="1600"/>
            </a:pPr>
            <a:r>
              <a:rPr dirty="0"/>
              <a:t>Azure Service Bus prend en charge les transactions impliquant plusieurs opérations de messagerie. Dans une transaction, plusieurs envois ou réceptions (sur des Queues ou Topics différents du même namespace) sont atomiques : toutes les opérations réussissent ou aucune n'est appliquée. Event Hub, Storage Queue et Event Grid ne proposent pas ce mécanisme.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5438" y="255711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concept d'Azure Event Hub permet à plusieurs applications de lire indépendamment le même flux d'événements ?</a:t>
            </a:r>
            <a:endParaRPr lang="fr-FR" sz="2000" dirty="0"/>
          </a:p>
          <a:p>
            <a:pPr marL="457200" indent="-457200">
              <a:buFont typeface="+mj-lt"/>
              <a:buAutoNum type="arabicPeriod"/>
              <a:defRPr sz="2400"/>
            </a:pPr>
            <a:r>
              <a:rPr lang="fr-FR" sz="2000" dirty="0"/>
              <a:t>Subscriptions</a:t>
            </a:r>
          </a:p>
          <a:p>
            <a:pPr marL="457200" indent="-457200">
              <a:buFont typeface="+mj-lt"/>
              <a:buAutoNum type="arabicPeriod"/>
              <a:defRPr sz="2400"/>
            </a:pPr>
            <a:r>
              <a:rPr lang="fr-FR" sz="2000" dirty="0"/>
              <a:t>Topics</a:t>
            </a:r>
          </a:p>
          <a:p>
            <a:pPr marL="457200" indent="-457200">
              <a:buFont typeface="+mj-lt"/>
              <a:buAutoNum type="arabicPeriod"/>
              <a:defRPr sz="2400"/>
            </a:pPr>
            <a:r>
              <a:rPr lang="fr-FR" sz="2000" dirty="0"/>
              <a:t>Consumer Groups</a:t>
            </a:r>
          </a:p>
          <a:p>
            <a:pPr marL="457200" indent="-457200">
              <a:buFont typeface="+mj-lt"/>
              <a:buAutoNum type="arabicPeriod"/>
              <a:defRPr sz="2400"/>
            </a:pPr>
            <a:r>
              <a:rPr lang="fr-FR" sz="2000" dirty="0"/>
              <a:t>Dead-letter Queues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6887531" cy="1323439"/>
          </a:xfrm>
          <a:prstGeom prst="rect">
            <a:avLst/>
          </a:prstGeom>
          <a:noFill/>
        </p:spPr>
        <p:txBody>
          <a:bodyPr wrap="square">
            <a:spAutoFit/>
          </a:bodyPr>
          <a:lstStyle/>
          <a:p>
            <a:pPr>
              <a:defRPr sz="1600"/>
            </a:pPr>
            <a:r>
              <a:rPr dirty="0"/>
              <a:t>Chaque Consumer Group maintient sa propre position de lecture (offset) dans le flux. Deux applications appartenant à des Consumer Groups distincts peuvent ainsi lire le même Event Hub de façon totalement indépendante, à leur propre rythme, sans interférer l'une avec l'autre. C'est l'équivalent Event Hub des Subscriptions de Service Bus Topic.</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5" y="251299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est le plus adapté pour une communication fiable entre applications métier nécessitant un traitement garanti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CDN</a:t>
            </a:r>
          </a:p>
          <a:p>
            <a:pPr marL="457200" indent="-457200">
              <a:buFont typeface="+mj-lt"/>
              <a:buAutoNum type="arabicPeriod"/>
              <a:defRPr sz="2400"/>
            </a:pPr>
            <a:r>
              <a:rPr lang="fr-FR" sz="2000" dirty="0"/>
              <a:t>Azure Front Door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6606795" cy="1323439"/>
          </a:xfrm>
          <a:prstGeom prst="rect">
            <a:avLst/>
          </a:prstGeom>
          <a:noFill/>
        </p:spPr>
        <p:txBody>
          <a:bodyPr wrap="square">
            <a:spAutoFit/>
          </a:bodyPr>
          <a:lstStyle/>
          <a:p>
            <a:pPr>
              <a:defRPr sz="1600"/>
            </a:pPr>
            <a:r>
              <a:rPr dirty="0"/>
              <a:t>Service Bus Queue offre des garanties fortes de livraison et de traitement : mode PeekLock pour le traitement au moins une fois, Dead-letter Queue pour les messages non traités, sessions pour l'ordonnancement FIFO, et support des transactions. C'est la solution de référence pour les workflows métier critiques nécessitant une fiabilité maximale.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7365" y="225231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de Service Bus permet de conserver l'ordre des messages liés à une même conversation ?</a:t>
            </a:r>
            <a:endParaRPr lang="fr-FR" sz="2000" dirty="0"/>
          </a:p>
          <a:p>
            <a:pPr marL="457200" indent="-457200">
              <a:buFont typeface="+mj-lt"/>
              <a:buAutoNum type="arabicPeriod"/>
              <a:defRPr sz="2400"/>
            </a:pPr>
            <a:r>
              <a:rPr lang="fr-FR" sz="2000" dirty="0"/>
              <a:t>Sessions</a:t>
            </a:r>
          </a:p>
          <a:p>
            <a:pPr marL="457200" indent="-457200">
              <a:buFont typeface="+mj-lt"/>
              <a:buAutoNum type="arabicPeriod"/>
              <a:defRPr sz="2400"/>
            </a:pPr>
            <a:r>
              <a:rPr lang="fr-FR" sz="2000" dirty="0"/>
              <a:t>Partitions</a:t>
            </a:r>
          </a:p>
          <a:p>
            <a:pPr marL="457200" indent="-457200">
              <a:buFont typeface="+mj-lt"/>
              <a:buAutoNum type="arabicPeriod"/>
              <a:defRPr sz="2400"/>
            </a:pPr>
            <a:r>
              <a:rPr lang="fr-FR" sz="2000" dirty="0"/>
              <a:t>Consumer Groups</a:t>
            </a:r>
          </a:p>
          <a:p>
            <a:pPr marL="457200" indent="-457200">
              <a:buFont typeface="+mj-lt"/>
              <a:buAutoNum type="arabicPeriod"/>
              <a:defRPr sz="2400"/>
            </a:pPr>
            <a:r>
              <a:rPr lang="fr-FR" sz="2000" dirty="0"/>
              <a:t>Checkpoints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6755184" cy="1323439"/>
          </a:xfrm>
          <a:prstGeom prst="rect">
            <a:avLst/>
          </a:prstGeom>
          <a:noFill/>
        </p:spPr>
        <p:txBody>
          <a:bodyPr wrap="square">
            <a:spAutoFit/>
          </a:bodyPr>
          <a:lstStyle/>
          <a:p>
            <a:pPr>
              <a:defRPr sz="1600"/>
            </a:pPr>
            <a:r>
              <a:rPr dirty="0"/>
              <a:t>Les Sessions permettent le traitement ordonné de messages associés via un SessionId commun. Tous les messages d'une même session sont assignés à un seul consommateur à la fois, qui les traite dans l'ordre FIFO. C'est indispensable pour des workflows avec état (ex : étapes d'une commande) ou des conversations entre entités.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Azure Service Bus Topic, où configure-t-on les règles de filtrage des messages ?</a:t>
            </a:r>
            <a:endParaRPr lang="fr-FR" sz="2000" dirty="0"/>
          </a:p>
          <a:p>
            <a:pPr marL="457200" indent="-457200">
              <a:buFont typeface="+mj-lt"/>
              <a:buAutoNum type="arabicPeriod"/>
              <a:defRPr sz="2400"/>
            </a:pPr>
            <a:r>
              <a:rPr lang="fr-FR" sz="2000" dirty="0"/>
              <a:t>Sur les Topics</a:t>
            </a:r>
          </a:p>
          <a:p>
            <a:pPr marL="457200" indent="-457200">
              <a:buFont typeface="+mj-lt"/>
              <a:buAutoNum type="arabicPeriod"/>
              <a:defRPr sz="2400"/>
            </a:pPr>
            <a:r>
              <a:rPr lang="fr-FR" sz="2000" dirty="0"/>
              <a:t>Sur les Queues</a:t>
            </a:r>
          </a:p>
          <a:p>
            <a:pPr marL="457200" indent="-457200">
              <a:buFont typeface="+mj-lt"/>
              <a:buAutoNum type="arabicPeriod"/>
              <a:defRPr sz="2400"/>
            </a:pPr>
            <a:r>
              <a:rPr lang="fr-FR" sz="2000" dirty="0"/>
              <a:t>Sur les Subscriptions</a:t>
            </a:r>
          </a:p>
          <a:p>
            <a:pPr marL="457200" indent="-457200">
              <a:buFont typeface="+mj-lt"/>
              <a:buAutoNum type="arabicPeriod"/>
              <a:defRPr sz="2400"/>
            </a:pPr>
            <a:r>
              <a:rPr lang="fr-FR" sz="2000" dirty="0"/>
              <a:t>Sur les Namespaces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6422310" cy="1323439"/>
          </a:xfrm>
          <a:prstGeom prst="rect">
            <a:avLst/>
          </a:prstGeom>
          <a:noFill/>
        </p:spPr>
        <p:txBody>
          <a:bodyPr wrap="square">
            <a:spAutoFit/>
          </a:bodyPr>
          <a:lstStyle/>
          <a:p>
            <a:pPr>
              <a:defRPr sz="1600"/>
            </a:pPr>
            <a:r>
              <a:rPr dirty="0"/>
              <a:t>Chaque Subscription peut posséder ses propres filtres SQL ou Correlation. Un filtre SQL évalue les propriétés d'application du message (ex : Region = 'Europe'), tandis qu'un filtre Correlation compare des propriétés prédéfinies. Les messages ne correspondant à aucun filtre actif ne sont pas transmis à la Subscription concernée.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1427" y="252503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conserve les événements pendant une durée de rétention configurable afin qu'ils puissent être relus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Logic Apps</a:t>
            </a:r>
          </a:p>
          <a:p>
            <a:pPr marL="457200" indent="-457200">
              <a:buFont typeface="+mj-lt"/>
              <a:buAutoNum type="arabicPeriod"/>
              <a:defRPr sz="2400"/>
            </a:pPr>
            <a:r>
              <a:rPr lang="fr-FR" sz="2000" dirty="0"/>
              <a:t>Azure App Service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6" y="4930239"/>
            <a:ext cx="7204363" cy="1077218"/>
          </a:xfrm>
          <a:prstGeom prst="rect">
            <a:avLst/>
          </a:prstGeom>
          <a:noFill/>
        </p:spPr>
        <p:txBody>
          <a:bodyPr wrap="square">
            <a:spAutoFit/>
          </a:bodyPr>
          <a:lstStyle/>
          <a:p>
            <a:pPr>
              <a:defRPr sz="1600"/>
            </a:pPr>
            <a:r>
              <a:rPr dirty="0"/>
              <a:t>Event Hub stocke les événements selon une durée de rétention configurable (1 à 90 jours selon le tier). Contrairement à Service Bus Queue où le message est supprimé après traitement, les événements Event Hub persistent et peuvent être relus par n'importe quel Consumer Group, y compris depuis le début du flux.</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permet à un consommateur Event Hub de reprendre sa lecture après un redémarrage ?</a:t>
            </a:r>
            <a:endParaRPr lang="fr-FR" sz="2000" dirty="0"/>
          </a:p>
          <a:p>
            <a:pPr marL="457200" indent="-457200">
              <a:buFont typeface="+mj-lt"/>
              <a:buAutoNum type="arabicPeriod"/>
              <a:defRPr sz="2400"/>
            </a:pPr>
            <a:r>
              <a:rPr lang="fr-FR" sz="2000" dirty="0"/>
              <a:t>Dead-letter Queue</a:t>
            </a:r>
          </a:p>
          <a:p>
            <a:pPr marL="457200" indent="-457200">
              <a:buFont typeface="+mj-lt"/>
              <a:buAutoNum type="arabicPeriod"/>
              <a:defRPr sz="2400"/>
            </a:pPr>
            <a:r>
              <a:rPr lang="fr-FR" sz="2000" dirty="0"/>
              <a:t>Checkpoint</a:t>
            </a:r>
          </a:p>
          <a:p>
            <a:pPr marL="457200" indent="-457200">
              <a:buFont typeface="+mj-lt"/>
              <a:buAutoNum type="arabicPeriod"/>
              <a:defRPr sz="2400"/>
            </a:pPr>
            <a:r>
              <a:rPr lang="fr-FR" sz="2000" dirty="0"/>
              <a:t>Subscription</a:t>
            </a:r>
          </a:p>
          <a:p>
            <a:pPr marL="457200" indent="-457200">
              <a:buFont typeface="+mj-lt"/>
              <a:buAutoNum type="arabicPeriod"/>
              <a:defRPr sz="2400"/>
            </a:pPr>
            <a:r>
              <a:rPr lang="fr-FR" sz="2000" dirty="0"/>
              <a:t>ForwardTo</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689637" cy="1077218"/>
          </a:xfrm>
          <a:prstGeom prst="rect">
            <a:avLst/>
          </a:prstGeom>
          <a:noFill/>
        </p:spPr>
        <p:txBody>
          <a:bodyPr wrap="square">
            <a:spAutoFit/>
          </a:bodyPr>
          <a:lstStyle/>
          <a:p>
            <a:pPr>
              <a:defRPr sz="1600"/>
            </a:pPr>
            <a:r>
              <a:rPr dirty="0"/>
              <a:t>Les Checkpoints enregistrent la position (offset) de lecture dans le flux pour chaque partition. Lors d'un redémarrage, le consommateur relit son dernier checkpoint depuis le Checkpoint Store (généralement Azure Blob Storage) et reprend exactement là où il s'était arrêté, évitant le retraitement ou la perte d'événements.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4" y="226835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protocole est couramment utilisé par Azure Service Bus ?</a:t>
            </a:r>
            <a:endParaRPr lang="fr-FR" sz="2000" dirty="0"/>
          </a:p>
          <a:p>
            <a:pPr marL="457200" indent="-457200">
              <a:buFont typeface="+mj-lt"/>
              <a:buAutoNum type="arabicPeriod"/>
              <a:defRPr sz="2400"/>
            </a:pPr>
            <a:r>
              <a:rPr lang="fr-FR" sz="2000" dirty="0"/>
              <a:t>SMTP</a:t>
            </a:r>
          </a:p>
          <a:p>
            <a:pPr marL="457200" indent="-457200">
              <a:buFont typeface="+mj-lt"/>
              <a:buAutoNum type="arabicPeriod"/>
              <a:defRPr sz="2400"/>
            </a:pPr>
            <a:r>
              <a:rPr lang="fr-FR" sz="2000" dirty="0"/>
              <a:t>FTP</a:t>
            </a:r>
          </a:p>
          <a:p>
            <a:pPr marL="457200" indent="-457200">
              <a:buFont typeface="+mj-lt"/>
              <a:buAutoNum type="arabicPeriod"/>
              <a:defRPr sz="2400"/>
            </a:pPr>
            <a:r>
              <a:rPr lang="fr-FR" sz="2000" dirty="0"/>
              <a:t>AMQP</a:t>
            </a:r>
          </a:p>
          <a:p>
            <a:pPr marL="457200" indent="-457200">
              <a:buFont typeface="+mj-lt"/>
              <a:buAutoNum type="arabicPeriod"/>
              <a:defRPr sz="2400"/>
            </a:pPr>
            <a:r>
              <a:rPr lang="fr-FR" sz="2000" dirty="0"/>
              <a:t>SNMP</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278904" y="4930239"/>
            <a:ext cx="7906580" cy="1077218"/>
          </a:xfrm>
          <a:prstGeom prst="rect">
            <a:avLst/>
          </a:prstGeom>
          <a:noFill/>
        </p:spPr>
        <p:txBody>
          <a:bodyPr wrap="square">
            <a:spAutoFit/>
          </a:bodyPr>
          <a:lstStyle/>
          <a:p>
            <a:pPr>
              <a:defRPr sz="1600"/>
            </a:pPr>
            <a:r>
              <a:rPr dirty="0"/>
              <a:t>AMQP (Advanced Message Queuing Protocol) est le protocole principal utilisé par Azure Service Bus. Il s'agit d'un protocole ouvert et standardisé (ISO/IEC 19464) optimisé pour la messagerie fiable. Service Bus supporte aussi HTTPS pour les scénarios où AMQP est bloqué par des pare-feux, mais AMQP reste recommandé pour ses performances.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6033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permet le routage d'événements métier vers plusieurs systèmes avec des filtres avancés ?</a:t>
            </a:r>
            <a:endParaRPr lang="fr-FR" sz="2000" dirty="0"/>
          </a:p>
          <a:p>
            <a:pPr marL="457200" indent="-457200">
              <a:buFont typeface="+mj-lt"/>
              <a:buAutoNum type="arabicPeriod"/>
              <a:defRPr sz="2400"/>
            </a:pPr>
            <a:r>
              <a:rPr lang="fr-FR" sz="2000" dirty="0"/>
              <a:t>Azure File Share</a:t>
            </a:r>
          </a:p>
          <a:p>
            <a:pPr marL="457200" indent="-457200">
              <a:buFont typeface="+mj-lt"/>
              <a:buAutoNum type="arabicPeriod"/>
              <a:defRPr sz="2400"/>
            </a:pPr>
            <a:r>
              <a:rPr lang="fr-FR" sz="2000" dirty="0"/>
              <a:t>Azure Table Storage</a:t>
            </a:r>
          </a:p>
          <a:p>
            <a:pPr marL="457200" indent="-457200">
              <a:buFont typeface="+mj-lt"/>
              <a:buAutoNum type="arabicPeriod"/>
              <a:defRPr sz="2400"/>
            </a:pPr>
            <a:r>
              <a:rPr lang="fr-FR" sz="2000" dirty="0"/>
              <a:t>Azure Disk Storage</a:t>
            </a:r>
          </a:p>
          <a:p>
            <a:pPr marL="457200" indent="-457200">
              <a:buFont typeface="+mj-lt"/>
              <a:buAutoNum type="arabicPeriod"/>
              <a:defRPr sz="2400"/>
            </a:pPr>
            <a:r>
              <a:rPr lang="fr-FR" sz="2000" dirty="0"/>
              <a:t>Azure Service Bus Topic</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7132174" cy="1323439"/>
          </a:xfrm>
          <a:prstGeom prst="rect">
            <a:avLst/>
          </a:prstGeom>
          <a:noFill/>
        </p:spPr>
        <p:txBody>
          <a:bodyPr wrap="square">
            <a:spAutoFit/>
          </a:bodyPr>
          <a:lstStyle/>
          <a:p>
            <a:pPr>
              <a:defRPr sz="1600"/>
            </a:pPr>
            <a:r>
              <a:rPr dirty="0"/>
              <a:t>Les Topics et Subscriptions Service Bus permettent un routage très flexible grâce aux filtres SQL et Correlation. Chaque Subscription reçoit uniquement les messages correspondant à ses critères de filtrage. Ce mécanisme est idéal pour distribuer des événements métier (ex : commandes, factures) vers des systèmes spécialisés selon leur contenu.</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284988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mécanisme Service Bus est utilisé pour isoler les messages qui ne peuvent pas être traités ?</a:t>
            </a:r>
            <a:endParaRPr lang="fr-FR" sz="2000" dirty="0"/>
          </a:p>
          <a:p>
            <a:pPr marL="457200" indent="-457200">
              <a:buFont typeface="+mj-lt"/>
              <a:buAutoNum type="arabicPeriod"/>
              <a:defRPr sz="2400"/>
            </a:pPr>
            <a:r>
              <a:rPr lang="fr-FR" sz="2000" dirty="0"/>
              <a:t>Consumer Group</a:t>
            </a:r>
          </a:p>
          <a:p>
            <a:pPr marL="457200" indent="-457200">
              <a:buFont typeface="+mj-lt"/>
              <a:buAutoNum type="arabicPeriod"/>
              <a:defRPr sz="2400"/>
            </a:pPr>
            <a:r>
              <a:rPr lang="fr-FR" sz="2000" dirty="0"/>
              <a:t>Checkpoint</a:t>
            </a:r>
          </a:p>
          <a:p>
            <a:pPr marL="457200" indent="-457200">
              <a:buFont typeface="+mj-lt"/>
              <a:buAutoNum type="arabicPeriod"/>
              <a:defRPr sz="2400"/>
            </a:pPr>
            <a:r>
              <a:rPr lang="fr-FR" sz="2000" dirty="0"/>
              <a:t>Dead-letter Queue</a:t>
            </a:r>
          </a:p>
          <a:p>
            <a:pPr marL="457200" indent="-457200">
              <a:buFont typeface="+mj-lt"/>
              <a:buAutoNum type="arabicPeriod"/>
              <a:defRPr sz="2400"/>
            </a:pPr>
            <a:r>
              <a:rPr lang="fr-FR" sz="2000" dirty="0"/>
              <a:t>Partition</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700644" y="4930239"/>
            <a:ext cx="7456767" cy="1323439"/>
          </a:xfrm>
          <a:prstGeom prst="rect">
            <a:avLst/>
          </a:prstGeom>
          <a:noFill/>
        </p:spPr>
        <p:txBody>
          <a:bodyPr wrap="square">
            <a:spAutoFit/>
          </a:bodyPr>
          <a:lstStyle/>
          <a:p>
            <a:pPr>
              <a:defRPr sz="1600"/>
            </a:pPr>
            <a:r>
              <a:rPr dirty="0"/>
              <a:t>Les messages problématiques sont déplacés vers la Dead-letter Queue (DLQ), une sous-file spéciale attachée à chaque Queue ou Subscription. Un message y est routé automatiquement après dépassement du nombre maximal de tentatives, expiration du TTL, ou rejet explicite. La DLQ permet d'analyser et retraiter les messages en erreur sans bloquer le flux principal.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5490" y="260122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généralement utilisé pour la télémétrie, les logs et les données IoT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Queue Storage</a:t>
            </a:r>
          </a:p>
          <a:p>
            <a:pPr marL="457200" indent="-457200">
              <a:buFont typeface="+mj-lt"/>
              <a:buAutoNum type="arabicPeriod"/>
              <a:defRPr sz="2400"/>
            </a:pPr>
            <a:r>
              <a:rPr lang="fr-FR" sz="2000" dirty="0"/>
              <a:t>Azure Notification Hub</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359488" y="4612875"/>
            <a:ext cx="7946311" cy="1077218"/>
          </a:xfrm>
          <a:prstGeom prst="rect">
            <a:avLst/>
          </a:prstGeom>
          <a:noFill/>
        </p:spPr>
        <p:txBody>
          <a:bodyPr wrap="square">
            <a:spAutoFit/>
          </a:bodyPr>
          <a:lstStyle/>
          <a:p>
            <a:pPr>
              <a:defRPr sz="1600"/>
            </a:pPr>
            <a:r>
              <a:rPr dirty="0"/>
              <a:t>Event Hub est optimisé pour les flux de données massifs non structurés ou semi-structurés comme la télémétrie applicative, les logs système et les capteurs IoT. Son architecture partitionnée et son protocole AMQP/HTTPS lui permettent d'absorber des pics d'ingestion très élevés, là où Service Bus serait rapidement saturé par ce volume.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Service Bus permet à un message d'être automatiquement redirigé vers une autre entité ?</a:t>
            </a:r>
            <a:endParaRPr lang="fr-FR" sz="2000" dirty="0"/>
          </a:p>
          <a:p>
            <a:pPr marL="457200" indent="-457200">
              <a:buFont typeface="+mj-lt"/>
              <a:buAutoNum type="arabicPeriod"/>
              <a:defRPr sz="2400"/>
            </a:pPr>
            <a:r>
              <a:rPr lang="fr-FR" sz="2000" dirty="0"/>
              <a:t>Auto Forwarding</a:t>
            </a:r>
          </a:p>
          <a:p>
            <a:pPr marL="457200" indent="-457200">
              <a:buFont typeface="+mj-lt"/>
              <a:buAutoNum type="arabicPeriod"/>
              <a:defRPr sz="2400"/>
            </a:pPr>
            <a:r>
              <a:rPr lang="fr-FR" sz="2000" dirty="0"/>
              <a:t>Checkpointing</a:t>
            </a:r>
          </a:p>
          <a:p>
            <a:pPr marL="457200" indent="-457200">
              <a:buFont typeface="+mj-lt"/>
              <a:buAutoNum type="arabicPeriod"/>
              <a:defRPr sz="2400"/>
            </a:pPr>
            <a:r>
              <a:rPr lang="fr-FR" sz="2000" dirty="0"/>
              <a:t>Geo Recovery</a:t>
            </a:r>
          </a:p>
          <a:p>
            <a:pPr marL="457200" indent="-457200">
              <a:buFont typeface="+mj-lt"/>
              <a:buAutoNum type="arabicPeriod"/>
              <a:defRPr sz="2400"/>
            </a:pPr>
            <a:r>
              <a:rPr lang="fr-FR" sz="2000" dirty="0"/>
              <a:t>Partitioning</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200352" cy="1323439"/>
          </a:xfrm>
          <a:prstGeom prst="rect">
            <a:avLst/>
          </a:prstGeom>
          <a:noFill/>
        </p:spPr>
        <p:txBody>
          <a:bodyPr wrap="square">
            <a:spAutoFit/>
          </a:bodyPr>
          <a:lstStyle/>
          <a:p>
            <a:pPr>
              <a:defRPr sz="1600"/>
            </a:pPr>
            <a:r>
              <a:rPr dirty="0"/>
              <a:t>Auto Forwarding permet d'enchaîner Topics et Queues automatiquement. Une Subscription ou une Queue peut être configurée pour transférer ses messages vers une autre Queue ou Topic du même namespace, sans intervention du consommateur. Cela facilite la construction de topologies de routage complexes en cascade.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9396"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17</a:t>
            </a:r>
          </a:p>
        </p:txBody>
      </p:sp>
      <p:sp>
        <p:nvSpPr>
          <p:cNvPr id="3" name="TextBox 2"/>
          <p:cNvSpPr txBox="1"/>
          <p:nvPr/>
        </p:nvSpPr>
        <p:spPr>
          <a:xfrm>
            <a:off x="467096" y="1324006"/>
            <a:ext cx="8431481" cy="2308324"/>
          </a:xfrm>
          <a:prstGeom prst="rect">
            <a:avLst/>
          </a:prstGeom>
          <a:noFill/>
        </p:spPr>
        <p:txBody>
          <a:bodyPr wrap="square">
            <a:spAutoFit/>
          </a:bodyPr>
          <a:lstStyle/>
          <a:p>
            <a:pPr>
              <a:defRPr sz="2400"/>
            </a:pPr>
            <a:r>
              <a:rPr sz="2000" dirty="0"/>
              <a:t>Quel niveau de service Service Bus est requis pour utiliser les Sessions et les Transactions ?</a:t>
            </a:r>
            <a:r>
              <a:rPr lang="fr-FR" sz="2000" dirty="0"/>
              <a:t> (Plusieurs réponses possibles)</a:t>
            </a:r>
          </a:p>
          <a:p>
            <a:pPr marL="457200" indent="-457200">
              <a:buFont typeface="+mj-lt"/>
              <a:buAutoNum type="arabicPeriod"/>
              <a:defRPr sz="2400"/>
            </a:pPr>
            <a:r>
              <a:rPr lang="fr-FR" sz="2000" dirty="0"/>
              <a:t>Basic</a:t>
            </a:r>
          </a:p>
          <a:p>
            <a:pPr marL="457200" indent="-457200">
              <a:buFont typeface="+mj-lt"/>
              <a:buAutoNum type="arabicPeriod"/>
              <a:defRPr sz="2400"/>
            </a:pPr>
            <a:r>
              <a:rPr lang="fr-FR" sz="2000" dirty="0"/>
              <a:t>Standard</a:t>
            </a:r>
          </a:p>
          <a:p>
            <a:pPr marL="457200" indent="-457200">
              <a:buFont typeface="+mj-lt"/>
              <a:buAutoNum type="arabicPeriod"/>
              <a:defRPr sz="2400"/>
            </a:pPr>
            <a:r>
              <a:rPr lang="fr-FR" sz="2000" dirty="0"/>
              <a:t>Premium</a:t>
            </a:r>
          </a:p>
          <a:p>
            <a:pPr marL="457200" indent="-457200">
              <a:buFont typeface="+mj-lt"/>
              <a:buAutoNum type="arabicPeriod"/>
              <a:defRPr sz="2400"/>
            </a:pPr>
            <a:r>
              <a:rPr lang="fr-FR" sz="2000" dirty="0"/>
              <a:t>Developer</a:t>
            </a:r>
          </a:p>
          <a:p>
            <a:pPr>
              <a:defRPr sz="2400"/>
            </a:pPr>
            <a:endParaRPr dirty="0"/>
          </a:p>
        </p:txBody>
      </p:sp>
      <p:sp>
        <p:nvSpPr>
          <p:cNvPr id="8" name="TextBox 7"/>
          <p:cNvSpPr txBox="1"/>
          <p:nvPr/>
        </p:nvSpPr>
        <p:spPr>
          <a:xfrm>
            <a:off x="6066751" y="3758064"/>
            <a:ext cx="1466876" cy="369332"/>
          </a:xfrm>
          <a:prstGeom prst="rect">
            <a:avLst/>
          </a:prstGeom>
          <a:noFill/>
        </p:spPr>
        <p:txBody>
          <a:bodyPr wrap="none">
            <a:spAutoFit/>
          </a:bodyPr>
          <a:lstStyle/>
          <a:p>
            <a:pPr>
              <a:defRPr sz="1800" b="1"/>
            </a:pPr>
            <a:r>
              <a:rPr u="sng" dirty="0" err="1"/>
              <a:t>Réponse</a:t>
            </a:r>
            <a:r>
              <a:rPr u="sng" dirty="0"/>
              <a:t> : 2</a:t>
            </a:r>
            <a:r>
              <a:rPr lang="fr-FR" u="sng" dirty="0"/>
              <a:t>,3</a:t>
            </a:r>
            <a:endParaRPr u="sng" dirty="0" err="1"/>
          </a:p>
        </p:txBody>
      </p:sp>
      <p:sp>
        <p:nvSpPr>
          <p:cNvPr id="9" name="TextBox 8"/>
          <p:cNvSpPr txBox="1"/>
          <p:nvPr/>
        </p:nvSpPr>
        <p:spPr>
          <a:xfrm>
            <a:off x="1025236" y="4930239"/>
            <a:ext cx="7252489" cy="1323439"/>
          </a:xfrm>
          <a:prstGeom prst="rect">
            <a:avLst/>
          </a:prstGeom>
          <a:noFill/>
        </p:spPr>
        <p:txBody>
          <a:bodyPr wrap="square">
            <a:spAutoFit/>
          </a:bodyPr>
          <a:lstStyle/>
          <a:p>
            <a:pPr>
              <a:defRPr sz="1600"/>
            </a:pPr>
            <a:r>
              <a:rPr dirty="0"/>
              <a:t>Les Sessions et Transactions sont disponibles dès le niveau Standard et également </a:t>
            </a:r>
            <a:r>
              <a:rPr dirty="0" err="1"/>
              <a:t>en</a:t>
            </a:r>
            <a:r>
              <a:rPr dirty="0"/>
              <a:t> Premium. Le niveau Basic est limité aux Queues simples sans ces fonctionnalités avancées. Le niveau Premium ajoute des ressources dédiées (Messaging Units), des réseaux virtuels et des clés de chiffrement gérées par le client, mais n'est pas requis pour les Sessions ou Transactions.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3771" y="2264475"/>
            <a:ext cx="557808" cy="369332"/>
          </a:xfrm>
          <a:prstGeom prst="rect">
            <a:avLst/>
          </a:prstGeom>
          <a:noFill/>
        </p:spPr>
        <p:txBody>
          <a:bodyPr wrap="square">
            <a:spAutoFit/>
          </a:bodyPr>
          <a:lstStyle/>
          <a:p>
            <a:r>
              <a:rPr lang="fr-FR" b="1" dirty="0"/>
              <a:t>✅</a:t>
            </a:r>
            <a:endParaRPr lang="fr-FR" dirty="0"/>
          </a:p>
        </p:txBody>
      </p:sp>
      <p:sp>
        <p:nvSpPr>
          <p:cNvPr id="5" name="ZoneTexte 4">
            <a:extLst>
              <a:ext uri="{FF2B5EF4-FFF2-40B4-BE49-F238E27FC236}">
                <a16:creationId xmlns:a16="http://schemas.microsoft.com/office/drawing/2014/main" id="{575927EB-06BB-5618-5438-22F76FB01282}"/>
              </a:ext>
            </a:extLst>
          </p:cNvPr>
          <p:cNvSpPr txBox="1"/>
          <p:nvPr/>
        </p:nvSpPr>
        <p:spPr>
          <a:xfrm>
            <a:off x="53771" y="257487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5" grpId="0"/>
    </p:bld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caractéristique différencie principalement Event Hub de Service Bus ?</a:t>
            </a:r>
            <a:endParaRPr lang="fr-FR" sz="2000" dirty="0"/>
          </a:p>
          <a:p>
            <a:pPr marL="457200" indent="-457200">
              <a:buFont typeface="+mj-lt"/>
              <a:buAutoNum type="arabicPeriod"/>
              <a:defRPr sz="2400"/>
            </a:pPr>
            <a:r>
              <a:rPr lang="fr-FR" sz="2000" dirty="0"/>
              <a:t>Event Hub est conçu pour le streaming à très haut débit</a:t>
            </a:r>
          </a:p>
          <a:p>
            <a:pPr marL="457200" indent="-457200">
              <a:buFont typeface="+mj-lt"/>
              <a:buAutoNum type="arabicPeriod"/>
              <a:defRPr sz="2400"/>
            </a:pPr>
            <a:r>
              <a:rPr lang="fr-FR" sz="2000" dirty="0"/>
              <a:t>Event Hub supporte les transactions distribuées</a:t>
            </a:r>
          </a:p>
          <a:p>
            <a:pPr marL="457200" indent="-457200">
              <a:buFont typeface="+mj-lt"/>
              <a:buAutoNum type="arabicPeriod"/>
              <a:defRPr sz="2400"/>
            </a:pPr>
            <a:r>
              <a:rPr lang="fr-FR" sz="2000" dirty="0"/>
              <a:t>Event Hub offre une Dead-letter Queue</a:t>
            </a:r>
          </a:p>
          <a:p>
            <a:pPr marL="457200" indent="-457200">
              <a:buFont typeface="+mj-lt"/>
              <a:buAutoNum type="arabicPeriod"/>
              <a:defRPr sz="2400"/>
            </a:pPr>
            <a:r>
              <a:rPr lang="fr-FR" sz="2000" dirty="0"/>
              <a:t>Event Hub garantit FIFO global</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549268" cy="1323439"/>
          </a:xfrm>
          <a:prstGeom prst="rect">
            <a:avLst/>
          </a:prstGeom>
          <a:noFill/>
        </p:spPr>
        <p:txBody>
          <a:bodyPr wrap="square">
            <a:spAutoFit/>
          </a:bodyPr>
          <a:lstStyle/>
          <a:p>
            <a:pPr>
              <a:defRPr sz="1600"/>
            </a:pPr>
            <a:r>
              <a:rPr dirty="0"/>
              <a:t>Event Hub privilégie le débit massif plutôt que les fonctionnalités avancées de messagerie. Il ne propose ni Dead-letter Queue, ni transactions, ni FIFO garanti. Sa force réside dans sa capacité d'ingestion (millions d'événements/s) et la rétention temporaire du flux pour relecture. Service Bus offre les fonctionnalités enterprise (transactions, FIFO, DLQ) mais avec un débit plus limité.</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3459" y="1642662"/>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Event Hub, les événements sont répartis entre plusieurs unités appelées :</a:t>
            </a:r>
            <a:endParaRPr lang="fr-FR" sz="2000" dirty="0"/>
          </a:p>
          <a:p>
            <a:pPr marL="457200" indent="-457200">
              <a:buFont typeface="+mj-lt"/>
              <a:buAutoNum type="arabicPeriod"/>
              <a:defRPr sz="2400"/>
            </a:pPr>
            <a:r>
              <a:rPr lang="fr-FR" sz="2000" dirty="0"/>
              <a:t>Subscriptions</a:t>
            </a:r>
          </a:p>
          <a:p>
            <a:pPr marL="457200" indent="-457200">
              <a:buFont typeface="+mj-lt"/>
              <a:buAutoNum type="arabicPeriod"/>
              <a:defRPr sz="2400"/>
            </a:pPr>
            <a:r>
              <a:rPr lang="fr-FR" sz="2000" dirty="0"/>
              <a:t>Partitions</a:t>
            </a:r>
          </a:p>
          <a:p>
            <a:pPr marL="457200" indent="-457200">
              <a:buFont typeface="+mj-lt"/>
              <a:buAutoNum type="arabicPeriod"/>
              <a:defRPr sz="2400"/>
            </a:pPr>
            <a:r>
              <a:rPr lang="fr-FR" sz="2000" dirty="0"/>
              <a:t>Sessions</a:t>
            </a:r>
          </a:p>
          <a:p>
            <a:pPr marL="457200" indent="-457200">
              <a:buFont typeface="+mj-lt"/>
              <a:buAutoNum type="arabicPeriod"/>
              <a:defRPr sz="2400"/>
            </a:pPr>
            <a:r>
              <a:rPr lang="fr-FR" sz="2000" dirty="0"/>
              <a:t>Queues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6735131" cy="1323439"/>
          </a:xfrm>
          <a:prstGeom prst="rect">
            <a:avLst/>
          </a:prstGeom>
          <a:noFill/>
        </p:spPr>
        <p:txBody>
          <a:bodyPr wrap="square">
            <a:spAutoFit/>
          </a:bodyPr>
          <a:lstStyle/>
          <a:p>
            <a:pPr>
              <a:defRPr sz="1600"/>
            </a:pPr>
            <a:r>
              <a:rPr dirty="0"/>
              <a:t>Les Partitions permettent le parallélisme et la montée en charge. Chaque partition est un flux ordonné et indépendant. Les producteurs peuvent cibler une partition via une Partition Key ou laisser Event Hub répartir en round-robin. Le nombre de partitions (fixé à la création, entre 1 et 32 en général) détermine le degré de parallélisme maximum en lecture.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195334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est le meilleur choix pour envoyer une commande unique à une application qui doit l'exécuter exactement une fois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Event Grid</a:t>
            </a:r>
          </a:p>
          <a:p>
            <a:pPr marL="457200" indent="-457200">
              <a:buFont typeface="+mj-lt"/>
              <a:buAutoNum type="arabicPeriod"/>
              <a:defRPr sz="2400"/>
            </a:pPr>
            <a:r>
              <a:rPr lang="fr-FR" sz="2000" dirty="0"/>
              <a:t>Azure Data Lake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424942" cy="1323439"/>
          </a:xfrm>
          <a:prstGeom prst="rect">
            <a:avLst/>
          </a:prstGeom>
          <a:noFill/>
        </p:spPr>
        <p:txBody>
          <a:bodyPr wrap="square">
            <a:spAutoFit/>
          </a:bodyPr>
          <a:lstStyle/>
          <a:p>
            <a:pPr>
              <a:defRPr sz="1600"/>
            </a:pPr>
            <a:r>
              <a:rPr dirty="0"/>
              <a:t>Service Bus Queue est conçu pour les commandes métier avec garanties de traitement. Le mode PeekLock assure qu'un message n'est visible que d'un seul consommateur à la fois, et la Duplicate Detection évite les traitements en double. Event Hub ne garantit pas l'unicité de traitement, et Event Grid cible les notifications d'événements, pas les commandes métier transactionnelles.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3407" y="226033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filtre Service Bus permet de sélectionner les messages selon les propriétés d'application ?</a:t>
            </a:r>
            <a:endParaRPr lang="fr-FR" sz="2000" dirty="0"/>
          </a:p>
          <a:p>
            <a:pPr marL="457200" indent="-457200">
              <a:buFont typeface="+mj-lt"/>
              <a:buAutoNum type="arabicPeriod"/>
              <a:defRPr sz="2400"/>
            </a:pPr>
            <a:r>
              <a:rPr lang="fr-FR" sz="2000" dirty="0"/>
              <a:t>XPath Filter</a:t>
            </a:r>
          </a:p>
          <a:p>
            <a:pPr marL="457200" indent="-457200">
              <a:buFont typeface="+mj-lt"/>
              <a:buAutoNum type="arabicPeriod"/>
              <a:defRPr sz="2400"/>
            </a:pPr>
            <a:r>
              <a:rPr lang="fr-FR" sz="2000" dirty="0"/>
              <a:t>Regex Filter</a:t>
            </a:r>
          </a:p>
          <a:p>
            <a:pPr marL="457200" indent="-457200">
              <a:buFont typeface="+mj-lt"/>
              <a:buAutoNum type="arabicPeriod"/>
              <a:defRPr sz="2400"/>
            </a:pPr>
            <a:r>
              <a:rPr lang="fr-FR" sz="2000" dirty="0"/>
              <a:t>SQL Filter</a:t>
            </a:r>
          </a:p>
          <a:p>
            <a:pPr marL="457200" indent="-457200">
              <a:buFont typeface="+mj-lt"/>
              <a:buAutoNum type="arabicPeriod"/>
              <a:defRPr sz="2400"/>
            </a:pPr>
            <a:r>
              <a:rPr lang="fr-FR" sz="2000" dirty="0"/>
              <a:t>JSON Filter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7461037" cy="1323439"/>
          </a:xfrm>
          <a:prstGeom prst="rect">
            <a:avLst/>
          </a:prstGeom>
          <a:noFill/>
        </p:spPr>
        <p:txBody>
          <a:bodyPr wrap="square">
            <a:spAutoFit/>
          </a:bodyPr>
          <a:lstStyle/>
          <a:p>
            <a:pPr>
              <a:defRPr sz="1600"/>
            </a:pPr>
            <a:r>
              <a:rPr dirty="0"/>
              <a:t>Les SQL Filters permettent de filtrer les messages dans les Subscriptions via une syntaxe SQL simplifiée évaluant les propriétés d'application du message. Par exemple : `Region = 'EU' AND Priority &gt; 2`. Seuls les messages satisfaisant la condition sont transmis à la Subscription. Les filtres Correlation (plus performants) offrent une alternative pour les correspondances exactes sur des propriétés prédéfinies.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57315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Event Hub permet de garantir que des événements liés arrivent dans la même partition ?</a:t>
            </a:r>
            <a:endParaRPr lang="fr-FR" sz="2000" dirty="0"/>
          </a:p>
          <a:p>
            <a:pPr marL="457200" indent="-457200">
              <a:buFont typeface="+mj-lt"/>
              <a:buAutoNum type="arabicPeriod"/>
              <a:defRPr sz="2400"/>
            </a:pPr>
            <a:r>
              <a:rPr lang="fr-FR" sz="2000" dirty="0"/>
              <a:t>Consumer Group</a:t>
            </a:r>
          </a:p>
          <a:p>
            <a:pPr marL="457200" indent="-457200">
              <a:buFont typeface="+mj-lt"/>
              <a:buAutoNum type="arabicPeriod"/>
              <a:defRPr sz="2400"/>
            </a:pPr>
            <a:r>
              <a:rPr lang="fr-FR" sz="2000" dirty="0"/>
              <a:t>Session Id</a:t>
            </a:r>
          </a:p>
          <a:p>
            <a:pPr marL="457200" indent="-457200">
              <a:buFont typeface="+mj-lt"/>
              <a:buAutoNum type="arabicPeriod"/>
              <a:defRPr sz="2400"/>
            </a:pPr>
            <a:r>
              <a:rPr lang="fr-FR" sz="2000" dirty="0"/>
              <a:t>Message Id</a:t>
            </a:r>
          </a:p>
          <a:p>
            <a:pPr marL="457200" indent="-457200">
              <a:buFont typeface="+mj-lt"/>
              <a:buAutoNum type="arabicPeriod"/>
              <a:defRPr sz="2400"/>
            </a:pPr>
            <a:r>
              <a:rPr lang="fr-FR" sz="2000" dirty="0"/>
              <a:t>Partition Key</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308637" cy="1077218"/>
          </a:xfrm>
          <a:prstGeom prst="rect">
            <a:avLst/>
          </a:prstGeom>
          <a:noFill/>
        </p:spPr>
        <p:txBody>
          <a:bodyPr wrap="square">
            <a:spAutoFit/>
          </a:bodyPr>
          <a:lstStyle/>
          <a:p>
            <a:pPr>
              <a:defRPr sz="1600"/>
            </a:pPr>
            <a:r>
              <a:rPr dirty="0"/>
              <a:t>La Partition Key dirige les événements associés vers une même partition. Event Hub calcule un hash de la clé pour déterminer la partition cible, garantissant que tous les événements avec la même clé (ex : même deviceId ou même customerId) arrivent dans la même partition et sont donc lus dans l'ordre par un même consommateur.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1427" y="282982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généralement utilisé derrière Azure IoT Hub pour stocker les télémétries ?</a:t>
            </a:r>
            <a:endParaRPr lang="fr-FR" sz="2000" dirty="0"/>
          </a:p>
          <a:p>
            <a:pPr marL="457200" indent="-457200">
              <a:buFont typeface="+mj-lt"/>
              <a:buAutoNum type="arabicPeriod"/>
              <a:defRPr sz="2400"/>
            </a:pPr>
            <a:r>
              <a:rPr lang="fr-FR" sz="2000" dirty="0"/>
              <a:t>Azure Service Bus Topic</a:t>
            </a:r>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Queue Storage</a:t>
            </a:r>
          </a:p>
          <a:p>
            <a:pPr marL="457200" indent="-457200">
              <a:buFont typeface="+mj-lt"/>
              <a:buAutoNum type="arabicPeriod"/>
              <a:defRPr sz="2400"/>
            </a:pPr>
            <a:r>
              <a:rPr lang="fr-FR" sz="2000" dirty="0"/>
              <a:t>Azure Cache for Redis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272542" cy="1323439"/>
          </a:xfrm>
          <a:prstGeom prst="rect">
            <a:avLst/>
          </a:prstGeom>
          <a:noFill/>
        </p:spPr>
        <p:txBody>
          <a:bodyPr wrap="square">
            <a:spAutoFit/>
          </a:bodyPr>
          <a:lstStyle/>
          <a:p>
            <a:pPr>
              <a:defRPr sz="1600"/>
            </a:pPr>
            <a:r>
              <a:rPr dirty="0"/>
              <a:t>IoT Hub repose en interne sur des mécanismes proches d'Event Hub pour le traitement des événements. Les télémétries IoT Hub sont accessibles via un endpoint compatible Event Hub, permettant aux mêmes SDK et consommateurs (Azure Stream Analytics, Azure Functions, etc.) de traiter les messages IoT comme un flux Event Hub standard.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1428" y="226033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Service Bus, quel mode de réception supprime immédiatement le message dès sa lecture ?</a:t>
            </a:r>
            <a:endParaRPr lang="fr-FR" sz="2000" dirty="0"/>
          </a:p>
          <a:p>
            <a:pPr marL="457200" indent="-457200">
              <a:buFont typeface="+mj-lt"/>
              <a:buAutoNum type="arabicPeriod"/>
              <a:defRPr sz="2400"/>
            </a:pPr>
            <a:r>
              <a:rPr lang="fr-FR" sz="2000" dirty="0"/>
              <a:t>PeekLock</a:t>
            </a:r>
          </a:p>
          <a:p>
            <a:pPr marL="457200" indent="-457200">
              <a:buFont typeface="+mj-lt"/>
              <a:buAutoNum type="arabicPeriod"/>
              <a:defRPr sz="2400"/>
            </a:pPr>
            <a:r>
              <a:rPr lang="fr-FR" sz="2000" dirty="0"/>
              <a:t>ReceiveAndDelete</a:t>
            </a:r>
          </a:p>
          <a:p>
            <a:pPr marL="457200" indent="-457200">
              <a:buFont typeface="+mj-lt"/>
              <a:buAutoNum type="arabicPeriod"/>
              <a:defRPr sz="2400"/>
            </a:pPr>
            <a:r>
              <a:rPr lang="fr-FR" sz="2000" dirty="0"/>
              <a:t>ReceiveAndLock</a:t>
            </a:r>
          </a:p>
          <a:p>
            <a:pPr marL="457200" indent="-457200">
              <a:buFont typeface="+mj-lt"/>
              <a:buAutoNum type="arabicPeriod"/>
              <a:defRPr sz="2400"/>
            </a:pPr>
            <a:r>
              <a:rPr lang="fr-FR" sz="2000" dirty="0"/>
              <a:t>ReadOnly</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386771" cy="1323439"/>
          </a:xfrm>
          <a:prstGeom prst="rect">
            <a:avLst/>
          </a:prstGeom>
          <a:noFill/>
        </p:spPr>
        <p:txBody>
          <a:bodyPr wrap="square">
            <a:spAutoFit/>
          </a:bodyPr>
          <a:lstStyle/>
          <a:p>
            <a:pPr>
              <a:defRPr sz="1600"/>
            </a:pPr>
            <a:r>
              <a:rPr dirty="0"/>
              <a:t>ReceiveAndDelete retire immédiatement le message de la file sans attendre de confirmation de traitement. C'est le mode le plus performant mais le moins fiable : si le consommateur plante après réception mais avant traitement, le message est définitivement perdu. À réserver aux scénarios où la perte occasionnelle d'un message est acceptable.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5386" y="225632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mode de réception Service Bus est recommandé pour les traitements critiques ?</a:t>
            </a:r>
            <a:endParaRPr lang="fr-FR" sz="2000" dirty="0"/>
          </a:p>
          <a:p>
            <a:pPr marL="457200" indent="-457200">
              <a:buFont typeface="+mj-lt"/>
              <a:buAutoNum type="arabicPeriod"/>
              <a:defRPr sz="2400"/>
            </a:pPr>
            <a:r>
              <a:rPr lang="fr-FR" sz="2000" dirty="0"/>
              <a:t>ReceiveAndDelete</a:t>
            </a:r>
          </a:p>
          <a:p>
            <a:pPr marL="457200" indent="-457200">
              <a:buFont typeface="+mj-lt"/>
              <a:buAutoNum type="arabicPeriod"/>
              <a:defRPr sz="2400"/>
            </a:pPr>
            <a:r>
              <a:rPr lang="fr-FR" sz="2000" dirty="0"/>
              <a:t>ReceiveFast</a:t>
            </a:r>
          </a:p>
          <a:p>
            <a:pPr marL="457200" indent="-457200">
              <a:buFont typeface="+mj-lt"/>
              <a:buAutoNum type="arabicPeriod"/>
              <a:defRPr sz="2400"/>
            </a:pPr>
            <a:r>
              <a:rPr lang="fr-FR" sz="2000" dirty="0"/>
              <a:t>PeekLock</a:t>
            </a:r>
          </a:p>
          <a:p>
            <a:pPr marL="457200" indent="-457200">
              <a:buFont typeface="+mj-lt"/>
              <a:buAutoNum type="arabicPeriod"/>
              <a:defRPr sz="2400"/>
            </a:pPr>
            <a:r>
              <a:rPr lang="fr-FR" sz="2000" dirty="0"/>
              <a:t>ReadOnly</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7605416" cy="1323439"/>
          </a:xfrm>
          <a:prstGeom prst="rect">
            <a:avLst/>
          </a:prstGeom>
          <a:noFill/>
        </p:spPr>
        <p:txBody>
          <a:bodyPr wrap="square">
            <a:spAutoFit/>
          </a:bodyPr>
          <a:lstStyle/>
          <a:p>
            <a:pPr>
              <a:defRPr sz="1600"/>
            </a:pPr>
            <a:r>
              <a:rPr dirty="0"/>
              <a:t>PeekLock verrouille le message pendant une durée configurable (lock duration) sans le supprimer. Le consommateur doit appeler Complete() pour confirmer le traitement (suppression définitive) ou Abandon() pour le remettre en file. En cas de crash, le lock expire et le message redevient disponible pour un autre consommateur, garantissant la livraison au moins une fois.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5" y="252904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permet de relire plusieurs fois les mêmes événements pendant la période de rétention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Queue Storage</a:t>
            </a:r>
          </a:p>
          <a:p>
            <a:pPr marL="457200" indent="-457200">
              <a:buFont typeface="+mj-lt"/>
              <a:buAutoNum type="arabicPeriod"/>
              <a:defRPr sz="2400"/>
            </a:pPr>
            <a:r>
              <a:rPr lang="fr-FR" sz="2000" dirty="0"/>
              <a:t>Azure Logic Apps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589374" cy="1323439"/>
          </a:xfrm>
          <a:prstGeom prst="rect">
            <a:avLst/>
          </a:prstGeom>
          <a:noFill/>
        </p:spPr>
        <p:txBody>
          <a:bodyPr wrap="square">
            <a:spAutoFit/>
          </a:bodyPr>
          <a:lstStyle/>
          <a:p>
            <a:pPr>
              <a:defRPr sz="1600"/>
            </a:pPr>
            <a:r>
              <a:rPr dirty="0"/>
              <a:t>Les consommateurs Event Hub peuvent relire l'historique tant que les événements sont conservés. En repositionnant leur offset (début du flux, timestamp précis, ou offset spécifique), ils accèdent aux événements passés. Ce comportement est fondamentalement différent de Service Bus Queue ou Storage Queue où un message est supprimé après traitement.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354" y="191944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Service Bus Premium améliore l'isolation des performances ?</a:t>
            </a:r>
            <a:endParaRPr lang="fr-FR" sz="2000" dirty="0"/>
          </a:p>
          <a:p>
            <a:pPr marL="457200" indent="-457200">
              <a:buFont typeface="+mj-lt"/>
              <a:buAutoNum type="arabicPeriod"/>
              <a:defRPr sz="2400"/>
            </a:pPr>
            <a:r>
              <a:rPr lang="fr-FR" sz="2000" dirty="0"/>
              <a:t>Messaging Units</a:t>
            </a:r>
          </a:p>
          <a:p>
            <a:pPr marL="457200" indent="-457200">
              <a:buFont typeface="+mj-lt"/>
              <a:buAutoNum type="arabicPeriod"/>
              <a:defRPr sz="2400"/>
            </a:pPr>
            <a:r>
              <a:rPr lang="fr-FR" sz="2000" dirty="0"/>
              <a:t>Consumer Groups</a:t>
            </a:r>
          </a:p>
          <a:p>
            <a:pPr marL="457200" indent="-457200">
              <a:buFont typeface="+mj-lt"/>
              <a:buAutoNum type="arabicPeriod"/>
              <a:defRPr sz="2400"/>
            </a:pPr>
            <a:r>
              <a:rPr lang="fr-FR" sz="2000" dirty="0"/>
              <a:t>Checkpoint Store</a:t>
            </a:r>
          </a:p>
          <a:p>
            <a:pPr marL="457200" indent="-457200">
              <a:buFont typeface="+mj-lt"/>
              <a:buAutoNum type="arabicPeriod"/>
              <a:defRPr sz="2400"/>
            </a:pPr>
            <a:r>
              <a:rPr lang="fr-FR" sz="2000" dirty="0"/>
              <a:t>Storage Accounts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489110" cy="1323439"/>
          </a:xfrm>
          <a:prstGeom prst="rect">
            <a:avLst/>
          </a:prstGeom>
          <a:noFill/>
        </p:spPr>
        <p:txBody>
          <a:bodyPr wrap="square">
            <a:spAutoFit/>
          </a:bodyPr>
          <a:lstStyle/>
          <a:p>
            <a:pPr>
              <a:defRPr sz="1600"/>
            </a:pPr>
            <a:r>
              <a:rPr dirty="0"/>
              <a:t>Le niveau Premium utilise des ressources dédiées via les Messaging Units (MU). Contrairement au niveau Standard (infrastructure partagée), chaque MU alloue des ressources CPU et mémoire exclusives, garantissant des latences prévisibles et une isolation complète vis-à-vis des autres tenants. Le nombre de MU est scalable dynamiquement de 1 à 16.</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7416"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généralement préféré lorsqu'un événement doit être diffusé à plusieurs systèmes indépendants avec des besoins de filtrage avancés ?</a:t>
            </a:r>
            <a:endParaRPr lang="fr-FR" sz="2000" dirty="0"/>
          </a:p>
          <a:p>
            <a:pPr marL="457200" indent="-457200">
              <a:buFont typeface="+mj-lt"/>
              <a:buAutoNum type="arabicPeriod"/>
              <a:defRPr sz="2400"/>
            </a:pPr>
            <a:r>
              <a:rPr lang="fr-FR" sz="2000" dirty="0"/>
              <a:t>Azure Storage Queue</a:t>
            </a:r>
          </a:p>
          <a:p>
            <a:pPr marL="457200" indent="-457200">
              <a:buFont typeface="+mj-lt"/>
              <a:buAutoNum type="arabicPeriod"/>
              <a:defRPr sz="2400"/>
            </a:pPr>
            <a:r>
              <a:rPr lang="fr-FR" sz="2000" dirty="0"/>
              <a:t>Azure Disk Storage</a:t>
            </a:r>
          </a:p>
          <a:p>
            <a:pPr marL="457200" indent="-457200">
              <a:buFont typeface="+mj-lt"/>
              <a:buAutoNum type="arabicPeriod"/>
              <a:defRPr sz="2400"/>
            </a:pPr>
            <a:r>
              <a:rPr lang="fr-FR" sz="2000" dirty="0"/>
              <a:t>Azure Files</a:t>
            </a:r>
          </a:p>
          <a:p>
            <a:pPr marL="457200" indent="-457200">
              <a:buFont typeface="+mj-lt"/>
              <a:buAutoNum type="arabicPeriod"/>
              <a:defRPr sz="2400"/>
            </a:pPr>
            <a:r>
              <a:rPr lang="fr-FR" sz="2000" dirty="0"/>
              <a:t>Azure Service Bus Topic</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461037" cy="1323439"/>
          </a:xfrm>
          <a:prstGeom prst="rect">
            <a:avLst/>
          </a:prstGeom>
          <a:noFill/>
        </p:spPr>
        <p:txBody>
          <a:bodyPr wrap="square">
            <a:spAutoFit/>
          </a:bodyPr>
          <a:lstStyle/>
          <a:p>
            <a:pPr>
              <a:defRPr sz="1600"/>
            </a:pPr>
            <a:r>
              <a:rPr dirty="0"/>
              <a:t>Service Bus Topic permet une diffusion sélective vers plusieurs abonnés grâce aux Subscriptions filtrantes. Chaque système abonné reçoit uniquement les messages qui le concernent (via filtres SQL ou Correlation) et maintient son propre curseur de lecture. Storage Queue, Disk Storage et Files ne proposent aucun mécanisme de Pub/Sub ni de filtrage.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321484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affirmation concernant Azure Event Hub est correcte ?</a:t>
            </a:r>
            <a:endParaRPr lang="fr-FR" sz="2000" dirty="0"/>
          </a:p>
          <a:p>
            <a:pPr marL="457200" indent="-457200">
              <a:buFont typeface="+mj-lt"/>
              <a:buAutoNum type="arabicPeriod"/>
              <a:defRPr sz="2400"/>
            </a:pPr>
            <a:r>
              <a:rPr lang="fr-FR" sz="2000" dirty="0"/>
              <a:t>Il garantit un traitement unique des événements</a:t>
            </a:r>
          </a:p>
          <a:p>
            <a:pPr marL="457200" indent="-457200">
              <a:buFont typeface="+mj-lt"/>
              <a:buAutoNum type="arabicPeriod"/>
              <a:defRPr sz="2400"/>
            </a:pPr>
            <a:r>
              <a:rPr lang="fr-FR" sz="2000" dirty="0"/>
              <a:t>Il est conçu pour les flux de données massifs</a:t>
            </a:r>
          </a:p>
          <a:p>
            <a:pPr marL="457200" indent="-457200">
              <a:buFont typeface="+mj-lt"/>
              <a:buAutoNum type="arabicPeriod"/>
              <a:defRPr sz="2400"/>
            </a:pPr>
            <a:r>
              <a:rPr lang="fr-FR" sz="2000" dirty="0"/>
              <a:t>Il utilise des Dead-letter Queues pour chaque partition</a:t>
            </a:r>
          </a:p>
          <a:p>
            <a:pPr marL="457200" indent="-457200">
              <a:buFont typeface="+mj-lt"/>
              <a:buAutoNum type="arabicPeriod"/>
              <a:defRPr sz="2400"/>
            </a:pPr>
            <a:r>
              <a:rPr lang="fr-FR" sz="2000" dirty="0"/>
              <a:t>Il supporte les Transactions ACID sur les événements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6995816" cy="1323439"/>
          </a:xfrm>
          <a:prstGeom prst="rect">
            <a:avLst/>
          </a:prstGeom>
          <a:noFill/>
        </p:spPr>
        <p:txBody>
          <a:bodyPr wrap="square">
            <a:spAutoFit/>
          </a:bodyPr>
          <a:lstStyle/>
          <a:p>
            <a:pPr>
              <a:defRPr sz="1600"/>
            </a:pPr>
            <a:r>
              <a:rPr dirty="0"/>
              <a:t>Event Hub est optimisé pour l'ingestion et le traitement de flux massifs. Il ne garantit pas le traitement unique (at-least-once delivery), ne dispose pas de Dead-letter Queue native, et ne supporte pas les transactions ACID. Sa valeur ajoutée réside dans son débit exceptionnel, sa rétention configurable et son modèle de lecture par offset.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735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Vous devez fournir un système de messagerie avec transactions, FIFO par conversation, détection de doublons et routage avancé. Quel service choisir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a:t>
            </a:r>
          </a:p>
          <a:p>
            <a:pPr marL="457200" indent="-457200">
              <a:buFont typeface="+mj-lt"/>
              <a:buAutoNum type="arabicPeriod"/>
              <a:defRPr sz="2400"/>
            </a:pPr>
            <a:r>
              <a:rPr lang="fr-FR" sz="2000" dirty="0"/>
              <a:t>Azure Storage Queue</a:t>
            </a:r>
          </a:p>
          <a:p>
            <a:pPr marL="457200" indent="-457200">
              <a:buFont typeface="+mj-lt"/>
              <a:buAutoNum type="arabicPeriod"/>
              <a:defRPr sz="2400"/>
            </a:pPr>
            <a:r>
              <a:rPr lang="fr-FR" sz="2000" dirty="0"/>
              <a:t>Azure Event Grid</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352752" cy="1323439"/>
          </a:xfrm>
          <a:prstGeom prst="rect">
            <a:avLst/>
          </a:prstGeom>
          <a:noFill/>
        </p:spPr>
        <p:txBody>
          <a:bodyPr wrap="square">
            <a:spAutoFit/>
          </a:bodyPr>
          <a:lstStyle/>
          <a:p>
            <a:pPr>
              <a:defRPr sz="1600"/>
            </a:pPr>
            <a:r>
              <a:rPr dirty="0"/>
              <a:t>Service Bus est le seul à fournir l'ensemble de ces fonctionnalités : transactions atomiques multi-opérations, Sessions pour le FIFO par conversation, Duplicate Detection par MessageId, et routage avancé via Topics/Subscriptions avec filtres SQL. Event Hub privilégie le débit brut, Storage Queue est limité aux cas simples, et Event Grid cible les notifications sans garanties de traitement.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3226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69BA9-E5B6-341B-9CC3-ED1E3CC8E5B5}"/>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9E3BE5C4-0994-7212-E390-6E45E22F91BB}"/>
              </a:ext>
            </a:extLst>
          </p:cNvPr>
          <p:cNvSpPr>
            <a:spLocks noGrp="1"/>
          </p:cNvSpPr>
          <p:nvPr>
            <p:ph type="body" sz="quarter" idx="11"/>
          </p:nvPr>
        </p:nvSpPr>
        <p:spPr/>
        <p:txBody>
          <a:bodyPr/>
          <a:lstStyle/>
          <a:p>
            <a:r>
              <a:rPr lang="fr-FR" dirty="0"/>
              <a:t>Quizz 18</a:t>
            </a:r>
          </a:p>
        </p:txBody>
      </p:sp>
      <p:sp>
        <p:nvSpPr>
          <p:cNvPr id="3" name="Espace réservé du texte 2">
            <a:extLst>
              <a:ext uri="{FF2B5EF4-FFF2-40B4-BE49-F238E27FC236}">
                <a16:creationId xmlns:a16="http://schemas.microsoft.com/office/drawing/2014/main" id="{8C49CCB8-16A1-0295-A7D5-A166376535B7}"/>
              </a:ext>
            </a:extLst>
          </p:cNvPr>
          <p:cNvSpPr>
            <a:spLocks noGrp="1"/>
          </p:cNvSpPr>
          <p:nvPr>
            <p:ph type="body" sz="quarter" idx="12"/>
          </p:nvPr>
        </p:nvSpPr>
        <p:spPr>
          <a:xfrm>
            <a:off x="2604868" y="3501008"/>
            <a:ext cx="5624732" cy="1432560"/>
          </a:xfrm>
        </p:spPr>
        <p:txBody>
          <a:bodyPr/>
          <a:lstStyle/>
          <a:p>
            <a:r>
              <a:rPr lang="fr-FR" dirty="0"/>
              <a:t>Azure Event </a:t>
            </a:r>
            <a:r>
              <a:rPr lang="fr-FR" dirty="0" err="1"/>
              <a:t>Grid</a:t>
            </a:r>
            <a:endParaRPr lang="fr-FR" dirty="0"/>
          </a:p>
        </p:txBody>
      </p:sp>
    </p:spTree>
    <p:extLst>
      <p:ext uri="{BB962C8B-B14F-4D97-AF65-F5344CB8AC3E}">
        <p14:creationId xmlns:p14="http://schemas.microsoft.com/office/powerpoint/2010/main" val="952605608"/>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principal objectif d'Azure Event Grid ?</a:t>
            </a:r>
            <a:endParaRPr lang="fr-FR" sz="2000" dirty="0"/>
          </a:p>
          <a:p>
            <a:pPr marL="457200" indent="-457200">
              <a:buFont typeface="+mj-lt"/>
              <a:buAutoNum type="arabicPeriod"/>
              <a:defRPr sz="2400"/>
            </a:pPr>
            <a:r>
              <a:rPr lang="fr-FR" sz="2000" dirty="0"/>
              <a:t>Stocker des fichiers volumineux</a:t>
            </a:r>
          </a:p>
          <a:p>
            <a:pPr marL="457200" indent="-457200">
              <a:buFont typeface="+mj-lt"/>
              <a:buAutoNum type="arabicPeriod"/>
              <a:defRPr sz="2400"/>
            </a:pPr>
            <a:r>
              <a:rPr lang="fr-FR" sz="2000" dirty="0"/>
              <a:t>Routage d'événements selon un modèle publish/subscribe</a:t>
            </a:r>
          </a:p>
          <a:p>
            <a:pPr marL="457200" indent="-457200">
              <a:buFont typeface="+mj-lt"/>
              <a:buAutoNum type="arabicPeriod"/>
              <a:defRPr sz="2400"/>
            </a:pPr>
            <a:r>
              <a:rPr lang="fr-FR" sz="2000" dirty="0"/>
              <a:t>Exécuter des conteneurs</a:t>
            </a:r>
          </a:p>
          <a:p>
            <a:pPr marL="457200" indent="-457200">
              <a:buFont typeface="+mj-lt"/>
              <a:buAutoNum type="arabicPeriod"/>
              <a:defRPr sz="2400"/>
            </a:pPr>
            <a:r>
              <a:rPr lang="fr-FR" sz="2000" dirty="0"/>
              <a:t>Analyser des flux de télémétrie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336710" cy="1323439"/>
          </a:xfrm>
          <a:prstGeom prst="rect">
            <a:avLst/>
          </a:prstGeom>
          <a:noFill/>
        </p:spPr>
        <p:txBody>
          <a:bodyPr wrap="square">
            <a:spAutoFit/>
          </a:bodyPr>
          <a:lstStyle/>
          <a:p>
            <a:pPr>
              <a:defRPr sz="1600"/>
            </a:pPr>
            <a:r>
              <a:rPr dirty="0"/>
              <a:t>Azure Event Grid est un service de routage d'événements basé sur un modèle publish/subscribe. Il reçoit des événements de sources (Topics système ou Custom Topics) et les distribue à des abonnés (Webhooks, Azure Functions, Logic Apps, etc.) selon des règles de filtrage. Il n'est pas conçu pour le stockage, l'exécution de code ou l'analyse de flux.</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353" y="194131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génère nativement des événements pouvant être publiés dans Event Grid ?</a:t>
            </a:r>
            <a:endParaRPr lang="fr-FR" sz="2000" dirty="0"/>
          </a:p>
          <a:p>
            <a:pPr marL="457200" indent="-457200">
              <a:buFont typeface="+mj-lt"/>
              <a:buAutoNum type="arabicPeriod"/>
              <a:defRPr sz="2400"/>
            </a:pPr>
            <a:r>
              <a:rPr lang="fr-FR" sz="2000" dirty="0"/>
              <a:t>Azure Virtual Machine</a:t>
            </a:r>
          </a:p>
          <a:p>
            <a:pPr marL="457200" indent="-457200">
              <a:buFont typeface="+mj-lt"/>
              <a:buAutoNum type="arabicPeriod"/>
              <a:defRPr sz="2400"/>
            </a:pPr>
            <a:r>
              <a:rPr lang="fr-FR" sz="2000" dirty="0"/>
              <a:t>Azure Blob Storage</a:t>
            </a:r>
          </a:p>
          <a:p>
            <a:pPr marL="457200" indent="-457200">
              <a:buFont typeface="+mj-lt"/>
              <a:buAutoNum type="arabicPeriod"/>
              <a:defRPr sz="2400"/>
            </a:pPr>
            <a:r>
              <a:rPr lang="fr-FR" sz="2000" dirty="0"/>
              <a:t>Azure DevOps Server</a:t>
            </a:r>
          </a:p>
          <a:p>
            <a:pPr marL="457200" indent="-457200">
              <a:buFont typeface="+mj-lt"/>
              <a:buAutoNum type="arabicPeriod"/>
              <a:defRPr sz="2400"/>
            </a:pPr>
            <a:r>
              <a:rPr lang="fr-FR" sz="2000" dirty="0"/>
              <a:t>Azure SQL Managed Instance uniquement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344731" cy="1077218"/>
          </a:xfrm>
          <a:prstGeom prst="rect">
            <a:avLst/>
          </a:prstGeom>
          <a:noFill/>
        </p:spPr>
        <p:txBody>
          <a:bodyPr wrap="square">
            <a:spAutoFit/>
          </a:bodyPr>
          <a:lstStyle/>
          <a:p>
            <a:pPr>
              <a:defRPr sz="1600"/>
            </a:pPr>
            <a:r>
              <a:rPr dirty="0"/>
              <a:t>Azure Blob Storage publie automatiquement des événements comme BlobCreated ou BlobDeleted vers Event Grid sans configuration supplémentaire. C'est l'un des System Topics intégrés. Les Virtual Machines, DevOps Server et SQL Managed Instance ne génèrent pas nativement d'événements Event Grid sans configuration intermédiaire.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7470" y="225231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type d'architecture est principalement favorisé par Azure Event Grid ?</a:t>
            </a:r>
            <a:endParaRPr lang="fr-FR" sz="2000" dirty="0"/>
          </a:p>
          <a:p>
            <a:pPr marL="457200" indent="-457200">
              <a:buFont typeface="+mj-lt"/>
              <a:buAutoNum type="arabicPeriod"/>
              <a:defRPr sz="2400"/>
            </a:pPr>
            <a:r>
              <a:rPr lang="fr-FR" sz="2000" dirty="0"/>
              <a:t>Monolithique</a:t>
            </a:r>
          </a:p>
          <a:p>
            <a:pPr marL="457200" indent="-457200">
              <a:buFont typeface="+mj-lt"/>
              <a:buAutoNum type="arabicPeriod"/>
              <a:defRPr sz="2400"/>
            </a:pPr>
            <a:r>
              <a:rPr lang="fr-FR" sz="2000" dirty="0"/>
              <a:t>Client/Serveur</a:t>
            </a:r>
          </a:p>
          <a:p>
            <a:pPr marL="457200" indent="-457200">
              <a:buFont typeface="+mj-lt"/>
              <a:buAutoNum type="arabicPeriod"/>
              <a:defRPr sz="2400"/>
            </a:pPr>
            <a:r>
              <a:rPr lang="fr-FR" sz="2000" dirty="0"/>
              <a:t>Orientée événements</a:t>
            </a:r>
          </a:p>
          <a:p>
            <a:pPr marL="457200" indent="-457200">
              <a:buFont typeface="+mj-lt"/>
              <a:buAutoNum type="arabicPeriod"/>
              <a:defRPr sz="2400"/>
            </a:pPr>
            <a:r>
              <a:rPr lang="fr-FR" sz="2000" dirty="0"/>
              <a:t>Batch Processing</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7039931" cy="1323439"/>
          </a:xfrm>
          <a:prstGeom prst="rect">
            <a:avLst/>
          </a:prstGeom>
          <a:noFill/>
        </p:spPr>
        <p:txBody>
          <a:bodyPr wrap="square">
            <a:spAutoFit/>
          </a:bodyPr>
          <a:lstStyle/>
          <a:p>
            <a:pPr>
              <a:defRPr sz="1600"/>
            </a:pPr>
            <a:r>
              <a:rPr dirty="0"/>
              <a:t>Event Grid est conçu pour les architectures Event-Driven (orientées événements). Dans ce patron, les composants réagissent à des faits passés (un fichier créé, une ressource supprimée) plutôt que d'être appelés directement. Cela favorise le découplage : le producteur ne connaît pas ses consommateurs et n'attend pas de réponse.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7417" y="224429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composant reçoit les événements publiés dans Event Grid ?</a:t>
            </a:r>
            <a:endParaRPr lang="fr-FR" sz="2000" dirty="0"/>
          </a:p>
          <a:p>
            <a:pPr marL="457200" indent="-457200">
              <a:buFont typeface="+mj-lt"/>
              <a:buAutoNum type="arabicPeriod"/>
              <a:defRPr sz="2400"/>
            </a:pPr>
            <a:r>
              <a:rPr lang="fr-FR" sz="2000" dirty="0"/>
              <a:t>Queue</a:t>
            </a:r>
          </a:p>
          <a:p>
            <a:pPr marL="457200" indent="-457200">
              <a:buFont typeface="+mj-lt"/>
              <a:buAutoNum type="arabicPeriod"/>
              <a:defRPr sz="2400"/>
            </a:pPr>
            <a:r>
              <a:rPr lang="fr-FR" sz="2000" dirty="0"/>
              <a:t>Event Subscription</a:t>
            </a:r>
          </a:p>
          <a:p>
            <a:pPr marL="457200" indent="-457200">
              <a:buFont typeface="+mj-lt"/>
              <a:buAutoNum type="arabicPeriod"/>
              <a:defRPr sz="2400"/>
            </a:pPr>
            <a:r>
              <a:rPr lang="fr-FR" sz="2000" dirty="0"/>
              <a:t>Partition</a:t>
            </a:r>
          </a:p>
          <a:p>
            <a:pPr marL="457200" indent="-457200">
              <a:buFont typeface="+mj-lt"/>
              <a:buAutoNum type="arabicPeriod"/>
              <a:defRPr sz="2400"/>
            </a:pPr>
            <a:r>
              <a:rPr lang="fr-FR" sz="2000" dirty="0"/>
              <a:t>Consumer Group</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236447" cy="1323439"/>
          </a:xfrm>
          <a:prstGeom prst="rect">
            <a:avLst/>
          </a:prstGeom>
          <a:noFill/>
        </p:spPr>
        <p:txBody>
          <a:bodyPr wrap="square">
            <a:spAutoFit/>
          </a:bodyPr>
          <a:lstStyle/>
          <a:p>
            <a:pPr>
              <a:defRPr sz="1600"/>
            </a:pPr>
            <a:r>
              <a:rPr dirty="0"/>
              <a:t>Les Event Subscriptions définissent les destinations des événements. Chaque Subscription est associée à un Topic (système ou Custom), peut comporter des filtres, et pointe vers un endpoint (Webhook, Azure Function, Service Bus, Storage Queue, etc.). Plusieurs Subscriptions peuvent coexister sur un même Topic pour distribuer l'événement à plusieurs abonnés indépendants.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148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est souvent utilisé comme destination d'un événement Event Grid ?</a:t>
            </a:r>
            <a:endParaRPr lang="fr-FR" sz="2000" dirty="0"/>
          </a:p>
          <a:p>
            <a:pPr marL="457200" indent="-457200">
              <a:buFont typeface="+mj-lt"/>
              <a:buAutoNum type="arabicPeriod"/>
              <a:defRPr sz="2400"/>
            </a:pPr>
            <a:r>
              <a:rPr lang="fr-FR" sz="2000" dirty="0"/>
              <a:t>Azure Functions</a:t>
            </a:r>
          </a:p>
          <a:p>
            <a:pPr marL="457200" indent="-457200">
              <a:buFont typeface="+mj-lt"/>
              <a:buAutoNum type="arabicPeriod"/>
              <a:defRPr sz="2400"/>
            </a:pPr>
            <a:r>
              <a:rPr lang="fr-FR" sz="2000" dirty="0"/>
              <a:t>Azure Backup</a:t>
            </a:r>
          </a:p>
          <a:p>
            <a:pPr marL="457200" indent="-457200">
              <a:buFont typeface="+mj-lt"/>
              <a:buAutoNum type="arabicPeriod"/>
              <a:defRPr sz="2400"/>
            </a:pPr>
            <a:r>
              <a:rPr lang="fr-FR" sz="2000" dirty="0"/>
              <a:t>Azure Bastion</a:t>
            </a:r>
          </a:p>
          <a:p>
            <a:pPr marL="457200" indent="-457200">
              <a:buFont typeface="+mj-lt"/>
              <a:buAutoNum type="arabicPeriod"/>
              <a:defRPr sz="2400"/>
            </a:pPr>
            <a:r>
              <a:rPr lang="fr-FR" sz="2000" dirty="0"/>
              <a:t>Azure Firewall</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6" y="4930239"/>
            <a:ext cx="7633489" cy="1077218"/>
          </a:xfrm>
          <a:prstGeom prst="rect">
            <a:avLst/>
          </a:prstGeom>
          <a:noFill/>
        </p:spPr>
        <p:txBody>
          <a:bodyPr wrap="square">
            <a:spAutoFit/>
          </a:bodyPr>
          <a:lstStyle/>
          <a:p>
            <a:pPr>
              <a:defRPr sz="1600"/>
            </a:pPr>
            <a:r>
              <a:rPr dirty="0"/>
              <a:t>Azure Functions est l'un des abonnés les plus courants d'Event Grid. Le déclencheur Event Grid permet à une Function de s'exécuter dès réception d'un événement, sans polling. Azure Backup, Bastion et Firewall sont des services d'infrastructure qui ne consomment pas d'événements Event Grid.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747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caractéristique distingue Event Grid de Service Bus ?</a:t>
            </a:r>
            <a:endParaRPr lang="fr-FR" sz="2000" dirty="0"/>
          </a:p>
          <a:p>
            <a:pPr marL="457200" indent="-457200">
              <a:buFont typeface="+mj-lt"/>
              <a:buAutoNum type="arabicPeriod"/>
              <a:defRPr sz="2400"/>
            </a:pPr>
            <a:r>
              <a:rPr lang="fr-FR" sz="2000" dirty="0"/>
              <a:t>Event Grid est optimisé pour les notifications d'événements</a:t>
            </a:r>
          </a:p>
          <a:p>
            <a:pPr marL="457200" indent="-457200">
              <a:buFont typeface="+mj-lt"/>
              <a:buAutoNum type="arabicPeriod"/>
              <a:defRPr sz="2400"/>
            </a:pPr>
            <a:r>
              <a:rPr lang="fr-FR" sz="2000" dirty="0"/>
              <a:t>Event Grid supporte les transactions</a:t>
            </a:r>
          </a:p>
          <a:p>
            <a:pPr marL="457200" indent="-457200">
              <a:buFont typeface="+mj-lt"/>
              <a:buAutoNum type="arabicPeriod"/>
              <a:defRPr sz="2400"/>
            </a:pPr>
            <a:r>
              <a:rPr lang="fr-FR" sz="2000" dirty="0"/>
              <a:t>Event Grid supporte les Sessions</a:t>
            </a:r>
          </a:p>
          <a:p>
            <a:pPr marL="457200" indent="-457200">
              <a:buFont typeface="+mj-lt"/>
              <a:buAutoNum type="arabicPeriod"/>
              <a:defRPr sz="2400"/>
            </a:pPr>
            <a:r>
              <a:rPr lang="fr-FR" sz="2000" dirty="0"/>
              <a:t>Event Grid fournit des Dead-letter Queues natives par défaut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6755184" cy="1323439"/>
          </a:xfrm>
          <a:prstGeom prst="rect">
            <a:avLst/>
          </a:prstGeom>
          <a:noFill/>
        </p:spPr>
        <p:txBody>
          <a:bodyPr wrap="square">
            <a:spAutoFit/>
          </a:bodyPr>
          <a:lstStyle/>
          <a:p>
            <a:pPr>
              <a:defRPr sz="1600"/>
            </a:pPr>
            <a:r>
              <a:rPr dirty="0"/>
              <a:t>Event Grid est conçu pour distribuer rapidement des notifications d'événements (faits qui se sont produits) à de multiples abonnés. Service Bus est orienté messagerie métier : il offre des transactions, des Sessions FIFO, des Dead-letter Queues et des garanties de traitement unique. Event Grid ne supporte ni transactions ni Sessions.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7417" y="164672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format est utilisé par défaut pour les événements Event Grid ?</a:t>
            </a:r>
            <a:endParaRPr lang="fr-FR" sz="2000" dirty="0"/>
          </a:p>
          <a:p>
            <a:pPr marL="457200" indent="-457200">
              <a:buFont typeface="+mj-lt"/>
              <a:buAutoNum type="arabicPeriod"/>
              <a:defRPr sz="2400"/>
            </a:pPr>
            <a:r>
              <a:rPr lang="fr-FR" sz="2000" dirty="0"/>
              <a:t>XML</a:t>
            </a:r>
          </a:p>
          <a:p>
            <a:pPr marL="457200" indent="-457200">
              <a:buFont typeface="+mj-lt"/>
              <a:buAutoNum type="arabicPeriod"/>
              <a:defRPr sz="2400"/>
            </a:pPr>
            <a:r>
              <a:rPr lang="fr-FR" sz="2000" dirty="0"/>
              <a:t>YAML</a:t>
            </a:r>
          </a:p>
          <a:p>
            <a:pPr marL="457200" indent="-457200">
              <a:buFont typeface="+mj-lt"/>
              <a:buAutoNum type="arabicPeriod"/>
              <a:defRPr sz="2400"/>
            </a:pPr>
            <a:r>
              <a:rPr lang="fr-FR" sz="2000" dirty="0"/>
              <a:t>JSON</a:t>
            </a:r>
          </a:p>
          <a:p>
            <a:pPr marL="457200" indent="-457200">
              <a:buFont typeface="+mj-lt"/>
              <a:buAutoNum type="arabicPeriod"/>
              <a:defRPr sz="2400"/>
            </a:pPr>
            <a:r>
              <a:rPr lang="fr-FR" sz="2000" dirty="0"/>
              <a:t>CSV</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7469058" cy="830997"/>
          </a:xfrm>
          <a:prstGeom prst="rect">
            <a:avLst/>
          </a:prstGeom>
          <a:noFill/>
        </p:spPr>
        <p:txBody>
          <a:bodyPr wrap="square">
            <a:spAutoFit/>
          </a:bodyPr>
          <a:lstStyle/>
          <a:p>
            <a:pPr>
              <a:defRPr sz="1600"/>
            </a:pPr>
            <a:r>
              <a:rPr dirty="0"/>
              <a:t>Les événements Event Grid sont transmis au format JSON. Deux schémas sont supportés : le schéma natif Event Grid (avec des champs comme id, eventType, subject, data) et le schéma CloudEvents 1.0 (standard CNCF). XML, YAML et CSV ne sont pas supportés.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30262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Vous souhaitez déclencher une Azure Function lorsqu'un fichier est ajouté dans un Blob Storage. Quel service est le plus adapté ?</a:t>
            </a:r>
            <a:endParaRPr lang="fr-FR" sz="2000" dirty="0"/>
          </a:p>
          <a:p>
            <a:pPr marL="457200" indent="-457200">
              <a:buFont typeface="+mj-lt"/>
              <a:buAutoNum type="arabicPeriod"/>
              <a:defRPr sz="2400"/>
            </a:pPr>
            <a:r>
              <a:rPr lang="fr-FR" sz="2000" dirty="0"/>
              <a:t>Azure Event Grid</a:t>
            </a:r>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Batch</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224416" cy="1323439"/>
          </a:xfrm>
          <a:prstGeom prst="rect">
            <a:avLst/>
          </a:prstGeom>
          <a:noFill/>
        </p:spPr>
        <p:txBody>
          <a:bodyPr wrap="square">
            <a:spAutoFit/>
          </a:bodyPr>
          <a:lstStyle/>
          <a:p>
            <a:pPr>
              <a:defRPr sz="1600"/>
            </a:pPr>
            <a:r>
              <a:rPr dirty="0"/>
              <a:t>Event Grid est conçu pour réagir aux événements Azure tels que BlobCreated. Blob Storage publie automatiquement cet événement dans Event Grid, qui le route vers la Function cible avec une latence très faible. Event Hub convient au streaming massif, Service Bus Queue aux commandes métier, et Azure Batch à l'exécution de jobs de calcul.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57417"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élément permet de filtrer les événements reçus par un abonnement Event Grid ?</a:t>
            </a:r>
            <a:endParaRPr lang="fr-FR" sz="2000" dirty="0"/>
          </a:p>
          <a:p>
            <a:pPr marL="457200" indent="-457200">
              <a:buFont typeface="+mj-lt"/>
              <a:buAutoNum type="arabicPeriod"/>
              <a:defRPr sz="2400"/>
            </a:pPr>
            <a:r>
              <a:rPr lang="fr-FR" sz="2000" dirty="0"/>
              <a:t>Consumer Group</a:t>
            </a:r>
          </a:p>
          <a:p>
            <a:pPr marL="457200" indent="-457200">
              <a:buFont typeface="+mj-lt"/>
              <a:buAutoNum type="arabicPeriod"/>
              <a:defRPr sz="2400"/>
            </a:pPr>
            <a:r>
              <a:rPr lang="fr-FR" sz="2000" dirty="0"/>
              <a:t>Advanced Filters</a:t>
            </a:r>
          </a:p>
          <a:p>
            <a:pPr marL="457200" indent="-457200">
              <a:buFont typeface="+mj-lt"/>
              <a:buAutoNum type="arabicPeriod"/>
              <a:defRPr sz="2400"/>
            </a:pPr>
            <a:r>
              <a:rPr lang="fr-FR" sz="2000" dirty="0"/>
              <a:t>Sessions</a:t>
            </a:r>
          </a:p>
          <a:p>
            <a:pPr marL="457200" indent="-457200">
              <a:buFont typeface="+mj-lt"/>
              <a:buAutoNum type="arabicPeriod"/>
              <a:defRPr sz="2400"/>
            </a:pPr>
            <a:r>
              <a:rPr lang="fr-FR" sz="2000" dirty="0"/>
              <a:t>Partitions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280563" cy="1323439"/>
          </a:xfrm>
          <a:prstGeom prst="rect">
            <a:avLst/>
          </a:prstGeom>
          <a:noFill/>
        </p:spPr>
        <p:txBody>
          <a:bodyPr wrap="square">
            <a:spAutoFit/>
          </a:bodyPr>
          <a:lstStyle/>
          <a:p>
            <a:pPr>
              <a:defRPr sz="1600"/>
            </a:pPr>
            <a:r>
              <a:rPr dirty="0"/>
              <a:t>Les Advanced Filters permettent de sélectionner uniquement certains événements selon des critères sur les propriétés du payload JSON (opérateurs : StringContains, NumberGreaterThan, BoolEquals, etc.). Les filtres de base filtrent par eventType ou subject (Begins With / Ends With). Consumer Groups, Sessions et Partitions sont des concepts Event Hub ou Service Bus, absents d'Event Grid.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9396" y="224830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permet à Event Grid de distribuer les événements à plusieurs abonnés ?</a:t>
            </a:r>
            <a:endParaRPr lang="fr-FR" sz="2000" dirty="0"/>
          </a:p>
          <a:p>
            <a:pPr marL="457200" indent="-457200">
              <a:buFont typeface="+mj-lt"/>
              <a:buAutoNum type="arabicPeriod"/>
              <a:defRPr sz="2400"/>
            </a:pPr>
            <a:r>
              <a:rPr lang="fr-FR" sz="2000" dirty="0"/>
              <a:t>Consumer Groups</a:t>
            </a:r>
          </a:p>
          <a:p>
            <a:pPr marL="457200" indent="-457200">
              <a:buFont typeface="+mj-lt"/>
              <a:buAutoNum type="arabicPeriod"/>
              <a:defRPr sz="2400"/>
            </a:pPr>
            <a:r>
              <a:rPr lang="fr-FR" sz="2000" dirty="0"/>
              <a:t>Event Subscriptions</a:t>
            </a:r>
          </a:p>
          <a:p>
            <a:pPr marL="457200" indent="-457200">
              <a:buFont typeface="+mj-lt"/>
              <a:buAutoNum type="arabicPeriod"/>
              <a:defRPr sz="2400"/>
            </a:pPr>
            <a:r>
              <a:rPr lang="fr-FR" sz="2000" dirty="0"/>
              <a:t>Sessions</a:t>
            </a:r>
          </a:p>
          <a:p>
            <a:pPr marL="457200" indent="-457200">
              <a:buFont typeface="+mj-lt"/>
              <a:buAutoNum type="arabicPeriod"/>
              <a:defRPr sz="2400"/>
            </a:pPr>
            <a:r>
              <a:rPr lang="fr-FR" sz="2000" dirty="0"/>
              <a:t>Partitions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340721" cy="1077218"/>
          </a:xfrm>
          <a:prstGeom prst="rect">
            <a:avLst/>
          </a:prstGeom>
          <a:noFill/>
        </p:spPr>
        <p:txBody>
          <a:bodyPr wrap="square">
            <a:spAutoFit/>
          </a:bodyPr>
          <a:lstStyle/>
          <a:p>
            <a:pPr>
              <a:defRPr sz="1600"/>
            </a:pPr>
            <a:r>
              <a:rPr dirty="0"/>
              <a:t>Chaque Event Subscription reçoit indépendamment les événements correspondant à ses filtres. Un même Topic peut avoir N Subscriptions pointant vers des destinations différentes (une Function, un Webhook, une Service Bus Queue, etc.). C'est le mécanisme central du Pub/Sub d'Event Grid.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5" y="224830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type de source permet à une application métier de publier ses propres événements dans Event Grid ?</a:t>
            </a:r>
            <a:endParaRPr lang="fr-FR" sz="2000" dirty="0"/>
          </a:p>
          <a:p>
            <a:pPr marL="457200" indent="-457200">
              <a:buFont typeface="+mj-lt"/>
              <a:buAutoNum type="arabicPeriod"/>
              <a:defRPr sz="2400"/>
            </a:pPr>
            <a:r>
              <a:rPr lang="fr-FR" sz="2000" dirty="0"/>
              <a:t>Custom Topic</a:t>
            </a:r>
          </a:p>
          <a:p>
            <a:pPr marL="457200" indent="-457200">
              <a:buFont typeface="+mj-lt"/>
              <a:buAutoNum type="arabicPeriod"/>
              <a:defRPr sz="2400"/>
            </a:pPr>
            <a:r>
              <a:rPr lang="fr-FR" sz="2000" dirty="0"/>
              <a:t>Consumer Group</a:t>
            </a:r>
          </a:p>
          <a:p>
            <a:pPr marL="457200" indent="-457200">
              <a:buFont typeface="+mj-lt"/>
              <a:buAutoNum type="arabicPeriod"/>
              <a:defRPr sz="2400"/>
            </a:pPr>
            <a:r>
              <a:rPr lang="fr-FR" sz="2000" dirty="0"/>
              <a:t>Namespace Queue</a:t>
            </a:r>
          </a:p>
          <a:p>
            <a:pPr marL="457200" indent="-457200">
              <a:buFont typeface="+mj-lt"/>
              <a:buAutoNum type="arabicPeriod"/>
              <a:defRPr sz="2400"/>
            </a:pPr>
            <a:r>
              <a:rPr lang="fr-FR" sz="2000" dirty="0"/>
              <a:t>Event Processor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609426" cy="1323439"/>
          </a:xfrm>
          <a:prstGeom prst="rect">
            <a:avLst/>
          </a:prstGeom>
          <a:noFill/>
        </p:spPr>
        <p:txBody>
          <a:bodyPr wrap="square">
            <a:spAutoFit/>
          </a:bodyPr>
          <a:lstStyle/>
          <a:p>
            <a:pPr>
              <a:defRPr sz="1600"/>
            </a:pPr>
            <a:r>
              <a:rPr dirty="0"/>
              <a:t>Les Custom Topics permettent aux applications de publier leurs propres événements métier dans Event Grid via une requête HTTP POST vers l'endpoint du Topic. Contrairement aux System Topics (gérés automatiquement par les services Azure), un Custom Topic est entièrement sous le contrôle du développeur qui définit le schéma et publie les événements.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9449" y="195334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le plus approprié pour distribuer des notifications de création de ressources Azure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Event Grid</a:t>
            </a:r>
          </a:p>
          <a:p>
            <a:pPr marL="457200" indent="-457200">
              <a:buFont typeface="+mj-lt"/>
              <a:buAutoNum type="arabicPeriod"/>
              <a:defRPr sz="2400"/>
            </a:pPr>
            <a:r>
              <a:rPr lang="fr-FR" sz="2000" dirty="0"/>
              <a:t>Azure Data Factory</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645226" y="4475018"/>
            <a:ext cx="7613437" cy="1569660"/>
          </a:xfrm>
          <a:prstGeom prst="rect">
            <a:avLst/>
          </a:prstGeom>
          <a:noFill/>
        </p:spPr>
        <p:txBody>
          <a:bodyPr wrap="square">
            <a:spAutoFit/>
          </a:bodyPr>
          <a:lstStyle/>
          <a:p>
            <a:pPr>
              <a:defRPr sz="1600"/>
            </a:pPr>
            <a:r>
              <a:rPr dirty="0"/>
              <a:t>Event Grid intègre nativement les événements du management Azure via Azure Subscriptions et Resource Groups comme sources système. Les événements de création, modification ou suppression de ressources (ex: Microsoft.Resources.ResourceWriteSuccess) sont automatiquement publiés sans configuration supplémentaire. Event Hub et Service Bus ne disposent pas de cette intégration native.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60523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destination Event Grid permet d'envoyer directement un événement vers un endpoint HTTP ?</a:t>
            </a:r>
            <a:endParaRPr lang="fr-FR" sz="2000" dirty="0"/>
          </a:p>
          <a:p>
            <a:pPr marL="457200" indent="-457200">
              <a:buFont typeface="+mj-lt"/>
              <a:buAutoNum type="arabicPeriod"/>
              <a:defRPr sz="2400"/>
            </a:pPr>
            <a:r>
              <a:rPr lang="fr-FR" sz="2000" dirty="0"/>
              <a:t>Consumer Group</a:t>
            </a:r>
          </a:p>
          <a:p>
            <a:pPr marL="457200" indent="-457200">
              <a:buFont typeface="+mj-lt"/>
              <a:buAutoNum type="arabicPeriod"/>
              <a:defRPr sz="2400"/>
            </a:pPr>
            <a:r>
              <a:rPr lang="fr-FR" sz="2000" dirty="0"/>
              <a:t>Webhook</a:t>
            </a:r>
          </a:p>
          <a:p>
            <a:pPr marL="457200" indent="-457200">
              <a:buFont typeface="+mj-lt"/>
              <a:buAutoNum type="arabicPeriod"/>
              <a:defRPr sz="2400"/>
            </a:pPr>
            <a:r>
              <a:rPr lang="fr-FR" sz="2000" dirty="0"/>
              <a:t>Partition</a:t>
            </a:r>
          </a:p>
          <a:p>
            <a:pPr marL="457200" indent="-457200">
              <a:buFont typeface="+mj-lt"/>
              <a:buAutoNum type="arabicPeriod"/>
              <a:defRPr sz="2400"/>
            </a:pPr>
            <a:r>
              <a:rPr lang="fr-FR" sz="2000" dirty="0"/>
              <a:t>Checkpoint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645521" cy="1323439"/>
          </a:xfrm>
          <a:prstGeom prst="rect">
            <a:avLst/>
          </a:prstGeom>
          <a:noFill/>
        </p:spPr>
        <p:txBody>
          <a:bodyPr wrap="square">
            <a:spAutoFit/>
          </a:bodyPr>
          <a:lstStyle/>
          <a:p>
            <a:pPr>
              <a:defRPr sz="1600"/>
            </a:pPr>
            <a:r>
              <a:rPr dirty="0"/>
              <a:t>Les Webhooks sont des destinations natives d'Event Grid : l'événement est transmis par une requête HTTP POST vers l'URL configurée. L'endpoint doit répondre avec un code 200-299 pour confirmer la réception. Event Grid exige également une validation préalable de l'endpoint via un Validation Event. Consumer Group, Partition et Checkpoint sont des concepts Event Hub.</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4" y="229241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garantie Event Grid fournit-il concernant la livraison des événements ?</a:t>
            </a:r>
            <a:endParaRPr lang="fr-FR" sz="2000" dirty="0"/>
          </a:p>
          <a:p>
            <a:pPr marL="457200" indent="-457200">
              <a:buFont typeface="+mj-lt"/>
              <a:buAutoNum type="arabicPeriod"/>
              <a:defRPr sz="2400"/>
            </a:pPr>
            <a:r>
              <a:rPr lang="fr-FR" sz="2000" dirty="0"/>
              <a:t>Au plus une fois</a:t>
            </a:r>
          </a:p>
          <a:p>
            <a:pPr marL="457200" indent="-457200">
              <a:buFont typeface="+mj-lt"/>
              <a:buAutoNum type="arabicPeriod"/>
              <a:defRPr sz="2400"/>
            </a:pPr>
            <a:r>
              <a:rPr lang="fr-FR" sz="2000" dirty="0"/>
              <a:t>Exactement une fois</a:t>
            </a:r>
          </a:p>
          <a:p>
            <a:pPr marL="457200" indent="-457200">
              <a:buFont typeface="+mj-lt"/>
              <a:buAutoNum type="arabicPeriod"/>
              <a:defRPr sz="2400"/>
            </a:pPr>
            <a:r>
              <a:rPr lang="fr-FR" sz="2000" dirty="0"/>
              <a:t>Au moins une fois</a:t>
            </a:r>
          </a:p>
          <a:p>
            <a:pPr marL="457200" indent="-457200">
              <a:buFont typeface="+mj-lt"/>
              <a:buAutoNum type="arabicPeriod"/>
              <a:defRPr sz="2400"/>
            </a:pPr>
            <a:r>
              <a:rPr lang="fr-FR" sz="2000" dirty="0"/>
              <a:t>FIFO global</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7701668" cy="1323439"/>
          </a:xfrm>
          <a:prstGeom prst="rect">
            <a:avLst/>
          </a:prstGeom>
          <a:noFill/>
        </p:spPr>
        <p:txBody>
          <a:bodyPr wrap="square">
            <a:spAutoFit/>
          </a:bodyPr>
          <a:lstStyle/>
          <a:p>
            <a:pPr>
              <a:defRPr sz="1600"/>
            </a:pPr>
            <a:r>
              <a:rPr dirty="0"/>
              <a:t>Event Grid garantit une livraison au moins une fois (at-least-once). En cas d'échec de livraison, il effectue plusieurs tentatives selon une politique de retry exponentielle (jusqu'à 24h ou 30 tentatives). Cela implique qu'un même événement peut être livré plusieurs fois, d'où l'obligation pour les abonnés d'être idempotents. La livraison exactement une fois n'est pas garantie.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5438" y="222424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Pourquoi une application utilisant Event Grid doit-elle être idempotente ?</a:t>
            </a:r>
            <a:endParaRPr lang="fr-FR" sz="2000" dirty="0"/>
          </a:p>
          <a:p>
            <a:pPr marL="457200" indent="-457200">
              <a:buFont typeface="+mj-lt"/>
              <a:buAutoNum type="arabicPeriod"/>
              <a:defRPr sz="2400"/>
            </a:pPr>
            <a:r>
              <a:rPr lang="fr-FR" sz="2000" dirty="0"/>
              <a:t>Parce que les événements peuvent être livrés plusieurs fois</a:t>
            </a:r>
          </a:p>
          <a:p>
            <a:pPr marL="457200" indent="-457200">
              <a:buFont typeface="+mj-lt"/>
              <a:buAutoNum type="arabicPeriod"/>
              <a:defRPr sz="2400"/>
            </a:pPr>
            <a:r>
              <a:rPr lang="fr-FR" sz="2000" dirty="0"/>
              <a:t>Parce que les événements sont toujours désordonnés</a:t>
            </a:r>
          </a:p>
          <a:p>
            <a:pPr marL="457200" indent="-457200">
              <a:buFont typeface="+mj-lt"/>
              <a:buAutoNum type="arabicPeriod"/>
              <a:defRPr sz="2400"/>
            </a:pPr>
            <a:r>
              <a:rPr lang="fr-FR" sz="2000" dirty="0"/>
              <a:t>Parce que les événements expirent immédiatement</a:t>
            </a:r>
          </a:p>
          <a:p>
            <a:pPr marL="457200" indent="-457200">
              <a:buFont typeface="+mj-lt"/>
              <a:buAutoNum type="arabicPeriod"/>
              <a:defRPr sz="2400"/>
            </a:pPr>
            <a:r>
              <a:rPr lang="fr-FR" sz="2000" dirty="0"/>
              <a:t>Parce qu'il n'y a pas de JSON</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6" y="4930239"/>
            <a:ext cx="7386771" cy="1569660"/>
          </a:xfrm>
          <a:prstGeom prst="rect">
            <a:avLst/>
          </a:prstGeom>
          <a:noFill/>
        </p:spPr>
        <p:txBody>
          <a:bodyPr wrap="square">
            <a:spAutoFit/>
          </a:bodyPr>
          <a:lstStyle/>
          <a:p>
            <a:pPr>
              <a:defRPr sz="1600"/>
            </a:pPr>
            <a:r>
              <a:rPr dirty="0"/>
              <a:t>La livraison at-least-once implique la possibilité de doublons : un même événement peut être reçu plusieurs fois en cas de retry. Une application idempotente produit le même résultat qu'elle traite l'événement une ou plusieurs fois (ex : vérifier si un enregistrement existe déjà avant de l'insérer). Les options 2, 3 et 4 sont incorrectes : Event Grid ne garantit pas l'ordre mais ne le désordonne pas intentionnellement, les événements ne sont pas éphémères, et le format JSON est bien utilisé.</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9448" y="165875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mécanisme permet à Event Grid de vérifier qu'un Webhook appartient bien au destinataire ?</a:t>
            </a:r>
            <a:endParaRPr lang="fr-FR" sz="2000" dirty="0"/>
          </a:p>
          <a:p>
            <a:pPr marL="457200" indent="-457200">
              <a:buFont typeface="+mj-lt"/>
              <a:buAutoNum type="arabicPeriod"/>
              <a:defRPr sz="2400"/>
            </a:pPr>
            <a:r>
              <a:rPr lang="fr-FR" sz="2000" dirty="0"/>
              <a:t>Validation Event</a:t>
            </a:r>
          </a:p>
          <a:p>
            <a:pPr marL="457200" indent="-457200">
              <a:buFont typeface="+mj-lt"/>
              <a:buAutoNum type="arabicPeriod"/>
              <a:defRPr sz="2400"/>
            </a:pPr>
            <a:r>
              <a:rPr lang="fr-FR" sz="2000" dirty="0"/>
              <a:t>Consumer Group</a:t>
            </a:r>
          </a:p>
          <a:p>
            <a:pPr marL="457200" indent="-457200">
              <a:buFont typeface="+mj-lt"/>
              <a:buAutoNum type="arabicPeriod"/>
              <a:defRPr sz="2400"/>
            </a:pPr>
            <a:r>
              <a:rPr lang="fr-FR" sz="2000" dirty="0"/>
              <a:t>Dead Letter Queue</a:t>
            </a:r>
          </a:p>
          <a:p>
            <a:pPr marL="457200" indent="-457200">
              <a:buFont typeface="+mj-lt"/>
              <a:buAutoNum type="arabicPeriod"/>
              <a:defRPr sz="2400"/>
            </a:pPr>
            <a:r>
              <a:rPr lang="fr-FR" sz="2000" dirty="0"/>
              <a:t>Checkpoint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6" y="4930239"/>
            <a:ext cx="7128163" cy="1323439"/>
          </a:xfrm>
          <a:prstGeom prst="rect">
            <a:avLst/>
          </a:prstGeom>
          <a:noFill/>
        </p:spPr>
        <p:txBody>
          <a:bodyPr wrap="square">
            <a:spAutoFit/>
          </a:bodyPr>
          <a:lstStyle/>
          <a:p>
            <a:pPr>
              <a:defRPr sz="1600"/>
            </a:pPr>
            <a:r>
              <a:rPr dirty="0"/>
              <a:t>Lors de la création d'un abonnement Webhook, Event Grid envoie un Validation Event contenant un validationCode. L'endpoint doit renvoyer ce code dans sa réponse HTTP pour prouver qu'il contrôle bien l'URL. Ce mécanisme évite qu'un attaquant utilise Event Grid pour envoyer des requêtes non sollicitées vers des endpoints tiers.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événement Blob Storage est couramment utilisé dans les exemples AZ-204 ?</a:t>
            </a:r>
            <a:endParaRPr lang="fr-FR" sz="2000" dirty="0"/>
          </a:p>
          <a:p>
            <a:pPr marL="457200" indent="-457200">
              <a:buFont typeface="+mj-lt"/>
              <a:buAutoNum type="arabicPeriod"/>
              <a:defRPr sz="2400"/>
            </a:pPr>
            <a:r>
              <a:rPr lang="fr-FR" sz="2000" dirty="0"/>
              <a:t>BlobCreated</a:t>
            </a:r>
          </a:p>
          <a:p>
            <a:pPr marL="457200" indent="-457200">
              <a:buFont typeface="+mj-lt"/>
              <a:buAutoNum type="arabicPeriod"/>
              <a:defRPr sz="2400"/>
            </a:pPr>
            <a:r>
              <a:rPr lang="fr-FR" sz="2000" dirty="0"/>
              <a:t>BlobPartitioned</a:t>
            </a:r>
          </a:p>
          <a:p>
            <a:pPr marL="457200" indent="-457200">
              <a:buFont typeface="+mj-lt"/>
              <a:buAutoNum type="arabicPeriod"/>
              <a:defRPr sz="2400"/>
            </a:pPr>
            <a:r>
              <a:rPr lang="fr-FR" sz="2000" dirty="0"/>
              <a:t>BlobIndexed</a:t>
            </a:r>
          </a:p>
          <a:p>
            <a:pPr marL="457200" indent="-457200">
              <a:buFont typeface="+mj-lt"/>
              <a:buAutoNum type="arabicPeriod"/>
              <a:defRPr sz="2400"/>
            </a:pPr>
            <a:r>
              <a:rPr lang="fr-FR" sz="2000" dirty="0"/>
              <a:t>BlobReplicated</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436974" cy="1077218"/>
          </a:xfrm>
          <a:prstGeom prst="rect">
            <a:avLst/>
          </a:prstGeom>
          <a:noFill/>
        </p:spPr>
        <p:txBody>
          <a:bodyPr wrap="square">
            <a:spAutoFit/>
          </a:bodyPr>
          <a:lstStyle/>
          <a:p>
            <a:pPr>
              <a:defRPr sz="1600"/>
            </a:pPr>
            <a:r>
              <a:rPr dirty="0"/>
              <a:t>BlobCreated est l'un des événements les plus utilisés dans les labs AZ-204. Il est déclenché lors de l'upload ou de la copie d'un blob. BlobDeleted est le second événement natif de Blob Storage. BlobPartitioned, BlobIndexed et BlobReplicated n'existent pas comme types d'événements Event Grid natifs.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permet de consommer des événements Event Grid sans écrire de code ?</a:t>
            </a:r>
            <a:endParaRPr lang="fr-FR" sz="2000" dirty="0"/>
          </a:p>
          <a:p>
            <a:pPr marL="457200" indent="-457200">
              <a:buFont typeface="+mj-lt"/>
              <a:buAutoNum type="arabicPeriod"/>
              <a:defRPr sz="2400"/>
            </a:pPr>
            <a:r>
              <a:rPr lang="fr-FR" sz="2000" dirty="0"/>
              <a:t>Azure Kubernetes Service</a:t>
            </a:r>
          </a:p>
          <a:p>
            <a:pPr marL="457200" indent="-457200">
              <a:buFont typeface="+mj-lt"/>
              <a:buAutoNum type="arabicPeriod"/>
              <a:defRPr sz="2400"/>
            </a:pPr>
            <a:r>
              <a:rPr lang="fr-FR" sz="2000" dirty="0"/>
              <a:t>Azure Bastion</a:t>
            </a:r>
          </a:p>
          <a:p>
            <a:pPr marL="457200" indent="-457200">
              <a:buFont typeface="+mj-lt"/>
              <a:buAutoNum type="arabicPeriod"/>
              <a:defRPr sz="2400"/>
            </a:pPr>
            <a:r>
              <a:rPr lang="fr-FR" sz="2000" dirty="0"/>
              <a:t>Azure Logic Apps</a:t>
            </a:r>
          </a:p>
          <a:p>
            <a:pPr marL="457200" indent="-457200">
              <a:buFont typeface="+mj-lt"/>
              <a:buAutoNum type="arabicPeriod"/>
              <a:defRPr sz="2400"/>
            </a:pPr>
            <a:r>
              <a:rPr lang="fr-FR" sz="2000" dirty="0"/>
              <a:t>Azure DNS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6851437" cy="1323439"/>
          </a:xfrm>
          <a:prstGeom prst="rect">
            <a:avLst/>
          </a:prstGeom>
          <a:noFill/>
        </p:spPr>
        <p:txBody>
          <a:bodyPr wrap="square">
            <a:spAutoFit/>
          </a:bodyPr>
          <a:lstStyle/>
          <a:p>
            <a:pPr>
              <a:defRPr sz="1600"/>
            </a:pPr>
            <a:r>
              <a:rPr dirty="0"/>
              <a:t>Logic Apps peut réagir directement aux événements Event Grid via son connecteur natif, sans écrire une seule ligne de code. Le déclencheur 'When a resource event occurs' permet de construire des workflows visuels activés par n'importe quel événement Event Grid. AKS, Bastion et DNS ne proposent pas de connecteur Event Grid.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5" y="256513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Vous devez diffuser un événement à 5 applications différentes avec une latence minimale. Quel service choisir ?</a:t>
            </a:r>
            <a:endParaRPr lang="fr-FR" sz="2000" dirty="0"/>
          </a:p>
          <a:p>
            <a:pPr marL="457200" indent="-457200">
              <a:buFont typeface="+mj-lt"/>
              <a:buAutoNum type="arabicPeriod"/>
              <a:defRPr sz="2400"/>
            </a:pPr>
            <a:r>
              <a:rPr lang="fr-FR" sz="2000" dirty="0"/>
              <a:t>Azure Storage Queue</a:t>
            </a:r>
          </a:p>
          <a:p>
            <a:pPr marL="457200" indent="-457200">
              <a:buFont typeface="+mj-lt"/>
              <a:buAutoNum type="arabicPeriod"/>
              <a:defRPr sz="2400"/>
            </a:pPr>
            <a:r>
              <a:rPr lang="fr-FR" sz="2000" dirty="0"/>
              <a:t>Azure Files</a:t>
            </a:r>
          </a:p>
          <a:p>
            <a:pPr marL="457200" indent="-457200">
              <a:buFont typeface="+mj-lt"/>
              <a:buAutoNum type="arabicPeriod"/>
              <a:defRPr sz="2400"/>
            </a:pPr>
            <a:r>
              <a:rPr lang="fr-FR" sz="2000" dirty="0"/>
              <a:t>Azure Event Grid</a:t>
            </a:r>
          </a:p>
          <a:p>
            <a:pPr marL="457200" indent="-457200">
              <a:buFont typeface="+mj-lt"/>
              <a:buAutoNum type="arabicPeriod"/>
              <a:defRPr sz="2400"/>
            </a:pPr>
            <a:r>
              <a:rPr lang="fr-FR" sz="2000" dirty="0"/>
              <a:t>Azure SQL Database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7268531" cy="1077218"/>
          </a:xfrm>
          <a:prstGeom prst="rect">
            <a:avLst/>
          </a:prstGeom>
          <a:noFill/>
        </p:spPr>
        <p:txBody>
          <a:bodyPr wrap="square">
            <a:spAutoFit/>
          </a:bodyPr>
          <a:lstStyle/>
          <a:p>
            <a:pPr>
              <a:defRPr sz="1600"/>
            </a:pPr>
            <a:r>
              <a:rPr dirty="0"/>
              <a:t>Event Grid est optimisé pour la diffusion rapide à plusieurs abonnés simultanément. Il pousse (push) les événements vers tous les abonnés d'un Topic en parallèle avec une latence proche de la milliseconde. Storage Queue impose du polling, Azure Files est un stockage réseau, et SQL Database n'est pas un service de messagerie.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52503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différence majeure existe entre Event Grid et Event Hub ?</a:t>
            </a:r>
            <a:endParaRPr lang="fr-FR" sz="2000" dirty="0"/>
          </a:p>
          <a:p>
            <a:pPr marL="457200" indent="-457200">
              <a:buFont typeface="+mj-lt"/>
              <a:buAutoNum type="arabicPeriod"/>
              <a:defRPr sz="2400"/>
            </a:pPr>
            <a:r>
              <a:rPr lang="fr-FR" sz="2000" dirty="0"/>
              <a:t>Event Grid stocke les événements pendant plusieurs jours</a:t>
            </a:r>
          </a:p>
          <a:p>
            <a:pPr marL="457200" indent="-457200">
              <a:buFont typeface="+mj-lt"/>
              <a:buAutoNum type="arabicPeriod"/>
              <a:defRPr sz="2400"/>
            </a:pPr>
            <a:r>
              <a:rPr lang="fr-FR" sz="2000" dirty="0"/>
              <a:t>Event Grid utilise des Consumer Groups</a:t>
            </a:r>
          </a:p>
          <a:p>
            <a:pPr marL="457200" indent="-457200">
              <a:buFont typeface="+mj-lt"/>
              <a:buAutoNum type="arabicPeriod"/>
              <a:defRPr sz="2400"/>
            </a:pPr>
            <a:r>
              <a:rPr lang="fr-FR" sz="2000" dirty="0"/>
              <a:t>Event Grid est conçu pour le streaming massif</a:t>
            </a:r>
          </a:p>
          <a:p>
            <a:pPr marL="457200" indent="-457200">
              <a:buFont typeface="+mj-lt"/>
              <a:buAutoNum type="arabicPeriod"/>
              <a:defRPr sz="2400"/>
            </a:pPr>
            <a:r>
              <a:rPr lang="fr-FR" sz="2000" dirty="0"/>
              <a:t>Event Grid est un service de notification d'événements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432963" cy="1323439"/>
          </a:xfrm>
          <a:prstGeom prst="rect">
            <a:avLst/>
          </a:prstGeom>
          <a:noFill/>
        </p:spPr>
        <p:txBody>
          <a:bodyPr wrap="square">
            <a:spAutoFit/>
          </a:bodyPr>
          <a:lstStyle/>
          <a:p>
            <a:pPr>
              <a:defRPr sz="1600"/>
            </a:pPr>
            <a:r>
              <a:rPr dirty="0"/>
              <a:t>Event Grid distribue des notifications d'événements discrets (faits ponctuels) à faible latence vers des abonnés, tandis qu'Event Hub gère des flux massifs continus de données (télémétrie, logs IoT). Event Grid ne stocke pas les événements, n'utilise pas de Consumer Groups, et n'est pas conçu pour le streaming haute volumétrie — c'est précisément le rôle d'Event Hub.</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9396" y="260524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type de filtrage permet de sélectionner uniquement les événements dont le sujet commence par une valeur donnée ?</a:t>
            </a:r>
            <a:endParaRPr lang="fr-FR" sz="2000" dirty="0"/>
          </a:p>
          <a:p>
            <a:pPr marL="457200" indent="-457200">
              <a:buFont typeface="+mj-lt"/>
              <a:buAutoNum type="arabicPeriod"/>
              <a:defRPr sz="2400"/>
            </a:pPr>
            <a:r>
              <a:rPr lang="fr-FR" sz="2000" dirty="0"/>
              <a:t>Subject Begins With</a:t>
            </a:r>
          </a:p>
          <a:p>
            <a:pPr marL="457200" indent="-457200">
              <a:buFont typeface="+mj-lt"/>
              <a:buAutoNum type="arabicPeriod"/>
              <a:defRPr sz="2400"/>
            </a:pPr>
            <a:r>
              <a:rPr lang="fr-FR" sz="2000" dirty="0"/>
              <a:t>Partition Filter</a:t>
            </a:r>
          </a:p>
          <a:p>
            <a:pPr marL="457200" indent="-457200">
              <a:buFont typeface="+mj-lt"/>
              <a:buAutoNum type="arabicPeriod"/>
              <a:defRPr sz="2400"/>
            </a:pPr>
            <a:r>
              <a:rPr lang="fr-FR" sz="2000" dirty="0"/>
              <a:t>Consumer Filter</a:t>
            </a:r>
          </a:p>
          <a:p>
            <a:pPr marL="457200" indent="-457200">
              <a:buFont typeface="+mj-lt"/>
              <a:buAutoNum type="arabicPeriod"/>
              <a:defRPr sz="2400"/>
            </a:pPr>
            <a:r>
              <a:rPr lang="fr-FR" sz="2000" dirty="0"/>
              <a:t>Session Filter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6" y="4930239"/>
            <a:ext cx="7308637" cy="1323439"/>
          </a:xfrm>
          <a:prstGeom prst="rect">
            <a:avLst/>
          </a:prstGeom>
          <a:noFill/>
        </p:spPr>
        <p:txBody>
          <a:bodyPr wrap="square">
            <a:spAutoFit/>
          </a:bodyPr>
          <a:lstStyle/>
          <a:p>
            <a:pPr>
              <a:defRPr sz="1600"/>
            </a:pPr>
            <a:r>
              <a:rPr dirty="0"/>
              <a:t>Les filtres de sujet permettent notamment Subject Begins With et Subject Ends With, appliqués au champ subject de l'événement. Par exemple, pour ne recevoir que les événements concernant les blobs du conteneur 'images', on configure Subject Begins With '/blobServices/default/containers/images'. Partition Filter, Consumer Filter et Session Filter n'existent pas dans Event Grid.</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5438"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composant Azure permet de publier des événements personnalisés dans Event Grid sans créer de Custom Topic individuel ?</a:t>
            </a:r>
            <a:endParaRPr lang="fr-FR" sz="2000" dirty="0"/>
          </a:p>
          <a:p>
            <a:pPr marL="457200" indent="-457200">
              <a:buFont typeface="+mj-lt"/>
              <a:buAutoNum type="arabicPeriod"/>
              <a:defRPr sz="2400"/>
            </a:pPr>
            <a:r>
              <a:rPr lang="fr-FR" sz="2000" dirty="0"/>
              <a:t>Consumer Group</a:t>
            </a:r>
          </a:p>
          <a:p>
            <a:pPr marL="457200" indent="-457200">
              <a:buFont typeface="+mj-lt"/>
              <a:buAutoNum type="arabicPeriod"/>
              <a:defRPr sz="2400"/>
            </a:pPr>
            <a:r>
              <a:rPr lang="fr-FR" sz="2000" dirty="0"/>
              <a:t>Checkpoint Store</a:t>
            </a:r>
          </a:p>
          <a:p>
            <a:pPr marL="457200" indent="-457200">
              <a:buFont typeface="+mj-lt"/>
              <a:buAutoNum type="arabicPeriod"/>
              <a:defRPr sz="2400"/>
            </a:pPr>
            <a:r>
              <a:rPr lang="fr-FR" sz="2000" dirty="0"/>
              <a:t>Storage Queue</a:t>
            </a:r>
          </a:p>
          <a:p>
            <a:pPr marL="457200" indent="-457200">
              <a:buFont typeface="+mj-lt"/>
              <a:buAutoNum type="arabicPeriod"/>
              <a:defRPr sz="2400"/>
            </a:pPr>
            <a:r>
              <a:rPr lang="fr-FR" sz="2000" dirty="0"/>
              <a:t>Event Grid Namespace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7513174" cy="1323439"/>
          </a:xfrm>
          <a:prstGeom prst="rect">
            <a:avLst/>
          </a:prstGeom>
          <a:noFill/>
        </p:spPr>
        <p:txBody>
          <a:bodyPr wrap="square">
            <a:spAutoFit/>
          </a:bodyPr>
          <a:lstStyle/>
          <a:p>
            <a:pPr>
              <a:defRPr sz="1600"/>
            </a:pPr>
            <a:r>
              <a:rPr dirty="0"/>
              <a:t>Les Event Grid Namespaces sont une évolution récente permettant la publication et la consommation d'événements via des topics MQTT ou HTTP regroupés dans un espace logique unique. Contrairement aux Custom Topics individuels, un Namespace centralise la gestion de multiples topics, simplifiant l'administration et la sécurité pour les scénarios multi-producteurs.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9448" y="284186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est généralement préférable lorsqu'une application doit traiter chaque message exactement une seule fois avec support transactionnel ?</a:t>
            </a:r>
            <a:endParaRPr lang="fr-FR" sz="2000" dirty="0"/>
          </a:p>
          <a:p>
            <a:pPr marL="457200" indent="-457200">
              <a:buFont typeface="+mj-lt"/>
              <a:buAutoNum type="arabicPeriod"/>
              <a:defRPr sz="2400"/>
            </a:pPr>
            <a:r>
              <a:rPr lang="fr-FR" sz="2000" dirty="0"/>
              <a:t>Azure Event Grid</a:t>
            </a:r>
          </a:p>
          <a:p>
            <a:pPr marL="457200" indent="-457200">
              <a:buFont typeface="+mj-lt"/>
              <a:buAutoNum type="arabicPeriod"/>
              <a:defRPr sz="2400"/>
            </a:pPr>
            <a:r>
              <a:rPr lang="fr-FR" sz="2000" dirty="0"/>
              <a:t>Azure Event Grid Domain</a:t>
            </a:r>
          </a:p>
          <a:p>
            <a:pPr marL="457200" indent="-457200">
              <a:buFont typeface="+mj-lt"/>
              <a:buAutoNum type="arabicPeriod"/>
              <a:defRPr sz="2400"/>
            </a:pPr>
            <a:r>
              <a:rPr lang="fr-FR" sz="2000" dirty="0"/>
              <a:t>Azure Monitor</a:t>
            </a:r>
          </a:p>
          <a:p>
            <a:pPr marL="457200" indent="-457200">
              <a:buFont typeface="+mj-lt"/>
              <a:buAutoNum type="arabicPeriod"/>
              <a:defRPr sz="2400"/>
            </a:pPr>
            <a:r>
              <a:rPr lang="fr-FR" sz="2000" dirty="0"/>
              <a:t>Azure Service Bus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248479" cy="1323439"/>
          </a:xfrm>
          <a:prstGeom prst="rect">
            <a:avLst/>
          </a:prstGeom>
          <a:noFill/>
        </p:spPr>
        <p:txBody>
          <a:bodyPr wrap="square">
            <a:spAutoFit/>
          </a:bodyPr>
          <a:lstStyle/>
          <a:p>
            <a:pPr>
              <a:defRPr sz="1600"/>
            </a:pPr>
            <a:r>
              <a:rPr dirty="0"/>
              <a:t>Service Bus fournit des fonctionnalités de messagerie avancées absentes d'Event Grid : mode PeekLock pour le traitement contrôlé, Duplicate Detection par MessageId, Sessions pour le FIFO par conversation, et support des transactions atomiques. Event Grid garantit au moins une livraison (risque de doublons) et ne supporte pas les transactions.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81480" y="288597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l'intérêt principal d'un Event Grid Domain ?</a:t>
            </a:r>
            <a:endParaRPr lang="fr-FR" sz="2000" dirty="0"/>
          </a:p>
          <a:p>
            <a:pPr marL="457200" indent="-457200">
              <a:buFont typeface="+mj-lt"/>
              <a:buAutoNum type="arabicPeriod"/>
              <a:defRPr sz="2400"/>
            </a:pPr>
            <a:r>
              <a:rPr lang="fr-FR" sz="2000" dirty="0"/>
              <a:t>Créer des Consumer Groups</a:t>
            </a:r>
          </a:p>
          <a:p>
            <a:pPr marL="457200" indent="-457200">
              <a:buFont typeface="+mj-lt"/>
              <a:buAutoNum type="arabicPeriod"/>
              <a:defRPr sz="2400"/>
            </a:pPr>
            <a:r>
              <a:rPr lang="fr-FR" sz="2000" dirty="0"/>
              <a:t>Stocker les événements plus longtemps</a:t>
            </a:r>
          </a:p>
          <a:p>
            <a:pPr marL="457200" indent="-457200">
              <a:buFont typeface="+mj-lt"/>
              <a:buAutoNum type="arabicPeriod"/>
              <a:defRPr sz="2400"/>
            </a:pPr>
            <a:r>
              <a:rPr lang="fr-FR" sz="2000" dirty="0"/>
              <a:t>Activer les Sessions</a:t>
            </a:r>
          </a:p>
          <a:p>
            <a:pPr marL="457200" indent="-457200">
              <a:buFont typeface="+mj-lt"/>
              <a:buAutoNum type="arabicPeriod"/>
              <a:defRPr sz="2400"/>
            </a:pPr>
            <a:r>
              <a:rPr lang="fr-FR" sz="2000" dirty="0"/>
              <a:t>Gérer un très grand nombre de sujets logiques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7428952" cy="1323439"/>
          </a:xfrm>
          <a:prstGeom prst="rect">
            <a:avLst/>
          </a:prstGeom>
          <a:noFill/>
        </p:spPr>
        <p:txBody>
          <a:bodyPr wrap="square">
            <a:spAutoFit/>
          </a:bodyPr>
          <a:lstStyle/>
          <a:p>
            <a:pPr>
              <a:defRPr sz="1600"/>
            </a:pPr>
            <a:r>
              <a:rPr dirty="0"/>
              <a:t>Les Domains facilitent la gestion de nombreux producteurs ou locataires (jusqu'à 100 000 topics par Domain). Au lieu de créer et gérer des milliers de Custom Topics individuels, un seul Domain expose un endpoint unique et permet de publier des événements vers n'importe quel topic interne via le champ topic du payload. Idéal pour les architectures SaaS multi-tenant.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57315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le plus adapté pour déclencher automatiquement un workflow lors de la suppression d'un fichier dans Blob Storage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Event Grid</a:t>
            </a:r>
          </a:p>
          <a:p>
            <a:pPr marL="457200" indent="-457200">
              <a:buFont typeface="+mj-lt"/>
              <a:buAutoNum type="arabicPeriod"/>
              <a:defRPr sz="2400"/>
            </a:pPr>
            <a:r>
              <a:rPr lang="fr-FR" sz="2000" dirty="0"/>
              <a:t>Azure Cache for Redis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7725731" cy="1323439"/>
          </a:xfrm>
          <a:prstGeom prst="rect">
            <a:avLst/>
          </a:prstGeom>
          <a:noFill/>
        </p:spPr>
        <p:txBody>
          <a:bodyPr wrap="square">
            <a:spAutoFit/>
          </a:bodyPr>
          <a:lstStyle/>
          <a:p>
            <a:pPr>
              <a:defRPr sz="1600"/>
            </a:pPr>
            <a:r>
              <a:rPr dirty="0"/>
              <a:t>Event Grid est spécialement conçu pour réagir aux événements Azure comme BlobDeleted. Blob Storage publie automatiquement cet événement dans Event Grid sans configuration supplémentaire, et Event Grid le route vers le workflow cible (Logic App, Function, etc.) en quelques millisecondes. Les autres services ne disposent pas de cette intégration native avec les événements de cycle de vie des blobs.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9449" y="253706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26</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 se passe-t-il si un endpoint Event Grid ne répond pas correctement ?</a:t>
            </a:r>
            <a:endParaRPr lang="fr-FR" sz="2000" dirty="0"/>
          </a:p>
          <a:p>
            <a:pPr marL="457200" indent="-457200">
              <a:buFont typeface="+mj-lt"/>
              <a:buAutoNum type="arabicPeriod"/>
              <a:defRPr sz="2400"/>
            </a:pPr>
            <a:r>
              <a:rPr lang="fr-FR" sz="2000" dirty="0"/>
              <a:t>L'événement est immédiatement perdu</a:t>
            </a:r>
          </a:p>
          <a:p>
            <a:pPr marL="457200" indent="-457200">
              <a:buFont typeface="+mj-lt"/>
              <a:buAutoNum type="arabicPeriod"/>
              <a:defRPr sz="2400"/>
            </a:pPr>
            <a:r>
              <a:rPr lang="fr-FR" sz="2000" dirty="0"/>
              <a:t>Event Grid effectue plusieurs tentatives de remise</a:t>
            </a:r>
          </a:p>
          <a:p>
            <a:pPr marL="457200" indent="-457200">
              <a:buFont typeface="+mj-lt"/>
              <a:buAutoNum type="arabicPeriod"/>
              <a:defRPr sz="2400"/>
            </a:pPr>
            <a:r>
              <a:rPr lang="fr-FR" sz="2000" dirty="0"/>
              <a:t>Le compte Azure est bloqué</a:t>
            </a:r>
          </a:p>
          <a:p>
            <a:pPr marL="457200" indent="-457200">
              <a:buFont typeface="+mj-lt"/>
              <a:buAutoNum type="arabicPeriod"/>
              <a:defRPr sz="2400"/>
            </a:pPr>
            <a:r>
              <a:rPr lang="fr-FR" sz="2000" dirty="0"/>
              <a:t>Le Topic est supprimé</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457026" cy="1323439"/>
          </a:xfrm>
          <a:prstGeom prst="rect">
            <a:avLst/>
          </a:prstGeom>
          <a:noFill/>
        </p:spPr>
        <p:txBody>
          <a:bodyPr wrap="square">
            <a:spAutoFit/>
          </a:bodyPr>
          <a:lstStyle/>
          <a:p>
            <a:pPr>
              <a:defRPr sz="1600"/>
            </a:pPr>
            <a:r>
              <a:rPr dirty="0"/>
              <a:t>Event Grid implémente automatiquement une stratégie de retry avec backoff exponentiel. Les tentatives s'étendent jusqu'à 24 heures ou 30 essais selon la première limite atteinte. Les codes HTTP 400, 413 et 403 sont considérés comme des échecs non récupérables (pas de retry). Si toutes les tentatives échouent et que le dead-lettering est configuré, l'événement est envoyé vers un Blob Storage de dead-letter.</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7364"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permet de stocker les événements qui n'ont pas pu être remis après plusieurs tentatives ?</a:t>
            </a:r>
            <a:endParaRPr lang="fr-FR" sz="2000" dirty="0"/>
          </a:p>
          <a:p>
            <a:pPr marL="457200" indent="-457200">
              <a:buFont typeface="+mj-lt"/>
              <a:buAutoNum type="arabicPeriod"/>
              <a:defRPr sz="2400"/>
            </a:pPr>
            <a:r>
              <a:rPr lang="fr-FR" sz="2000" dirty="0"/>
              <a:t>Checkpointing</a:t>
            </a:r>
          </a:p>
          <a:p>
            <a:pPr marL="457200" indent="-457200">
              <a:buFont typeface="+mj-lt"/>
              <a:buAutoNum type="arabicPeriod"/>
              <a:defRPr sz="2400"/>
            </a:pPr>
            <a:r>
              <a:rPr lang="fr-FR" sz="2000" dirty="0"/>
              <a:t>Sessions</a:t>
            </a:r>
          </a:p>
          <a:p>
            <a:pPr marL="457200" indent="-457200">
              <a:buFont typeface="+mj-lt"/>
              <a:buAutoNum type="arabicPeriod"/>
              <a:defRPr sz="2400"/>
            </a:pPr>
            <a:r>
              <a:rPr lang="fr-FR" sz="2000" dirty="0"/>
              <a:t>Partition Keys</a:t>
            </a:r>
          </a:p>
          <a:p>
            <a:pPr marL="457200" indent="-457200">
              <a:buFont typeface="+mj-lt"/>
              <a:buAutoNum type="arabicPeriod"/>
              <a:defRPr sz="2400"/>
            </a:pPr>
            <a:r>
              <a:rPr lang="fr-FR" sz="2000" dirty="0"/>
              <a:t>Dead-lettering</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386771" cy="1323439"/>
          </a:xfrm>
          <a:prstGeom prst="rect">
            <a:avLst/>
          </a:prstGeom>
          <a:noFill/>
        </p:spPr>
        <p:txBody>
          <a:bodyPr wrap="square">
            <a:spAutoFit/>
          </a:bodyPr>
          <a:lstStyle/>
          <a:p>
            <a:pPr>
              <a:defRPr sz="1600"/>
            </a:pPr>
            <a:r>
              <a:rPr dirty="0"/>
              <a:t>Event Grid peut envoyer les événements non distribués vers un stockage de dead-letter (un conteneur Azure Blob Storage). Cette fonctionnalité est optionnelle et doit être activée sur l'Event Subscription. Elle permet d'analyser les événements en échec, de corriger l'endpoint défaillant, puis de retraiter les événements archivés. Checkpointing, Sessions et Partition Keys sont des concepts Event Hub ou Service Bus.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114794" y="286592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le plus adapté pour réagir à des événements plutôt que pour transporter des commandes métier ?</a:t>
            </a:r>
            <a:endParaRPr lang="fr-FR" sz="2000" dirty="0"/>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Service Bus Topic</a:t>
            </a:r>
          </a:p>
          <a:p>
            <a:pPr marL="457200" indent="-457200">
              <a:buFont typeface="+mj-lt"/>
              <a:buAutoNum type="arabicPeriod"/>
              <a:defRPr sz="2400"/>
            </a:pPr>
            <a:r>
              <a:rPr lang="fr-FR" sz="2000" dirty="0"/>
              <a:t>Azure SQL Database</a:t>
            </a:r>
          </a:p>
          <a:p>
            <a:pPr marL="457200" indent="-457200">
              <a:buFont typeface="+mj-lt"/>
              <a:buAutoNum type="arabicPeriod"/>
              <a:defRPr sz="2400"/>
            </a:pPr>
            <a:r>
              <a:rPr lang="fr-FR" sz="2000" dirty="0"/>
              <a:t>Azure Event Grid</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521195" cy="1569660"/>
          </a:xfrm>
          <a:prstGeom prst="rect">
            <a:avLst/>
          </a:prstGeom>
          <a:noFill/>
        </p:spPr>
        <p:txBody>
          <a:bodyPr wrap="square">
            <a:spAutoFit/>
          </a:bodyPr>
          <a:lstStyle/>
          <a:p>
            <a:pPr>
              <a:defRPr sz="1600"/>
            </a:pPr>
            <a:r>
              <a:rPr dirty="0"/>
              <a:t>Event Grid est orienté événements (faits passés, notifications légères) tandis que Service Bus est orienté messagerie métier (commandes à exécuter, workflows fiables). La distinction fondamentale : un événement annonce ce qui s'est passé (BlobCreated), une commande demande ce qu'il faut faire (ProcessOrder). Event Grid ne garantit pas l'ordre ni le traitement unique, ce qui est acceptable pour les notifications mais pas pour les commandes critiques.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73459" y="2898009"/>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Vous devez être notifié lorsqu'une ressource Azure est créée ou supprimée dans une souscription. Quel service utiliser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Storage Queue</a:t>
            </a:r>
          </a:p>
          <a:p>
            <a:pPr marL="457200" indent="-457200">
              <a:buFont typeface="+mj-lt"/>
              <a:buAutoNum type="arabicPeriod"/>
              <a:defRPr sz="2400"/>
            </a:pPr>
            <a:r>
              <a:rPr lang="fr-FR" sz="2000" dirty="0"/>
              <a:t>Azure Data Lake</a:t>
            </a:r>
          </a:p>
          <a:p>
            <a:pPr marL="457200" indent="-457200">
              <a:buFont typeface="+mj-lt"/>
              <a:buAutoNum type="arabicPeriod"/>
              <a:defRPr sz="2400"/>
            </a:pPr>
            <a:r>
              <a:rPr lang="fr-FR" sz="2000" dirty="0"/>
              <a:t>Azure Event Grid</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525205" cy="1323439"/>
          </a:xfrm>
          <a:prstGeom prst="rect">
            <a:avLst/>
          </a:prstGeom>
          <a:noFill/>
        </p:spPr>
        <p:txBody>
          <a:bodyPr wrap="square">
            <a:spAutoFit/>
          </a:bodyPr>
          <a:lstStyle/>
          <a:p>
            <a:pPr>
              <a:defRPr sz="1600"/>
            </a:pPr>
            <a:r>
              <a:rPr dirty="0"/>
              <a:t>Event Grid intègre nativement les événements des ressources Azure via le System Topic 'Azure Subscription'. Les événements Microsoft.Resources.ResourceWriteSuccess, ResourceDeleteSuccess et ResourceActionSuccess sont automatiquement publiés lors des opérations sur les ressources. Aucune configuration côté ARM n'est nécessaire : il suffit de créer une Event Subscription sur le Topic système.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5" y="291004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66E08-419C-80E5-7E64-4E0BB0B0D0FA}"/>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5408DAC-41C1-EBAE-E30C-73C967C8EE90}"/>
              </a:ext>
            </a:extLst>
          </p:cNvPr>
          <p:cNvSpPr>
            <a:spLocks noGrp="1"/>
          </p:cNvSpPr>
          <p:nvPr>
            <p:ph type="body" sz="quarter" idx="11"/>
          </p:nvPr>
        </p:nvSpPr>
        <p:spPr/>
        <p:txBody>
          <a:bodyPr/>
          <a:lstStyle/>
          <a:p>
            <a:r>
              <a:rPr lang="fr-FR" dirty="0"/>
              <a:t>Quizz 19</a:t>
            </a:r>
          </a:p>
        </p:txBody>
      </p:sp>
      <p:sp>
        <p:nvSpPr>
          <p:cNvPr id="3" name="Espace réservé du texte 2">
            <a:extLst>
              <a:ext uri="{FF2B5EF4-FFF2-40B4-BE49-F238E27FC236}">
                <a16:creationId xmlns:a16="http://schemas.microsoft.com/office/drawing/2014/main" id="{258E46C7-38E1-EAF1-4D40-5FA72D945544}"/>
              </a:ext>
            </a:extLst>
          </p:cNvPr>
          <p:cNvSpPr>
            <a:spLocks noGrp="1"/>
          </p:cNvSpPr>
          <p:nvPr>
            <p:ph type="body" sz="quarter" idx="12"/>
          </p:nvPr>
        </p:nvSpPr>
        <p:spPr>
          <a:xfrm>
            <a:off x="2604868" y="3501008"/>
            <a:ext cx="5624732" cy="1432560"/>
          </a:xfrm>
        </p:spPr>
        <p:txBody>
          <a:bodyPr/>
          <a:lstStyle/>
          <a:p>
            <a:r>
              <a:rPr lang="fr-FR" dirty="0"/>
              <a:t>Azure Event Hub</a:t>
            </a:r>
          </a:p>
        </p:txBody>
      </p:sp>
    </p:spTree>
    <p:extLst>
      <p:ext uri="{BB962C8B-B14F-4D97-AF65-F5344CB8AC3E}">
        <p14:creationId xmlns:p14="http://schemas.microsoft.com/office/powerpoint/2010/main" val="2256538452"/>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est le principal cas d'usage d'Azure Event Hub ?</a:t>
            </a:r>
            <a:endParaRPr lang="fr-FR" sz="2000" dirty="0"/>
          </a:p>
          <a:p>
            <a:pPr marL="457200" indent="-457200">
              <a:buFont typeface="+mj-lt"/>
              <a:buAutoNum type="arabicPeriod"/>
              <a:defRPr sz="2400"/>
            </a:pPr>
            <a:r>
              <a:rPr lang="fr-FR" sz="2000" dirty="0"/>
              <a:t>Streaming massif d'événements et de télémétrie</a:t>
            </a:r>
          </a:p>
          <a:p>
            <a:pPr marL="457200" indent="-457200">
              <a:buFont typeface="+mj-lt"/>
              <a:buAutoNum type="arabicPeriod"/>
              <a:defRPr sz="2400"/>
            </a:pPr>
            <a:r>
              <a:rPr lang="fr-FR" sz="2000" dirty="0"/>
              <a:t>Messagerie transactionnelle entre applications</a:t>
            </a:r>
          </a:p>
          <a:p>
            <a:pPr marL="457200" indent="-457200">
              <a:buFont typeface="+mj-lt"/>
              <a:buAutoNum type="arabicPeriod"/>
              <a:defRPr sz="2400"/>
            </a:pPr>
            <a:r>
              <a:rPr lang="fr-FR" sz="2000" dirty="0"/>
              <a:t>Stockage de documents JSON</a:t>
            </a:r>
          </a:p>
          <a:p>
            <a:pPr marL="457200" indent="-457200">
              <a:buFont typeface="+mj-lt"/>
              <a:buAutoNum type="arabicPeriod"/>
              <a:defRPr sz="2400"/>
            </a:pPr>
            <a:r>
              <a:rPr lang="fr-FR" sz="2000" dirty="0"/>
              <a:t>Hébergement d'API REST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260510" cy="1323439"/>
          </a:xfrm>
          <a:prstGeom prst="rect">
            <a:avLst/>
          </a:prstGeom>
          <a:noFill/>
        </p:spPr>
        <p:txBody>
          <a:bodyPr wrap="square">
            <a:spAutoFit/>
          </a:bodyPr>
          <a:lstStyle/>
          <a:p>
            <a:pPr>
              <a:defRPr sz="1600"/>
            </a:pPr>
            <a:r>
              <a:rPr dirty="0"/>
              <a:t>Azure Event Hub est conçu pour l'ingestion et le traitement de très grands volumes d'événements en temps réel. Son architecture partitionnée permet d'absorber des millions d'événements par seconde provenant de sources variées (capteurs IoT, logs applicatifs, télémétrie). Contrairement à Service Bus, il ne gère pas les commandes métier ni les transactions.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65438" y="165474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souvent utilisé avec Event Hub pour collecter les données provenant d'objets connectés ?</a:t>
            </a:r>
            <a:endParaRPr lang="fr-FR" sz="2000" dirty="0"/>
          </a:p>
          <a:p>
            <a:pPr marL="457200" indent="-457200">
              <a:buFont typeface="+mj-lt"/>
              <a:buAutoNum type="arabicPeriod"/>
              <a:defRPr sz="2400"/>
            </a:pPr>
            <a:r>
              <a:rPr lang="fr-FR" sz="2000" dirty="0"/>
              <a:t>Azure IoT Hub</a:t>
            </a:r>
          </a:p>
          <a:p>
            <a:pPr marL="457200" indent="-457200">
              <a:buFont typeface="+mj-lt"/>
              <a:buAutoNum type="arabicPeriod"/>
              <a:defRPr sz="2400"/>
            </a:pPr>
            <a:r>
              <a:rPr lang="fr-FR" sz="2000" dirty="0"/>
              <a:t>Azure Service Bus</a:t>
            </a:r>
          </a:p>
          <a:p>
            <a:pPr marL="457200" indent="-457200">
              <a:buFont typeface="+mj-lt"/>
              <a:buAutoNum type="arabicPeriod"/>
              <a:defRPr sz="2400"/>
            </a:pPr>
            <a:r>
              <a:rPr lang="fr-FR" sz="2000" dirty="0"/>
              <a:t>Azure App Service</a:t>
            </a:r>
          </a:p>
          <a:p>
            <a:pPr marL="457200" indent="-457200">
              <a:buFont typeface="+mj-lt"/>
              <a:buAutoNum type="arabicPeriod"/>
              <a:defRPr sz="2400"/>
            </a:pPr>
            <a:r>
              <a:rPr lang="fr-FR" sz="2000" dirty="0"/>
              <a:t>Azure API Management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6" y="4930239"/>
            <a:ext cx="7023889" cy="1323439"/>
          </a:xfrm>
          <a:prstGeom prst="rect">
            <a:avLst/>
          </a:prstGeom>
          <a:noFill/>
        </p:spPr>
        <p:txBody>
          <a:bodyPr wrap="square">
            <a:spAutoFit/>
          </a:bodyPr>
          <a:lstStyle/>
          <a:p>
            <a:pPr>
              <a:defRPr sz="1600"/>
            </a:pPr>
            <a:r>
              <a:rPr dirty="0"/>
              <a:t>IoT Hub s'appuie sur des concepts proches d'Event Hub pour l'ingestion des données IoT. Il expose un endpoint compatible Event Hub permettant aux mêmes outils de traitement (Azure Stream Analytics, Azure Functions, SDK Event Hub) de consommer les messages IoT. IoT Hub ajoute également la gestion des identités d'appareils et les commandes bidirectionnelles.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481"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Comment sont répartis les événements dans un Event Hub ?</a:t>
            </a:r>
            <a:endParaRPr lang="fr-FR" sz="2000" dirty="0"/>
          </a:p>
          <a:p>
            <a:pPr marL="457200" indent="-457200">
              <a:buFont typeface="+mj-lt"/>
              <a:buAutoNum type="arabicPeriod"/>
              <a:defRPr sz="2400"/>
            </a:pPr>
            <a:r>
              <a:rPr lang="fr-FR" sz="2000" dirty="0"/>
              <a:t>Dans des Queues</a:t>
            </a:r>
          </a:p>
          <a:p>
            <a:pPr marL="457200" indent="-457200">
              <a:buFont typeface="+mj-lt"/>
              <a:buAutoNum type="arabicPeriod"/>
              <a:defRPr sz="2400"/>
            </a:pPr>
            <a:r>
              <a:rPr lang="fr-FR" sz="2000" dirty="0"/>
              <a:t>Dans des Subscriptions</a:t>
            </a:r>
          </a:p>
          <a:p>
            <a:pPr marL="457200" indent="-457200">
              <a:buFont typeface="+mj-lt"/>
              <a:buAutoNum type="arabicPeriod"/>
              <a:defRPr sz="2400"/>
            </a:pPr>
            <a:r>
              <a:rPr lang="fr-FR" sz="2000" dirty="0"/>
              <a:t>Dans des Partitions</a:t>
            </a:r>
          </a:p>
          <a:p>
            <a:pPr marL="457200" indent="-457200">
              <a:buFont typeface="+mj-lt"/>
              <a:buAutoNum type="arabicPeriod"/>
              <a:defRPr sz="2400"/>
            </a:pPr>
            <a:r>
              <a:rPr lang="fr-FR" sz="2000" dirty="0"/>
              <a:t>Dans des Topics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7557289" cy="1323439"/>
          </a:xfrm>
          <a:prstGeom prst="rect">
            <a:avLst/>
          </a:prstGeom>
          <a:noFill/>
        </p:spPr>
        <p:txBody>
          <a:bodyPr wrap="square">
            <a:spAutoFit/>
          </a:bodyPr>
          <a:lstStyle/>
          <a:p>
            <a:pPr>
              <a:defRPr sz="1600"/>
            </a:pPr>
            <a:r>
              <a:rPr dirty="0"/>
              <a:t>Les événements sont distribués dans des partitions afin de permettre le parallélisme et la montée en charge. Chaque partition est un flux ordonné et indépendant. Le nombre de partitions est défini à la création du Hub (entre 1 et 32 en général) et détermine le degré de parallélisme maximum en lecture. Les Queues, Subscriptions et Topics sont des concepts Service Bus.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354" y="2244293"/>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mécanisme permet à plusieurs applications de lire indépendamment le même flux d'événements ?</a:t>
            </a:r>
            <a:endParaRPr lang="fr-FR" sz="2000" dirty="0"/>
          </a:p>
          <a:p>
            <a:pPr marL="457200" indent="-457200">
              <a:buFont typeface="+mj-lt"/>
              <a:buAutoNum type="arabicPeriod"/>
              <a:defRPr sz="2400"/>
            </a:pPr>
            <a:r>
              <a:rPr lang="fr-FR" sz="2000" dirty="0"/>
              <a:t>Subscriptions</a:t>
            </a:r>
          </a:p>
          <a:p>
            <a:pPr marL="457200" indent="-457200">
              <a:buFont typeface="+mj-lt"/>
              <a:buAutoNum type="arabicPeriod"/>
              <a:defRPr sz="2400"/>
            </a:pPr>
            <a:r>
              <a:rPr lang="fr-FR" sz="2000" dirty="0"/>
              <a:t>Consumer Groups</a:t>
            </a:r>
          </a:p>
          <a:p>
            <a:pPr marL="457200" indent="-457200">
              <a:buFont typeface="+mj-lt"/>
              <a:buAutoNum type="arabicPeriod"/>
              <a:defRPr sz="2400"/>
            </a:pPr>
            <a:r>
              <a:rPr lang="fr-FR" sz="2000" dirty="0"/>
              <a:t>Sessions</a:t>
            </a:r>
          </a:p>
          <a:p>
            <a:pPr marL="457200" indent="-457200">
              <a:buFont typeface="+mj-lt"/>
              <a:buAutoNum type="arabicPeriod"/>
              <a:defRPr sz="2400"/>
            </a:pPr>
            <a:r>
              <a:rPr lang="fr-FR" sz="2000" dirty="0"/>
              <a:t>Dead-letter Queues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501142" cy="1323439"/>
          </a:xfrm>
          <a:prstGeom prst="rect">
            <a:avLst/>
          </a:prstGeom>
          <a:noFill/>
        </p:spPr>
        <p:txBody>
          <a:bodyPr wrap="square">
            <a:spAutoFit/>
          </a:bodyPr>
          <a:lstStyle/>
          <a:p>
            <a:pPr>
              <a:defRPr sz="1600"/>
            </a:pPr>
            <a:r>
              <a:rPr dirty="0"/>
              <a:t>Chaque Consumer Group possède sa propre position de lecture (offset) dans le flux, indépendante des autres. Deux applications dans des Consumer Groups distincts peuvent lire le même Event Hub à leur propre rythme sans interférer. C'est l'équivalent Event Hub des Subscriptions de Service Bus Topic. Un Event Hub inclut toujours un Consumer Group par défaut ($Default).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5386" y="231064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composant permet de mémoriser la position de lecture d'un consommateur ?</a:t>
            </a:r>
            <a:endParaRPr lang="fr-FR" sz="2000" dirty="0"/>
          </a:p>
          <a:p>
            <a:pPr marL="457200" indent="-457200">
              <a:buFont typeface="+mj-lt"/>
              <a:buAutoNum type="arabicPeriod"/>
              <a:defRPr sz="2400"/>
            </a:pPr>
            <a:r>
              <a:rPr lang="fr-FR" sz="2000" dirty="0"/>
              <a:t>Checkpoint</a:t>
            </a:r>
          </a:p>
          <a:p>
            <a:pPr marL="457200" indent="-457200">
              <a:buFont typeface="+mj-lt"/>
              <a:buAutoNum type="arabicPeriod"/>
              <a:defRPr sz="2400"/>
            </a:pPr>
            <a:r>
              <a:rPr lang="fr-FR" sz="2000" dirty="0"/>
              <a:t>Subscription</a:t>
            </a:r>
          </a:p>
          <a:p>
            <a:pPr marL="457200" indent="-457200">
              <a:buFont typeface="+mj-lt"/>
              <a:buAutoNum type="arabicPeriod"/>
              <a:defRPr sz="2400"/>
            </a:pPr>
            <a:r>
              <a:rPr lang="fr-FR" sz="2000" dirty="0"/>
              <a:t>Partition Key</a:t>
            </a:r>
          </a:p>
          <a:p>
            <a:pPr marL="457200" indent="-457200">
              <a:buFont typeface="+mj-lt"/>
              <a:buAutoNum type="arabicPeriod"/>
              <a:defRPr sz="2400"/>
            </a:pPr>
            <a:r>
              <a:rPr lang="fr-FR" sz="2000" dirty="0"/>
              <a:t>Namespace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7" y="4930239"/>
            <a:ext cx="7015868" cy="1323439"/>
          </a:xfrm>
          <a:prstGeom prst="rect">
            <a:avLst/>
          </a:prstGeom>
          <a:noFill/>
        </p:spPr>
        <p:txBody>
          <a:bodyPr wrap="square">
            <a:spAutoFit/>
          </a:bodyPr>
          <a:lstStyle/>
          <a:p>
            <a:pPr>
              <a:defRPr sz="1600"/>
            </a:pPr>
            <a:r>
              <a:rPr dirty="0"/>
              <a:t>Les Checkpoints permettent de reprendre la lecture après un redémarrage. Un consommateur enregistre périodiquement son offset courant dans un Checkpoint Store (généralement Azure Blob Storage). Au prochain démarrage, il relit ce checkpoint et reprend exactement là où il s'était arrêté, évitant aussi bien la perte que le retraitement massif d'événements.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195494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6</a:t>
            </a:r>
          </a:p>
        </p:txBody>
      </p:sp>
      <p:sp>
        <p:nvSpPr>
          <p:cNvPr id="3" name="TextBox 2"/>
          <p:cNvSpPr txBox="1"/>
          <p:nvPr/>
        </p:nvSpPr>
        <p:spPr>
          <a:xfrm>
            <a:off x="467096" y="1324006"/>
            <a:ext cx="8431481" cy="2246769"/>
          </a:xfrm>
          <a:prstGeom prst="rect">
            <a:avLst/>
          </a:prstGeom>
          <a:noFill/>
        </p:spPr>
        <p:txBody>
          <a:bodyPr wrap="square">
            <a:spAutoFit/>
          </a:bodyPr>
          <a:lstStyle/>
          <a:p>
            <a:pPr>
              <a:defRPr sz="2400"/>
            </a:pPr>
            <a:r>
              <a:rPr sz="2000" dirty="0"/>
              <a:t>Quelle affirmation concernant la rétention des événements est correcte ?</a:t>
            </a:r>
            <a:endParaRPr lang="fr-FR" sz="2000" dirty="0"/>
          </a:p>
          <a:p>
            <a:pPr marL="457200" indent="-457200">
              <a:buFont typeface="+mj-lt"/>
              <a:buAutoNum type="arabicPeriod"/>
              <a:defRPr sz="2400"/>
            </a:pPr>
            <a:r>
              <a:rPr lang="fr-FR" sz="2000" dirty="0"/>
              <a:t>La durée de rétention est fixée à 24h et n'est pas modifiable</a:t>
            </a:r>
          </a:p>
          <a:p>
            <a:pPr marL="457200" indent="-457200">
              <a:buFont typeface="+mj-lt"/>
              <a:buAutoNum type="arabicPeriod"/>
              <a:defRPr sz="2400"/>
            </a:pPr>
            <a:r>
              <a:rPr lang="fr-FR" sz="2000" dirty="0"/>
              <a:t>Les événements sont supprimés dès qu'un Consumer Group les a lus</a:t>
            </a:r>
          </a:p>
          <a:p>
            <a:pPr marL="457200" indent="-457200">
              <a:buFont typeface="+mj-lt"/>
              <a:buAutoNum type="arabicPeriod"/>
              <a:defRPr sz="2400"/>
            </a:pPr>
            <a:r>
              <a:rPr lang="fr-FR" sz="2000" dirty="0"/>
              <a:t>La durée de rétention est configurable, et la lecture ne supprime pas les événements</a:t>
            </a:r>
          </a:p>
          <a:p>
            <a:pPr marL="457200" indent="-457200">
              <a:buFont typeface="+mj-lt"/>
              <a:buAutoNum type="arabicPeriod"/>
              <a:defRPr sz="2400"/>
            </a:pPr>
            <a:r>
              <a:rPr lang="fr-FR" sz="2000" dirty="0"/>
              <a:t>Les événements sont automatiquement archivés dans Blob Storage à l'expiration</a:t>
            </a:r>
            <a:endParaRPr dirty="0"/>
          </a:p>
        </p:txBody>
      </p:sp>
      <p:sp>
        <p:nvSpPr>
          <p:cNvPr id="8" name="TextBox 7"/>
          <p:cNvSpPr txBox="1"/>
          <p:nvPr/>
        </p:nvSpPr>
        <p:spPr>
          <a:xfrm>
            <a:off x="6066751" y="3758064"/>
            <a:ext cx="1290546" cy="369332"/>
          </a:xfrm>
          <a:prstGeom prst="rect">
            <a:avLst/>
          </a:prstGeom>
          <a:noFill/>
        </p:spPr>
        <p:txBody>
          <a:bodyPr wrap="none">
            <a:spAutoFit/>
          </a:bodyPr>
          <a:lstStyle/>
          <a:p>
            <a:pPr>
              <a:defRPr sz="1800" b="1"/>
            </a:pPr>
            <a:r>
              <a:rPr u="sng" dirty="0" err="1"/>
              <a:t>Réponse</a:t>
            </a:r>
            <a:r>
              <a:rPr u="sng" dirty="0"/>
              <a:t> : </a:t>
            </a:r>
            <a:r>
              <a:rPr lang="fr-FR" u="sng" dirty="0"/>
              <a:t>3</a:t>
            </a:r>
            <a:endParaRPr u="sng" dirty="0" err="1"/>
          </a:p>
        </p:txBody>
      </p:sp>
      <p:sp>
        <p:nvSpPr>
          <p:cNvPr id="9" name="TextBox 8"/>
          <p:cNvSpPr txBox="1"/>
          <p:nvPr/>
        </p:nvSpPr>
        <p:spPr>
          <a:xfrm>
            <a:off x="1025236" y="4930239"/>
            <a:ext cx="7477079" cy="1323439"/>
          </a:xfrm>
          <a:prstGeom prst="rect">
            <a:avLst/>
          </a:prstGeom>
          <a:noFill/>
        </p:spPr>
        <p:txBody>
          <a:bodyPr wrap="square">
            <a:spAutoFit/>
          </a:bodyPr>
          <a:lstStyle/>
          <a:p>
            <a:pPr>
              <a:defRPr sz="1600"/>
            </a:pPr>
            <a:r>
              <a:rPr lang="fr-FR" dirty="0"/>
              <a:t>Event Hub conserve les événements pendant une durée de rétention configurable (1 à 90 jours selon le tier), indépendamment des lectures. Un événement reste disponible pour tous les Consumer Groups jusqu'à expiration, ce qui permet la relecture et les traitements multiples. L'archivage dans Blob Storage via la </a:t>
            </a:r>
            <a:r>
              <a:rPr lang="fr-FR" dirty="0" err="1"/>
              <a:t>feature</a:t>
            </a:r>
            <a:r>
              <a:rPr lang="fr-FR" dirty="0"/>
              <a:t> Capture est possible mais optionnel — il ne se déclenche pas automatiquement à l'expiration.</a:t>
            </a:r>
            <a:endParaRPr dirty="0"/>
          </a:p>
        </p:txBody>
      </p:sp>
      <p:sp>
        <p:nvSpPr>
          <p:cNvPr id="13" name="ZoneTexte 12">
            <a:extLst>
              <a:ext uri="{FF2B5EF4-FFF2-40B4-BE49-F238E27FC236}">
                <a16:creationId xmlns:a16="http://schemas.microsoft.com/office/drawing/2014/main" id="{E1725EF7-87C3-CDD6-A02E-8E79EB6F99D4}"/>
              </a:ext>
            </a:extLst>
          </p:cNvPr>
          <p:cNvSpPr txBox="1"/>
          <p:nvPr/>
        </p:nvSpPr>
        <p:spPr>
          <a:xfrm>
            <a:off x="138545" y="230898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7</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fonctionnalité permet de garantir que des événements liés sont envoyés dans la même partition ?</a:t>
            </a:r>
            <a:endParaRPr lang="fr-FR" sz="2000" dirty="0"/>
          </a:p>
          <a:p>
            <a:pPr marL="457200" indent="-457200">
              <a:buFont typeface="+mj-lt"/>
              <a:buAutoNum type="arabicPeriod"/>
              <a:defRPr sz="2400"/>
            </a:pPr>
            <a:r>
              <a:rPr lang="fr-FR" sz="2000" dirty="0"/>
              <a:t>Consumer Group</a:t>
            </a:r>
          </a:p>
          <a:p>
            <a:pPr marL="457200" indent="-457200">
              <a:buFont typeface="+mj-lt"/>
              <a:buAutoNum type="arabicPeriod"/>
              <a:defRPr sz="2400"/>
            </a:pPr>
            <a:r>
              <a:rPr lang="fr-FR" sz="2000" dirty="0"/>
              <a:t>Session Id</a:t>
            </a:r>
          </a:p>
          <a:p>
            <a:pPr marL="457200" indent="-457200">
              <a:buFont typeface="+mj-lt"/>
              <a:buAutoNum type="arabicPeriod"/>
              <a:defRPr sz="2400"/>
            </a:pPr>
            <a:r>
              <a:rPr lang="fr-FR" sz="2000" dirty="0"/>
              <a:t>Checkpoint</a:t>
            </a:r>
          </a:p>
          <a:p>
            <a:pPr marL="457200" indent="-457200">
              <a:buFont typeface="+mj-lt"/>
              <a:buAutoNum type="arabicPeriod"/>
              <a:defRPr sz="2400"/>
            </a:pPr>
            <a:r>
              <a:rPr lang="fr-FR" sz="2000" dirty="0"/>
              <a:t>Partition Key</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7809952" cy="1323439"/>
          </a:xfrm>
          <a:prstGeom prst="rect">
            <a:avLst/>
          </a:prstGeom>
          <a:noFill/>
        </p:spPr>
        <p:txBody>
          <a:bodyPr wrap="square">
            <a:spAutoFit/>
          </a:bodyPr>
          <a:lstStyle/>
          <a:p>
            <a:pPr>
              <a:defRPr sz="1600"/>
            </a:pPr>
            <a:r>
              <a:rPr dirty="0"/>
              <a:t>La Partition Key permet de conserver l'affinité des événements vers une même partition. Event Hub calcule un hash de la clé pour déterminer la partition cible : tous les événements partageant la même clé (ex : même deviceId) arrivent dans la même partition et sont donc lus dans l'ordre par un consommateur donné. Sans Partition Key, les événements sont répartis en round-robin.</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9396" y="286993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8</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caractéristique distingue principalement Event Hub de Service Bus ?</a:t>
            </a:r>
            <a:endParaRPr lang="fr-FR" sz="2000" dirty="0"/>
          </a:p>
          <a:p>
            <a:pPr marL="457200" indent="-457200">
              <a:buFont typeface="+mj-lt"/>
              <a:buAutoNum type="arabicPeriod"/>
              <a:defRPr sz="2400"/>
            </a:pPr>
            <a:r>
              <a:rPr lang="fr-FR" sz="2000" dirty="0"/>
              <a:t>Event Hub fournit des transactions</a:t>
            </a:r>
          </a:p>
          <a:p>
            <a:pPr marL="457200" indent="-457200">
              <a:buFont typeface="+mj-lt"/>
              <a:buAutoNum type="arabicPeriod"/>
              <a:defRPr sz="2400"/>
            </a:pPr>
            <a:r>
              <a:rPr lang="fr-FR" sz="2000" dirty="0"/>
              <a:t>Event Hub supporte les Sessions</a:t>
            </a:r>
          </a:p>
          <a:p>
            <a:pPr marL="457200" indent="-457200">
              <a:buFont typeface="+mj-lt"/>
              <a:buAutoNum type="arabicPeriod"/>
              <a:defRPr sz="2400"/>
            </a:pPr>
            <a:r>
              <a:rPr lang="fr-FR" sz="2000" dirty="0"/>
              <a:t>Event Hub fournit une Dead-letter Queue</a:t>
            </a:r>
          </a:p>
          <a:p>
            <a:pPr marL="457200" indent="-457200">
              <a:buFont typeface="+mj-lt"/>
              <a:buAutoNum type="arabicPeriod"/>
              <a:defRPr sz="2400"/>
            </a:pPr>
            <a:r>
              <a:rPr lang="fr-FR" sz="2000" dirty="0"/>
              <a:t>Event Hub est optimisé pour le très haut débit</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7681616" cy="1323439"/>
          </a:xfrm>
          <a:prstGeom prst="rect">
            <a:avLst/>
          </a:prstGeom>
          <a:noFill/>
        </p:spPr>
        <p:txBody>
          <a:bodyPr wrap="square">
            <a:spAutoFit/>
          </a:bodyPr>
          <a:lstStyle/>
          <a:p>
            <a:pPr>
              <a:defRPr sz="1600"/>
            </a:pPr>
            <a:r>
              <a:rPr dirty="0"/>
              <a:t>Event Hub privilégie le débit massif plutôt que les fonctionnalités avancées de messagerie. Il peut ingérer des millions d'événements par seconde grâce à son architecture partitionnée. En revanche, il ne propose ni transactions, ni Sessions FIFO, ni Dead-letter Queue — fonctionnalités réservées à Service Bus pour les scénarios de messagerie métier fiable.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613261"/>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9</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service Azure est le plus adapté pour collecter des logs applicatifs à grande échelle ?</a:t>
            </a:r>
            <a:endParaRPr lang="fr-FR" sz="2000" dirty="0"/>
          </a:p>
          <a:p>
            <a:pPr marL="457200" indent="-457200">
              <a:buFont typeface="+mj-lt"/>
              <a:buAutoNum type="arabicPeriod"/>
              <a:defRPr sz="2400"/>
            </a:pPr>
            <a:r>
              <a:rPr lang="fr-FR" sz="2000" dirty="0"/>
              <a:t>Azure Event Hub</a:t>
            </a:r>
          </a:p>
          <a:p>
            <a:pPr marL="457200" indent="-457200">
              <a:buFont typeface="+mj-lt"/>
              <a:buAutoNum type="arabicPeriod"/>
              <a:defRPr sz="2400"/>
            </a:pPr>
            <a:r>
              <a:rPr lang="fr-FR" sz="2000" dirty="0"/>
              <a:t>Azure Service Bus Queue</a:t>
            </a:r>
          </a:p>
          <a:p>
            <a:pPr marL="457200" indent="-457200">
              <a:buFont typeface="+mj-lt"/>
              <a:buAutoNum type="arabicPeriod"/>
              <a:defRPr sz="2400"/>
            </a:pPr>
            <a:r>
              <a:rPr lang="fr-FR" sz="2000" dirty="0"/>
              <a:t>Azure Event Grid</a:t>
            </a:r>
          </a:p>
          <a:p>
            <a:pPr marL="457200" indent="-457200">
              <a:buFont typeface="+mj-lt"/>
              <a:buAutoNum type="arabicPeriod"/>
              <a:defRPr sz="2400"/>
            </a:pPr>
            <a:r>
              <a:rPr lang="fr-FR" sz="2000" dirty="0"/>
              <a:t>Azure Storage Queue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1</a:t>
            </a:r>
          </a:p>
        </p:txBody>
      </p:sp>
      <p:sp>
        <p:nvSpPr>
          <p:cNvPr id="9" name="TextBox 8"/>
          <p:cNvSpPr txBox="1"/>
          <p:nvPr/>
        </p:nvSpPr>
        <p:spPr>
          <a:xfrm>
            <a:off x="1025236" y="4930239"/>
            <a:ext cx="7617447" cy="1323439"/>
          </a:xfrm>
          <a:prstGeom prst="rect">
            <a:avLst/>
          </a:prstGeom>
          <a:noFill/>
        </p:spPr>
        <p:txBody>
          <a:bodyPr wrap="square">
            <a:spAutoFit/>
          </a:bodyPr>
          <a:lstStyle/>
          <a:p>
            <a:pPr>
              <a:defRPr sz="1600"/>
            </a:pPr>
            <a:r>
              <a:rPr dirty="0"/>
              <a:t>Event Hub est conçu pour l'ingestion massive de logs et de télémétrie. Il est d'ailleurs le backend natif utilisé par des services comme Azure Diagnostics et Microsoft Defender pour l'export de logs à grande échelle. Service Bus Queue est limité en débit et orienté commandes métier ; Event Grid est orienté notifications d'événements ponctuels ; Storage Queue impose du polling.</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0105" y="194933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10</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Event Hub, que se passe-t-il lorsqu'un événement est lu par un consommateur ?</a:t>
            </a:r>
            <a:endParaRPr lang="fr-FR" sz="2000" dirty="0"/>
          </a:p>
          <a:p>
            <a:pPr marL="457200" indent="-457200">
              <a:buFont typeface="+mj-lt"/>
              <a:buAutoNum type="arabicPeriod"/>
              <a:defRPr sz="2400"/>
            </a:pPr>
            <a:r>
              <a:rPr lang="fr-FR" sz="2000" dirty="0"/>
              <a:t>Il est supprimé immédiatement</a:t>
            </a:r>
          </a:p>
          <a:p>
            <a:pPr marL="457200" indent="-457200">
              <a:buFont typeface="+mj-lt"/>
              <a:buAutoNum type="arabicPeriod"/>
              <a:defRPr sz="2400"/>
            </a:pPr>
            <a:r>
              <a:rPr lang="fr-FR" sz="2000" dirty="0"/>
              <a:t>Il reste disponible jusqu'à expiration de la rétention</a:t>
            </a:r>
          </a:p>
          <a:p>
            <a:pPr marL="457200" indent="-457200">
              <a:buFont typeface="+mj-lt"/>
              <a:buAutoNum type="arabicPeriod"/>
              <a:defRPr sz="2400"/>
            </a:pPr>
            <a:r>
              <a:rPr lang="fr-FR" sz="2000" dirty="0"/>
              <a:t>Il est déplacé dans une archive</a:t>
            </a:r>
          </a:p>
          <a:p>
            <a:pPr marL="457200" indent="-457200">
              <a:buFont typeface="+mj-lt"/>
              <a:buAutoNum type="arabicPeriod"/>
              <a:defRPr sz="2400"/>
            </a:pPr>
            <a:r>
              <a:rPr lang="fr-FR" sz="2000" dirty="0"/>
              <a:t>Il est transféré vers une autre partition</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6" y="4930239"/>
            <a:ext cx="7493121" cy="1323439"/>
          </a:xfrm>
          <a:prstGeom prst="rect">
            <a:avLst/>
          </a:prstGeom>
          <a:noFill/>
        </p:spPr>
        <p:txBody>
          <a:bodyPr wrap="square">
            <a:spAutoFit/>
          </a:bodyPr>
          <a:lstStyle/>
          <a:p>
            <a:pPr>
              <a:defRPr sz="1600"/>
            </a:pPr>
            <a:r>
              <a:rPr dirty="0"/>
              <a:t>La lecture n'entraîne pas la suppression de l'événement. Celui-ci reste dans la partition jusqu'à l'expiration de la durée de rétention configurée. C'est ce qui permet à plusieurs Consumer Groups de lire indépendamment le même flux, et à un consommateur de relire l'historique en repositionnant son offset. Ce comportement est fondamentalement différent de Service Bus Queue où le message disparaît après traitement.</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272366"/>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11</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niveau Event Hub est spécialement conçu pour les très gros volumes avec ressources dédiées ?</a:t>
            </a:r>
            <a:endParaRPr lang="fr-FR" sz="2000" dirty="0"/>
          </a:p>
          <a:p>
            <a:pPr marL="457200" indent="-457200">
              <a:buFont typeface="+mj-lt"/>
              <a:buAutoNum type="arabicPeriod"/>
              <a:defRPr sz="2400"/>
            </a:pPr>
            <a:r>
              <a:rPr lang="fr-FR" sz="2000" dirty="0"/>
              <a:t>Basic</a:t>
            </a:r>
          </a:p>
          <a:p>
            <a:pPr marL="457200" indent="-457200">
              <a:buFont typeface="+mj-lt"/>
              <a:buAutoNum type="arabicPeriod"/>
              <a:defRPr sz="2400"/>
            </a:pPr>
            <a:r>
              <a:rPr lang="fr-FR" sz="2000" dirty="0"/>
              <a:t>Standard</a:t>
            </a:r>
          </a:p>
          <a:p>
            <a:pPr marL="457200" indent="-457200">
              <a:buFont typeface="+mj-lt"/>
              <a:buAutoNum type="arabicPeriod"/>
              <a:defRPr sz="2400"/>
            </a:pPr>
            <a:r>
              <a:rPr lang="fr-FR" sz="2000" dirty="0"/>
              <a:t>Premium</a:t>
            </a:r>
          </a:p>
          <a:p>
            <a:pPr marL="457200" indent="-457200">
              <a:buFont typeface="+mj-lt"/>
              <a:buAutoNum type="arabicPeriod"/>
              <a:defRPr sz="2400"/>
            </a:pPr>
            <a:r>
              <a:rPr lang="fr-FR" sz="2000" dirty="0"/>
              <a:t>Free</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7" y="4930239"/>
            <a:ext cx="7533226" cy="1323439"/>
          </a:xfrm>
          <a:prstGeom prst="rect">
            <a:avLst/>
          </a:prstGeom>
          <a:noFill/>
        </p:spPr>
        <p:txBody>
          <a:bodyPr wrap="square">
            <a:spAutoFit/>
          </a:bodyPr>
          <a:lstStyle/>
          <a:p>
            <a:pPr>
              <a:defRPr sz="1600"/>
            </a:pPr>
            <a:r>
              <a:rPr dirty="0"/>
              <a:t>Le niveau Premium fournit des ressources dédiées et des performances prévisibles grâce aux Processing Units (PU). Contrairement au niveau Standard (infrastructure partagée), chaque PU alloue des ressources CPU et mémoire exclusives. Premium supporte également une rétention plus longue (jusqu'à 90 jours) et les fonctionnalités avancées comme Capture et Geo-Replication. Le niveau Free n'existe pas dans Event Hub.</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41375" y="2565134"/>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12</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 protocole est principalement utilisé par Event Hub ?</a:t>
            </a:r>
            <a:endParaRPr lang="fr-FR" sz="2000" dirty="0"/>
          </a:p>
          <a:p>
            <a:pPr marL="457200" indent="-457200">
              <a:buFont typeface="+mj-lt"/>
              <a:buAutoNum type="arabicPeriod"/>
              <a:defRPr sz="2400"/>
            </a:pPr>
            <a:r>
              <a:rPr lang="fr-FR" sz="2000" dirty="0"/>
              <a:t>SMTP</a:t>
            </a:r>
          </a:p>
          <a:p>
            <a:pPr marL="457200" indent="-457200">
              <a:buFont typeface="+mj-lt"/>
              <a:buAutoNum type="arabicPeriod"/>
              <a:defRPr sz="2400"/>
            </a:pPr>
            <a:r>
              <a:rPr lang="fr-FR" sz="2000" dirty="0"/>
              <a:t>FTP</a:t>
            </a:r>
          </a:p>
          <a:p>
            <a:pPr marL="457200" indent="-457200">
              <a:buFont typeface="+mj-lt"/>
              <a:buAutoNum type="arabicPeriod"/>
              <a:defRPr sz="2400"/>
            </a:pPr>
            <a:r>
              <a:rPr lang="fr-FR" sz="2000" dirty="0"/>
              <a:t>AMQP</a:t>
            </a:r>
          </a:p>
          <a:p>
            <a:pPr marL="457200" indent="-457200">
              <a:buFont typeface="+mj-lt"/>
              <a:buAutoNum type="arabicPeriod"/>
              <a:defRPr sz="2400"/>
            </a:pPr>
            <a:r>
              <a:rPr lang="fr-FR" sz="2000" dirty="0"/>
              <a:t>SNMP</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3</a:t>
            </a:r>
          </a:p>
        </p:txBody>
      </p:sp>
      <p:sp>
        <p:nvSpPr>
          <p:cNvPr id="9" name="TextBox 8"/>
          <p:cNvSpPr txBox="1"/>
          <p:nvPr/>
        </p:nvSpPr>
        <p:spPr>
          <a:xfrm>
            <a:off x="1025236" y="4930239"/>
            <a:ext cx="7509163" cy="1323439"/>
          </a:xfrm>
          <a:prstGeom prst="rect">
            <a:avLst/>
          </a:prstGeom>
          <a:noFill/>
        </p:spPr>
        <p:txBody>
          <a:bodyPr wrap="square">
            <a:spAutoFit/>
          </a:bodyPr>
          <a:lstStyle/>
          <a:p>
            <a:pPr>
              <a:defRPr sz="1600"/>
            </a:pPr>
            <a:r>
              <a:rPr dirty="0"/>
              <a:t>Event Hub utilise principalement le protocole AMQP (Advanced Message Queuing Protocol), standard ouvert ISO/IEC 19464 optimisé pour la messagerie haute performance. Il supporte également HTTPS pour les environnements où AMQP est bloqué par des pare-feux, ainsi que le protocole MQTT (via IoT Hub). SMTP, FTP et SNMP sont des protocoles réseau sans rapport avec la messagerie asynchrone.</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302625"/>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13</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Vous devez traiter plusieurs millions d'événements par heure provenant de capteurs industriels. Quel service choisir ?</a:t>
            </a:r>
            <a:endParaRPr lang="fr-FR" sz="2000" dirty="0"/>
          </a:p>
          <a:p>
            <a:pPr marL="457200" indent="-457200">
              <a:buFont typeface="+mj-lt"/>
              <a:buAutoNum type="arabicPeriod"/>
              <a:defRPr sz="2400"/>
            </a:pPr>
            <a:r>
              <a:rPr lang="fr-FR" sz="2000" dirty="0"/>
              <a:t>Azure Service Bus Topic</a:t>
            </a:r>
          </a:p>
          <a:p>
            <a:pPr marL="457200" indent="-457200">
              <a:buFont typeface="+mj-lt"/>
              <a:buAutoNum type="arabicPeriod"/>
              <a:defRPr sz="2400"/>
            </a:pPr>
            <a:r>
              <a:rPr lang="fr-FR" sz="2000" dirty="0"/>
              <a:t>Azure Queue Storage</a:t>
            </a:r>
          </a:p>
          <a:p>
            <a:pPr marL="457200" indent="-457200">
              <a:buFont typeface="+mj-lt"/>
              <a:buAutoNum type="arabicPeriod"/>
              <a:defRPr sz="2400"/>
            </a:pPr>
            <a:r>
              <a:rPr lang="fr-FR" sz="2000" dirty="0"/>
              <a:t>Azure Logic Apps</a:t>
            </a:r>
          </a:p>
          <a:p>
            <a:pPr marL="457200" indent="-457200">
              <a:buFont typeface="+mj-lt"/>
              <a:buAutoNum type="arabicPeriod"/>
              <a:defRPr sz="2400"/>
            </a:pPr>
            <a:r>
              <a:rPr lang="fr-FR" sz="2000" dirty="0"/>
              <a:t>Azure Event Hub</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7" y="4930239"/>
            <a:ext cx="7304626" cy="1323439"/>
          </a:xfrm>
          <a:prstGeom prst="rect">
            <a:avLst/>
          </a:prstGeom>
          <a:noFill/>
        </p:spPr>
        <p:txBody>
          <a:bodyPr wrap="square">
            <a:spAutoFit/>
          </a:bodyPr>
          <a:lstStyle/>
          <a:p>
            <a:pPr>
              <a:defRPr sz="1600"/>
            </a:pPr>
            <a:r>
              <a:rPr dirty="0"/>
              <a:t>Event Hub est spécifiquement conçu pour ce type de charge : ingestion haute fréquence de données de capteurs industriels (IoT, SCADA, télémétrie). Son architecture partitionnée absorbe des pics de millions d'événements par heure avec une latence faible. Service Bus Topic est limité en débit, Storage Queue impose du polling et Logic Apps n'est pas conçu pour du traitement massif en temps réel.</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0" y="2929557"/>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14</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Quelle affirmation concernant les Consumer Groups est correcte ?</a:t>
            </a:r>
            <a:endParaRPr lang="fr-FR" sz="2000" dirty="0"/>
          </a:p>
          <a:p>
            <a:pPr marL="457200" indent="-457200">
              <a:buFont typeface="+mj-lt"/>
              <a:buAutoNum type="arabicPeriod"/>
              <a:defRPr sz="2400"/>
            </a:pPr>
            <a:r>
              <a:rPr lang="fr-FR" sz="2000" dirty="0"/>
              <a:t>Ils permettent à plusieurs applications de partager la même position de lecture</a:t>
            </a:r>
          </a:p>
          <a:p>
            <a:pPr marL="457200" indent="-457200">
              <a:buFont typeface="+mj-lt"/>
              <a:buAutoNum type="arabicPeriod"/>
              <a:defRPr sz="2400"/>
            </a:pPr>
            <a:r>
              <a:rPr lang="fr-FR" sz="2000" dirty="0"/>
              <a:t>Ils permettent à plusieurs applications de lire indépendamment le même flux</a:t>
            </a:r>
          </a:p>
          <a:p>
            <a:pPr marL="457200" indent="-457200">
              <a:buFont typeface="+mj-lt"/>
              <a:buAutoNum type="arabicPeriod"/>
              <a:defRPr sz="2400"/>
            </a:pPr>
            <a:r>
              <a:rPr lang="fr-FR" sz="2000" dirty="0"/>
              <a:t>Ils remplacent les Partitions</a:t>
            </a:r>
          </a:p>
          <a:p>
            <a:pPr marL="457200" indent="-457200">
              <a:buFont typeface="+mj-lt"/>
              <a:buAutoNum type="arabicPeriod"/>
              <a:defRPr sz="2400"/>
            </a:pPr>
            <a:r>
              <a:rPr lang="fr-FR" sz="2000" dirty="0"/>
              <a:t>Ils stockent les événements</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2</a:t>
            </a:r>
          </a:p>
        </p:txBody>
      </p:sp>
      <p:sp>
        <p:nvSpPr>
          <p:cNvPr id="9" name="TextBox 8"/>
          <p:cNvSpPr txBox="1"/>
          <p:nvPr/>
        </p:nvSpPr>
        <p:spPr>
          <a:xfrm>
            <a:off x="1025237" y="4930239"/>
            <a:ext cx="7593384" cy="1323439"/>
          </a:xfrm>
          <a:prstGeom prst="rect">
            <a:avLst/>
          </a:prstGeom>
          <a:noFill/>
        </p:spPr>
        <p:txBody>
          <a:bodyPr wrap="square">
            <a:spAutoFit/>
          </a:bodyPr>
          <a:lstStyle/>
          <a:p>
            <a:pPr>
              <a:defRPr sz="1600"/>
            </a:pPr>
            <a:r>
              <a:rPr dirty="0"/>
              <a:t>Chaque Consumer Group maintient sa propre progression dans le flux d'événements via son offset indépendant. Plusieurs applications (analyse temps réel, archivage, alerting) peuvent ainsi consommer le même Event Hub simultanément sans se bloquer mutuellement. Ils ne remplacent pas les Partitions (qui gèrent le parallélisme physique du stockage) et ne stockent pas les événements.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33353" y="2324280"/>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876375-F899-D6BF-2736-31DF82633A13}"/>
              </a:ext>
            </a:extLst>
          </p:cNvPr>
          <p:cNvSpPr/>
          <p:nvPr/>
        </p:nvSpPr>
        <p:spPr>
          <a:xfrm>
            <a:off x="0" y="0"/>
            <a:ext cx="9144000" cy="95398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p:cNvSpPr/>
          <p:nvPr/>
        </p:nvSpPr>
        <p:spPr>
          <a:xfrm>
            <a:off x="114794" y="0"/>
            <a:ext cx="8835241" cy="9539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3600" b="1">
                <a:solidFill>
                  <a:srgbClr val="FFFFFF"/>
                </a:solidFill>
              </a:defRPr>
            </a:pPr>
            <a:r>
              <a:rPr sz="3200" dirty="0"/>
              <a:t>Question 15</a:t>
            </a:r>
          </a:p>
        </p:txBody>
      </p:sp>
      <p:sp>
        <p:nvSpPr>
          <p:cNvPr id="3" name="TextBox 2"/>
          <p:cNvSpPr txBox="1"/>
          <p:nvPr/>
        </p:nvSpPr>
        <p:spPr>
          <a:xfrm>
            <a:off x="467096" y="1324006"/>
            <a:ext cx="8431481" cy="2000548"/>
          </a:xfrm>
          <a:prstGeom prst="rect">
            <a:avLst/>
          </a:prstGeom>
          <a:noFill/>
        </p:spPr>
        <p:txBody>
          <a:bodyPr wrap="square">
            <a:spAutoFit/>
          </a:bodyPr>
          <a:lstStyle/>
          <a:p>
            <a:pPr>
              <a:defRPr sz="2400"/>
            </a:pPr>
            <a:r>
              <a:rPr sz="2000" dirty="0"/>
              <a:t>Dans le programme AZ-204, quelle comparaison est la plus juste ?</a:t>
            </a:r>
            <a:endParaRPr lang="fr-FR" sz="2000" dirty="0"/>
          </a:p>
          <a:p>
            <a:pPr marL="457200" indent="-457200">
              <a:buFont typeface="+mj-lt"/>
              <a:buAutoNum type="arabicPeriod"/>
              <a:defRPr sz="2400"/>
            </a:pPr>
            <a:r>
              <a:rPr lang="fr-FR" sz="2000" dirty="0"/>
              <a:t>Service Bus = Streaming massif ; Event Hub = Commandes métier</a:t>
            </a:r>
          </a:p>
          <a:p>
            <a:pPr marL="457200" indent="-457200">
              <a:buFont typeface="+mj-lt"/>
              <a:buAutoNum type="arabicPeriod"/>
              <a:defRPr sz="2400"/>
            </a:pPr>
            <a:r>
              <a:rPr lang="fr-FR" sz="2000" dirty="0"/>
              <a:t>Event Grid = Streaming massif ; Event Hub = Notifications</a:t>
            </a:r>
          </a:p>
          <a:p>
            <a:pPr marL="457200" indent="-457200">
              <a:buFont typeface="+mj-lt"/>
              <a:buAutoNum type="arabicPeriod"/>
              <a:defRPr sz="2400"/>
            </a:pPr>
            <a:r>
              <a:rPr lang="fr-FR" sz="2000" dirty="0"/>
              <a:t>Event Hub et Service Bus sont interchangeables</a:t>
            </a:r>
          </a:p>
          <a:p>
            <a:pPr marL="457200" indent="-457200">
              <a:buFont typeface="+mj-lt"/>
              <a:buAutoNum type="arabicPeriod"/>
              <a:defRPr sz="2400"/>
            </a:pPr>
            <a:r>
              <a:rPr lang="fr-FR" sz="2000" dirty="0"/>
              <a:t>Event Hub = Streaming massif ; Service Bus = Messagerie métier</a:t>
            </a:r>
          </a:p>
          <a:p>
            <a:pPr>
              <a:defRPr sz="2400"/>
            </a:pPr>
            <a:endParaRPr dirty="0"/>
          </a:p>
        </p:txBody>
      </p:sp>
      <p:sp>
        <p:nvSpPr>
          <p:cNvPr id="8" name="TextBox 7"/>
          <p:cNvSpPr txBox="1"/>
          <p:nvPr/>
        </p:nvSpPr>
        <p:spPr>
          <a:xfrm>
            <a:off x="6066751" y="3758064"/>
            <a:ext cx="2345257" cy="369332"/>
          </a:xfrm>
          <a:prstGeom prst="rect">
            <a:avLst/>
          </a:prstGeom>
          <a:noFill/>
        </p:spPr>
        <p:txBody>
          <a:bodyPr wrap="none">
            <a:spAutoFit/>
          </a:bodyPr>
          <a:lstStyle/>
          <a:p>
            <a:pPr>
              <a:defRPr sz="1800" b="1"/>
            </a:pPr>
            <a:r>
              <a:rPr u="sng" dirty="0" err="1"/>
              <a:t>Réponse : 4</a:t>
            </a:r>
          </a:p>
        </p:txBody>
      </p:sp>
      <p:sp>
        <p:nvSpPr>
          <p:cNvPr id="9" name="TextBox 8"/>
          <p:cNvSpPr txBox="1"/>
          <p:nvPr/>
        </p:nvSpPr>
        <p:spPr>
          <a:xfrm>
            <a:off x="1025236" y="4930239"/>
            <a:ext cx="7785889" cy="1323439"/>
          </a:xfrm>
          <a:prstGeom prst="rect">
            <a:avLst/>
          </a:prstGeom>
          <a:noFill/>
        </p:spPr>
        <p:txBody>
          <a:bodyPr wrap="square">
            <a:spAutoFit/>
          </a:bodyPr>
          <a:lstStyle/>
          <a:p>
            <a:pPr>
              <a:defRPr sz="1600"/>
            </a:pPr>
            <a:r>
              <a:rPr dirty="0"/>
              <a:t>Event Hub est orienté flux de données massifs (télémétrie, logs, IoT) tandis que Service Bus est orienté messagerie métier fiable (commandes, workflows, transactions). Event Grid complète le trio en gérant les notifications d'événements ponctuels. Les trois services sont complémentaires et non interchangeables : le choix dépend du besoin — débit brut, fiabilité métier, ou réactivité aux événements.</a:t>
            </a:r>
          </a:p>
        </p:txBody>
      </p:sp>
      <p:sp>
        <p:nvSpPr>
          <p:cNvPr id="13" name="ZoneTexte 12">
            <a:extLst>
              <a:ext uri="{FF2B5EF4-FFF2-40B4-BE49-F238E27FC236}">
                <a16:creationId xmlns:a16="http://schemas.microsoft.com/office/drawing/2014/main" id="{E1725EF7-87C3-CDD6-A02E-8E79EB6F99D4}"/>
              </a:ext>
            </a:extLst>
          </p:cNvPr>
          <p:cNvSpPr txBox="1"/>
          <p:nvPr/>
        </p:nvSpPr>
        <p:spPr>
          <a:xfrm>
            <a:off x="29343" y="2589198"/>
            <a:ext cx="557808" cy="369332"/>
          </a:xfrm>
          <a:prstGeom prst="rect">
            <a:avLst/>
          </a:prstGeom>
          <a:noFill/>
        </p:spPr>
        <p:txBody>
          <a:bodyPr wrap="square">
            <a:spAutoFit/>
          </a:bodyPr>
          <a:lstStyle/>
          <a:p>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Lst>
  </p:timing>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D1C71-F97E-C88E-3838-E9A88D65E3AB}"/>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D78EF95-0734-178F-9CDD-1A678CAA7167}"/>
              </a:ext>
            </a:extLst>
          </p:cNvPr>
          <p:cNvSpPr>
            <a:spLocks noGrp="1"/>
          </p:cNvSpPr>
          <p:nvPr>
            <p:ph type="body" sz="quarter" idx="11"/>
          </p:nvPr>
        </p:nvSpPr>
        <p:spPr/>
        <p:txBody>
          <a:bodyPr/>
          <a:lstStyle/>
          <a:p>
            <a:r>
              <a:rPr lang="fr-FR" dirty="0"/>
              <a:t>Azure messaging</a:t>
            </a:r>
          </a:p>
        </p:txBody>
      </p:sp>
      <p:sp>
        <p:nvSpPr>
          <p:cNvPr id="3" name="Espace réservé du texte 2">
            <a:extLst>
              <a:ext uri="{FF2B5EF4-FFF2-40B4-BE49-F238E27FC236}">
                <a16:creationId xmlns:a16="http://schemas.microsoft.com/office/drawing/2014/main" id="{2F11A921-D4F4-207D-1B63-E725E9E02A2A}"/>
              </a:ext>
            </a:extLst>
          </p:cNvPr>
          <p:cNvSpPr>
            <a:spLocks noGrp="1"/>
          </p:cNvSpPr>
          <p:nvPr>
            <p:ph type="body" sz="quarter" idx="12"/>
          </p:nvPr>
        </p:nvSpPr>
        <p:spPr>
          <a:xfrm>
            <a:off x="2604868" y="3501008"/>
            <a:ext cx="5624732" cy="1432560"/>
          </a:xfrm>
        </p:spPr>
        <p:txBody>
          <a:bodyPr/>
          <a:lstStyle/>
          <a:p>
            <a:endParaRPr lang="fr-FR" dirty="0"/>
          </a:p>
        </p:txBody>
      </p:sp>
    </p:spTree>
    <p:extLst>
      <p:ext uri="{BB962C8B-B14F-4D97-AF65-F5344CB8AC3E}">
        <p14:creationId xmlns:p14="http://schemas.microsoft.com/office/powerpoint/2010/main" val="1962966485"/>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F2E93-2026-BF19-A955-C6DA6D3C7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F8E4F-9F27-C4CF-3045-4590E8830A0A}"/>
              </a:ext>
            </a:extLst>
          </p:cNvPr>
          <p:cNvSpPr>
            <a:spLocks noGrp="1"/>
          </p:cNvSpPr>
          <p:nvPr>
            <p:ph type="title"/>
          </p:nvPr>
        </p:nvSpPr>
        <p:spPr/>
        <p:txBody>
          <a:bodyPr/>
          <a:lstStyle/>
          <a:p>
            <a:r>
              <a:rPr lang="en-US" dirty="0" err="1"/>
              <a:t>Comparaison</a:t>
            </a:r>
            <a:endParaRPr lang="en-US" dirty="0"/>
          </a:p>
        </p:txBody>
      </p:sp>
      <p:graphicFrame>
        <p:nvGraphicFramePr>
          <p:cNvPr id="8" name="Tableau 7">
            <a:extLst>
              <a:ext uri="{FF2B5EF4-FFF2-40B4-BE49-F238E27FC236}">
                <a16:creationId xmlns:a16="http://schemas.microsoft.com/office/drawing/2014/main" id="{3B7C4CBE-D411-BAE9-052D-6E7E16C7DB8D}"/>
              </a:ext>
            </a:extLst>
          </p:cNvPr>
          <p:cNvGraphicFramePr>
            <a:graphicFrameLocks noGrp="1"/>
          </p:cNvGraphicFramePr>
          <p:nvPr>
            <p:extLst>
              <p:ext uri="{D42A27DB-BD31-4B8C-83A1-F6EECF244321}">
                <p14:modId xmlns:p14="http://schemas.microsoft.com/office/powerpoint/2010/main" val="3050930942"/>
              </p:ext>
            </p:extLst>
          </p:nvPr>
        </p:nvGraphicFramePr>
        <p:xfrm>
          <a:off x="395536" y="1340768"/>
          <a:ext cx="8280921" cy="3566160"/>
        </p:xfrm>
        <a:graphic>
          <a:graphicData uri="http://schemas.openxmlformats.org/drawingml/2006/table">
            <a:tbl>
              <a:tblPr/>
              <a:tblGrid>
                <a:gridCol w="2760307">
                  <a:extLst>
                    <a:ext uri="{9D8B030D-6E8A-4147-A177-3AD203B41FA5}">
                      <a16:colId xmlns:a16="http://schemas.microsoft.com/office/drawing/2014/main" val="2945977695"/>
                    </a:ext>
                  </a:extLst>
                </a:gridCol>
                <a:gridCol w="2760307">
                  <a:extLst>
                    <a:ext uri="{9D8B030D-6E8A-4147-A177-3AD203B41FA5}">
                      <a16:colId xmlns:a16="http://schemas.microsoft.com/office/drawing/2014/main" val="2273298585"/>
                    </a:ext>
                  </a:extLst>
                </a:gridCol>
                <a:gridCol w="2760307">
                  <a:extLst>
                    <a:ext uri="{9D8B030D-6E8A-4147-A177-3AD203B41FA5}">
                      <a16:colId xmlns:a16="http://schemas.microsoft.com/office/drawing/2014/main" val="2307319553"/>
                    </a:ext>
                  </a:extLst>
                </a:gridCol>
              </a:tblGrid>
              <a:tr h="0">
                <a:tc>
                  <a:txBody>
                    <a:bodyPr/>
                    <a:lstStyle/>
                    <a:p>
                      <a:pPr>
                        <a:buNone/>
                      </a:pPr>
                      <a:r>
                        <a:rPr lang="fr-FR" b="1"/>
                        <a:t>Service</a:t>
                      </a:r>
                    </a:p>
                  </a:txBody>
                  <a:tcPr anchor="ctr">
                    <a:lnL>
                      <a:noFill/>
                    </a:lnL>
                    <a:lnR>
                      <a:noFill/>
                    </a:lnR>
                    <a:lnT>
                      <a:noFill/>
                    </a:lnT>
                    <a:lnB>
                      <a:noFill/>
                    </a:lnB>
                    <a:noFill/>
                  </a:tcPr>
                </a:tc>
                <a:tc>
                  <a:txBody>
                    <a:bodyPr/>
                    <a:lstStyle/>
                    <a:p>
                      <a:pPr>
                        <a:buNone/>
                      </a:pPr>
                      <a:r>
                        <a:rPr lang="fr-FR" b="1"/>
                        <a:t>Type</a:t>
                      </a:r>
                    </a:p>
                  </a:txBody>
                  <a:tcPr anchor="ctr">
                    <a:lnL>
                      <a:noFill/>
                    </a:lnL>
                    <a:lnR>
                      <a:noFill/>
                    </a:lnR>
                    <a:lnT>
                      <a:noFill/>
                    </a:lnT>
                    <a:lnB>
                      <a:noFill/>
                    </a:lnB>
                    <a:noFill/>
                  </a:tcPr>
                </a:tc>
                <a:tc>
                  <a:txBody>
                    <a:bodyPr/>
                    <a:lstStyle/>
                    <a:p>
                      <a:pPr>
                        <a:buNone/>
                      </a:pPr>
                      <a:r>
                        <a:rPr lang="fr-FR" b="1" dirty="0"/>
                        <a:t>Usage principal</a:t>
                      </a:r>
                    </a:p>
                  </a:txBody>
                  <a:tcPr anchor="ctr">
                    <a:lnL>
                      <a:noFill/>
                    </a:lnL>
                    <a:lnR>
                      <a:noFill/>
                    </a:lnR>
                    <a:lnT>
                      <a:noFill/>
                    </a:lnT>
                    <a:lnB>
                      <a:noFill/>
                    </a:lnB>
                    <a:noFill/>
                  </a:tcPr>
                </a:tc>
                <a:extLst>
                  <a:ext uri="{0D108BD9-81ED-4DB2-BD59-A6C34878D82A}">
                    <a16:rowId xmlns:a16="http://schemas.microsoft.com/office/drawing/2014/main" val="2513609304"/>
                  </a:ext>
                </a:extLst>
              </a:tr>
              <a:tr h="0">
                <a:tc>
                  <a:txBody>
                    <a:bodyPr/>
                    <a:lstStyle/>
                    <a:p>
                      <a:pPr>
                        <a:buNone/>
                      </a:pPr>
                      <a:r>
                        <a:rPr lang="fr-FR" dirty="0"/>
                        <a:t>Azure Service Bus</a:t>
                      </a:r>
                    </a:p>
                  </a:txBody>
                  <a:tcPr anchor="ctr">
                    <a:lnL>
                      <a:noFill/>
                    </a:lnL>
                    <a:lnR>
                      <a:noFill/>
                    </a:lnR>
                    <a:lnT>
                      <a:noFill/>
                    </a:lnT>
                    <a:lnB>
                      <a:noFill/>
                    </a:lnB>
                    <a:noFill/>
                  </a:tcPr>
                </a:tc>
                <a:tc>
                  <a:txBody>
                    <a:bodyPr/>
                    <a:lstStyle/>
                    <a:p>
                      <a:pPr>
                        <a:buNone/>
                      </a:pPr>
                      <a:r>
                        <a:rPr lang="fr-FR"/>
                        <a:t>Message Broker</a:t>
                      </a:r>
                    </a:p>
                  </a:txBody>
                  <a:tcPr anchor="ctr">
                    <a:lnL>
                      <a:noFill/>
                    </a:lnL>
                    <a:lnR>
                      <a:noFill/>
                    </a:lnR>
                    <a:lnT>
                      <a:noFill/>
                    </a:lnT>
                    <a:lnB>
                      <a:noFill/>
                    </a:lnB>
                    <a:noFill/>
                  </a:tcPr>
                </a:tc>
                <a:tc>
                  <a:txBody>
                    <a:bodyPr/>
                    <a:lstStyle/>
                    <a:p>
                      <a:pPr>
                        <a:buNone/>
                      </a:pPr>
                      <a:r>
                        <a:rPr lang="fr-FR"/>
                        <a:t>Commandes métier, workflows, transactions</a:t>
                      </a:r>
                    </a:p>
                  </a:txBody>
                  <a:tcPr anchor="ctr">
                    <a:lnL>
                      <a:noFill/>
                    </a:lnL>
                    <a:lnR>
                      <a:noFill/>
                    </a:lnR>
                    <a:lnT>
                      <a:noFill/>
                    </a:lnT>
                    <a:lnB>
                      <a:noFill/>
                    </a:lnB>
                    <a:noFill/>
                  </a:tcPr>
                </a:tc>
                <a:extLst>
                  <a:ext uri="{0D108BD9-81ED-4DB2-BD59-A6C34878D82A}">
                    <a16:rowId xmlns:a16="http://schemas.microsoft.com/office/drawing/2014/main" val="2427754962"/>
                  </a:ext>
                </a:extLst>
              </a:tr>
              <a:tr h="0">
                <a:tc>
                  <a:txBody>
                    <a:bodyPr/>
                    <a:lstStyle/>
                    <a:p>
                      <a:pPr>
                        <a:buNone/>
                      </a:pPr>
                      <a:r>
                        <a:rPr lang="fr-FR"/>
                        <a:t>Azure Event Hub</a:t>
                      </a:r>
                    </a:p>
                  </a:txBody>
                  <a:tcPr anchor="ctr">
                    <a:lnL>
                      <a:noFill/>
                    </a:lnL>
                    <a:lnR>
                      <a:noFill/>
                    </a:lnR>
                    <a:lnT>
                      <a:noFill/>
                    </a:lnT>
                    <a:lnB>
                      <a:noFill/>
                    </a:lnB>
                    <a:noFill/>
                  </a:tcPr>
                </a:tc>
                <a:tc>
                  <a:txBody>
                    <a:bodyPr/>
                    <a:lstStyle/>
                    <a:p>
                      <a:pPr>
                        <a:buNone/>
                      </a:pPr>
                      <a:r>
                        <a:rPr lang="fr-FR"/>
                        <a:t>Event Streaming</a:t>
                      </a:r>
                    </a:p>
                  </a:txBody>
                  <a:tcPr anchor="ctr">
                    <a:lnL>
                      <a:noFill/>
                    </a:lnL>
                    <a:lnR>
                      <a:noFill/>
                    </a:lnR>
                    <a:lnT>
                      <a:noFill/>
                    </a:lnT>
                    <a:lnB>
                      <a:noFill/>
                    </a:lnB>
                    <a:noFill/>
                  </a:tcPr>
                </a:tc>
                <a:tc>
                  <a:txBody>
                    <a:bodyPr/>
                    <a:lstStyle/>
                    <a:p>
                      <a:pPr>
                        <a:buNone/>
                      </a:pPr>
                      <a:r>
                        <a:rPr lang="fr-FR"/>
                        <a:t>Télémétrie, IoT, logs massifs</a:t>
                      </a:r>
                    </a:p>
                  </a:txBody>
                  <a:tcPr anchor="ctr">
                    <a:lnL>
                      <a:noFill/>
                    </a:lnL>
                    <a:lnR>
                      <a:noFill/>
                    </a:lnR>
                    <a:lnT>
                      <a:noFill/>
                    </a:lnT>
                    <a:lnB>
                      <a:noFill/>
                    </a:lnB>
                    <a:noFill/>
                  </a:tcPr>
                </a:tc>
                <a:extLst>
                  <a:ext uri="{0D108BD9-81ED-4DB2-BD59-A6C34878D82A}">
                    <a16:rowId xmlns:a16="http://schemas.microsoft.com/office/drawing/2014/main" val="2112777148"/>
                  </a:ext>
                </a:extLst>
              </a:tr>
              <a:tr h="0">
                <a:tc>
                  <a:txBody>
                    <a:bodyPr/>
                    <a:lstStyle/>
                    <a:p>
                      <a:pPr>
                        <a:buNone/>
                      </a:pPr>
                      <a:r>
                        <a:rPr lang="fr-FR"/>
                        <a:t>Azure Event Grid</a:t>
                      </a:r>
                    </a:p>
                  </a:txBody>
                  <a:tcPr anchor="ctr">
                    <a:lnL>
                      <a:noFill/>
                    </a:lnL>
                    <a:lnR>
                      <a:noFill/>
                    </a:lnR>
                    <a:lnT>
                      <a:noFill/>
                    </a:lnT>
                    <a:lnB>
                      <a:noFill/>
                    </a:lnB>
                    <a:noFill/>
                  </a:tcPr>
                </a:tc>
                <a:tc>
                  <a:txBody>
                    <a:bodyPr/>
                    <a:lstStyle/>
                    <a:p>
                      <a:pPr>
                        <a:buNone/>
                      </a:pPr>
                      <a:r>
                        <a:rPr lang="fr-FR"/>
                        <a:t>Event Routing</a:t>
                      </a:r>
                    </a:p>
                  </a:txBody>
                  <a:tcPr anchor="ctr">
                    <a:lnL>
                      <a:noFill/>
                    </a:lnL>
                    <a:lnR>
                      <a:noFill/>
                    </a:lnR>
                    <a:lnT>
                      <a:noFill/>
                    </a:lnT>
                    <a:lnB>
                      <a:noFill/>
                    </a:lnB>
                    <a:noFill/>
                  </a:tcPr>
                </a:tc>
                <a:tc>
                  <a:txBody>
                    <a:bodyPr/>
                    <a:lstStyle/>
                    <a:p>
                      <a:pPr>
                        <a:buNone/>
                      </a:pPr>
                      <a:r>
                        <a:rPr lang="fr-FR"/>
                        <a:t>Notifications d'événements</a:t>
                      </a:r>
                    </a:p>
                  </a:txBody>
                  <a:tcPr anchor="ctr">
                    <a:lnL>
                      <a:noFill/>
                    </a:lnL>
                    <a:lnR>
                      <a:noFill/>
                    </a:lnR>
                    <a:lnT>
                      <a:noFill/>
                    </a:lnT>
                    <a:lnB>
                      <a:noFill/>
                    </a:lnB>
                    <a:noFill/>
                  </a:tcPr>
                </a:tc>
                <a:extLst>
                  <a:ext uri="{0D108BD9-81ED-4DB2-BD59-A6C34878D82A}">
                    <a16:rowId xmlns:a16="http://schemas.microsoft.com/office/drawing/2014/main" val="470815989"/>
                  </a:ext>
                </a:extLst>
              </a:tr>
              <a:tr h="0">
                <a:tc>
                  <a:txBody>
                    <a:bodyPr/>
                    <a:lstStyle/>
                    <a:p>
                      <a:pPr>
                        <a:buNone/>
                      </a:pPr>
                      <a:r>
                        <a:rPr lang="fr-FR" dirty="0"/>
                        <a:t>Azure Queue Storage</a:t>
                      </a:r>
                    </a:p>
                  </a:txBody>
                  <a:tcPr anchor="ctr">
                    <a:lnL>
                      <a:noFill/>
                    </a:lnL>
                    <a:lnR>
                      <a:noFill/>
                    </a:lnR>
                    <a:lnT>
                      <a:noFill/>
                    </a:lnT>
                    <a:lnB>
                      <a:noFill/>
                    </a:lnB>
                    <a:noFill/>
                  </a:tcPr>
                </a:tc>
                <a:tc>
                  <a:txBody>
                    <a:bodyPr/>
                    <a:lstStyle/>
                    <a:p>
                      <a:pPr>
                        <a:buNone/>
                      </a:pPr>
                      <a:r>
                        <a:rPr lang="fr-FR"/>
                        <a:t>Queue simple</a:t>
                      </a:r>
                    </a:p>
                  </a:txBody>
                  <a:tcPr anchor="ctr">
                    <a:lnL>
                      <a:noFill/>
                    </a:lnL>
                    <a:lnR>
                      <a:noFill/>
                    </a:lnR>
                    <a:lnT>
                      <a:noFill/>
                    </a:lnT>
                    <a:lnB>
                      <a:noFill/>
                    </a:lnB>
                    <a:noFill/>
                  </a:tcPr>
                </a:tc>
                <a:tc>
                  <a:txBody>
                    <a:bodyPr/>
                    <a:lstStyle/>
                    <a:p>
                      <a:pPr>
                        <a:buNone/>
                      </a:pPr>
                      <a:r>
                        <a:rPr lang="fr-FR"/>
                        <a:t>File d'attente simple et peu coûteuse</a:t>
                      </a:r>
                    </a:p>
                  </a:txBody>
                  <a:tcPr anchor="ctr">
                    <a:lnL>
                      <a:noFill/>
                    </a:lnL>
                    <a:lnR>
                      <a:noFill/>
                    </a:lnR>
                    <a:lnT>
                      <a:noFill/>
                    </a:lnT>
                    <a:lnB>
                      <a:noFill/>
                    </a:lnB>
                    <a:noFill/>
                  </a:tcPr>
                </a:tc>
                <a:extLst>
                  <a:ext uri="{0D108BD9-81ED-4DB2-BD59-A6C34878D82A}">
                    <a16:rowId xmlns:a16="http://schemas.microsoft.com/office/drawing/2014/main" val="3348979332"/>
                  </a:ext>
                </a:extLst>
              </a:tr>
              <a:tr h="0">
                <a:tc>
                  <a:txBody>
                    <a:bodyPr/>
                    <a:lstStyle/>
                    <a:p>
                      <a:pPr>
                        <a:buNone/>
                      </a:pPr>
                      <a:r>
                        <a:rPr lang="fr-FR"/>
                        <a:t>Azure IoT Hub</a:t>
                      </a:r>
                    </a:p>
                  </a:txBody>
                  <a:tcPr anchor="ctr">
                    <a:lnL>
                      <a:noFill/>
                    </a:lnL>
                    <a:lnR>
                      <a:noFill/>
                    </a:lnR>
                    <a:lnT>
                      <a:noFill/>
                    </a:lnT>
                    <a:lnB>
                      <a:noFill/>
                    </a:lnB>
                    <a:noFill/>
                  </a:tcPr>
                </a:tc>
                <a:tc>
                  <a:txBody>
                    <a:bodyPr/>
                    <a:lstStyle/>
                    <a:p>
                      <a:pPr>
                        <a:buNone/>
                      </a:pPr>
                      <a:r>
                        <a:rPr lang="fr-FR"/>
                        <a:t>Messaging IoT</a:t>
                      </a:r>
                    </a:p>
                  </a:txBody>
                  <a:tcPr anchor="ctr">
                    <a:lnL>
                      <a:noFill/>
                    </a:lnL>
                    <a:lnR>
                      <a:noFill/>
                    </a:lnR>
                    <a:lnT>
                      <a:noFill/>
                    </a:lnT>
                    <a:lnB>
                      <a:noFill/>
                    </a:lnB>
                    <a:noFill/>
                  </a:tcPr>
                </a:tc>
                <a:tc>
                  <a:txBody>
                    <a:bodyPr/>
                    <a:lstStyle/>
                    <a:p>
                      <a:pPr>
                        <a:buNone/>
                      </a:pPr>
                      <a:r>
                        <a:rPr lang="fr-FR" dirty="0"/>
                        <a:t>Communication avec les objets connectés</a:t>
                      </a:r>
                    </a:p>
                  </a:txBody>
                  <a:tcPr anchor="ctr">
                    <a:lnL>
                      <a:noFill/>
                    </a:lnL>
                    <a:lnR>
                      <a:noFill/>
                    </a:lnR>
                    <a:lnT>
                      <a:noFill/>
                    </a:lnT>
                    <a:lnB>
                      <a:noFill/>
                    </a:lnB>
                    <a:noFill/>
                  </a:tcPr>
                </a:tc>
                <a:extLst>
                  <a:ext uri="{0D108BD9-81ED-4DB2-BD59-A6C34878D82A}">
                    <a16:rowId xmlns:a16="http://schemas.microsoft.com/office/drawing/2014/main" val="2673594528"/>
                  </a:ext>
                </a:extLst>
              </a:tr>
            </a:tbl>
          </a:graphicData>
        </a:graphic>
      </p:graphicFrame>
    </p:spTree>
    <p:extLst>
      <p:ext uri="{BB962C8B-B14F-4D97-AF65-F5344CB8AC3E}">
        <p14:creationId xmlns:p14="http://schemas.microsoft.com/office/powerpoint/2010/main" val="2317525463"/>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320F9-6DE9-1662-F4DB-1446A11A8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FE7E2-163C-4AEE-672F-D34B65B795D7}"/>
              </a:ext>
            </a:extLst>
          </p:cNvPr>
          <p:cNvSpPr>
            <a:spLocks noGrp="1"/>
          </p:cNvSpPr>
          <p:nvPr>
            <p:ph type="title"/>
          </p:nvPr>
        </p:nvSpPr>
        <p:spPr/>
        <p:txBody>
          <a:bodyPr/>
          <a:lstStyle/>
          <a:p>
            <a:r>
              <a:rPr lang="en-US" dirty="0" err="1"/>
              <a:t>Comparaison</a:t>
            </a:r>
            <a:endParaRPr lang="en-US" dirty="0"/>
          </a:p>
        </p:txBody>
      </p:sp>
      <p:graphicFrame>
        <p:nvGraphicFramePr>
          <p:cNvPr id="3" name="Tableau 2">
            <a:extLst>
              <a:ext uri="{FF2B5EF4-FFF2-40B4-BE49-F238E27FC236}">
                <a16:creationId xmlns:a16="http://schemas.microsoft.com/office/drawing/2014/main" id="{BC9A1166-4085-F5EF-B6C7-E1105F941D71}"/>
              </a:ext>
            </a:extLst>
          </p:cNvPr>
          <p:cNvGraphicFramePr>
            <a:graphicFrameLocks noGrp="1"/>
          </p:cNvGraphicFramePr>
          <p:nvPr>
            <p:extLst>
              <p:ext uri="{D42A27DB-BD31-4B8C-83A1-F6EECF244321}">
                <p14:modId xmlns:p14="http://schemas.microsoft.com/office/powerpoint/2010/main" val="267748868"/>
              </p:ext>
            </p:extLst>
          </p:nvPr>
        </p:nvGraphicFramePr>
        <p:xfrm>
          <a:off x="35496" y="764704"/>
          <a:ext cx="9073008" cy="5832648"/>
        </p:xfrm>
        <a:graphic>
          <a:graphicData uri="http://schemas.openxmlformats.org/drawingml/2006/table">
            <a:tbl>
              <a:tblPr/>
              <a:tblGrid>
                <a:gridCol w="1512168">
                  <a:extLst>
                    <a:ext uri="{9D8B030D-6E8A-4147-A177-3AD203B41FA5}">
                      <a16:colId xmlns:a16="http://schemas.microsoft.com/office/drawing/2014/main" val="1183280760"/>
                    </a:ext>
                  </a:extLst>
                </a:gridCol>
                <a:gridCol w="1512168">
                  <a:extLst>
                    <a:ext uri="{9D8B030D-6E8A-4147-A177-3AD203B41FA5}">
                      <a16:colId xmlns:a16="http://schemas.microsoft.com/office/drawing/2014/main" val="3930397089"/>
                    </a:ext>
                  </a:extLst>
                </a:gridCol>
                <a:gridCol w="1512168">
                  <a:extLst>
                    <a:ext uri="{9D8B030D-6E8A-4147-A177-3AD203B41FA5}">
                      <a16:colId xmlns:a16="http://schemas.microsoft.com/office/drawing/2014/main" val="3579829911"/>
                    </a:ext>
                  </a:extLst>
                </a:gridCol>
                <a:gridCol w="1512168">
                  <a:extLst>
                    <a:ext uri="{9D8B030D-6E8A-4147-A177-3AD203B41FA5}">
                      <a16:colId xmlns:a16="http://schemas.microsoft.com/office/drawing/2014/main" val="1521705085"/>
                    </a:ext>
                  </a:extLst>
                </a:gridCol>
                <a:gridCol w="1512168">
                  <a:extLst>
                    <a:ext uri="{9D8B030D-6E8A-4147-A177-3AD203B41FA5}">
                      <a16:colId xmlns:a16="http://schemas.microsoft.com/office/drawing/2014/main" val="276064569"/>
                    </a:ext>
                  </a:extLst>
                </a:gridCol>
                <a:gridCol w="1512168">
                  <a:extLst>
                    <a:ext uri="{9D8B030D-6E8A-4147-A177-3AD203B41FA5}">
                      <a16:colId xmlns:a16="http://schemas.microsoft.com/office/drawing/2014/main" val="1940390553"/>
                    </a:ext>
                  </a:extLst>
                </a:gridCol>
              </a:tblGrid>
              <a:tr h="279096">
                <a:tc>
                  <a:txBody>
                    <a:bodyPr/>
                    <a:lstStyle/>
                    <a:p>
                      <a:pPr>
                        <a:buNone/>
                      </a:pPr>
                      <a:r>
                        <a:rPr lang="fr-FR" sz="1100" b="1" u="sng"/>
                        <a:t>Critère</a:t>
                      </a:r>
                    </a:p>
                  </a:txBody>
                  <a:tcPr marL="23908" marR="23908" marT="11954" marB="11954" anchor="ctr">
                    <a:lnL>
                      <a:noFill/>
                    </a:lnL>
                    <a:lnR>
                      <a:noFill/>
                    </a:lnR>
                    <a:lnT>
                      <a:noFill/>
                    </a:lnT>
                    <a:lnB>
                      <a:noFill/>
                    </a:lnB>
                    <a:noFill/>
                  </a:tcPr>
                </a:tc>
                <a:tc>
                  <a:txBody>
                    <a:bodyPr/>
                    <a:lstStyle/>
                    <a:p>
                      <a:pPr>
                        <a:buNone/>
                      </a:pPr>
                      <a:r>
                        <a:rPr lang="fr-FR" sz="1100" b="1" u="sng"/>
                        <a:t>Azure Queue Storage</a:t>
                      </a:r>
                    </a:p>
                  </a:txBody>
                  <a:tcPr marL="23908" marR="23908" marT="11954" marB="11954" anchor="ctr">
                    <a:lnL>
                      <a:noFill/>
                    </a:lnL>
                    <a:lnR>
                      <a:noFill/>
                    </a:lnR>
                    <a:lnT>
                      <a:noFill/>
                    </a:lnT>
                    <a:lnB>
                      <a:noFill/>
                    </a:lnB>
                    <a:noFill/>
                  </a:tcPr>
                </a:tc>
                <a:tc>
                  <a:txBody>
                    <a:bodyPr/>
                    <a:lstStyle/>
                    <a:p>
                      <a:pPr>
                        <a:buNone/>
                      </a:pPr>
                      <a:r>
                        <a:rPr lang="fr-FR" sz="1100" b="1" u="sng"/>
                        <a:t>Azure Service Bus</a:t>
                      </a:r>
                    </a:p>
                  </a:txBody>
                  <a:tcPr marL="23908" marR="23908" marT="11954" marB="11954" anchor="ctr">
                    <a:lnL>
                      <a:noFill/>
                    </a:lnL>
                    <a:lnR>
                      <a:noFill/>
                    </a:lnR>
                    <a:lnT>
                      <a:noFill/>
                    </a:lnT>
                    <a:lnB>
                      <a:noFill/>
                    </a:lnB>
                    <a:noFill/>
                  </a:tcPr>
                </a:tc>
                <a:tc>
                  <a:txBody>
                    <a:bodyPr/>
                    <a:lstStyle/>
                    <a:p>
                      <a:pPr>
                        <a:buNone/>
                      </a:pPr>
                      <a:r>
                        <a:rPr lang="fr-FR" sz="1100" b="1" u="sng"/>
                        <a:t>Azure Event Hub</a:t>
                      </a:r>
                    </a:p>
                  </a:txBody>
                  <a:tcPr marL="23908" marR="23908" marT="11954" marB="11954" anchor="ctr">
                    <a:lnL>
                      <a:noFill/>
                    </a:lnL>
                    <a:lnR>
                      <a:noFill/>
                    </a:lnR>
                    <a:lnT>
                      <a:noFill/>
                    </a:lnT>
                    <a:lnB>
                      <a:noFill/>
                    </a:lnB>
                    <a:noFill/>
                  </a:tcPr>
                </a:tc>
                <a:tc>
                  <a:txBody>
                    <a:bodyPr/>
                    <a:lstStyle/>
                    <a:p>
                      <a:pPr>
                        <a:buNone/>
                      </a:pPr>
                      <a:r>
                        <a:rPr lang="fr-FR" sz="1100" b="1" u="sng"/>
                        <a:t>Azure Event Grid</a:t>
                      </a:r>
                    </a:p>
                  </a:txBody>
                  <a:tcPr marL="23908" marR="23908" marT="11954" marB="11954" anchor="ctr">
                    <a:lnL>
                      <a:noFill/>
                    </a:lnL>
                    <a:lnR>
                      <a:noFill/>
                    </a:lnR>
                    <a:lnT>
                      <a:noFill/>
                    </a:lnT>
                    <a:lnB>
                      <a:noFill/>
                    </a:lnB>
                    <a:noFill/>
                  </a:tcPr>
                </a:tc>
                <a:tc>
                  <a:txBody>
                    <a:bodyPr/>
                    <a:lstStyle/>
                    <a:p>
                      <a:pPr>
                        <a:buNone/>
                      </a:pPr>
                      <a:r>
                        <a:rPr lang="fr-FR" sz="1100" b="1" u="sng" dirty="0"/>
                        <a:t>Azure IoT Hub</a:t>
                      </a:r>
                    </a:p>
                  </a:txBody>
                  <a:tcPr marL="23908" marR="23908" marT="11954" marB="11954" anchor="ctr">
                    <a:lnL>
                      <a:noFill/>
                    </a:lnL>
                    <a:lnR>
                      <a:noFill/>
                    </a:lnR>
                    <a:lnT>
                      <a:noFill/>
                    </a:lnT>
                    <a:lnB>
                      <a:noFill/>
                    </a:lnB>
                    <a:noFill/>
                  </a:tcPr>
                </a:tc>
                <a:extLst>
                  <a:ext uri="{0D108BD9-81ED-4DB2-BD59-A6C34878D82A}">
                    <a16:rowId xmlns:a16="http://schemas.microsoft.com/office/drawing/2014/main" val="2649225864"/>
                  </a:ext>
                </a:extLst>
              </a:tr>
              <a:tr h="383719">
                <a:tc>
                  <a:txBody>
                    <a:bodyPr/>
                    <a:lstStyle/>
                    <a:p>
                      <a:pPr>
                        <a:buNone/>
                      </a:pPr>
                      <a:r>
                        <a:rPr lang="fr-FR" sz="1100" b="1"/>
                        <a:t>Type</a:t>
                      </a:r>
                      <a:endParaRPr lang="fr-FR" sz="1100"/>
                    </a:p>
                  </a:txBody>
                  <a:tcPr marL="23908" marR="23908" marT="11954" marB="11954" anchor="ctr">
                    <a:lnL>
                      <a:noFill/>
                    </a:lnL>
                    <a:lnR>
                      <a:noFill/>
                    </a:lnR>
                    <a:lnT>
                      <a:noFill/>
                    </a:lnT>
                    <a:lnB>
                      <a:noFill/>
                    </a:lnB>
                    <a:noFill/>
                  </a:tcPr>
                </a:tc>
                <a:tc>
                  <a:txBody>
                    <a:bodyPr/>
                    <a:lstStyle/>
                    <a:p>
                      <a:pPr>
                        <a:buNone/>
                      </a:pPr>
                      <a:r>
                        <a:rPr lang="fr-FR" sz="1100"/>
                        <a:t>File d'attente simple</a:t>
                      </a:r>
                    </a:p>
                  </a:txBody>
                  <a:tcPr marL="23908" marR="23908" marT="11954" marB="11954" anchor="ctr">
                    <a:lnL>
                      <a:noFill/>
                    </a:lnL>
                    <a:lnR>
                      <a:noFill/>
                    </a:lnR>
                    <a:lnT>
                      <a:noFill/>
                    </a:lnT>
                    <a:lnB>
                      <a:noFill/>
                    </a:lnB>
                    <a:noFill/>
                  </a:tcPr>
                </a:tc>
                <a:tc>
                  <a:txBody>
                    <a:bodyPr/>
                    <a:lstStyle/>
                    <a:p>
                      <a:pPr>
                        <a:buNone/>
                      </a:pPr>
                      <a:r>
                        <a:rPr lang="fr-FR" sz="1100"/>
                        <a:t>Broker de messages</a:t>
                      </a:r>
                    </a:p>
                  </a:txBody>
                  <a:tcPr marL="23908" marR="23908" marT="11954" marB="11954" anchor="ctr">
                    <a:lnL>
                      <a:noFill/>
                    </a:lnL>
                    <a:lnR>
                      <a:noFill/>
                    </a:lnR>
                    <a:lnT>
                      <a:noFill/>
                    </a:lnT>
                    <a:lnB>
                      <a:noFill/>
                    </a:lnB>
                    <a:noFill/>
                  </a:tcPr>
                </a:tc>
                <a:tc>
                  <a:txBody>
                    <a:bodyPr/>
                    <a:lstStyle/>
                    <a:p>
                      <a:pPr>
                        <a:buNone/>
                      </a:pPr>
                      <a:r>
                        <a:rPr lang="fr-FR" sz="1100"/>
                        <a:t>Streaming d'événements</a:t>
                      </a:r>
                    </a:p>
                  </a:txBody>
                  <a:tcPr marL="23908" marR="23908" marT="11954" marB="11954" anchor="ctr">
                    <a:lnL>
                      <a:noFill/>
                    </a:lnL>
                    <a:lnR>
                      <a:noFill/>
                    </a:lnR>
                    <a:lnT>
                      <a:noFill/>
                    </a:lnT>
                    <a:lnB>
                      <a:noFill/>
                    </a:lnB>
                    <a:noFill/>
                  </a:tcPr>
                </a:tc>
                <a:tc>
                  <a:txBody>
                    <a:bodyPr/>
                    <a:lstStyle/>
                    <a:p>
                      <a:pPr>
                        <a:buNone/>
                      </a:pPr>
                      <a:r>
                        <a:rPr lang="fr-FR" sz="1100"/>
                        <a:t>Routage d'événements</a:t>
                      </a:r>
                    </a:p>
                  </a:txBody>
                  <a:tcPr marL="23908" marR="23908" marT="11954" marB="11954" anchor="ctr">
                    <a:lnL>
                      <a:noFill/>
                    </a:lnL>
                    <a:lnR>
                      <a:noFill/>
                    </a:lnR>
                    <a:lnT>
                      <a:noFill/>
                    </a:lnT>
                    <a:lnB>
                      <a:noFill/>
                    </a:lnB>
                    <a:noFill/>
                  </a:tcPr>
                </a:tc>
                <a:tc>
                  <a:txBody>
                    <a:bodyPr/>
                    <a:lstStyle/>
                    <a:p>
                      <a:pPr>
                        <a:buNone/>
                      </a:pPr>
                      <a:r>
                        <a:rPr lang="fr-FR" sz="1100"/>
                        <a:t>Hub IoT</a:t>
                      </a:r>
                    </a:p>
                  </a:txBody>
                  <a:tcPr marL="23908" marR="23908" marT="11954" marB="11954" anchor="ctr">
                    <a:lnL>
                      <a:noFill/>
                    </a:lnL>
                    <a:lnR>
                      <a:noFill/>
                    </a:lnR>
                    <a:lnT>
                      <a:noFill/>
                    </a:lnT>
                    <a:lnB>
                      <a:noFill/>
                    </a:lnB>
                    <a:noFill/>
                  </a:tcPr>
                </a:tc>
                <a:extLst>
                  <a:ext uri="{0D108BD9-81ED-4DB2-BD59-A6C34878D82A}">
                    <a16:rowId xmlns:a16="http://schemas.microsoft.com/office/drawing/2014/main" val="2046229631"/>
                  </a:ext>
                </a:extLst>
              </a:tr>
              <a:tr h="383719">
                <a:tc>
                  <a:txBody>
                    <a:bodyPr/>
                    <a:lstStyle/>
                    <a:p>
                      <a:pPr>
                        <a:buNone/>
                      </a:pPr>
                      <a:r>
                        <a:rPr lang="fr-FR" sz="1100" b="1"/>
                        <a:t>Modèle</a:t>
                      </a:r>
                      <a:endParaRPr lang="fr-FR" sz="1100"/>
                    </a:p>
                  </a:txBody>
                  <a:tcPr marL="23908" marR="23908" marT="11954" marB="11954" anchor="ctr">
                    <a:lnL>
                      <a:noFill/>
                    </a:lnL>
                    <a:lnR>
                      <a:noFill/>
                    </a:lnR>
                    <a:lnT>
                      <a:noFill/>
                    </a:lnT>
                    <a:lnB>
                      <a:noFill/>
                    </a:lnB>
                    <a:noFill/>
                  </a:tcPr>
                </a:tc>
                <a:tc>
                  <a:txBody>
                    <a:bodyPr/>
                    <a:lstStyle/>
                    <a:p>
                      <a:pPr>
                        <a:buNone/>
                      </a:pPr>
                      <a:r>
                        <a:rPr lang="fr-FR" sz="1100"/>
                        <a:t>Queue</a:t>
                      </a:r>
                    </a:p>
                  </a:txBody>
                  <a:tcPr marL="23908" marR="23908" marT="11954" marB="11954" anchor="ctr">
                    <a:lnL>
                      <a:noFill/>
                    </a:lnL>
                    <a:lnR>
                      <a:noFill/>
                    </a:lnR>
                    <a:lnT>
                      <a:noFill/>
                    </a:lnT>
                    <a:lnB>
                      <a:noFill/>
                    </a:lnB>
                    <a:noFill/>
                  </a:tcPr>
                </a:tc>
                <a:tc>
                  <a:txBody>
                    <a:bodyPr/>
                    <a:lstStyle/>
                    <a:p>
                      <a:pPr>
                        <a:buNone/>
                      </a:pPr>
                      <a:r>
                        <a:rPr lang="fr-FR" sz="1100"/>
                        <a:t>Queue / Topic / Subscription</a:t>
                      </a:r>
                    </a:p>
                  </a:txBody>
                  <a:tcPr marL="23908" marR="23908" marT="11954" marB="11954" anchor="ctr">
                    <a:lnL>
                      <a:noFill/>
                    </a:lnL>
                    <a:lnR>
                      <a:noFill/>
                    </a:lnR>
                    <a:lnT>
                      <a:noFill/>
                    </a:lnT>
                    <a:lnB>
                      <a:noFill/>
                    </a:lnB>
                    <a:noFill/>
                  </a:tcPr>
                </a:tc>
                <a:tc>
                  <a:txBody>
                    <a:bodyPr/>
                    <a:lstStyle/>
                    <a:p>
                      <a:pPr>
                        <a:buNone/>
                      </a:pPr>
                      <a:r>
                        <a:rPr lang="fr-FR" sz="1100"/>
                        <a:t>Event Stream</a:t>
                      </a:r>
                    </a:p>
                  </a:txBody>
                  <a:tcPr marL="23908" marR="23908" marT="11954" marB="11954" anchor="ctr">
                    <a:lnL>
                      <a:noFill/>
                    </a:lnL>
                    <a:lnR>
                      <a:noFill/>
                    </a:lnR>
                    <a:lnT>
                      <a:noFill/>
                    </a:lnT>
                    <a:lnB>
                      <a:noFill/>
                    </a:lnB>
                    <a:noFill/>
                  </a:tcPr>
                </a:tc>
                <a:tc>
                  <a:txBody>
                    <a:bodyPr/>
                    <a:lstStyle/>
                    <a:p>
                      <a:pPr>
                        <a:buNone/>
                      </a:pPr>
                      <a:r>
                        <a:rPr lang="fr-FR" sz="1100"/>
                        <a:t>Publish / Subscribe</a:t>
                      </a:r>
                    </a:p>
                  </a:txBody>
                  <a:tcPr marL="23908" marR="23908" marT="11954" marB="11954" anchor="ctr">
                    <a:lnL>
                      <a:noFill/>
                    </a:lnL>
                    <a:lnR>
                      <a:noFill/>
                    </a:lnR>
                    <a:lnT>
                      <a:noFill/>
                    </a:lnT>
                    <a:lnB>
                      <a:noFill/>
                    </a:lnB>
                    <a:noFill/>
                  </a:tcPr>
                </a:tc>
                <a:tc>
                  <a:txBody>
                    <a:bodyPr/>
                    <a:lstStyle/>
                    <a:p>
                      <a:pPr>
                        <a:buNone/>
                      </a:pPr>
                      <a:r>
                        <a:rPr lang="fr-FR" sz="1100"/>
                        <a:t>Device ↔ Cloud</a:t>
                      </a:r>
                    </a:p>
                  </a:txBody>
                  <a:tcPr marL="23908" marR="23908" marT="11954" marB="11954" anchor="ctr">
                    <a:lnL>
                      <a:noFill/>
                    </a:lnL>
                    <a:lnR>
                      <a:noFill/>
                    </a:lnR>
                    <a:lnT>
                      <a:noFill/>
                    </a:lnT>
                    <a:lnB>
                      <a:noFill/>
                    </a:lnB>
                    <a:noFill/>
                  </a:tcPr>
                </a:tc>
                <a:extLst>
                  <a:ext uri="{0D108BD9-81ED-4DB2-BD59-A6C34878D82A}">
                    <a16:rowId xmlns:a16="http://schemas.microsoft.com/office/drawing/2014/main" val="897044229"/>
                  </a:ext>
                </a:extLst>
              </a:tr>
              <a:tr h="383719">
                <a:tc>
                  <a:txBody>
                    <a:bodyPr/>
                    <a:lstStyle/>
                    <a:p>
                      <a:pPr>
                        <a:buNone/>
                      </a:pPr>
                      <a:r>
                        <a:rPr lang="fr-FR" sz="1100" b="1"/>
                        <a:t>Cas d'usage principal</a:t>
                      </a:r>
                      <a:endParaRPr lang="fr-FR" sz="1100"/>
                    </a:p>
                  </a:txBody>
                  <a:tcPr marL="23908" marR="23908" marT="11954" marB="11954" anchor="ctr">
                    <a:lnL>
                      <a:noFill/>
                    </a:lnL>
                    <a:lnR>
                      <a:noFill/>
                    </a:lnR>
                    <a:lnT>
                      <a:noFill/>
                    </a:lnT>
                    <a:lnB>
                      <a:noFill/>
                    </a:lnB>
                    <a:noFill/>
                  </a:tcPr>
                </a:tc>
                <a:tc>
                  <a:txBody>
                    <a:bodyPr/>
                    <a:lstStyle/>
                    <a:p>
                      <a:pPr>
                        <a:buNone/>
                      </a:pPr>
                      <a:r>
                        <a:rPr lang="fr-FR" sz="1100"/>
                        <a:t>Traitements asynchrones simples</a:t>
                      </a:r>
                    </a:p>
                  </a:txBody>
                  <a:tcPr marL="23908" marR="23908" marT="11954" marB="11954" anchor="ctr">
                    <a:lnL>
                      <a:noFill/>
                    </a:lnL>
                    <a:lnR>
                      <a:noFill/>
                    </a:lnR>
                    <a:lnT>
                      <a:noFill/>
                    </a:lnT>
                    <a:lnB>
                      <a:noFill/>
                    </a:lnB>
                    <a:noFill/>
                  </a:tcPr>
                </a:tc>
                <a:tc>
                  <a:txBody>
                    <a:bodyPr/>
                    <a:lstStyle/>
                    <a:p>
                      <a:pPr>
                        <a:buNone/>
                      </a:pPr>
                      <a:r>
                        <a:rPr lang="fr-FR" sz="1100"/>
                        <a:t>Commandes métier et workflows</a:t>
                      </a:r>
                    </a:p>
                  </a:txBody>
                  <a:tcPr marL="23908" marR="23908" marT="11954" marB="11954" anchor="ctr">
                    <a:lnL>
                      <a:noFill/>
                    </a:lnL>
                    <a:lnR>
                      <a:noFill/>
                    </a:lnR>
                    <a:lnT>
                      <a:noFill/>
                    </a:lnT>
                    <a:lnB>
                      <a:noFill/>
                    </a:lnB>
                    <a:noFill/>
                  </a:tcPr>
                </a:tc>
                <a:tc>
                  <a:txBody>
                    <a:bodyPr/>
                    <a:lstStyle/>
                    <a:p>
                      <a:pPr>
                        <a:buNone/>
                      </a:pPr>
                      <a:r>
                        <a:rPr lang="fr-FR" sz="1100"/>
                        <a:t>Télémétrie, logs, IoT</a:t>
                      </a:r>
                    </a:p>
                  </a:txBody>
                  <a:tcPr marL="23908" marR="23908" marT="11954" marB="11954" anchor="ctr">
                    <a:lnL>
                      <a:noFill/>
                    </a:lnL>
                    <a:lnR>
                      <a:noFill/>
                    </a:lnR>
                    <a:lnT>
                      <a:noFill/>
                    </a:lnT>
                    <a:lnB>
                      <a:noFill/>
                    </a:lnB>
                    <a:noFill/>
                  </a:tcPr>
                </a:tc>
                <a:tc>
                  <a:txBody>
                    <a:bodyPr/>
                    <a:lstStyle/>
                    <a:p>
                      <a:pPr>
                        <a:buNone/>
                      </a:pPr>
                      <a:r>
                        <a:rPr lang="fr-FR" sz="1100"/>
                        <a:t>Notifications d'événements</a:t>
                      </a:r>
                    </a:p>
                  </a:txBody>
                  <a:tcPr marL="23908" marR="23908" marT="11954" marB="11954" anchor="ctr">
                    <a:lnL>
                      <a:noFill/>
                    </a:lnL>
                    <a:lnR>
                      <a:noFill/>
                    </a:lnR>
                    <a:lnT>
                      <a:noFill/>
                    </a:lnT>
                    <a:lnB>
                      <a:noFill/>
                    </a:lnB>
                    <a:noFill/>
                  </a:tcPr>
                </a:tc>
                <a:tc>
                  <a:txBody>
                    <a:bodyPr/>
                    <a:lstStyle/>
                    <a:p>
                      <a:pPr>
                        <a:buNone/>
                      </a:pPr>
                      <a:r>
                        <a:rPr lang="fr-FR" sz="1100"/>
                        <a:t>Gestion d'objets connectés</a:t>
                      </a:r>
                    </a:p>
                  </a:txBody>
                  <a:tcPr marL="23908" marR="23908" marT="11954" marB="11954" anchor="ctr">
                    <a:lnL>
                      <a:noFill/>
                    </a:lnL>
                    <a:lnR>
                      <a:noFill/>
                    </a:lnR>
                    <a:lnT>
                      <a:noFill/>
                    </a:lnT>
                    <a:lnB>
                      <a:noFill/>
                    </a:lnB>
                    <a:noFill/>
                  </a:tcPr>
                </a:tc>
                <a:extLst>
                  <a:ext uri="{0D108BD9-81ED-4DB2-BD59-A6C34878D82A}">
                    <a16:rowId xmlns:a16="http://schemas.microsoft.com/office/drawing/2014/main" val="2858538458"/>
                  </a:ext>
                </a:extLst>
              </a:tr>
              <a:tr h="205814">
                <a:tc>
                  <a:txBody>
                    <a:bodyPr/>
                    <a:lstStyle/>
                    <a:p>
                      <a:pPr>
                        <a:buNone/>
                      </a:pPr>
                      <a:r>
                        <a:rPr lang="fr-FR" sz="1100" b="1"/>
                        <a:t>Débit</a:t>
                      </a:r>
                      <a:endParaRPr lang="fr-FR" sz="1100"/>
                    </a:p>
                  </a:txBody>
                  <a:tcPr marL="23908" marR="23908" marT="11954" marB="11954" anchor="ctr">
                    <a:lnL>
                      <a:noFill/>
                    </a:lnL>
                    <a:lnR>
                      <a:noFill/>
                    </a:lnR>
                    <a:lnT>
                      <a:noFill/>
                    </a:lnT>
                    <a:lnB>
                      <a:noFill/>
                    </a:lnB>
                    <a:noFill/>
                  </a:tcPr>
                </a:tc>
                <a:tc>
                  <a:txBody>
                    <a:bodyPr/>
                    <a:lstStyle/>
                    <a:p>
                      <a:pPr>
                        <a:buNone/>
                      </a:pPr>
                      <a:r>
                        <a:rPr lang="fr-FR" sz="1100"/>
                        <a:t>Faible à moyen</a:t>
                      </a:r>
                    </a:p>
                  </a:txBody>
                  <a:tcPr marL="23908" marR="23908" marT="11954" marB="11954" anchor="ctr">
                    <a:lnL>
                      <a:noFill/>
                    </a:lnL>
                    <a:lnR>
                      <a:noFill/>
                    </a:lnR>
                    <a:lnT>
                      <a:noFill/>
                    </a:lnT>
                    <a:lnB>
                      <a:noFill/>
                    </a:lnB>
                    <a:noFill/>
                  </a:tcPr>
                </a:tc>
                <a:tc>
                  <a:txBody>
                    <a:bodyPr/>
                    <a:lstStyle/>
                    <a:p>
                      <a:pPr>
                        <a:buNone/>
                      </a:pPr>
                      <a:r>
                        <a:rPr lang="fr-FR" sz="1100"/>
                        <a:t>Moyen</a:t>
                      </a:r>
                    </a:p>
                  </a:txBody>
                  <a:tcPr marL="23908" marR="23908" marT="11954" marB="11954" anchor="ctr">
                    <a:lnL>
                      <a:noFill/>
                    </a:lnL>
                    <a:lnR>
                      <a:noFill/>
                    </a:lnR>
                    <a:lnT>
                      <a:noFill/>
                    </a:lnT>
                    <a:lnB>
                      <a:noFill/>
                    </a:lnB>
                    <a:noFill/>
                  </a:tcPr>
                </a:tc>
                <a:tc>
                  <a:txBody>
                    <a:bodyPr/>
                    <a:lstStyle/>
                    <a:p>
                      <a:pPr>
                        <a:buNone/>
                      </a:pPr>
                      <a:r>
                        <a:rPr lang="fr-FR" sz="1100"/>
                        <a:t>Très élevé</a:t>
                      </a:r>
                    </a:p>
                  </a:txBody>
                  <a:tcPr marL="23908" marR="23908" marT="11954" marB="11954" anchor="ctr">
                    <a:lnL>
                      <a:noFill/>
                    </a:lnL>
                    <a:lnR>
                      <a:noFill/>
                    </a:lnR>
                    <a:lnT>
                      <a:noFill/>
                    </a:lnT>
                    <a:lnB>
                      <a:noFill/>
                    </a:lnB>
                    <a:noFill/>
                  </a:tcPr>
                </a:tc>
                <a:tc>
                  <a:txBody>
                    <a:bodyPr/>
                    <a:lstStyle/>
                    <a:p>
                      <a:pPr>
                        <a:buNone/>
                      </a:pPr>
                      <a:r>
                        <a:rPr lang="fr-FR" sz="1100"/>
                        <a:t>Très élevé</a:t>
                      </a:r>
                    </a:p>
                  </a:txBody>
                  <a:tcPr marL="23908" marR="23908" marT="11954" marB="11954" anchor="ctr">
                    <a:lnL>
                      <a:noFill/>
                    </a:lnL>
                    <a:lnR>
                      <a:noFill/>
                    </a:lnR>
                    <a:lnT>
                      <a:noFill/>
                    </a:lnT>
                    <a:lnB>
                      <a:noFill/>
                    </a:lnB>
                    <a:noFill/>
                  </a:tcPr>
                </a:tc>
                <a:tc>
                  <a:txBody>
                    <a:bodyPr/>
                    <a:lstStyle/>
                    <a:p>
                      <a:pPr>
                        <a:buNone/>
                      </a:pPr>
                      <a:r>
                        <a:rPr lang="fr-FR" sz="1100"/>
                        <a:t>Très élevé</a:t>
                      </a:r>
                    </a:p>
                  </a:txBody>
                  <a:tcPr marL="23908" marR="23908" marT="11954" marB="11954" anchor="ctr">
                    <a:lnL>
                      <a:noFill/>
                    </a:lnL>
                    <a:lnR>
                      <a:noFill/>
                    </a:lnR>
                    <a:lnT>
                      <a:noFill/>
                    </a:lnT>
                    <a:lnB>
                      <a:noFill/>
                    </a:lnB>
                    <a:noFill/>
                  </a:tcPr>
                </a:tc>
                <a:extLst>
                  <a:ext uri="{0D108BD9-81ED-4DB2-BD59-A6C34878D82A}">
                    <a16:rowId xmlns:a16="http://schemas.microsoft.com/office/drawing/2014/main" val="53506280"/>
                  </a:ext>
                </a:extLst>
              </a:tr>
              <a:tr h="205814">
                <a:tc>
                  <a:txBody>
                    <a:bodyPr/>
                    <a:lstStyle/>
                    <a:p>
                      <a:pPr>
                        <a:buNone/>
                      </a:pPr>
                      <a:r>
                        <a:rPr lang="fr-FR" sz="1100" b="1"/>
                        <a:t>Persistance</a:t>
                      </a:r>
                      <a:endParaRPr lang="fr-FR" sz="1100"/>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tc>
                  <a:txBody>
                    <a:bodyPr/>
                    <a:lstStyle/>
                    <a:p>
                      <a:pPr>
                        <a:buNone/>
                      </a:pPr>
                      <a:r>
                        <a:rPr lang="fr-FR" sz="1100"/>
                        <a:t>Temporaire (rétention)</a:t>
                      </a:r>
                    </a:p>
                  </a:txBody>
                  <a:tcPr marL="23908" marR="23908" marT="11954" marB="11954" anchor="ctr">
                    <a:lnL>
                      <a:noFill/>
                    </a:lnL>
                    <a:lnR>
                      <a:noFill/>
                    </a:lnR>
                    <a:lnT>
                      <a:noFill/>
                    </a:lnT>
                    <a:lnB>
                      <a:noFill/>
                    </a:lnB>
                    <a:noFill/>
                  </a:tcPr>
                </a:tc>
                <a:tc>
                  <a:txBody>
                    <a:bodyPr/>
                    <a:lstStyle/>
                    <a:p>
                      <a:pPr>
                        <a:buNone/>
                      </a:pPr>
                      <a:r>
                        <a:rPr lang="fr-FR" sz="1100"/>
                        <a:t>Temporaire (retries)</a:t>
                      </a:r>
                    </a:p>
                  </a:txBody>
                  <a:tcPr marL="23908" marR="23908" marT="11954" marB="11954" anchor="ctr">
                    <a:lnL>
                      <a:noFill/>
                    </a:lnL>
                    <a:lnR>
                      <a:noFill/>
                    </a:lnR>
                    <a:lnT>
                      <a:noFill/>
                    </a:lnT>
                    <a:lnB>
                      <a:noFill/>
                    </a:lnB>
                    <a:noFill/>
                  </a:tcPr>
                </a:tc>
                <a:tc>
                  <a:txBody>
                    <a:bodyPr/>
                    <a:lstStyle/>
                    <a:p>
                      <a:pPr>
                        <a:buNone/>
                      </a:pPr>
                      <a:r>
                        <a:rPr lang="fr-FR" sz="1100"/>
                        <a:t>Temporaire (rétention)</a:t>
                      </a:r>
                    </a:p>
                  </a:txBody>
                  <a:tcPr marL="23908" marR="23908" marT="11954" marB="11954" anchor="ctr">
                    <a:lnL>
                      <a:noFill/>
                    </a:lnL>
                    <a:lnR>
                      <a:noFill/>
                    </a:lnR>
                    <a:lnT>
                      <a:noFill/>
                    </a:lnT>
                    <a:lnB>
                      <a:noFill/>
                    </a:lnB>
                    <a:noFill/>
                  </a:tcPr>
                </a:tc>
                <a:extLst>
                  <a:ext uri="{0D108BD9-81ED-4DB2-BD59-A6C34878D82A}">
                    <a16:rowId xmlns:a16="http://schemas.microsoft.com/office/drawing/2014/main" val="2344720900"/>
                  </a:ext>
                </a:extLst>
              </a:tr>
              <a:tr h="561624">
                <a:tc>
                  <a:txBody>
                    <a:bodyPr/>
                    <a:lstStyle/>
                    <a:p>
                      <a:pPr>
                        <a:buNone/>
                      </a:pPr>
                      <a:r>
                        <a:rPr lang="fr-FR" sz="1100" b="1"/>
                        <a:t>Consommation multiple du même message</a:t>
                      </a:r>
                      <a:endParaRPr lang="fr-FR" sz="1100"/>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Oui via Topic</a:t>
                      </a:r>
                    </a:p>
                  </a:txBody>
                  <a:tcPr marL="23908" marR="23908" marT="11954" marB="11954" anchor="ctr">
                    <a:lnL>
                      <a:noFill/>
                    </a:lnL>
                    <a:lnR>
                      <a:noFill/>
                    </a:lnR>
                    <a:lnT>
                      <a:noFill/>
                    </a:lnT>
                    <a:lnB>
                      <a:noFill/>
                    </a:lnB>
                    <a:noFill/>
                  </a:tcPr>
                </a:tc>
                <a:tc>
                  <a:txBody>
                    <a:bodyPr/>
                    <a:lstStyle/>
                    <a:p>
                      <a:pPr>
                        <a:buNone/>
                      </a:pPr>
                      <a:r>
                        <a:rPr lang="fr-FR" sz="1100"/>
                        <a:t>Oui via Consumer Groups</a:t>
                      </a:r>
                    </a:p>
                  </a:txBody>
                  <a:tcPr marL="23908" marR="23908" marT="11954" marB="11954" anchor="ctr">
                    <a:lnL>
                      <a:noFill/>
                    </a:lnL>
                    <a:lnR>
                      <a:noFill/>
                    </a:lnR>
                    <a:lnT>
                      <a:noFill/>
                    </a:lnT>
                    <a:lnB>
                      <a:noFill/>
                    </a:lnB>
                    <a:noFill/>
                  </a:tcPr>
                </a:tc>
                <a:tc>
                  <a:txBody>
                    <a:bodyPr/>
                    <a:lstStyle/>
                    <a:p>
                      <a:pPr>
                        <a:buNone/>
                      </a:pPr>
                      <a:r>
                        <a:rPr lang="fr-FR" sz="1100" dirty="0"/>
                        <a:t>Oui via </a:t>
                      </a:r>
                      <a:r>
                        <a:rPr lang="fr-FR" sz="1100" dirty="0" err="1"/>
                        <a:t>Subscriptions</a:t>
                      </a:r>
                      <a:endParaRPr lang="fr-FR" sz="1100" dirty="0"/>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extLst>
                  <a:ext uri="{0D108BD9-81ED-4DB2-BD59-A6C34878D82A}">
                    <a16:rowId xmlns:a16="http://schemas.microsoft.com/office/drawing/2014/main" val="1000969323"/>
                  </a:ext>
                </a:extLst>
              </a:tr>
              <a:tr h="279096">
                <a:tc>
                  <a:txBody>
                    <a:bodyPr/>
                    <a:lstStyle/>
                    <a:p>
                      <a:pPr>
                        <a:buNone/>
                      </a:pPr>
                      <a:r>
                        <a:rPr lang="fr-FR" sz="1100" b="1"/>
                        <a:t>FIFO</a:t>
                      </a:r>
                      <a:endParaRPr lang="fr-FR" sz="1100"/>
                    </a:p>
                  </a:txBody>
                  <a:tcPr marL="23908" marR="23908" marT="11954" marB="11954" anchor="ctr">
                    <a:lnL>
                      <a:noFill/>
                    </a:lnL>
                    <a:lnR>
                      <a:noFill/>
                    </a:lnR>
                    <a:lnT>
                      <a:noFill/>
                    </a:lnT>
                    <a:lnB>
                      <a:noFill/>
                    </a:lnB>
                    <a:noFill/>
                  </a:tcPr>
                </a:tc>
                <a:tc>
                  <a:txBody>
                    <a:bodyPr/>
                    <a:lstStyle/>
                    <a:p>
                      <a:pPr>
                        <a:buNone/>
                      </a:pPr>
                      <a:r>
                        <a:rPr lang="fr-FR" sz="1100"/>
                        <a:t>Non garanti</a:t>
                      </a:r>
                    </a:p>
                  </a:txBody>
                  <a:tcPr marL="23908" marR="23908" marT="11954" marB="11954" anchor="ctr">
                    <a:lnL>
                      <a:noFill/>
                    </a:lnL>
                    <a:lnR>
                      <a:noFill/>
                    </a:lnR>
                    <a:lnT>
                      <a:noFill/>
                    </a:lnT>
                    <a:lnB>
                      <a:noFill/>
                    </a:lnB>
                    <a:noFill/>
                  </a:tcPr>
                </a:tc>
                <a:tc>
                  <a:txBody>
                    <a:bodyPr/>
                    <a:lstStyle/>
                    <a:p>
                      <a:pPr>
                        <a:buNone/>
                      </a:pPr>
                      <a:r>
                        <a:rPr lang="fr-FR" sz="1100" dirty="0"/>
                        <a:t>Oui (Sessions)</a:t>
                      </a:r>
                    </a:p>
                  </a:txBody>
                  <a:tcPr marL="23908" marR="23908" marT="11954" marB="11954" anchor="ctr">
                    <a:lnL>
                      <a:noFill/>
                    </a:lnL>
                    <a:lnR>
                      <a:noFill/>
                    </a:lnR>
                    <a:lnT>
                      <a:noFill/>
                    </a:lnT>
                    <a:lnB>
                      <a:noFill/>
                    </a:lnB>
                    <a:noFill/>
                  </a:tcPr>
                </a:tc>
                <a:tc>
                  <a:txBody>
                    <a:bodyPr/>
                    <a:lstStyle/>
                    <a:p>
                      <a:pPr>
                        <a:buNone/>
                      </a:pPr>
                      <a:r>
                        <a:rPr lang="fr-FR" sz="1100"/>
                        <a:t>Ordonné par partition</a:t>
                      </a:r>
                    </a:p>
                  </a:txBody>
                  <a:tcPr marL="23908" marR="23908" marT="11954" marB="11954" anchor="ctr">
                    <a:lnL>
                      <a:noFill/>
                    </a:lnL>
                    <a:lnR>
                      <a:noFill/>
                    </a:lnR>
                    <a:lnT>
                      <a:noFill/>
                    </a:lnT>
                    <a:lnB>
                      <a:noFill/>
                    </a:lnB>
                    <a:noFill/>
                  </a:tcPr>
                </a:tc>
                <a:tc>
                  <a:txBody>
                    <a:bodyPr/>
                    <a:lstStyle/>
                    <a:p>
                      <a:pPr>
                        <a:buNone/>
                      </a:pPr>
                      <a:r>
                        <a:rPr lang="fr-FR" sz="1100"/>
                        <a:t>Non garanti</a:t>
                      </a:r>
                    </a:p>
                  </a:txBody>
                  <a:tcPr marL="23908" marR="23908" marT="11954" marB="11954" anchor="ctr">
                    <a:lnL>
                      <a:noFill/>
                    </a:lnL>
                    <a:lnR>
                      <a:noFill/>
                    </a:lnR>
                    <a:lnT>
                      <a:noFill/>
                    </a:lnT>
                    <a:lnB>
                      <a:noFill/>
                    </a:lnB>
                    <a:noFill/>
                  </a:tcPr>
                </a:tc>
                <a:tc>
                  <a:txBody>
                    <a:bodyPr/>
                    <a:lstStyle/>
                    <a:p>
                      <a:pPr>
                        <a:buNone/>
                      </a:pPr>
                      <a:r>
                        <a:rPr lang="fr-FR" sz="1100"/>
                        <a:t>Ordonné par appareil</a:t>
                      </a:r>
                    </a:p>
                  </a:txBody>
                  <a:tcPr marL="23908" marR="23908" marT="11954" marB="11954" anchor="ctr">
                    <a:lnL>
                      <a:noFill/>
                    </a:lnL>
                    <a:lnR>
                      <a:noFill/>
                    </a:lnR>
                    <a:lnT>
                      <a:noFill/>
                    </a:lnT>
                    <a:lnB>
                      <a:noFill/>
                    </a:lnB>
                    <a:noFill/>
                  </a:tcPr>
                </a:tc>
                <a:extLst>
                  <a:ext uri="{0D108BD9-81ED-4DB2-BD59-A6C34878D82A}">
                    <a16:rowId xmlns:a16="http://schemas.microsoft.com/office/drawing/2014/main" val="3317349292"/>
                  </a:ext>
                </a:extLst>
              </a:tr>
              <a:tr h="205814">
                <a:tc>
                  <a:txBody>
                    <a:bodyPr/>
                    <a:lstStyle/>
                    <a:p>
                      <a:pPr>
                        <a:buNone/>
                      </a:pPr>
                      <a:r>
                        <a:rPr lang="fr-FR" sz="1100" b="1"/>
                        <a:t>Transactions</a:t>
                      </a:r>
                      <a:endParaRPr lang="fr-FR" sz="1100"/>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extLst>
                  <a:ext uri="{0D108BD9-81ED-4DB2-BD59-A6C34878D82A}">
                    <a16:rowId xmlns:a16="http://schemas.microsoft.com/office/drawing/2014/main" val="186102290"/>
                  </a:ext>
                </a:extLst>
              </a:tr>
              <a:tr h="205814">
                <a:tc>
                  <a:txBody>
                    <a:bodyPr/>
                    <a:lstStyle/>
                    <a:p>
                      <a:pPr>
                        <a:buNone/>
                      </a:pPr>
                      <a:r>
                        <a:rPr lang="fr-FR" sz="1100" b="1"/>
                        <a:t>Duplicate Detection</a:t>
                      </a:r>
                      <a:endParaRPr lang="fr-FR" sz="1100"/>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dirty="0"/>
                        <a:t>Oui</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extLst>
                  <a:ext uri="{0D108BD9-81ED-4DB2-BD59-A6C34878D82A}">
                    <a16:rowId xmlns:a16="http://schemas.microsoft.com/office/drawing/2014/main" val="2689433746"/>
                  </a:ext>
                </a:extLst>
              </a:tr>
              <a:tr h="279096">
                <a:tc>
                  <a:txBody>
                    <a:bodyPr/>
                    <a:lstStyle/>
                    <a:p>
                      <a:pPr>
                        <a:buNone/>
                      </a:pPr>
                      <a:r>
                        <a:rPr lang="fr-FR" sz="1100" b="1"/>
                        <a:t>Dead Letter Queue</a:t>
                      </a:r>
                      <a:endParaRPr lang="fr-FR" sz="1100"/>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Dead Letter Storage</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extLst>
                  <a:ext uri="{0D108BD9-81ED-4DB2-BD59-A6C34878D82A}">
                    <a16:rowId xmlns:a16="http://schemas.microsoft.com/office/drawing/2014/main" val="2403867624"/>
                  </a:ext>
                </a:extLst>
              </a:tr>
              <a:tr h="279096">
                <a:tc>
                  <a:txBody>
                    <a:bodyPr/>
                    <a:lstStyle/>
                    <a:p>
                      <a:pPr>
                        <a:buNone/>
                      </a:pPr>
                      <a:r>
                        <a:rPr lang="fr-FR" sz="1100" b="1"/>
                        <a:t>Filtrage natif</a:t>
                      </a:r>
                      <a:endParaRPr lang="fr-FR" sz="1100"/>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Oui (SQL Filter)</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Oui (Advanced Filters)</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extLst>
                  <a:ext uri="{0D108BD9-81ED-4DB2-BD59-A6C34878D82A}">
                    <a16:rowId xmlns:a16="http://schemas.microsoft.com/office/drawing/2014/main" val="1004269059"/>
                  </a:ext>
                </a:extLst>
              </a:tr>
              <a:tr h="205814">
                <a:tc>
                  <a:txBody>
                    <a:bodyPr/>
                    <a:lstStyle/>
                    <a:p>
                      <a:pPr>
                        <a:buNone/>
                      </a:pPr>
                      <a:r>
                        <a:rPr lang="fr-FR" sz="1100" b="1"/>
                        <a:t>Relire les messages</a:t>
                      </a:r>
                      <a:endParaRPr lang="fr-FR" sz="1100"/>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tc>
                  <a:txBody>
                    <a:bodyPr/>
                    <a:lstStyle/>
                    <a:p>
                      <a:pPr>
                        <a:buNone/>
                      </a:pPr>
                      <a:r>
                        <a:rPr lang="fr-FR" sz="1100" dirty="0"/>
                        <a:t>Non</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extLst>
                  <a:ext uri="{0D108BD9-81ED-4DB2-BD59-A6C34878D82A}">
                    <a16:rowId xmlns:a16="http://schemas.microsoft.com/office/drawing/2014/main" val="1895806029"/>
                  </a:ext>
                </a:extLst>
              </a:tr>
              <a:tr h="561624">
                <a:tc>
                  <a:txBody>
                    <a:bodyPr/>
                    <a:lstStyle/>
                    <a:p>
                      <a:pPr>
                        <a:buNone/>
                      </a:pPr>
                      <a:r>
                        <a:rPr lang="fr-FR" sz="1100" b="1"/>
                        <a:t>Consumer Groups</a:t>
                      </a:r>
                      <a:endParaRPr lang="fr-FR" sz="1100"/>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dirty="0"/>
                        <a:t>Oui (</a:t>
                      </a:r>
                      <a:r>
                        <a:rPr lang="fr-FR" sz="1100" dirty="0" err="1"/>
                        <a:t>endpoints</a:t>
                      </a:r>
                      <a:r>
                        <a:rPr lang="fr-FR" sz="1100" dirty="0"/>
                        <a:t> compatibles Event Hub)</a:t>
                      </a:r>
                    </a:p>
                  </a:txBody>
                  <a:tcPr marL="23908" marR="23908" marT="11954" marB="11954" anchor="ctr">
                    <a:lnL>
                      <a:noFill/>
                    </a:lnL>
                    <a:lnR>
                      <a:noFill/>
                    </a:lnR>
                    <a:lnT>
                      <a:noFill/>
                    </a:lnT>
                    <a:lnB>
                      <a:noFill/>
                    </a:lnB>
                    <a:noFill/>
                  </a:tcPr>
                </a:tc>
                <a:extLst>
                  <a:ext uri="{0D108BD9-81ED-4DB2-BD59-A6C34878D82A}">
                    <a16:rowId xmlns:a16="http://schemas.microsoft.com/office/drawing/2014/main" val="644587601"/>
                  </a:ext>
                </a:extLst>
              </a:tr>
              <a:tr h="205814">
                <a:tc>
                  <a:txBody>
                    <a:bodyPr/>
                    <a:lstStyle/>
                    <a:p>
                      <a:pPr>
                        <a:buNone/>
                      </a:pPr>
                      <a:r>
                        <a:rPr lang="fr-FR" sz="1100" b="1"/>
                        <a:t>Partitions</a:t>
                      </a:r>
                      <a:endParaRPr lang="fr-FR" sz="1100"/>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Oui (optionnel)</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extLst>
                  <a:ext uri="{0D108BD9-81ED-4DB2-BD59-A6C34878D82A}">
                    <a16:rowId xmlns:a16="http://schemas.microsoft.com/office/drawing/2014/main" val="4163743714"/>
                  </a:ext>
                </a:extLst>
              </a:tr>
              <a:tr h="205814">
                <a:tc>
                  <a:txBody>
                    <a:bodyPr/>
                    <a:lstStyle/>
                    <a:p>
                      <a:pPr>
                        <a:buNone/>
                      </a:pPr>
                      <a:r>
                        <a:rPr lang="fr-FR" sz="1100" b="1"/>
                        <a:t>Latence</a:t>
                      </a:r>
                      <a:endParaRPr lang="fr-FR" sz="1100"/>
                    </a:p>
                  </a:txBody>
                  <a:tcPr marL="23908" marR="23908" marT="11954" marB="11954" anchor="ctr">
                    <a:lnL>
                      <a:noFill/>
                    </a:lnL>
                    <a:lnR>
                      <a:noFill/>
                    </a:lnR>
                    <a:lnT>
                      <a:noFill/>
                    </a:lnT>
                    <a:lnB>
                      <a:noFill/>
                    </a:lnB>
                    <a:noFill/>
                  </a:tcPr>
                </a:tc>
                <a:tc>
                  <a:txBody>
                    <a:bodyPr/>
                    <a:lstStyle/>
                    <a:p>
                      <a:pPr>
                        <a:buNone/>
                      </a:pPr>
                      <a:r>
                        <a:rPr lang="fr-FR" sz="1100"/>
                        <a:t>Faible</a:t>
                      </a:r>
                    </a:p>
                  </a:txBody>
                  <a:tcPr marL="23908" marR="23908" marT="11954" marB="11954" anchor="ctr">
                    <a:lnL>
                      <a:noFill/>
                    </a:lnL>
                    <a:lnR>
                      <a:noFill/>
                    </a:lnR>
                    <a:lnT>
                      <a:noFill/>
                    </a:lnT>
                    <a:lnB>
                      <a:noFill/>
                    </a:lnB>
                    <a:noFill/>
                  </a:tcPr>
                </a:tc>
                <a:tc>
                  <a:txBody>
                    <a:bodyPr/>
                    <a:lstStyle/>
                    <a:p>
                      <a:pPr>
                        <a:buNone/>
                      </a:pPr>
                      <a:r>
                        <a:rPr lang="fr-FR" sz="1100"/>
                        <a:t>Faible</a:t>
                      </a:r>
                    </a:p>
                  </a:txBody>
                  <a:tcPr marL="23908" marR="23908" marT="11954" marB="11954" anchor="ctr">
                    <a:lnL>
                      <a:noFill/>
                    </a:lnL>
                    <a:lnR>
                      <a:noFill/>
                    </a:lnR>
                    <a:lnT>
                      <a:noFill/>
                    </a:lnT>
                    <a:lnB>
                      <a:noFill/>
                    </a:lnB>
                    <a:noFill/>
                  </a:tcPr>
                </a:tc>
                <a:tc>
                  <a:txBody>
                    <a:bodyPr/>
                    <a:lstStyle/>
                    <a:p>
                      <a:pPr>
                        <a:buNone/>
                      </a:pPr>
                      <a:r>
                        <a:rPr lang="fr-FR" sz="1100"/>
                        <a:t>Très faible</a:t>
                      </a:r>
                    </a:p>
                  </a:txBody>
                  <a:tcPr marL="23908" marR="23908" marT="11954" marB="11954" anchor="ctr">
                    <a:lnL>
                      <a:noFill/>
                    </a:lnL>
                    <a:lnR>
                      <a:noFill/>
                    </a:lnR>
                    <a:lnT>
                      <a:noFill/>
                    </a:lnT>
                    <a:lnB>
                      <a:noFill/>
                    </a:lnB>
                    <a:noFill/>
                  </a:tcPr>
                </a:tc>
                <a:tc>
                  <a:txBody>
                    <a:bodyPr/>
                    <a:lstStyle/>
                    <a:p>
                      <a:pPr>
                        <a:buNone/>
                      </a:pPr>
                      <a:r>
                        <a:rPr lang="fr-FR" sz="1100"/>
                        <a:t>Très faible</a:t>
                      </a:r>
                    </a:p>
                  </a:txBody>
                  <a:tcPr marL="23908" marR="23908" marT="11954" marB="11954" anchor="ctr">
                    <a:lnL>
                      <a:noFill/>
                    </a:lnL>
                    <a:lnR>
                      <a:noFill/>
                    </a:lnR>
                    <a:lnT>
                      <a:noFill/>
                    </a:lnT>
                    <a:lnB>
                      <a:noFill/>
                    </a:lnB>
                    <a:noFill/>
                  </a:tcPr>
                </a:tc>
                <a:tc>
                  <a:txBody>
                    <a:bodyPr/>
                    <a:lstStyle/>
                    <a:p>
                      <a:pPr>
                        <a:buNone/>
                      </a:pPr>
                      <a:r>
                        <a:rPr lang="fr-FR" sz="1100"/>
                        <a:t>Très faible</a:t>
                      </a:r>
                    </a:p>
                  </a:txBody>
                  <a:tcPr marL="23908" marR="23908" marT="11954" marB="11954" anchor="ctr">
                    <a:lnL>
                      <a:noFill/>
                    </a:lnL>
                    <a:lnR>
                      <a:noFill/>
                    </a:lnR>
                    <a:lnT>
                      <a:noFill/>
                    </a:lnT>
                    <a:lnB>
                      <a:noFill/>
                    </a:lnB>
                    <a:noFill/>
                  </a:tcPr>
                </a:tc>
                <a:extLst>
                  <a:ext uri="{0D108BD9-81ED-4DB2-BD59-A6C34878D82A}">
                    <a16:rowId xmlns:a16="http://schemas.microsoft.com/office/drawing/2014/main" val="3348496407"/>
                  </a:ext>
                </a:extLst>
              </a:tr>
              <a:tr h="205814">
                <a:tc>
                  <a:txBody>
                    <a:bodyPr/>
                    <a:lstStyle/>
                    <a:p>
                      <a:pPr>
                        <a:buNone/>
                      </a:pPr>
                      <a:r>
                        <a:rPr lang="fr-FR" sz="1100" b="1"/>
                        <a:t>Support IoT</a:t>
                      </a:r>
                      <a:endParaRPr lang="fr-FR" sz="1100"/>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Non</a:t>
                      </a:r>
                    </a:p>
                  </a:txBody>
                  <a:tcPr marL="23908" marR="23908" marT="11954" marB="11954" anchor="ctr">
                    <a:lnL>
                      <a:noFill/>
                    </a:lnL>
                    <a:lnR>
                      <a:noFill/>
                    </a:lnR>
                    <a:lnT>
                      <a:noFill/>
                    </a:lnT>
                    <a:lnB>
                      <a:noFill/>
                    </a:lnB>
                    <a:noFill/>
                  </a:tcPr>
                </a:tc>
                <a:tc>
                  <a:txBody>
                    <a:bodyPr/>
                    <a:lstStyle/>
                    <a:p>
                      <a:pPr>
                        <a:buNone/>
                      </a:pPr>
                      <a:r>
                        <a:rPr lang="fr-FR" sz="1100"/>
                        <a:t>Partiellement</a:t>
                      </a:r>
                    </a:p>
                  </a:txBody>
                  <a:tcPr marL="23908" marR="23908" marT="11954" marB="11954" anchor="ctr">
                    <a:lnL>
                      <a:noFill/>
                    </a:lnL>
                    <a:lnR>
                      <a:noFill/>
                    </a:lnR>
                    <a:lnT>
                      <a:noFill/>
                    </a:lnT>
                    <a:lnB>
                      <a:noFill/>
                    </a:lnB>
                    <a:noFill/>
                  </a:tcPr>
                </a:tc>
                <a:tc>
                  <a:txBody>
                    <a:bodyPr/>
                    <a:lstStyle/>
                    <a:p>
                      <a:pPr>
                        <a:buNone/>
                      </a:pPr>
                      <a:r>
                        <a:rPr lang="fr-FR" sz="1100"/>
                        <a:t>Partiellement</a:t>
                      </a:r>
                    </a:p>
                  </a:txBody>
                  <a:tcPr marL="23908" marR="23908" marT="11954" marB="11954" anchor="ctr">
                    <a:lnL>
                      <a:noFill/>
                    </a:lnL>
                    <a:lnR>
                      <a:noFill/>
                    </a:lnR>
                    <a:lnT>
                      <a:noFill/>
                    </a:lnT>
                    <a:lnB>
                      <a:noFill/>
                    </a:lnB>
                    <a:noFill/>
                  </a:tcPr>
                </a:tc>
                <a:tc>
                  <a:txBody>
                    <a:bodyPr/>
                    <a:lstStyle/>
                    <a:p>
                      <a:pPr>
                        <a:buNone/>
                      </a:pPr>
                      <a:r>
                        <a:rPr lang="fr-FR" sz="1100"/>
                        <a:t>Oui</a:t>
                      </a:r>
                    </a:p>
                  </a:txBody>
                  <a:tcPr marL="23908" marR="23908" marT="11954" marB="11954" anchor="ctr">
                    <a:lnL>
                      <a:noFill/>
                    </a:lnL>
                    <a:lnR>
                      <a:noFill/>
                    </a:lnR>
                    <a:lnT>
                      <a:noFill/>
                    </a:lnT>
                    <a:lnB>
                      <a:noFill/>
                    </a:lnB>
                    <a:noFill/>
                  </a:tcPr>
                </a:tc>
                <a:extLst>
                  <a:ext uri="{0D108BD9-81ED-4DB2-BD59-A6C34878D82A}">
                    <a16:rowId xmlns:a16="http://schemas.microsoft.com/office/drawing/2014/main" val="2589181750"/>
                  </a:ext>
                </a:extLst>
              </a:tr>
              <a:tr h="383719">
                <a:tc>
                  <a:txBody>
                    <a:bodyPr/>
                    <a:lstStyle/>
                    <a:p>
                      <a:pPr>
                        <a:buNone/>
                      </a:pPr>
                      <a:r>
                        <a:rPr lang="fr-FR" sz="1100" b="1"/>
                        <a:t>Intégration Azure native</a:t>
                      </a:r>
                      <a:endParaRPr lang="fr-FR" sz="1100"/>
                    </a:p>
                  </a:txBody>
                  <a:tcPr marL="23908" marR="23908" marT="11954" marB="11954" anchor="ctr">
                    <a:lnL>
                      <a:noFill/>
                    </a:lnL>
                    <a:lnR>
                      <a:noFill/>
                    </a:lnR>
                    <a:lnT>
                      <a:noFill/>
                    </a:lnT>
                    <a:lnB>
                      <a:noFill/>
                    </a:lnB>
                    <a:noFill/>
                  </a:tcPr>
                </a:tc>
                <a:tc>
                  <a:txBody>
                    <a:bodyPr/>
                    <a:lstStyle/>
                    <a:p>
                      <a:pPr>
                        <a:buNone/>
                      </a:pPr>
                      <a:r>
                        <a:rPr lang="fr-FR" sz="1100"/>
                        <a:t>Faible</a:t>
                      </a:r>
                    </a:p>
                  </a:txBody>
                  <a:tcPr marL="23908" marR="23908" marT="11954" marB="11954" anchor="ctr">
                    <a:lnL>
                      <a:noFill/>
                    </a:lnL>
                    <a:lnR>
                      <a:noFill/>
                    </a:lnR>
                    <a:lnT>
                      <a:noFill/>
                    </a:lnT>
                    <a:lnB>
                      <a:noFill/>
                    </a:lnB>
                    <a:noFill/>
                  </a:tcPr>
                </a:tc>
                <a:tc>
                  <a:txBody>
                    <a:bodyPr/>
                    <a:lstStyle/>
                    <a:p>
                      <a:pPr>
                        <a:buNone/>
                      </a:pPr>
                      <a:r>
                        <a:rPr lang="fr-FR" sz="1100"/>
                        <a:t>Moyenne</a:t>
                      </a:r>
                    </a:p>
                  </a:txBody>
                  <a:tcPr marL="23908" marR="23908" marT="11954" marB="11954" anchor="ctr">
                    <a:lnL>
                      <a:noFill/>
                    </a:lnL>
                    <a:lnR>
                      <a:noFill/>
                    </a:lnR>
                    <a:lnT>
                      <a:noFill/>
                    </a:lnT>
                    <a:lnB>
                      <a:noFill/>
                    </a:lnB>
                    <a:noFill/>
                  </a:tcPr>
                </a:tc>
                <a:tc>
                  <a:txBody>
                    <a:bodyPr/>
                    <a:lstStyle/>
                    <a:p>
                      <a:pPr>
                        <a:buNone/>
                      </a:pPr>
                      <a:r>
                        <a:rPr lang="fr-FR" sz="1100"/>
                        <a:t>Moyenne</a:t>
                      </a:r>
                    </a:p>
                  </a:txBody>
                  <a:tcPr marL="23908" marR="23908" marT="11954" marB="11954" anchor="ctr">
                    <a:lnL>
                      <a:noFill/>
                    </a:lnL>
                    <a:lnR>
                      <a:noFill/>
                    </a:lnR>
                    <a:lnT>
                      <a:noFill/>
                    </a:lnT>
                    <a:lnB>
                      <a:noFill/>
                    </a:lnB>
                    <a:noFill/>
                  </a:tcPr>
                </a:tc>
                <a:tc>
                  <a:txBody>
                    <a:bodyPr/>
                    <a:lstStyle/>
                    <a:p>
                      <a:pPr>
                        <a:buNone/>
                      </a:pPr>
                      <a:r>
                        <a:rPr lang="fr-FR" sz="1100"/>
                        <a:t>Très forte</a:t>
                      </a:r>
                    </a:p>
                  </a:txBody>
                  <a:tcPr marL="23908" marR="23908" marT="11954" marB="11954" anchor="ctr">
                    <a:lnL>
                      <a:noFill/>
                    </a:lnL>
                    <a:lnR>
                      <a:noFill/>
                    </a:lnR>
                    <a:lnT>
                      <a:noFill/>
                    </a:lnT>
                    <a:lnB>
                      <a:noFill/>
                    </a:lnB>
                    <a:noFill/>
                  </a:tcPr>
                </a:tc>
                <a:tc>
                  <a:txBody>
                    <a:bodyPr/>
                    <a:lstStyle/>
                    <a:p>
                      <a:pPr>
                        <a:buNone/>
                      </a:pPr>
                      <a:r>
                        <a:rPr lang="fr-FR" sz="1100" dirty="0"/>
                        <a:t>Forte</a:t>
                      </a:r>
                    </a:p>
                  </a:txBody>
                  <a:tcPr marL="23908" marR="23908" marT="11954" marB="11954" anchor="ctr">
                    <a:lnL>
                      <a:noFill/>
                    </a:lnL>
                    <a:lnR>
                      <a:noFill/>
                    </a:lnR>
                    <a:lnT>
                      <a:noFill/>
                    </a:lnT>
                    <a:lnB>
                      <a:noFill/>
                    </a:lnB>
                    <a:noFill/>
                  </a:tcPr>
                </a:tc>
                <a:extLst>
                  <a:ext uri="{0D108BD9-81ED-4DB2-BD59-A6C34878D82A}">
                    <a16:rowId xmlns:a16="http://schemas.microsoft.com/office/drawing/2014/main" val="3160282147"/>
                  </a:ext>
                </a:extLst>
              </a:tr>
              <a:tr h="205814">
                <a:tc>
                  <a:txBody>
                    <a:bodyPr/>
                    <a:lstStyle/>
                    <a:p>
                      <a:pPr>
                        <a:buNone/>
                      </a:pPr>
                      <a:r>
                        <a:rPr lang="fr-FR" sz="1100" b="1"/>
                        <a:t>Coût</a:t>
                      </a:r>
                      <a:endParaRPr lang="fr-FR" sz="1100"/>
                    </a:p>
                  </a:txBody>
                  <a:tcPr marL="23908" marR="23908" marT="11954" marB="11954" anchor="ctr">
                    <a:lnL>
                      <a:noFill/>
                    </a:lnL>
                    <a:lnR>
                      <a:noFill/>
                    </a:lnR>
                    <a:lnT>
                      <a:noFill/>
                    </a:lnT>
                    <a:lnB>
                      <a:noFill/>
                    </a:lnB>
                    <a:noFill/>
                  </a:tcPr>
                </a:tc>
                <a:tc>
                  <a:txBody>
                    <a:bodyPr/>
                    <a:lstStyle/>
                    <a:p>
                      <a:pPr>
                        <a:buNone/>
                      </a:pPr>
                      <a:r>
                        <a:rPr lang="fr-FR" sz="1100"/>
                        <a:t>€</a:t>
                      </a:r>
                    </a:p>
                  </a:txBody>
                  <a:tcPr marL="23908" marR="23908" marT="11954" marB="11954" anchor="ctr">
                    <a:lnL>
                      <a:noFill/>
                    </a:lnL>
                    <a:lnR>
                      <a:noFill/>
                    </a:lnR>
                    <a:lnT>
                      <a:noFill/>
                    </a:lnT>
                    <a:lnB>
                      <a:noFill/>
                    </a:lnB>
                    <a:noFill/>
                  </a:tcPr>
                </a:tc>
                <a:tc>
                  <a:txBody>
                    <a:bodyPr/>
                    <a:lstStyle/>
                    <a:p>
                      <a:pPr>
                        <a:buNone/>
                      </a:pPr>
                      <a:r>
                        <a:rPr lang="fr-FR" sz="1100"/>
                        <a:t>€€</a:t>
                      </a:r>
                    </a:p>
                  </a:txBody>
                  <a:tcPr marL="23908" marR="23908" marT="11954" marB="11954" anchor="ctr">
                    <a:lnL>
                      <a:noFill/>
                    </a:lnL>
                    <a:lnR>
                      <a:noFill/>
                    </a:lnR>
                    <a:lnT>
                      <a:noFill/>
                    </a:lnT>
                    <a:lnB>
                      <a:noFill/>
                    </a:lnB>
                    <a:noFill/>
                  </a:tcPr>
                </a:tc>
                <a:tc>
                  <a:txBody>
                    <a:bodyPr/>
                    <a:lstStyle/>
                    <a:p>
                      <a:pPr>
                        <a:buNone/>
                      </a:pPr>
                      <a:r>
                        <a:rPr lang="fr-FR" sz="1100"/>
                        <a:t>€€</a:t>
                      </a:r>
                    </a:p>
                  </a:txBody>
                  <a:tcPr marL="23908" marR="23908" marT="11954" marB="11954" anchor="ctr">
                    <a:lnL>
                      <a:noFill/>
                    </a:lnL>
                    <a:lnR>
                      <a:noFill/>
                    </a:lnR>
                    <a:lnT>
                      <a:noFill/>
                    </a:lnT>
                    <a:lnB>
                      <a:noFill/>
                    </a:lnB>
                    <a:noFill/>
                  </a:tcPr>
                </a:tc>
                <a:tc>
                  <a:txBody>
                    <a:bodyPr/>
                    <a:lstStyle/>
                    <a:p>
                      <a:pPr>
                        <a:buNone/>
                      </a:pPr>
                      <a:r>
                        <a:rPr lang="fr-FR" sz="1100"/>
                        <a:t>€</a:t>
                      </a:r>
                    </a:p>
                  </a:txBody>
                  <a:tcPr marL="23908" marR="23908" marT="11954" marB="11954" anchor="ctr">
                    <a:lnL>
                      <a:noFill/>
                    </a:lnL>
                    <a:lnR>
                      <a:noFill/>
                    </a:lnR>
                    <a:lnT>
                      <a:noFill/>
                    </a:lnT>
                    <a:lnB>
                      <a:noFill/>
                    </a:lnB>
                    <a:noFill/>
                  </a:tcPr>
                </a:tc>
                <a:tc>
                  <a:txBody>
                    <a:bodyPr/>
                    <a:lstStyle/>
                    <a:p>
                      <a:pPr>
                        <a:buNone/>
                      </a:pPr>
                      <a:r>
                        <a:rPr lang="fr-FR" sz="1100"/>
                        <a:t>€€</a:t>
                      </a:r>
                    </a:p>
                  </a:txBody>
                  <a:tcPr marL="23908" marR="23908" marT="11954" marB="11954" anchor="ctr">
                    <a:lnL>
                      <a:noFill/>
                    </a:lnL>
                    <a:lnR>
                      <a:noFill/>
                    </a:lnR>
                    <a:lnT>
                      <a:noFill/>
                    </a:lnT>
                    <a:lnB>
                      <a:noFill/>
                    </a:lnB>
                    <a:noFill/>
                  </a:tcPr>
                </a:tc>
                <a:extLst>
                  <a:ext uri="{0D108BD9-81ED-4DB2-BD59-A6C34878D82A}">
                    <a16:rowId xmlns:a16="http://schemas.microsoft.com/office/drawing/2014/main" val="3376790569"/>
                  </a:ext>
                </a:extLst>
              </a:tr>
              <a:tr h="205814">
                <a:tc>
                  <a:txBody>
                    <a:bodyPr/>
                    <a:lstStyle/>
                    <a:p>
                      <a:pPr>
                        <a:buNone/>
                      </a:pPr>
                      <a:r>
                        <a:rPr lang="fr-FR" sz="1100" b="1"/>
                        <a:t>Niveau AZ-204</a:t>
                      </a:r>
                      <a:endParaRPr lang="fr-FR" sz="1100"/>
                    </a:p>
                  </a:txBody>
                  <a:tcPr marL="23908" marR="23908" marT="11954" marB="11954" anchor="ctr">
                    <a:lnL>
                      <a:noFill/>
                    </a:lnL>
                    <a:lnR>
                      <a:noFill/>
                    </a:lnR>
                    <a:lnT>
                      <a:noFill/>
                    </a:lnT>
                    <a:lnB>
                      <a:noFill/>
                    </a:lnB>
                    <a:noFill/>
                  </a:tcPr>
                </a:tc>
                <a:tc>
                  <a:txBody>
                    <a:bodyPr/>
                    <a:lstStyle/>
                    <a:p>
                      <a:pPr>
                        <a:buNone/>
                      </a:pPr>
                      <a:r>
                        <a:rPr lang="fr-FR" sz="1100"/>
                        <a:t>Important</a:t>
                      </a:r>
                    </a:p>
                  </a:txBody>
                  <a:tcPr marL="23908" marR="23908" marT="11954" marB="11954" anchor="ctr">
                    <a:lnL>
                      <a:noFill/>
                    </a:lnL>
                    <a:lnR>
                      <a:noFill/>
                    </a:lnR>
                    <a:lnT>
                      <a:noFill/>
                    </a:lnT>
                    <a:lnB>
                      <a:noFill/>
                    </a:lnB>
                    <a:noFill/>
                  </a:tcPr>
                </a:tc>
                <a:tc>
                  <a:txBody>
                    <a:bodyPr/>
                    <a:lstStyle/>
                    <a:p>
                      <a:pPr>
                        <a:buNone/>
                      </a:pPr>
                      <a:r>
                        <a:rPr lang="fr-FR" sz="1100"/>
                        <a:t>Très important</a:t>
                      </a:r>
                    </a:p>
                  </a:txBody>
                  <a:tcPr marL="23908" marR="23908" marT="11954" marB="11954" anchor="ctr">
                    <a:lnL>
                      <a:noFill/>
                    </a:lnL>
                    <a:lnR>
                      <a:noFill/>
                    </a:lnR>
                    <a:lnT>
                      <a:noFill/>
                    </a:lnT>
                    <a:lnB>
                      <a:noFill/>
                    </a:lnB>
                    <a:noFill/>
                  </a:tcPr>
                </a:tc>
                <a:tc>
                  <a:txBody>
                    <a:bodyPr/>
                    <a:lstStyle/>
                    <a:p>
                      <a:pPr>
                        <a:buNone/>
                      </a:pPr>
                      <a:r>
                        <a:rPr lang="fr-FR" sz="1100"/>
                        <a:t>Très important</a:t>
                      </a:r>
                    </a:p>
                  </a:txBody>
                  <a:tcPr marL="23908" marR="23908" marT="11954" marB="11954" anchor="ctr">
                    <a:lnL>
                      <a:noFill/>
                    </a:lnL>
                    <a:lnR>
                      <a:noFill/>
                    </a:lnR>
                    <a:lnT>
                      <a:noFill/>
                    </a:lnT>
                    <a:lnB>
                      <a:noFill/>
                    </a:lnB>
                    <a:noFill/>
                  </a:tcPr>
                </a:tc>
                <a:tc>
                  <a:txBody>
                    <a:bodyPr/>
                    <a:lstStyle/>
                    <a:p>
                      <a:pPr>
                        <a:buNone/>
                      </a:pPr>
                      <a:r>
                        <a:rPr lang="fr-FR" sz="1100"/>
                        <a:t>Très important</a:t>
                      </a:r>
                    </a:p>
                  </a:txBody>
                  <a:tcPr marL="23908" marR="23908" marT="11954" marB="11954" anchor="ctr">
                    <a:lnL>
                      <a:noFill/>
                    </a:lnL>
                    <a:lnR>
                      <a:noFill/>
                    </a:lnR>
                    <a:lnT>
                      <a:noFill/>
                    </a:lnT>
                    <a:lnB>
                      <a:noFill/>
                    </a:lnB>
                    <a:noFill/>
                  </a:tcPr>
                </a:tc>
                <a:tc>
                  <a:txBody>
                    <a:bodyPr/>
                    <a:lstStyle/>
                    <a:p>
                      <a:pPr>
                        <a:buNone/>
                      </a:pPr>
                      <a:r>
                        <a:rPr lang="fr-FR" sz="1100" dirty="0"/>
                        <a:t>À connaître</a:t>
                      </a:r>
                    </a:p>
                  </a:txBody>
                  <a:tcPr marL="23908" marR="23908" marT="11954" marB="11954" anchor="ctr">
                    <a:lnL>
                      <a:noFill/>
                    </a:lnL>
                    <a:lnR>
                      <a:noFill/>
                    </a:lnR>
                    <a:lnT>
                      <a:noFill/>
                    </a:lnT>
                    <a:lnB>
                      <a:noFill/>
                    </a:lnB>
                    <a:noFill/>
                  </a:tcPr>
                </a:tc>
                <a:extLst>
                  <a:ext uri="{0D108BD9-81ED-4DB2-BD59-A6C34878D82A}">
                    <a16:rowId xmlns:a16="http://schemas.microsoft.com/office/drawing/2014/main" val="1283829050"/>
                  </a:ext>
                </a:extLst>
              </a:tr>
            </a:tbl>
          </a:graphicData>
        </a:graphic>
      </p:graphicFrame>
    </p:spTree>
    <p:extLst>
      <p:ext uri="{BB962C8B-B14F-4D97-AF65-F5344CB8AC3E}">
        <p14:creationId xmlns:p14="http://schemas.microsoft.com/office/powerpoint/2010/main" val="763298752"/>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7423B-33F3-285C-81C4-0CC3C92DF975}"/>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FEFD975-28A2-2749-5905-8C198630D8FF}"/>
              </a:ext>
            </a:extLst>
          </p:cNvPr>
          <p:cNvSpPr>
            <a:spLocks noGrp="1"/>
          </p:cNvSpPr>
          <p:nvPr>
            <p:ph type="body" sz="quarter" idx="11"/>
          </p:nvPr>
        </p:nvSpPr>
        <p:spPr/>
        <p:txBody>
          <a:bodyPr/>
          <a:lstStyle/>
          <a:p>
            <a:r>
              <a:rPr lang="fr-FR" dirty="0"/>
              <a:t>Quizz à venir</a:t>
            </a:r>
          </a:p>
        </p:txBody>
      </p:sp>
      <p:sp>
        <p:nvSpPr>
          <p:cNvPr id="3" name="Espace réservé du texte 2">
            <a:extLst>
              <a:ext uri="{FF2B5EF4-FFF2-40B4-BE49-F238E27FC236}">
                <a16:creationId xmlns:a16="http://schemas.microsoft.com/office/drawing/2014/main" id="{5E484D9A-53DD-BB7C-0611-FF7F11F5102C}"/>
              </a:ext>
            </a:extLst>
          </p:cNvPr>
          <p:cNvSpPr>
            <a:spLocks noGrp="1"/>
          </p:cNvSpPr>
          <p:nvPr>
            <p:ph type="body" sz="quarter" idx="12"/>
          </p:nvPr>
        </p:nvSpPr>
        <p:spPr>
          <a:xfrm>
            <a:off x="2604868" y="3501008"/>
            <a:ext cx="5624732" cy="1432560"/>
          </a:xfrm>
        </p:spPr>
        <p:txBody>
          <a:bodyPr/>
          <a:lstStyle/>
          <a:p>
            <a:endParaRPr lang="fr-FR" dirty="0"/>
          </a:p>
        </p:txBody>
      </p:sp>
    </p:spTree>
    <p:extLst>
      <p:ext uri="{BB962C8B-B14F-4D97-AF65-F5344CB8AC3E}">
        <p14:creationId xmlns:p14="http://schemas.microsoft.com/office/powerpoint/2010/main" val="1414795566"/>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F50A2-51EE-3DD0-939F-AF87EC7A1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93BC7-BABA-15D5-5CAA-9769C7476B96}"/>
              </a:ext>
            </a:extLst>
          </p:cNvPr>
          <p:cNvSpPr>
            <a:spLocks noGrp="1"/>
          </p:cNvSpPr>
          <p:nvPr>
            <p:ph type="title"/>
          </p:nvPr>
        </p:nvSpPr>
        <p:spPr/>
        <p:txBody>
          <a:bodyPr/>
          <a:lstStyle/>
          <a:p>
            <a:r>
              <a:rPr lang="en-US" dirty="0"/>
              <a:t>Question XXX</a:t>
            </a:r>
          </a:p>
        </p:txBody>
      </p:sp>
      <p:sp>
        <p:nvSpPr>
          <p:cNvPr id="3" name="Content Placeholder 2">
            <a:extLst>
              <a:ext uri="{FF2B5EF4-FFF2-40B4-BE49-F238E27FC236}">
                <a16:creationId xmlns:a16="http://schemas.microsoft.com/office/drawing/2014/main" id="{E9EAACFF-2479-13B1-CAE6-A64140DFCB70}"/>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dirty="0"/>
              <a:t>XXX</a:t>
            </a:r>
            <a:endParaRPr lang="fr-FR" sz="2400" dirty="0"/>
          </a:p>
        </p:txBody>
      </p:sp>
      <p:sp>
        <p:nvSpPr>
          <p:cNvPr id="4" name="Content Placeholder 2">
            <a:extLst>
              <a:ext uri="{FF2B5EF4-FFF2-40B4-BE49-F238E27FC236}">
                <a16:creationId xmlns:a16="http://schemas.microsoft.com/office/drawing/2014/main" id="{1E0EFF51-1EA4-8F8F-F375-67690A6A6623}"/>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DB609132-3E70-8C41-7A9A-265F02874E5A}"/>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XXX</a:t>
            </a:r>
          </a:p>
          <a:p>
            <a:endParaRPr lang="fr-FR" dirty="0"/>
          </a:p>
        </p:txBody>
      </p:sp>
      <p:sp>
        <p:nvSpPr>
          <p:cNvPr id="6" name="ZoneTexte 5">
            <a:extLst>
              <a:ext uri="{FF2B5EF4-FFF2-40B4-BE49-F238E27FC236}">
                <a16:creationId xmlns:a16="http://schemas.microsoft.com/office/drawing/2014/main" id="{A8FB2D96-A8F8-F8C8-9F49-64377DF5DEED}"/>
              </a:ext>
            </a:extLst>
          </p:cNvPr>
          <p:cNvSpPr txBox="1"/>
          <p:nvPr/>
        </p:nvSpPr>
        <p:spPr>
          <a:xfrm>
            <a:off x="51757" y="2659981"/>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8E21CA9D-BEF6-8B15-33E6-8C43A97A0EF2}"/>
              </a:ext>
            </a:extLst>
          </p:cNvPr>
          <p:cNvSpPr txBox="1"/>
          <p:nvPr/>
        </p:nvSpPr>
        <p:spPr>
          <a:xfrm>
            <a:off x="1475656" y="5733256"/>
            <a:ext cx="593432" cy="369332"/>
          </a:xfrm>
          <a:prstGeom prst="rect">
            <a:avLst/>
          </a:prstGeom>
          <a:noFill/>
        </p:spPr>
        <p:txBody>
          <a:bodyPr wrap="none" rtlCol="0">
            <a:spAutoFit/>
          </a:bodyPr>
          <a:lstStyle/>
          <a:p>
            <a:r>
              <a:rPr lang="fr-FR" dirty="0"/>
              <a:t>XXX</a:t>
            </a:r>
          </a:p>
        </p:txBody>
      </p:sp>
    </p:spTree>
    <p:extLst>
      <p:ext uri="{BB962C8B-B14F-4D97-AF65-F5344CB8AC3E}">
        <p14:creationId xmlns:p14="http://schemas.microsoft.com/office/powerpoint/2010/main" val="2363418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670E2-1C2C-35CC-5973-6C6A096D0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ED9EEC-8AD4-D38F-E4EF-5FAA10E50D3D}"/>
              </a:ext>
            </a:extLst>
          </p:cNvPr>
          <p:cNvSpPr>
            <a:spLocks noGrp="1"/>
          </p:cNvSpPr>
          <p:nvPr>
            <p:ph type="title"/>
          </p:nvPr>
        </p:nvSpPr>
        <p:spPr/>
        <p:txBody>
          <a:bodyPr/>
          <a:lstStyle/>
          <a:p>
            <a:r>
              <a:rPr lang="en-US" dirty="0"/>
              <a:t>Question XXX</a:t>
            </a:r>
          </a:p>
        </p:txBody>
      </p:sp>
      <p:sp>
        <p:nvSpPr>
          <p:cNvPr id="3" name="Content Placeholder 2">
            <a:extLst>
              <a:ext uri="{FF2B5EF4-FFF2-40B4-BE49-F238E27FC236}">
                <a16:creationId xmlns:a16="http://schemas.microsoft.com/office/drawing/2014/main" id="{3CF6F751-ACC4-96D9-3D48-3B274D125A1C}"/>
              </a:ext>
            </a:extLst>
          </p:cNvPr>
          <p:cNvSpPr>
            <a:spLocks noGrp="1"/>
          </p:cNvSpPr>
          <p:nvPr>
            <p:ph type="body" sz="quarter" idx="13"/>
          </p:nvPr>
        </p:nvSpPr>
        <p:spPr>
          <a:xfrm>
            <a:off x="457200" y="1066800"/>
            <a:ext cx="8229600" cy="5314528"/>
          </a:xfrm>
          <a:prstGeom prst="rect">
            <a:avLst/>
          </a:prstGeom>
        </p:spPr>
        <p:txBody>
          <a:bodyPr/>
          <a:lstStyle/>
          <a:p>
            <a:pPr marL="0" indent="0">
              <a:buNone/>
            </a:pPr>
            <a:r>
              <a:rPr lang="fr-FR" dirty="0"/>
              <a:t>XXX</a:t>
            </a:r>
            <a:endParaRPr lang="fr-FR" sz="2400" dirty="0"/>
          </a:p>
        </p:txBody>
      </p:sp>
      <p:sp>
        <p:nvSpPr>
          <p:cNvPr id="4" name="Content Placeholder 2">
            <a:extLst>
              <a:ext uri="{FF2B5EF4-FFF2-40B4-BE49-F238E27FC236}">
                <a16:creationId xmlns:a16="http://schemas.microsoft.com/office/drawing/2014/main" id="{CACC13E4-4D5E-91ED-58B1-DB7A6074D46A}"/>
              </a:ext>
            </a:extLst>
          </p:cNvPr>
          <p:cNvSpPr txBox="1">
            <a:spLocks/>
          </p:cNvSpPr>
          <p:nvPr/>
        </p:nvSpPr>
        <p:spPr>
          <a:xfrm>
            <a:off x="457200" y="1066800"/>
            <a:ext cx="8229600" cy="5314528"/>
          </a:xfrm>
          <a:prstGeom prst="rect">
            <a:avLst/>
          </a:prstGeom>
        </p:spPr>
        <p:txBody>
          <a:bodyPr/>
          <a:lstStyle>
            <a:lvl1pPr marL="457200" indent="-457200" algn="l" defTabSz="914400" rtl="0" eaLnBrk="1" latinLnBrk="0" hangingPunct="1">
              <a:spcBef>
                <a:spcPct val="20000"/>
              </a:spcBef>
              <a:buClr>
                <a:srgbClr val="0070C0"/>
              </a:buClr>
              <a:buFont typeface="Arial" pitchFamily="34" charset="0"/>
              <a:buChar char="•"/>
              <a:defRPr sz="2800" b="0" kern="1200">
                <a:solidFill>
                  <a:schemeClr val="tx1"/>
                </a:solidFill>
                <a:latin typeface="Segoe UI" pitchFamily="34" charset="0"/>
                <a:ea typeface="Segoe UI" pitchFamily="34" charset="0"/>
                <a:cs typeface="Segoe UI" pitchFamily="34" charset="0"/>
              </a:defRPr>
            </a:lvl1pPr>
            <a:lvl2pPr marL="800100" indent="-342900" algn="l" defTabSz="914400" rtl="0" eaLnBrk="1" latinLnBrk="0" hangingPunct="1">
              <a:spcBef>
                <a:spcPct val="20000"/>
              </a:spcBef>
              <a:buClr>
                <a:srgbClr val="0070C0"/>
              </a:buClr>
              <a:buFont typeface="Arial" pitchFamily="34" charset="0"/>
              <a:buChar char="•"/>
              <a:defRPr sz="2400" b="0" kern="1200">
                <a:solidFill>
                  <a:schemeClr val="tx1"/>
                </a:solidFill>
                <a:latin typeface="Segoe UI" pitchFamily="34" charset="0"/>
                <a:ea typeface="Segoe UI" pitchFamily="34" charset="0"/>
                <a:cs typeface="Segoe UI" pitchFamily="34" charset="0"/>
              </a:defRPr>
            </a:lvl2pPr>
            <a:lvl3pPr marL="1257300" indent="-342900" algn="l" defTabSz="914400" rtl="0" eaLnBrk="1" latinLnBrk="0" hangingPunct="1">
              <a:spcBef>
                <a:spcPct val="20000"/>
              </a:spcBef>
              <a:buClr>
                <a:srgbClr val="0070C0"/>
              </a:buClr>
              <a:buFont typeface="Arial" pitchFamily="34" charset="0"/>
              <a:buChar char="•"/>
              <a:defRPr sz="2000" b="0" kern="1200">
                <a:solidFill>
                  <a:schemeClr val="tx1"/>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fr-FR" sz="2400" dirty="0"/>
          </a:p>
        </p:txBody>
      </p:sp>
      <p:sp>
        <p:nvSpPr>
          <p:cNvPr id="5" name="ZoneTexte 4">
            <a:extLst>
              <a:ext uri="{FF2B5EF4-FFF2-40B4-BE49-F238E27FC236}">
                <a16:creationId xmlns:a16="http://schemas.microsoft.com/office/drawing/2014/main" id="{DA625CC5-DD6B-E9D9-0B8F-F846F6A4A96B}"/>
              </a:ext>
            </a:extLst>
          </p:cNvPr>
          <p:cNvSpPr txBox="1"/>
          <p:nvPr/>
        </p:nvSpPr>
        <p:spPr>
          <a:xfrm>
            <a:off x="7524328" y="5487415"/>
            <a:ext cx="1230465" cy="923330"/>
          </a:xfrm>
          <a:prstGeom prst="rect">
            <a:avLst/>
          </a:prstGeom>
          <a:noFill/>
        </p:spPr>
        <p:txBody>
          <a:bodyPr wrap="none" rtlCol="0">
            <a:spAutoFit/>
          </a:bodyPr>
          <a:lstStyle/>
          <a:p>
            <a:r>
              <a:rPr lang="fr-FR" b="1" u="sng" dirty="0"/>
              <a:t>Réponse :</a:t>
            </a:r>
          </a:p>
          <a:p>
            <a:r>
              <a:rPr lang="fr-FR" dirty="0"/>
              <a:t>XXX</a:t>
            </a:r>
          </a:p>
          <a:p>
            <a:endParaRPr lang="fr-FR" dirty="0"/>
          </a:p>
        </p:txBody>
      </p:sp>
      <p:sp>
        <p:nvSpPr>
          <p:cNvPr id="6" name="ZoneTexte 5">
            <a:extLst>
              <a:ext uri="{FF2B5EF4-FFF2-40B4-BE49-F238E27FC236}">
                <a16:creationId xmlns:a16="http://schemas.microsoft.com/office/drawing/2014/main" id="{4BDEDB9A-0E93-F8E6-201E-1FC402B3C7DD}"/>
              </a:ext>
            </a:extLst>
          </p:cNvPr>
          <p:cNvSpPr txBox="1"/>
          <p:nvPr/>
        </p:nvSpPr>
        <p:spPr>
          <a:xfrm>
            <a:off x="51757" y="2659981"/>
            <a:ext cx="557808" cy="369332"/>
          </a:xfrm>
          <a:prstGeom prst="rect">
            <a:avLst/>
          </a:prstGeom>
          <a:noFill/>
        </p:spPr>
        <p:txBody>
          <a:bodyPr wrap="square">
            <a:spAutoFit/>
          </a:bodyPr>
          <a:lstStyle/>
          <a:p>
            <a:r>
              <a:rPr lang="fr-FR" b="1" dirty="0"/>
              <a:t>✅</a:t>
            </a:r>
            <a:endParaRPr lang="fr-FR" dirty="0"/>
          </a:p>
        </p:txBody>
      </p:sp>
      <p:sp>
        <p:nvSpPr>
          <p:cNvPr id="7" name="ZoneTexte 6">
            <a:extLst>
              <a:ext uri="{FF2B5EF4-FFF2-40B4-BE49-F238E27FC236}">
                <a16:creationId xmlns:a16="http://schemas.microsoft.com/office/drawing/2014/main" id="{D2180C89-C736-8A06-9D51-E02FF0D68280}"/>
              </a:ext>
            </a:extLst>
          </p:cNvPr>
          <p:cNvSpPr txBox="1"/>
          <p:nvPr/>
        </p:nvSpPr>
        <p:spPr>
          <a:xfrm>
            <a:off x="1475656" y="5733256"/>
            <a:ext cx="593432" cy="369332"/>
          </a:xfrm>
          <a:prstGeom prst="rect">
            <a:avLst/>
          </a:prstGeom>
          <a:noFill/>
        </p:spPr>
        <p:txBody>
          <a:bodyPr wrap="none" rtlCol="0">
            <a:spAutoFit/>
          </a:bodyPr>
          <a:lstStyle/>
          <a:p>
            <a:r>
              <a:rPr lang="fr-FR" dirty="0"/>
              <a:t>XXX</a:t>
            </a:r>
          </a:p>
        </p:txBody>
      </p:sp>
    </p:spTree>
    <p:extLst>
      <p:ext uri="{BB962C8B-B14F-4D97-AF65-F5344CB8AC3E}">
        <p14:creationId xmlns:p14="http://schemas.microsoft.com/office/powerpoint/2010/main" val="54024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69&quot;/&gt;&lt;/object&gt;&lt;object type=&quot;3&quot; unique_id=&quot;10004&quot;&gt;&lt;property id=&quot;20148&quot; value=&quot;5&quot;/&gt;&lt;property id=&quot;20300&quot; value=&quot;Slide 2 - &amp;quot;Welcome!&amp;quot;&quot;/&gt;&lt;property id=&quot;20307&quot; value=&quot;263&quot;/&gt;&lt;/object&gt;&lt;object type=&quot;3&quot; unique_id=&quot;10005&quot;&gt;&lt;property id=&quot;20148&quot; value=&quot;5&quot;/&gt;&lt;property id=&quot;20300&quot; value=&quot;Slide 3 - &amp;quot;Hello&amp;quot;&quot;/&gt;&lt;property id=&quot;20307&quot; value=&quot;266&quot;/&gt;&lt;/object&gt;&lt;object type=&quot;3&quot; unique_id=&quot;10006&quot;&gt;&lt;property id=&quot;20148&quot; value=&quot;5&quot;/&gt;&lt;property id=&quot;20300&quot; value=&quot;Slide 4 - &amp;quot;Facilities&amp;quot;&quot;/&gt;&lt;property id=&quot;20307&quot; value=&quot;262&quot;/&gt;&lt;/object&gt;&lt;object type=&quot;3&quot; unique_id=&quot;10007&quot;&gt;&lt;property id=&quot;20148&quot; value=&quot;5&quot;/&gt;&lt;property id=&quot;20300&quot; value=&quot;Slide 5 - &amp;quot;About This Course&amp;quot;&quot;/&gt;&lt;property id=&quot;20307&quot; value=&quot;264&quot;/&gt;&lt;/object&gt;&lt;object type=&quot;3&quot; unique_id=&quot;10008&quot;&gt;&lt;property id=&quot;20148&quot; value=&quot;5&quot;/&gt;&lt;property id=&quot;20300&quot; value=&quot;Slide 6 - &amp;quot;Hidden Slide&amp;quot;&quot;/&gt;&lt;property id=&quot;20307&quot; value=&quot;278&quot;/&gt;&lt;/object&gt;&lt;object type=&quot;3&quot; unique_id=&quot;10009&quot;&gt;&lt;property id=&quot;20148&quot; value=&quot;5&quot;/&gt;&lt;property id=&quot;20300&quot; value=&quot;Slide 7 - &amp;quot;Hidden Slide&amp;quot;&quot;/&gt;&lt;property id=&quot;20307&quot; value=&quot;279&quot;/&gt;&lt;/object&gt;&lt;object type=&quot;3&quot; unique_id=&quot;10010&quot;&gt;&lt;property id=&quot;20148&quot; value=&quot;5&quot;/&gt;&lt;property id=&quot;20300&quot; value=&quot;Slide 8 - &amp;quot;Your Course Materials&amp;quot;&quot;/&gt;&lt;property id=&quot;20307&quot; value=&quot;276&quot;/&gt;&lt;/object&gt;&lt;object type=&quot;3&quot; unique_id=&quot;10011&quot;&gt;&lt;property id=&quot;20148&quot; value=&quot;5&quot;/&gt;&lt;property id=&quot;20300&quot; value=&quot;Slide 9 - &amp;quot;Course Outline&amp;quot;&quot;/&gt;&lt;property id=&quot;20307&quot; value=&quot;271&quot;/&gt;&lt;/object&gt;&lt;object type=&quot;3&quot; unique_id=&quot;10012&quot;&gt;&lt;property id=&quot;20148&quot; value=&quot;5&quot;/&gt;&lt;property id=&quot;20300&quot; value=&quot;Slide 10 - &amp;quot;Course Outline (continued)&amp;quot;&quot;/&gt;&lt;property id=&quot;20307&quot; value=&quot;272&quot;/&gt;&lt;/object&gt;&lt;object type=&quot;3&quot; unique_id=&quot;10013&quot;&gt;&lt;property id=&quot;20148&quot; value=&quot;5&quot;/&gt;&lt;property id=&quot;20300&quot; value=&quot;Slide 11 - &amp;quot;Related Courses&amp;quot;&quot;/&gt;&lt;property id=&quot;20307&quot; value=&quot;259&quot;/&gt;&lt;/object&gt;&lt;object type=&quot;3&quot; unique_id=&quot;10014&quot;&gt;&lt;property id=&quot;20148&quot; value=&quot;5&quot;/&gt;&lt;property id=&quot;20300&quot; value=&quot;Slide 12 - &amp;quot;Microsoft Certification Program&amp;quot;&quot;/&gt;&lt;property id=&quot;20307&quot; value=&quot;260&quot;/&gt;&lt;/object&gt;&lt;object type=&quot;3&quot; unique_id=&quot;10015&quot;&gt;&lt;property id=&quot;20148&quot; value=&quot;5&quot;/&gt;&lt;property id=&quot;20300&quot; value=&quot;Slide 13 - &amp;quot;Preparing for the Labs&amp;quot;&quot;/&gt;&lt;property id=&quot;20307&quot; value=&quot;275&quot;/&gt;&lt;/object&gt;&lt;object type=&quot;3&quot; unique_id=&quot;10016&quot;&gt;&lt;property id=&quot;20148&quot; value=&quot;5&quot;/&gt;&lt;property id=&quot;20300&quot; value=&quot;Slide 14 - &amp;quot;Virtual Machine Environment&amp;quot;&quot;/&gt;&lt;property id=&quot;20307&quot; value=&quot;274&quot;/&gt;&lt;/object&gt;&lt;object type=&quot;3&quot; unique_id=&quot;10017&quot;&gt;&lt;property id=&quot;20148&quot; value=&quot;5&quot;/&gt;&lt;property id=&quot;20300&quot; value=&quot;Slide 15 - &amp;quot;Demonstration: Using Hyper-V Manager&amp;quot;&quot;/&gt;&lt;property id=&quot;20307&quot; value=&quot;277&quot;/&gt;&lt;/object&gt;&lt;/object&gt;&lt;object type=&quot;8&quot; unique_id=&quot;10034&quot;&gt;&lt;/object&gt;&lt;/object&gt;&lt;/database&gt;"/>
  <p:tag name="MMPROD_NEXTUNIQUEID" val="10009"/>
  <p:tag name="SECTOMILLISECCONVERTED" val="1"/>
</p:tagLst>
</file>

<file path=ppt/theme/theme1.xml><?xml version="1.0" encoding="utf-8"?>
<a:theme xmlns:a="http://schemas.openxmlformats.org/drawingml/2006/main" name="Module 0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OC">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96104AB67EA0840A5368495ED48DE27" ma:contentTypeVersion="0" ma:contentTypeDescription="Create a new document." ma:contentTypeScope="" ma:versionID="26623300cf3c9a1314ffde8268b9cf10">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5F5AAB2B-289B-4A4A-91D1-6C05C68C7095}">
  <ds:schemaRefs>
    <ds:schemaRef ds:uri="http://schemas.microsoft.com/sharepoint/v3/contenttype/forms"/>
  </ds:schemaRefs>
</ds:datastoreItem>
</file>

<file path=customXml/itemProps2.xml><?xml version="1.0" encoding="utf-8"?>
<ds:datastoreItem xmlns:ds="http://schemas.openxmlformats.org/officeDocument/2006/customXml" ds:itemID="{C28F5E6C-95F4-4526-9FF0-0DA8E7745FA9}">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customXml/itemProps3.xml><?xml version="1.0" encoding="utf-8"?>
<ds:datastoreItem xmlns:ds="http://schemas.openxmlformats.org/officeDocument/2006/customXml" ds:itemID="{347E99D0-EB5B-490A-9F3A-614690962B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Module 0 Template</Template>
  <TotalTime>0</TotalTime>
  <Words>32033</Words>
  <Application>Microsoft Office PowerPoint</Application>
  <PresentationFormat>Affichage à l'écran (4:3)</PresentationFormat>
  <Paragraphs>4874</Paragraphs>
  <Slides>376</Slides>
  <Notes>200</Notes>
  <HiddenSlides>0</HiddenSlides>
  <MMClips>0</MMClips>
  <ScaleCrop>false</ScaleCrop>
  <HeadingPairs>
    <vt:vector size="6" baseType="variant">
      <vt:variant>
        <vt:lpstr>Polices utilisées</vt:lpstr>
      </vt:variant>
      <vt:variant>
        <vt:i4>10</vt:i4>
      </vt:variant>
      <vt:variant>
        <vt:lpstr>Thème</vt:lpstr>
      </vt:variant>
      <vt:variant>
        <vt:i4>3</vt:i4>
      </vt:variant>
      <vt:variant>
        <vt:lpstr>Titres des diapositives</vt:lpstr>
      </vt:variant>
      <vt:variant>
        <vt:i4>376</vt:i4>
      </vt:variant>
    </vt:vector>
  </HeadingPairs>
  <TitlesOfParts>
    <vt:vector size="389" baseType="lpstr">
      <vt:lpstr>Arial</vt:lpstr>
      <vt:lpstr>Arial Black</vt:lpstr>
      <vt:lpstr>Calibri</vt:lpstr>
      <vt:lpstr>Cambria Math</vt:lpstr>
      <vt:lpstr>Cascadia Mono</vt:lpstr>
      <vt:lpstr>Courier New</vt:lpstr>
      <vt:lpstr>Segoe UI</vt:lpstr>
      <vt:lpstr>Segoe UI Light</vt:lpstr>
      <vt:lpstr>Trebuchet MS</vt:lpstr>
      <vt:lpstr>Wingdings</vt:lpstr>
      <vt:lpstr>Module 0 Template</vt:lpstr>
      <vt:lpstr>Custom Design</vt:lpstr>
      <vt:lpstr>1_Custom Design</vt:lpstr>
      <vt:lpstr>Présentation PowerPoint</vt:lpstr>
      <vt:lpstr>Index</vt:lpstr>
      <vt:lpstr>Présentation PowerPoint</vt:lpstr>
      <vt:lpstr>AzureQuizLab </vt:lpstr>
      <vt:lpstr>Prochaines sessions </vt:lpstr>
      <vt:lpstr>Présentation PowerPoint</vt:lpstr>
      <vt:lpstr>On Premises vs Iaas vs Paas vs Saas</vt:lpstr>
      <vt:lpstr>Question 1 </vt:lpstr>
      <vt:lpstr>Question 2 </vt:lpstr>
      <vt:lpstr>Question 3</vt:lpstr>
      <vt:lpstr>Question 4</vt:lpstr>
      <vt:lpstr>Question 5 </vt:lpstr>
      <vt:lpstr>Question 6 </vt:lpstr>
      <vt:lpstr>Question 7</vt:lpstr>
      <vt:lpstr>Présentation PowerPoint</vt:lpstr>
      <vt:lpstr>Question 1</vt:lpstr>
      <vt:lpstr>Question 2</vt:lpstr>
      <vt:lpstr>Question 3</vt:lpstr>
      <vt:lpstr>Question 4</vt:lpstr>
      <vt:lpstr>Question 5</vt:lpstr>
      <vt:lpstr>Question 6</vt:lpstr>
      <vt:lpstr>Question 7 </vt:lpstr>
      <vt:lpstr>Question 8</vt:lpstr>
      <vt:lpstr>Présentation PowerPoint</vt:lpstr>
      <vt:lpstr>Question 1</vt:lpstr>
      <vt:lpstr>Question 2</vt:lpstr>
      <vt:lpstr>Question 3 </vt:lpstr>
      <vt:lpstr>Question 3 bis </vt:lpstr>
      <vt:lpstr>Question 4 </vt:lpstr>
      <vt:lpstr>Question 5</vt:lpstr>
      <vt:lpstr>Question 6</vt:lpstr>
      <vt:lpstr>Scale Up / Scale Out</vt:lpstr>
      <vt:lpstr>Azure Autoscale vs  Web App Automatic Scaling</vt:lpstr>
      <vt:lpstr>Présentation PowerPoint</vt:lpstr>
      <vt:lpstr>Question  1</vt:lpstr>
      <vt:lpstr>Question 2 </vt:lpstr>
      <vt:lpstr>Question 3</vt:lpstr>
      <vt:lpstr>Question 4</vt:lpstr>
      <vt:lpstr>Question 5</vt:lpstr>
      <vt:lpstr>Question 6</vt:lpstr>
      <vt:lpstr>Question 7 </vt:lpstr>
      <vt:lpstr>Question 8 </vt:lpstr>
      <vt:lpstr>Question 9 </vt:lpstr>
      <vt:lpstr>Question 10 </vt:lpstr>
      <vt:lpstr>Présentation PowerPoint</vt:lpstr>
      <vt:lpstr>Question 1 </vt:lpstr>
      <vt:lpstr>Question 2 </vt:lpstr>
      <vt:lpstr>Question 3 </vt:lpstr>
      <vt:lpstr>Question 4</vt:lpstr>
      <vt:lpstr>Question 5</vt:lpstr>
      <vt:lpstr>Question 6 </vt:lpstr>
      <vt:lpstr>Présentation PowerPoint</vt:lpstr>
      <vt:lpstr>Question  1</vt:lpstr>
      <vt:lpstr>Question 2 </vt:lpstr>
      <vt:lpstr>Question 3 </vt:lpstr>
      <vt:lpstr>Question 4</vt:lpstr>
      <vt:lpstr>Question 5</vt:lpstr>
      <vt:lpstr>Question 6 </vt:lpstr>
      <vt:lpstr>Question 7 </vt:lpstr>
      <vt:lpstr>Présentation PowerPoint</vt:lpstr>
      <vt:lpstr>Question 1</vt:lpstr>
      <vt:lpstr>Question  2</vt:lpstr>
      <vt:lpstr>Question  3</vt:lpstr>
      <vt:lpstr>Question  4</vt:lpstr>
      <vt:lpstr>Question  5</vt:lpstr>
      <vt:lpstr>Question  6</vt:lpstr>
      <vt:lpstr>Question  7</vt:lpstr>
      <vt:lpstr>Question 8</vt:lpstr>
      <vt:lpstr>Question 9</vt:lpstr>
      <vt:lpstr>Question 10</vt:lpstr>
      <vt:lpstr>Question 11</vt:lpstr>
      <vt:lpstr>Certificats, explications</vt:lpstr>
      <vt:lpstr>Présentation PowerPoint</vt:lpstr>
      <vt:lpstr>Question 1</vt:lpstr>
      <vt:lpstr>Question 2</vt:lpstr>
      <vt:lpstr>Question 3</vt:lpstr>
      <vt:lpstr>Question 4</vt:lpstr>
      <vt:lpstr>Question 5</vt:lpstr>
      <vt:lpstr>Question 6</vt:lpstr>
      <vt:lpstr>Question 7</vt:lpstr>
      <vt:lpstr>Question 8</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Question 5</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Chiffrement Symétique et Asymétrique</vt:lpstr>
      <vt:lpstr>Utilisation des 2 : Symétrique et Asymétrique</vt:lpstr>
      <vt:lpstr>Clés publiques / privées</vt:lpstr>
      <vt:lpstr>Clés publiques / privées - Principes</vt:lpstr>
      <vt:lpstr>Chiffrement clé asymétrique</vt:lpstr>
      <vt:lpstr>Signature clé asymétrique</vt:lpstr>
      <vt:lpstr>Clés publiques / privées</vt:lpstr>
      <vt:lpstr>Certificats</vt:lpstr>
      <vt:lpstr>Certificats et clés</vt:lpstr>
      <vt:lpstr>Chiffrement clé asymétrique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conteneur : notre camion</vt:lpstr>
      <vt:lpstr>Azure Container Registry (ACR)</vt:lpstr>
      <vt:lpstr>Azure Container Instances (ACI)</vt:lpstr>
      <vt:lpstr>Azure Container Apps (ACA)</vt:lpstr>
      <vt:lpstr>ACA Environment : la zone logistique 1/2</vt:lpstr>
      <vt:lpstr>ACA Environment : la zone logistique 2/2</vt:lpstr>
      <vt:lpstr>Services mutualisés de la zone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Comparaison</vt:lpstr>
      <vt:lpstr>Comparaison</vt:lpstr>
      <vt:lpstr>Présentation PowerPoint</vt:lpstr>
      <vt:lpstr>Question XXX</vt:lpstr>
      <vt:lpstr>Question XXX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dc:creator>
  <cp:lastModifiedBy>PLANAS Jean Pierre [EXT]</cp:lastModifiedBy>
  <cp:revision>405</cp:revision>
  <cp:lastPrinted>2012-08-28T00:39:50Z</cp:lastPrinted>
  <dcterms:created xsi:type="dcterms:W3CDTF">2012-09-10T15:00:36Z</dcterms:created>
  <dcterms:modified xsi:type="dcterms:W3CDTF">2026-06-10T04:20:53Z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0x010100396104AB67EA0840A5368495ED48DE27</vt:lpwstr>
  </property>
</Properties>
</file>