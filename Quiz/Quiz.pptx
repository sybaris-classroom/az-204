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217"/>
  </p:notesMasterIdLst>
  <p:handoutMasterIdLst>
    <p:handoutMasterId r:id="rId218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809" r:id="rId128"/>
    <p:sldId id="804" r:id="rId129"/>
    <p:sldId id="805" r:id="rId130"/>
    <p:sldId id="803" r:id="rId131"/>
    <p:sldId id="806" r:id="rId132"/>
    <p:sldId id="807" r:id="rId133"/>
    <p:sldId id="810" r:id="rId134"/>
    <p:sldId id="814" r:id="rId135"/>
    <p:sldId id="811" r:id="rId136"/>
    <p:sldId id="812" r:id="rId137"/>
    <p:sldId id="813" r:id="rId138"/>
    <p:sldId id="815" r:id="rId139"/>
    <p:sldId id="816" r:id="rId140"/>
    <p:sldId id="817" r:id="rId141"/>
    <p:sldId id="818" r:id="rId142"/>
    <p:sldId id="819" r:id="rId143"/>
    <p:sldId id="820" r:id="rId144"/>
    <p:sldId id="821" r:id="rId145"/>
    <p:sldId id="822" r:id="rId146"/>
    <p:sldId id="823" r:id="rId147"/>
    <p:sldId id="824" r:id="rId148"/>
    <p:sldId id="825" r:id="rId149"/>
    <p:sldId id="826" r:id="rId150"/>
    <p:sldId id="827" r:id="rId151"/>
    <p:sldId id="828" r:id="rId152"/>
    <p:sldId id="829" r:id="rId153"/>
    <p:sldId id="830" r:id="rId154"/>
    <p:sldId id="831" r:id="rId155"/>
    <p:sldId id="832" r:id="rId156"/>
    <p:sldId id="833" r:id="rId157"/>
    <p:sldId id="834" r:id="rId158"/>
    <p:sldId id="835" r:id="rId159"/>
    <p:sldId id="836" r:id="rId160"/>
    <p:sldId id="837" r:id="rId161"/>
    <p:sldId id="838" r:id="rId162"/>
    <p:sldId id="839" r:id="rId163"/>
    <p:sldId id="840" r:id="rId164"/>
    <p:sldId id="841" r:id="rId165"/>
    <p:sldId id="842" r:id="rId166"/>
    <p:sldId id="843" r:id="rId167"/>
    <p:sldId id="844" r:id="rId168"/>
    <p:sldId id="845" r:id="rId169"/>
    <p:sldId id="846" r:id="rId170"/>
    <p:sldId id="847" r:id="rId171"/>
    <p:sldId id="848" r:id="rId172"/>
    <p:sldId id="857" r:id="rId173"/>
    <p:sldId id="849" r:id="rId174"/>
    <p:sldId id="850" r:id="rId175"/>
    <p:sldId id="851" r:id="rId176"/>
    <p:sldId id="852" r:id="rId177"/>
    <p:sldId id="853" r:id="rId178"/>
    <p:sldId id="854" r:id="rId179"/>
    <p:sldId id="855" r:id="rId180"/>
    <p:sldId id="856" r:id="rId181"/>
    <p:sldId id="858" r:id="rId182"/>
    <p:sldId id="859" r:id="rId183"/>
    <p:sldId id="860" r:id="rId184"/>
    <p:sldId id="861" r:id="rId185"/>
    <p:sldId id="862" r:id="rId186"/>
    <p:sldId id="863" r:id="rId187"/>
    <p:sldId id="864" r:id="rId188"/>
    <p:sldId id="865" r:id="rId189"/>
    <p:sldId id="866" r:id="rId190"/>
    <p:sldId id="867" r:id="rId191"/>
    <p:sldId id="868" r:id="rId192"/>
    <p:sldId id="869" r:id="rId193"/>
    <p:sldId id="880" r:id="rId194"/>
    <p:sldId id="870" r:id="rId195"/>
    <p:sldId id="871" r:id="rId196"/>
    <p:sldId id="881" r:id="rId197"/>
    <p:sldId id="872" r:id="rId198"/>
    <p:sldId id="873" r:id="rId199"/>
    <p:sldId id="882" r:id="rId200"/>
    <p:sldId id="883" r:id="rId201"/>
    <p:sldId id="884" r:id="rId202"/>
    <p:sldId id="877" r:id="rId203"/>
    <p:sldId id="878" r:id="rId204"/>
    <p:sldId id="879" r:id="rId205"/>
    <p:sldId id="885" r:id="rId206"/>
    <p:sldId id="886" r:id="rId207"/>
    <p:sldId id="887" r:id="rId208"/>
    <p:sldId id="888" r:id="rId209"/>
    <p:sldId id="889" r:id="rId210"/>
    <p:sldId id="890" r:id="rId211"/>
    <p:sldId id="891" r:id="rId212"/>
    <p:sldId id="892" r:id="rId213"/>
    <p:sldId id="704" r:id="rId214"/>
    <p:sldId id="756" r:id="rId215"/>
    <p:sldId id="808" r:id="rId216"/>
  </p:sldIdLst>
  <p:sldSz cx="9144000" cy="6858000" type="screen4x3"/>
  <p:notesSz cx="7023100" cy="9309100"/>
  <p:custDataLst>
    <p:tags r:id="rId21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Clés asymétriques" id="{A9BD5DDD-8564-4000-A824-269A0A0AC22D}">
          <p14:sldIdLst>
            <p14:sldId id="809"/>
            <p14:sldId id="804"/>
            <p14:sldId id="805"/>
            <p14:sldId id="803"/>
            <p14:sldId id="806"/>
            <p14:sldId id="807"/>
            <p14:sldId id="810"/>
            <p14:sldId id="814"/>
            <p14:sldId id="811"/>
            <p14:sldId id="812"/>
            <p14:sldId id="813"/>
          </p14:sldIdLst>
        </p14:section>
        <p14:section name="quiz10" id="{20941169-1845-41FC-9D92-4A2D87420A14}">
          <p14:sldIdLst>
            <p14:sldId id="815"/>
            <p14:sldId id="816"/>
            <p14:sldId id="817"/>
            <p14:sldId id="818"/>
            <p14:sldId id="819"/>
            <p14:sldId id="820"/>
            <p14:sldId id="821"/>
            <p14:sldId id="822"/>
            <p14:sldId id="823"/>
            <p14:sldId id="824"/>
            <p14:sldId id="825"/>
            <p14:sldId id="826"/>
            <p14:sldId id="82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</p14:sldIdLst>
        </p14:section>
        <p14:section name="quiz11" id="{36274EC8-C7F8-428F-8013-3FB42E28D0B7}">
          <p14:sldIdLst>
            <p14:sldId id="836"/>
            <p14:sldId id="837"/>
            <p14:sldId id="838"/>
            <p14:sldId id="839"/>
            <p14:sldId id="840"/>
            <p14:sldId id="841"/>
            <p14:sldId id="842"/>
            <p14:sldId id="843"/>
            <p14:sldId id="844"/>
            <p14:sldId id="845"/>
            <p14:sldId id="846"/>
            <p14:sldId id="847"/>
            <p14:sldId id="848"/>
            <p14:sldId id="857"/>
            <p14:sldId id="849"/>
            <p14:sldId id="850"/>
            <p14:sldId id="851"/>
            <p14:sldId id="852"/>
            <p14:sldId id="853"/>
            <p14:sldId id="854"/>
            <p14:sldId id="855"/>
            <p14:sldId id="856"/>
            <p14:sldId id="858"/>
          </p14:sldIdLst>
        </p14:section>
        <p14:section name="quiz12" id="{587ACA08-3417-46CA-84CD-55E1AA27674F}">
          <p14:sldIdLst>
            <p14:sldId id="859"/>
            <p14:sldId id="860"/>
            <p14:sldId id="861"/>
            <p14:sldId id="862"/>
            <p14:sldId id="863"/>
            <p14:sldId id="864"/>
            <p14:sldId id="865"/>
            <p14:sldId id="866"/>
            <p14:sldId id="867"/>
            <p14:sldId id="868"/>
            <p14:sldId id="869"/>
            <p14:sldId id="880"/>
            <p14:sldId id="870"/>
            <p14:sldId id="871"/>
            <p14:sldId id="881"/>
            <p14:sldId id="872"/>
            <p14:sldId id="873"/>
            <p14:sldId id="882"/>
            <p14:sldId id="883"/>
            <p14:sldId id="884"/>
            <p14:sldId id="877"/>
            <p14:sldId id="878"/>
            <p14:sldId id="879"/>
            <p14:sldId id="885"/>
            <p14:sldId id="886"/>
            <p14:sldId id="887"/>
            <p14:sldId id="888"/>
            <p14:sldId id="889"/>
            <p14:sldId id="890"/>
            <p14:sldId id="891"/>
            <p14:sldId id="892"/>
          </p14:sldIdLst>
        </p14:section>
        <p14:section name="quizAVenir" id="{BEF1AD5F-0008-433C-9B6F-B813F94E6E0F}">
          <p14:sldIdLst>
            <p14:sldId id="704"/>
            <p14:sldId id="756"/>
            <p14:sldId id="8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58" autoAdjust="0"/>
    <p:restoredTop sz="89038" autoAdjust="0"/>
  </p:normalViewPr>
  <p:slideViewPr>
    <p:cSldViewPr>
      <p:cViewPr varScale="1">
        <p:scale>
          <a:sx n="152" d="100"/>
          <a:sy n="152" d="100"/>
        </p:scale>
        <p:origin x="1932" y="88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  <p:sld r:id="rId87" collapse="1"/>
      <p:sld r:id="rId88" collapse="1"/>
      <p:sld r:id="rId89" collapse="1"/>
      <p:sld r:id="rId90" collapse="1"/>
      <p:sld r:id="rId91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openxmlformats.org/officeDocument/2006/relationships/slide" Target="slides/slide153.xml"/><Relationship Id="rId170" Type="http://schemas.openxmlformats.org/officeDocument/2006/relationships/slide" Target="slides/slide164.xml"/><Relationship Id="rId191" Type="http://schemas.openxmlformats.org/officeDocument/2006/relationships/slide" Target="slides/slide185.xml"/><Relationship Id="rId205" Type="http://schemas.openxmlformats.org/officeDocument/2006/relationships/slide" Target="slides/slide199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3" Type="http://schemas.openxmlformats.org/officeDocument/2006/relationships/slide" Target="slides/slide47.xml"/><Relationship Id="rId74" Type="http://schemas.openxmlformats.org/officeDocument/2006/relationships/slide" Target="slides/slide68.xml"/><Relationship Id="rId128" Type="http://schemas.openxmlformats.org/officeDocument/2006/relationships/slide" Target="slides/slide122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5" Type="http://schemas.openxmlformats.org/officeDocument/2006/relationships/slide" Target="slides/slide89.xml"/><Relationship Id="rId160" Type="http://schemas.openxmlformats.org/officeDocument/2006/relationships/slide" Target="slides/slide154.xml"/><Relationship Id="rId181" Type="http://schemas.openxmlformats.org/officeDocument/2006/relationships/slide" Target="slides/slide175.xml"/><Relationship Id="rId216" Type="http://schemas.openxmlformats.org/officeDocument/2006/relationships/slide" Target="slides/slide210.xml"/><Relationship Id="rId211" Type="http://schemas.openxmlformats.org/officeDocument/2006/relationships/slide" Target="slides/slide205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slide" Target="slides/slide149.xml"/><Relationship Id="rId171" Type="http://schemas.openxmlformats.org/officeDocument/2006/relationships/slide" Target="slides/slide165.xml"/><Relationship Id="rId176" Type="http://schemas.openxmlformats.org/officeDocument/2006/relationships/slide" Target="slides/slide170.xml"/><Relationship Id="rId192" Type="http://schemas.openxmlformats.org/officeDocument/2006/relationships/slide" Target="slides/slide186.xml"/><Relationship Id="rId197" Type="http://schemas.openxmlformats.org/officeDocument/2006/relationships/slide" Target="slides/slide191.xml"/><Relationship Id="rId206" Type="http://schemas.openxmlformats.org/officeDocument/2006/relationships/slide" Target="slides/slide200.xml"/><Relationship Id="rId201" Type="http://schemas.openxmlformats.org/officeDocument/2006/relationships/slide" Target="slides/slide195.xml"/><Relationship Id="rId222" Type="http://schemas.openxmlformats.org/officeDocument/2006/relationships/viewProps" Target="view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61" Type="http://schemas.openxmlformats.org/officeDocument/2006/relationships/slide" Target="slides/slide155.xml"/><Relationship Id="rId166" Type="http://schemas.openxmlformats.org/officeDocument/2006/relationships/slide" Target="slides/slide160.xml"/><Relationship Id="rId182" Type="http://schemas.openxmlformats.org/officeDocument/2006/relationships/slide" Target="slides/slide176.xml"/><Relationship Id="rId187" Type="http://schemas.openxmlformats.org/officeDocument/2006/relationships/slide" Target="slides/slide181.xml"/><Relationship Id="rId217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12" Type="http://schemas.openxmlformats.org/officeDocument/2006/relationships/slide" Target="slides/slide206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slide" Target="slides/slide150.xml"/><Relationship Id="rId177" Type="http://schemas.openxmlformats.org/officeDocument/2006/relationships/slide" Target="slides/slide171.xml"/><Relationship Id="rId198" Type="http://schemas.openxmlformats.org/officeDocument/2006/relationships/slide" Target="slides/slide192.xml"/><Relationship Id="rId172" Type="http://schemas.openxmlformats.org/officeDocument/2006/relationships/slide" Target="slides/slide166.xml"/><Relationship Id="rId193" Type="http://schemas.openxmlformats.org/officeDocument/2006/relationships/slide" Target="slides/slide187.xml"/><Relationship Id="rId202" Type="http://schemas.openxmlformats.org/officeDocument/2006/relationships/slide" Target="slides/slide196.xml"/><Relationship Id="rId207" Type="http://schemas.openxmlformats.org/officeDocument/2006/relationships/slide" Target="slides/slide201.xml"/><Relationship Id="rId223" Type="http://schemas.openxmlformats.org/officeDocument/2006/relationships/theme" Target="theme/theme1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167" Type="http://schemas.openxmlformats.org/officeDocument/2006/relationships/slide" Target="slides/slide161.xml"/><Relationship Id="rId188" Type="http://schemas.openxmlformats.org/officeDocument/2006/relationships/slide" Target="slides/slide182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162" Type="http://schemas.openxmlformats.org/officeDocument/2006/relationships/slide" Target="slides/slide156.xml"/><Relationship Id="rId183" Type="http://schemas.openxmlformats.org/officeDocument/2006/relationships/slide" Target="slides/slide177.xml"/><Relationship Id="rId213" Type="http://schemas.openxmlformats.org/officeDocument/2006/relationships/slide" Target="slides/slide207.xml"/><Relationship Id="rId218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slide" Target="slides/slide151.xml"/><Relationship Id="rId178" Type="http://schemas.openxmlformats.org/officeDocument/2006/relationships/slide" Target="slides/slide172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73" Type="http://schemas.openxmlformats.org/officeDocument/2006/relationships/slide" Target="slides/slide167.xml"/><Relationship Id="rId194" Type="http://schemas.openxmlformats.org/officeDocument/2006/relationships/slide" Target="slides/slide188.xml"/><Relationship Id="rId199" Type="http://schemas.openxmlformats.org/officeDocument/2006/relationships/slide" Target="slides/slide193.xml"/><Relationship Id="rId203" Type="http://schemas.openxmlformats.org/officeDocument/2006/relationships/slide" Target="slides/slide197.xml"/><Relationship Id="rId208" Type="http://schemas.openxmlformats.org/officeDocument/2006/relationships/slide" Target="slides/slide202.xml"/><Relationship Id="rId19" Type="http://schemas.openxmlformats.org/officeDocument/2006/relationships/slide" Target="slides/slide13.xml"/><Relationship Id="rId224" Type="http://schemas.openxmlformats.org/officeDocument/2006/relationships/tableStyles" Target="tableStyles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168" Type="http://schemas.openxmlformats.org/officeDocument/2006/relationships/slide" Target="slides/slide162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163" Type="http://schemas.openxmlformats.org/officeDocument/2006/relationships/slide" Target="slides/slide157.xml"/><Relationship Id="rId184" Type="http://schemas.openxmlformats.org/officeDocument/2006/relationships/slide" Target="slides/slide178.xml"/><Relationship Id="rId189" Type="http://schemas.openxmlformats.org/officeDocument/2006/relationships/slide" Target="slides/slide183.xml"/><Relationship Id="rId219" Type="http://schemas.openxmlformats.org/officeDocument/2006/relationships/tags" Target="tags/tag1.xml"/><Relationship Id="rId3" Type="http://schemas.openxmlformats.org/officeDocument/2006/relationships/customXml" Target="../customXml/item3.xml"/><Relationship Id="rId214" Type="http://schemas.openxmlformats.org/officeDocument/2006/relationships/slide" Target="slides/slide208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slide" Target="slides/slide152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74" Type="http://schemas.openxmlformats.org/officeDocument/2006/relationships/slide" Target="slides/slide168.xml"/><Relationship Id="rId179" Type="http://schemas.openxmlformats.org/officeDocument/2006/relationships/slide" Target="slides/slide173.xml"/><Relationship Id="rId195" Type="http://schemas.openxmlformats.org/officeDocument/2006/relationships/slide" Target="slides/slide189.xml"/><Relationship Id="rId209" Type="http://schemas.openxmlformats.org/officeDocument/2006/relationships/slide" Target="slides/slide203.xml"/><Relationship Id="rId190" Type="http://schemas.openxmlformats.org/officeDocument/2006/relationships/slide" Target="slides/slide184.xml"/><Relationship Id="rId204" Type="http://schemas.openxmlformats.org/officeDocument/2006/relationships/slide" Target="slides/slide198.xml"/><Relationship Id="rId220" Type="http://schemas.openxmlformats.org/officeDocument/2006/relationships/commentAuthors" Target="commentAuthors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164" Type="http://schemas.openxmlformats.org/officeDocument/2006/relationships/slide" Target="slides/slide158.xml"/><Relationship Id="rId169" Type="http://schemas.openxmlformats.org/officeDocument/2006/relationships/slide" Target="slides/slide163.xml"/><Relationship Id="rId185" Type="http://schemas.openxmlformats.org/officeDocument/2006/relationships/slide" Target="slides/slide17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80" Type="http://schemas.openxmlformats.org/officeDocument/2006/relationships/slide" Target="slides/slide174.xml"/><Relationship Id="rId210" Type="http://schemas.openxmlformats.org/officeDocument/2006/relationships/slide" Target="slides/slide204.xml"/><Relationship Id="rId215" Type="http://schemas.openxmlformats.org/officeDocument/2006/relationships/slide" Target="slides/slide209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slide" Target="slides/slide148.xml"/><Relationship Id="rId175" Type="http://schemas.openxmlformats.org/officeDocument/2006/relationships/slide" Target="slides/slide169.xml"/><Relationship Id="rId196" Type="http://schemas.openxmlformats.org/officeDocument/2006/relationships/slide" Target="slides/slide190.xml"/><Relationship Id="rId200" Type="http://schemas.openxmlformats.org/officeDocument/2006/relationships/slide" Target="slides/slide194.xml"/><Relationship Id="rId16" Type="http://schemas.openxmlformats.org/officeDocument/2006/relationships/slide" Target="slides/slide10.xml"/><Relationship Id="rId221" Type="http://schemas.openxmlformats.org/officeDocument/2006/relationships/presProps" Target="presProps.xml"/><Relationship Id="rId37" Type="http://schemas.openxmlformats.org/officeDocument/2006/relationships/slide" Target="slides/slide31.xml"/><Relationship Id="rId58" Type="http://schemas.openxmlformats.org/officeDocument/2006/relationships/slide" Target="slides/slide52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44" Type="http://schemas.openxmlformats.org/officeDocument/2006/relationships/slide" Target="slides/slide138.xml"/><Relationship Id="rId90" Type="http://schemas.openxmlformats.org/officeDocument/2006/relationships/slide" Target="slides/slide84.xml"/><Relationship Id="rId165" Type="http://schemas.openxmlformats.org/officeDocument/2006/relationships/slide" Target="slides/slide159.xml"/><Relationship Id="rId186" Type="http://schemas.openxmlformats.org/officeDocument/2006/relationships/slide" Target="slides/slide180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6" Type="http://schemas.openxmlformats.org/officeDocument/2006/relationships/slide" Target="slides/slide125.xml"/><Relationship Id="rId84" Type="http://schemas.openxmlformats.org/officeDocument/2006/relationships/slide" Target="slides/slide202.xml"/><Relationship Id="rId89" Type="http://schemas.openxmlformats.org/officeDocument/2006/relationships/slide" Target="slides/slide207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79" Type="http://schemas.openxmlformats.org/officeDocument/2006/relationships/slide" Target="slides/slide128.xml"/><Relationship Id="rId87" Type="http://schemas.openxmlformats.org/officeDocument/2006/relationships/slide" Target="slides/slide205.xml"/><Relationship Id="rId5" Type="http://schemas.openxmlformats.org/officeDocument/2006/relationships/slide" Target="slides/slide7.xml"/><Relationship Id="rId61" Type="http://schemas.openxmlformats.org/officeDocument/2006/relationships/slide" Target="slides/slide69.xml"/><Relationship Id="rId82" Type="http://schemas.openxmlformats.org/officeDocument/2006/relationships/slide" Target="slides/slide132.xml"/><Relationship Id="rId90" Type="http://schemas.openxmlformats.org/officeDocument/2006/relationships/slide" Target="slides/slide209.xml"/><Relationship Id="rId19" Type="http://schemas.openxmlformats.org/officeDocument/2006/relationships/slide" Target="slides/slide22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77" Type="http://schemas.openxmlformats.org/officeDocument/2006/relationships/slide" Target="slides/slide126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80" Type="http://schemas.openxmlformats.org/officeDocument/2006/relationships/slide" Target="slides/slide130.xml"/><Relationship Id="rId85" Type="http://schemas.openxmlformats.org/officeDocument/2006/relationships/slide" Target="slides/slide203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75" Type="http://schemas.openxmlformats.org/officeDocument/2006/relationships/slide" Target="slides/slide124.xml"/><Relationship Id="rId83" Type="http://schemas.openxmlformats.org/officeDocument/2006/relationships/slide" Target="slides/slide201.xml"/><Relationship Id="rId88" Type="http://schemas.openxmlformats.org/officeDocument/2006/relationships/slide" Target="slides/slide206.xml"/><Relationship Id="rId91" Type="http://schemas.openxmlformats.org/officeDocument/2006/relationships/slide" Target="slides/slide210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Relationship Id="rId10" Type="http://schemas.openxmlformats.org/officeDocument/2006/relationships/slide" Target="slides/slide1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78" Type="http://schemas.openxmlformats.org/officeDocument/2006/relationships/slide" Target="slides/slide127.xml"/><Relationship Id="rId81" Type="http://schemas.openxmlformats.org/officeDocument/2006/relationships/slide" Target="slides/slide131.xml"/><Relationship Id="rId86" Type="http://schemas.openxmlformats.org/officeDocument/2006/relationships/slide" Target="slides/slide204.xml"/><Relationship Id="rId4" Type="http://schemas.openxmlformats.org/officeDocument/2006/relationships/slide" Target="slides/slide5.xml"/><Relationship Id="rId9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DFF2-E19B-336B-2872-535559BF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66A73-7036-4E1B-654B-235DE9E04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9458E-98BF-1D97-F02B-7361B276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2386F-B4C5-0417-CE62-A44A39F7B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015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10B8E-835B-95C5-16F7-D4308F45B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08777-6CBB-177F-C1F5-E1002DDC6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47C87-1CFB-6D96-4765-9122DA82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🔓 Le serveur envoie sa </a:t>
            </a:r>
            <a:r>
              <a:rPr lang="fr-FR" b="1" dirty="0"/>
              <a:t>clé publique</a:t>
            </a:r>
            <a:r>
              <a:rPr lang="fr-FR" dirty="0"/>
              <a:t> </a:t>
            </a:r>
          </a:p>
          <a:p>
            <a:r>
              <a:rPr lang="fr-FR" dirty="0"/>
              <a:t>🔐 Le client génère une </a:t>
            </a:r>
            <a:r>
              <a:rPr lang="fr-FR" b="1" dirty="0"/>
              <a:t>clé symétrique</a:t>
            </a:r>
            <a:r>
              <a:rPr lang="fr-FR" dirty="0"/>
              <a:t> </a:t>
            </a:r>
          </a:p>
          <a:p>
            <a:r>
              <a:rPr lang="fr-FR" dirty="0"/>
              <a:t>🔒 Le client chiffre cette clé avec la clé publique </a:t>
            </a:r>
          </a:p>
          <a:p>
            <a:r>
              <a:rPr lang="fr-FR" dirty="0"/>
              <a:t>🔓 Le serveur déchiffre avec sa clé privée </a:t>
            </a:r>
          </a:p>
          <a:p>
            <a:r>
              <a:rPr lang="fr-FR" dirty="0"/>
              <a:t>⚡ Les échanges utilisent la clé symétrique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5B21C-1DEB-5492-4EE2-5BCCE13CC9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749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ABF0-3F1C-6B48-088B-7572844E9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3732D-5A76-939D-680D-47427945D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14F04-4CD2-B102-D70F-1C24978A3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6C60-30D6-BD80-C870-9C003808B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694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67EDD-07D3-C56D-3C54-68D6403A0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39559-DDB1-E87C-F0CC-69D7D4E59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31A4-1F15-E339-0C68-7033A1022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2F5B-FF12-78BA-089C-C7E580344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481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7DC-A109-A9D5-D419-A98CBE53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F1090-E041-59A9-3C85-15CAAAE09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F1D1B-212B-E2D9-C44C-9AD5F1C35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70C09-B9A5-9792-BBB0-36A160C63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537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8D9-F548-0E3A-9DBA-AD6D60D5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820AE-CDDA-0F96-6D4A-9A4B0D186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05F82-3E2F-A4DB-A49F-5F1AB623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0216D-EF6D-C255-D9E6-FC2912C428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074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AA7-792A-6634-FB07-E98B4221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44F62-AA82-9BBF-CCEB-86ACD7B6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80EA0-8882-6EBD-CEE8-06C84484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72D2-DDB1-4C85-9A62-5375DBD3E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413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A99E-370E-D5E9-4E4A-B00C2632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2B190-C5F9-EEDD-CE17-CCBEB440C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0BABB-8885-EC1A-8814-098744629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C4CDE-1AB4-0F94-749B-11F203057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884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03BA-B2BD-939F-65FB-13EF6363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DA2BB-494A-D47C-2779-E87000278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2EEDE-1345-F9A5-43FB-E0B4DE19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0BB1-8459-C27D-FF09-B0FEA9110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484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https://azure.microsoft.com/fr-fr/pricing/details/storage/blobs/</a:t>
            </a:r>
          </a:p>
          <a:p>
            <a:endParaRPr lang="fr-FR" sz="1200" i="1" kern="1200" dirty="0">
              <a:solidFill>
                <a:schemeClr val="tx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Tier    | Accès    | Coût stockage (€/Go/mois) | Coût accès (lecture)               | Usage    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Hot     | immédiat | ~0,018 €                  | très faible (~0,004 €/10k)         | accès fréquent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Cool    | immédiat | ~0,01 €                   | plus élevé (~0,01 €/10k)           | accès occasionnel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Archive | lent     | ~0,002 €                  | élevé + réhydratation (~0,02 €/Go) | archivage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3598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4181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678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Deux types : Metric alerts et Log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en debug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B517D-066A-3097-DB88-5DC1A45E9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416E0-000F-8758-6CED-CFD3107D1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DCFBD-E570-54D6-3D25-ACB157059E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A19EF-D372-A19D-C287-4E2819EBD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8054929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Requêtes, exceptions, dépendances,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pour diagnostiquer les lenteurs.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important pour diagnostiquer les performances.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Visualisation globale de l’architecture.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Différent d’Application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Attention à ne pas utiliser l’interpolation de chaîne ($"").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Ensuite, on configure les ressources pour envoyer leurs logs vers ce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Application Insights est centré application, pas multi-ressources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Utilisé avec KQL.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Associé aux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Préférer Blob ou 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805C9-5C9D-798A-F61C-76A36EBB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B4C53-CCAE-6089-22EC-82A0DC7C2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001A5E-9476-4855-2B66-5C255E0FC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AB9C2-F61D-DBF7-4081-8763364BDB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80489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77071-1D2D-E148-2BE8-EBBCB925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2B54C-1BB2-D95D-0BFA-89E7B3D53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086C85-BD1C-2263-1568-0E442ACE9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13E35-FF41-0F02-BEB5-A612E8E75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81737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77691-2C57-6DF5-51ED-9E28F585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D76C5-BCC4-12DF-20EA-E22C5487F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89674F-8CDA-0FE3-010F-2ACDAC2AB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E13E2-0A6A-9376-4D30-C506ACB41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82225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04B4D-503E-E64F-F482-168CBA77B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AB1A16-45AC-308E-AF31-3B0CCE623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E3B3B9-2E61-6CD4-CF64-57805F2FA6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A29EB-BF2C-CF35-EFA2-AB2543BE5F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8753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E595A-6ABF-8727-6794-A9CFD8414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92C93-F6C7-7429-9DB7-01850348D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E42A3-5BAE-7874-F29A-6162E4DB2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D3AFB-86EE-9F33-C490-61D9B11825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095323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6493-FD0E-B501-DA39-85C302FB1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18355-2358-6812-D9C0-976F453B6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3EFB4-B5C1-782A-81C1-D21D948A1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725CC-70F5-0EA8-7AA9-58AF9F2CCF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689144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B0867-14B1-0F1F-26CE-C6C5ED805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88167-F166-A784-B00D-E41288053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107718-F944-1FAA-A9B8-8E99FC69B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AF235-9C89-76FB-9E23-2BBCBA6EB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61446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17AB-168B-5481-D8F3-55371232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B2B6C-DA8A-1A9D-F477-FFC93D9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E2BF7-C29D-018D-1A46-7AD92AACC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391C-8AE1-9F51-F47C-C940FF683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3.xml"/><Relationship Id="rId26" Type="http://schemas.openxmlformats.org/officeDocument/2006/relationships/slide" Target="slide73.xml"/><Relationship Id="rId3" Type="http://schemas.openxmlformats.org/officeDocument/2006/relationships/image" Target="../media/image11.png"/><Relationship Id="rId21" Type="http://schemas.openxmlformats.org/officeDocument/2006/relationships/slide" Target="slide24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5" Type="http://schemas.openxmlformats.org/officeDocument/2006/relationships/slide" Target="slide60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20" Type="http://schemas.openxmlformats.org/officeDocument/2006/relationships/slide" Target="slide15.xml"/><Relationship Id="rId29" Type="http://schemas.openxmlformats.org/officeDocument/2006/relationships/slide" Target="slide1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52.xml"/><Relationship Id="rId32" Type="http://schemas.openxmlformats.org/officeDocument/2006/relationships/slide" Target="slide208.xml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slide" Target="slide45.xml"/><Relationship Id="rId28" Type="http://schemas.openxmlformats.org/officeDocument/2006/relationships/slide" Target="slide122.xml"/><Relationship Id="rId10" Type="http://schemas.openxmlformats.org/officeDocument/2006/relationships/image" Target="../media/image18.png"/><Relationship Id="rId19" Type="http://schemas.openxmlformats.org/officeDocument/2006/relationships/slide" Target="slide6.xml"/><Relationship Id="rId31" Type="http://schemas.openxmlformats.org/officeDocument/2006/relationships/slide" Target="slide177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slide" Target="slide34.xml"/><Relationship Id="rId27" Type="http://schemas.openxmlformats.org/officeDocument/2006/relationships/slide" Target="slide94.xml"/><Relationship Id="rId30" Type="http://schemas.openxmlformats.org/officeDocument/2006/relationships/slide" Target="slide15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8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emf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8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8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8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8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8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8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8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8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8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8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8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8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8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8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8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8.emf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8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8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8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4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4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4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4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4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4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4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74597615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9BD5DDD-8564-4000-A824-269A0A0AC22D}">
                    <psuz:zmPr id="{42A19E90-0172-47B6-A3B9-0D9036D7FC77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0941169-1845-41FC-9D92-4A2D87420A14}">
                    <psuz:zmPr id="{CEBAB7FC-3943-4DF8-AAA9-7D29928BBD58}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6274EC8-C7F8-428F-8013-3FB42E28D0B7}">
                    <psuz:zmPr id="{343A1210-326F-4BE8-B982-78BA33EE4293}" transitionDur="1000">
                      <p166:blipFill xmlns:p166="http://schemas.microsoft.com/office/powerpoint/2016/6/main">
                        <a:blip r:embed="rId1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7ACA08-3417-46CA-84CD-55E1AA27674F}">
                    <psuz:zmPr id="{767FE17E-9B52-4E19-BFB6-CA3483B61783}" transitionDur="100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30916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609422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87928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66434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0916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09422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87928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66434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0916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09422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87928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6" name="Image 16">
                  <a:hlinkClick r:id="rId2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66434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7" name="Image 17">
                  <a:hlinkClick r:id="rId3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916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8" name="Image 18">
                  <a:hlinkClick r:id="rId3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609422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9" name="Image 19">
                  <a:hlinkClick r:id="rId3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87928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  <p:bldP spid="19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34706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09B-4E63-F92C-E3B2-EACE821B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5F17C7A-00D7-642A-61A2-5F9E0D70C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Clés asymétriques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C12A6E-5074-5A02-C4C5-A6BFA689B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82035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4126-62A6-7BDA-9A8B-C5FD78A2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0C483-C56F-F470-902D-51F76ED13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Symétique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130ED9-A880-BF69-435B-E56C1B166E3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64D55D7-306D-4E36-E580-D095BE26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908720"/>
            <a:ext cx="3702434" cy="3168352"/>
          </a:xfrm>
          <a:prstGeom prst="rect">
            <a:avLst/>
          </a:prstGeom>
        </p:spPr>
      </p:pic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220A22D-9FF0-A6CE-048D-8803B6ADA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476904"/>
              </p:ext>
            </p:extLst>
          </p:nvPr>
        </p:nvGraphicFramePr>
        <p:xfrm>
          <a:off x="683568" y="4235152"/>
          <a:ext cx="7886700" cy="22860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67349978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0343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7945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Critère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11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Nombre de clés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47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⚡ Très rapide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🐢 Plus 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4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Sécurité échange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❌ Difficile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✅ 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78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Usage typique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 /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84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Exemples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AES (standard actuel)</a:t>
                      </a:r>
                      <a:br>
                        <a:rPr lang="fr-FR" sz="1600" dirty="0"/>
                      </a:br>
                      <a:r>
                        <a:rPr lang="fr-FR" sz="1600" dirty="0"/>
                        <a:t>DES (obsolète)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RSA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143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64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91F4-930B-1A0E-F553-6AC01209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A4EC-8C2F-A9F6-204A-09CB326D2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Utilisation</a:t>
            </a:r>
            <a:r>
              <a:rPr lang="en-US" dirty="0"/>
              <a:t> des 2 : </a:t>
            </a:r>
            <a:r>
              <a:rPr lang="en-US" dirty="0" err="1"/>
              <a:t>Symétrique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F45C-3C7E-BC14-1A6A-80B7B2C32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9552" y="5070501"/>
            <a:ext cx="8229600" cy="1392340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1800" dirty="0"/>
              <a:t>Exemple : HTTPS (TLS) – </a:t>
            </a:r>
            <a:r>
              <a:rPr lang="fr-FR" sz="1600" i="1" dirty="0"/>
              <a:t>Rappel : HTTPS = HTTP + TLS (Transport Layer Security)</a:t>
            </a:r>
          </a:p>
          <a:p>
            <a:pPr>
              <a:buFontTx/>
              <a:buChar char="-"/>
            </a:pPr>
            <a:r>
              <a:rPr lang="fr-FR" sz="1600" dirty="0"/>
              <a:t>TLS successeur de SSL :</a:t>
            </a:r>
            <a:endParaRPr lang="fr-FR" altLang="fr-FR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2.0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3.0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1.0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1.1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1.2 ✅ (encore utilisé)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1.3 ✅ (standard moderne)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600" dirty="0"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sz="1600" dirty="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315FE2-4C91-EA8A-3BBE-0A45838B290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3AAFC6D-43CD-2055-CD85-1243C4B3C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80728"/>
            <a:ext cx="4824536" cy="291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A9A0773-E311-4F10-563E-F0D9C8222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71492"/>
              </p:ext>
            </p:extLst>
          </p:nvPr>
        </p:nvGraphicFramePr>
        <p:xfrm>
          <a:off x="539552" y="3973781"/>
          <a:ext cx="7886700" cy="1005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652337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038278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Étape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 utilisé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93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22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03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84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D5FE-0D9D-29FE-FB8E-89B61FBA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2FA0-7CC7-8D2D-BA56-FEB75C23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DDC0-7E32-062F-B3EA-3F4F556FF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2400" dirty="0"/>
              <a:t>Clé publique </a:t>
            </a:r>
            <a:r>
              <a:rPr lang="fr-FR" sz="2400" dirty="0">
                <a:sym typeface="Wingdings" panose="05000000000000000000" pitchFamily="2" charset="2"/>
              </a:rPr>
              <a:t> On peut donner à tout le monde</a:t>
            </a:r>
          </a:p>
          <a:p>
            <a:pPr>
              <a:buFontTx/>
              <a:buChar char="-"/>
            </a:pPr>
            <a:r>
              <a:rPr lang="fr-FR" sz="2400" dirty="0">
                <a:sym typeface="Wingdings" panose="05000000000000000000" pitchFamily="2" charset="2"/>
              </a:rPr>
              <a:t>Clé privée  On doit la garder secrète</a:t>
            </a: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r>
              <a:rPr lang="fr-FR" sz="2400" u="sng" dirty="0">
                <a:sym typeface="Wingdings" panose="05000000000000000000" pitchFamily="2" charset="2"/>
              </a:rPr>
              <a:t>Chiffrement :</a:t>
            </a:r>
            <a:r>
              <a:rPr lang="fr-FR" sz="2400" dirty="0">
                <a:sym typeface="Wingdings" panose="05000000000000000000" pitchFamily="2" charset="2"/>
              </a:rPr>
              <a:t> </a:t>
            </a:r>
            <a:r>
              <a:rPr lang="fr-FR" sz="1800" i="1" dirty="0">
                <a:sym typeface="Wingdings" panose="05000000000000000000" pitchFamily="2" charset="2"/>
              </a:rPr>
              <a:t>personne ne peut lire sauf le destinataire</a:t>
            </a:r>
            <a:endParaRPr lang="fr-FR" sz="2400" i="1" dirty="0">
              <a:sym typeface="Wingdings" panose="05000000000000000000" pitchFamily="2" charset="2"/>
            </a:endParaRPr>
          </a:p>
          <a:p>
            <a:pPr lvl="1">
              <a:buFontTx/>
              <a:buChar char="-"/>
            </a:pPr>
            <a:r>
              <a:rPr lang="fr-FR" sz="1800" dirty="0"/>
              <a:t>Tu prends la </a:t>
            </a:r>
            <a:r>
              <a:rPr lang="fr-FR" sz="1800" b="1" dirty="0"/>
              <a:t>clé publique du destinataire</a:t>
            </a:r>
          </a:p>
          <a:p>
            <a:pPr lvl="1">
              <a:buFontTx/>
              <a:buChar char="-"/>
            </a:pPr>
            <a:r>
              <a:rPr lang="fr-FR" sz="1800" dirty="0"/>
              <a:t>Tu chiffres le message avec</a:t>
            </a:r>
          </a:p>
          <a:p>
            <a:pPr lvl="1">
              <a:buFontTx/>
              <a:buChar char="-"/>
            </a:pPr>
            <a:r>
              <a:rPr lang="fr-FR" sz="1800" dirty="0"/>
              <a:t>Seul le destinataire peut déchiffrer avec sa </a:t>
            </a:r>
            <a:r>
              <a:rPr lang="fr-FR" sz="1800" b="1" dirty="0"/>
              <a:t>clé privée</a:t>
            </a:r>
          </a:p>
          <a:p>
            <a:pPr>
              <a:buFontTx/>
              <a:buChar char="-"/>
            </a:pPr>
            <a:r>
              <a:rPr lang="fr-FR" sz="2400" u="sng" dirty="0"/>
              <a:t>Signature :</a:t>
            </a:r>
            <a:r>
              <a:rPr lang="fr-FR" sz="2400" dirty="0"/>
              <a:t> </a:t>
            </a:r>
            <a:r>
              <a:rPr lang="fr-FR" sz="1800" i="1" dirty="0"/>
              <a:t>prouver qui a envoyé + garantir que ça n’a pas été modifié</a:t>
            </a:r>
          </a:p>
          <a:p>
            <a:pPr lvl="1">
              <a:buFontTx/>
              <a:buChar char="-"/>
            </a:pPr>
            <a:r>
              <a:rPr lang="fr-FR" sz="1800" dirty="0"/>
              <a:t>Tu signes avec ta </a:t>
            </a:r>
            <a:r>
              <a:rPr lang="fr-FR" sz="1800" b="1" dirty="0"/>
              <a:t>clé privée</a:t>
            </a:r>
          </a:p>
          <a:p>
            <a:pPr lvl="1">
              <a:buFontTx/>
              <a:buChar char="-"/>
            </a:pPr>
            <a:r>
              <a:rPr lang="fr-FR" sz="1800" dirty="0"/>
              <a:t>Les autres vérifient avec ta </a:t>
            </a:r>
            <a:r>
              <a:rPr lang="fr-FR" sz="1800" b="1" dirty="0"/>
              <a:t>clé publique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F1A5204-3542-9020-2890-0DBC0329C47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B80357E-30B6-D8F0-1E11-2DEFFEE4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28351"/>
              </p:ext>
            </p:extLst>
          </p:nvPr>
        </p:nvGraphicFramePr>
        <p:xfrm>
          <a:off x="457200" y="2060848"/>
          <a:ext cx="7886700" cy="10972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81502378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201563465"/>
                    </a:ext>
                  </a:extLst>
                </a:gridCol>
                <a:gridCol w="3134172">
                  <a:extLst>
                    <a:ext uri="{9D8B030D-6E8A-4147-A177-3AD203B41FA5}">
                      <a16:colId xmlns:a16="http://schemas.microsoft.com/office/drawing/2014/main" val="1829514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Clé utilisée pour faire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 utilisée pour vérifier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614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🔒 Chiffrement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0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✍️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12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3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F2BE-16B4-50F3-0CCB-7ABFAE03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8A81-1336-F0CA-15B6-DB7656E9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r>
              <a:rPr lang="en-US" dirty="0"/>
              <a:t> - Principes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sz="1800" b="1" dirty="0"/>
                  <a:t>🧠 Principe (RSA)</a:t>
                </a:r>
              </a:p>
              <a:p>
                <a:r>
                  <a:rPr lang="fr-FR" sz="1800" dirty="0"/>
                  <a:t>Choisir 2 nombres premiers : </a:t>
                </a:r>
                <a:r>
                  <a:rPr lang="fr-FR" sz="1800" b="1" dirty="0"/>
                  <a:t>p</a:t>
                </a:r>
                <a:r>
                  <a:rPr lang="fr-FR" sz="1800" dirty="0"/>
                  <a:t> et </a:t>
                </a:r>
                <a:r>
                  <a:rPr lang="fr-FR" sz="1800" b="1" dirty="0"/>
                  <a:t>q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Calculer :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FR" sz="1600" dirty="0"/>
              </a:p>
              <a:p>
                <a:r>
                  <a:rPr lang="fr-FR" sz="1800" dirty="0"/>
                  <a:t>Publier </a:t>
                </a:r>
                <a:r>
                  <a:rPr lang="fr-FR" sz="1800" b="1" dirty="0"/>
                  <a:t>n</a:t>
                </a:r>
                <a:r>
                  <a:rPr lang="fr-FR" sz="1800" dirty="0"/>
                  <a:t> (clé publique)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🔥 Idée clé : </a:t>
                </a:r>
                <a:r>
                  <a:rPr lang="fr-FR" sz="1800" dirty="0"/>
                  <a:t>“Créer est facile, inverser est (quasi) impossible.”</a:t>
                </a:r>
                <a:endParaRPr lang="fr-FR" sz="1800" b="1" dirty="0"/>
              </a:p>
              <a:p>
                <a:r>
                  <a:rPr lang="fr-FR" sz="1800" dirty="0"/>
                  <a:t>💡 </a:t>
                </a:r>
                <a:r>
                  <a:rPr lang="fr-FR" sz="1800" b="1" dirty="0"/>
                  <a:t>Multiplier est facile</a:t>
                </a:r>
                <a:br>
                  <a:rPr lang="fr-FR" sz="1800" dirty="0"/>
                </a:br>
                <a:r>
                  <a:rPr lang="fr-FR" sz="1800" dirty="0"/>
                  <a:t>❌ </a:t>
                </a:r>
                <a:r>
                  <a:rPr lang="fr-FR" sz="1800" b="1" dirty="0"/>
                  <a:t>Factoriser est très difficile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b="1" dirty="0"/>
                  <a:t>⚡ Exemple simple</a:t>
                </a:r>
              </a:p>
              <a:p>
                <a:r>
                  <a:rPr lang="fr-FR" sz="1800" dirty="0"/>
                  <a:t>p = 3, q = 11 → n = 33 ✅ </a:t>
                </a:r>
              </a:p>
              <a:p>
                <a:r>
                  <a:rPr lang="fr-FR" sz="1800" dirty="0"/>
                  <a:t>n = 33 → retrouver p et q ❓ (plus difficile)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🚀 Dans la réalité</a:t>
                </a:r>
              </a:p>
              <a:p>
                <a:r>
                  <a:rPr lang="fr-FR" sz="1800" dirty="0"/>
                  <a:t>p et q = </a:t>
                </a:r>
                <a:r>
                  <a:rPr lang="fr-FR" sz="1800" b="1" dirty="0"/>
                  <a:t>très grands nombres premiers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n = </a:t>
                </a:r>
                <a:r>
                  <a:rPr lang="fr-FR" sz="1800" b="1" dirty="0"/>
                  <a:t>plus de 600 chiffres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👉 Factorisation = </a:t>
                </a:r>
                <a:r>
                  <a:rPr lang="fr-FR" sz="1800" b="1" dirty="0"/>
                  <a:t>impraticable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dirty="0"/>
                  <a:t>🔐 La sécurité repose sur un problème mathématique difficile :</a:t>
                </a:r>
                <a:br>
                  <a:rPr lang="fr-FR" sz="1800" dirty="0"/>
                </a:br>
                <a:r>
                  <a:rPr lang="fr-FR" sz="1800" b="1" dirty="0"/>
                  <a:t>retrouver p et q à partir de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  <a:blipFill>
                <a:blip r:embed="rId3"/>
                <a:stretch>
                  <a:fillRect l="-593" t="-459" b="-17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2DDB19-ED4B-986A-2F0B-0CAFBEDAD4EC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83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5D290-4650-8EB3-A178-E2D34F9D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4936-45BA-777E-4DE1-80E511FF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7423C-D257-D44C-D6A9-1E12CD28AB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👉 </a:t>
            </a:r>
            <a:r>
              <a:rPr lang="fr-FR" sz="1800" b="1" dirty="0"/>
              <a:t>Principe</a:t>
            </a:r>
            <a:endParaRPr lang="fr-FR" sz="1800" dirty="0"/>
          </a:p>
          <a:p>
            <a:r>
              <a:rPr lang="fr-FR" sz="1800" dirty="0"/>
              <a:t>🔓 </a:t>
            </a:r>
            <a:r>
              <a:rPr lang="fr-FR" sz="1800" b="1" dirty="0"/>
              <a:t>Clé publique = cadenas ouvert</a:t>
            </a:r>
            <a:r>
              <a:rPr lang="fr-FR" sz="1800" dirty="0"/>
              <a:t> </a:t>
            </a:r>
          </a:p>
          <a:p>
            <a:r>
              <a:rPr lang="fr-FR" sz="1800" dirty="0"/>
              <a:t>🔐 </a:t>
            </a:r>
            <a:r>
              <a:rPr lang="fr-FR" sz="1800" b="1" dirty="0"/>
              <a:t>Clé privée = la seule clé qui ouvre ce cadenas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🎯 Fonctionnement</a:t>
            </a:r>
          </a:p>
          <a:p>
            <a:r>
              <a:rPr lang="fr-FR" sz="1800" dirty="0"/>
              <a:t>Tu distribues des </a:t>
            </a:r>
            <a:r>
              <a:rPr lang="fr-FR" sz="1800" b="1" dirty="0"/>
              <a:t>cadenas ouverts</a:t>
            </a:r>
            <a:r>
              <a:rPr lang="fr-FR" sz="1800" dirty="0"/>
              <a:t> </a:t>
            </a:r>
          </a:p>
          <a:p>
            <a:r>
              <a:rPr lang="fr-FR" sz="1800" dirty="0"/>
              <a:t>N’importe qui peut : </a:t>
            </a:r>
          </a:p>
          <a:p>
            <a:pPr lvl="1"/>
            <a:r>
              <a:rPr lang="fr-FR" sz="1600" dirty="0"/>
              <a:t>🔒 mettre un message dedans et fermer </a:t>
            </a:r>
          </a:p>
          <a:p>
            <a:r>
              <a:rPr lang="fr-FR" sz="2200" dirty="0"/>
              <a:t>👉 </a:t>
            </a:r>
            <a:r>
              <a:rPr lang="fr-FR" sz="1800" dirty="0"/>
              <a:t>MAIS : Seul toi peux ouvrir avec ta </a:t>
            </a:r>
            <a:r>
              <a:rPr lang="fr-FR" sz="1800" b="1" dirty="0"/>
              <a:t>clé privée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💡 Message clé</a:t>
            </a:r>
          </a:p>
          <a:p>
            <a:r>
              <a:rPr lang="fr-FR" sz="1800" dirty="0"/>
              <a:t>🔐 Tout le monde peut envoyer un message sécurisé</a:t>
            </a:r>
            <a:br>
              <a:rPr lang="fr-FR" sz="1800" dirty="0"/>
            </a:br>
            <a:r>
              <a:rPr lang="fr-FR" sz="1800" dirty="0"/>
              <a:t>❌ Mais seul le propriétaire peut le lire</a:t>
            </a:r>
          </a:p>
          <a:p>
            <a:pPr marL="0" indent="0">
              <a:buNone/>
            </a:pPr>
            <a:endParaRPr lang="fr-FR" sz="1800" dirty="0"/>
          </a:p>
          <a:p>
            <a:pPr marL="0" indent="0">
              <a:buNone/>
            </a:pPr>
            <a:r>
              <a:rPr lang="fr-FR" sz="1800" b="1" dirty="0"/>
              <a:t>🎤 Résumé:</a:t>
            </a:r>
          </a:p>
          <a:p>
            <a:r>
              <a:rPr lang="fr-FR" sz="1800" dirty="0"/>
              <a:t>“On partage le cadenas, jamais la clé.”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F05D1-89E3-5959-40B9-30300B686ADE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979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733E-4363-F6D3-4FC9-E325931A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C44D-FE54-B26C-889D-65062CFA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8ABEF-076D-B60A-14EA-B74DC45456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400" dirty="0"/>
              <a:t>👉 </a:t>
            </a:r>
            <a:r>
              <a:rPr lang="fr-FR" sz="1400" b="1" dirty="0"/>
              <a:t>Signer un document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🔐 </a:t>
            </a:r>
            <a:r>
              <a:rPr lang="fr-FR" sz="1400" b="1" dirty="0"/>
              <a:t>la clé privée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prend le document </a:t>
            </a:r>
          </a:p>
          <a:p>
            <a:r>
              <a:rPr lang="fr-FR" sz="1400" dirty="0"/>
              <a:t>🧮 On calcule une </a:t>
            </a:r>
            <a:r>
              <a:rPr lang="fr-FR" sz="1400" b="1" dirty="0"/>
              <a:t>empreinte (hash/</a:t>
            </a:r>
            <a:r>
              <a:rPr lang="fr-FR" sz="1400" b="1" dirty="0" err="1"/>
              <a:t>crc</a:t>
            </a:r>
            <a:r>
              <a:rPr lang="fr-FR" sz="1400" b="1" dirty="0"/>
              <a:t>)</a:t>
            </a:r>
            <a:r>
              <a:rPr lang="fr-FR" sz="1400" dirty="0"/>
              <a:t> - </a:t>
            </a:r>
            <a:r>
              <a:rPr lang="fr-FR" sz="1200" i="1" dirty="0"/>
              <a:t>“On ne signe pas le document, on signe son empreinte.”</a:t>
            </a:r>
          </a:p>
          <a:p>
            <a:r>
              <a:rPr lang="fr-FR" sz="1400" dirty="0"/>
              <a:t>🔐 On chiffre cette empreinte avec la </a:t>
            </a:r>
            <a:r>
              <a:rPr lang="fr-FR" sz="1400" b="1" dirty="0"/>
              <a:t>clé privée</a:t>
            </a:r>
            <a:r>
              <a:rPr lang="fr-FR" sz="1400" dirty="0"/>
              <a:t> </a:t>
            </a:r>
          </a:p>
          <a:p>
            <a:r>
              <a:rPr lang="fr-FR" sz="1400" dirty="0"/>
              <a:t>✍️ Résultat : </a:t>
            </a:r>
            <a:r>
              <a:rPr lang="fr-FR" sz="1400" b="1" dirty="0"/>
              <a:t>la signature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🔍 Vérifier la signature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🔓 </a:t>
            </a:r>
            <a:r>
              <a:rPr lang="fr-FR" sz="1400" b="1" dirty="0"/>
              <a:t>la clé publique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reprend le document </a:t>
            </a:r>
          </a:p>
          <a:p>
            <a:r>
              <a:rPr lang="fr-FR" sz="1400" dirty="0"/>
              <a:t>🧮 On recalcule son hash/</a:t>
            </a:r>
            <a:r>
              <a:rPr lang="fr-FR" sz="1400" dirty="0" err="1"/>
              <a:t>crc</a:t>
            </a:r>
            <a:endParaRPr lang="fr-FR" sz="1400" dirty="0"/>
          </a:p>
          <a:p>
            <a:r>
              <a:rPr lang="fr-FR" sz="1400" dirty="0"/>
              <a:t>🔓 On déchiffre la signature avec la clé publique </a:t>
            </a:r>
          </a:p>
          <a:p>
            <a:r>
              <a:rPr lang="fr-FR" sz="1400" dirty="0"/>
              <a:t>🔄 On compare les deux </a:t>
            </a:r>
            <a:r>
              <a:rPr lang="fr-FR" sz="1400" dirty="0" err="1"/>
              <a:t>hashes</a:t>
            </a:r>
            <a:r>
              <a:rPr lang="fr-FR" sz="1400" dirty="0"/>
              <a:t> </a:t>
            </a:r>
          </a:p>
          <a:p>
            <a:r>
              <a:rPr lang="fr-FR" sz="1400" b="1" dirty="0"/>
              <a:t>✅ Résultat</a:t>
            </a:r>
          </a:p>
          <a:p>
            <a:pPr lvl="1"/>
            <a:r>
              <a:rPr lang="fr-FR" sz="1000" dirty="0"/>
              <a:t>✔️ Hash identique → signature valide </a:t>
            </a:r>
          </a:p>
          <a:p>
            <a:pPr lvl="1"/>
            <a:r>
              <a:rPr lang="fr-FR" sz="1000" dirty="0"/>
              <a:t>❌ Différent → document modifié ou faux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🧠 A noter :</a:t>
            </a:r>
          </a:p>
          <a:p>
            <a:r>
              <a:rPr lang="fr-FR" sz="1400" dirty="0"/>
              <a:t>seule la </a:t>
            </a:r>
            <a:r>
              <a:rPr lang="fr-FR" sz="1400" b="1" dirty="0"/>
              <a:t>clé privée</a:t>
            </a:r>
            <a:r>
              <a:rPr lang="fr-FR" sz="1400" dirty="0"/>
              <a:t> peut créer la signature </a:t>
            </a:r>
          </a:p>
          <a:p>
            <a:r>
              <a:rPr lang="fr-FR" sz="1400" dirty="0"/>
              <a:t>tout le monde peut vérifier avec la </a:t>
            </a:r>
            <a:r>
              <a:rPr lang="fr-FR" sz="1400" b="1" dirty="0"/>
              <a:t>clé publique</a:t>
            </a:r>
          </a:p>
          <a:p>
            <a:r>
              <a:rPr lang="fr-FR" sz="1400" dirty="0"/>
              <a:t>la signature ne porte pas sur le document entier, mais sur son </a:t>
            </a:r>
            <a:r>
              <a:rPr lang="fr-FR" sz="1400" b="1" dirty="0"/>
              <a:t>empreinte unique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0AA3BB2-B4E2-98D5-917E-3F338BB5CA6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C8D95A-3155-6F88-B179-D95589600835}"/>
              </a:ext>
            </a:extLst>
          </p:cNvPr>
          <p:cNvSpPr txBox="1"/>
          <p:nvPr/>
        </p:nvSpPr>
        <p:spPr>
          <a:xfrm>
            <a:off x="4139952" y="4653136"/>
            <a:ext cx="439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dirty="0"/>
              <a:t>🔥 </a:t>
            </a:r>
            <a:r>
              <a:rPr lang="fr-FR" sz="1600" b="1" dirty="0"/>
              <a:t>Conséquence : </a:t>
            </a:r>
            <a:r>
              <a:rPr lang="fr-FR" sz="1600" dirty="0"/>
              <a:t>Si on modifie 1 caractère 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hash change complètement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signature devient invalide</a:t>
            </a:r>
          </a:p>
        </p:txBody>
      </p:sp>
    </p:spTree>
    <p:extLst>
      <p:ext uri="{BB962C8B-B14F-4D97-AF65-F5344CB8AC3E}">
        <p14:creationId xmlns:p14="http://schemas.microsoft.com/office/powerpoint/2010/main" val="119634314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A2199-F42F-EAF8-7583-5F7CE2E6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9BD607E-F4F1-3C51-8E03-200279EB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129</a:t>
            </a:fld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497D1-8BD3-0ACE-174B-035B0FD05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Chiffrement symétrique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Chiffrement asymétrique :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A0CCCE-F75D-CB36-D8DB-3F87B58DBDE0}"/>
              </a:ext>
            </a:extLst>
          </p:cNvPr>
          <p:cNvSpPr txBox="1"/>
          <p:nvPr/>
        </p:nvSpPr>
        <p:spPr>
          <a:xfrm>
            <a:off x="251520" y="6309320"/>
            <a:ext cx="8803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https://fr.wikipedia.org/wiki/Certificat_%C3%A9lectronique</a:t>
            </a:r>
          </a:p>
        </p:txBody>
      </p:sp>
      <p:pic>
        <p:nvPicPr>
          <p:cNvPr id="7170" name="Picture 2" descr="Clés symétriques">
            <a:extLst>
              <a:ext uri="{FF2B5EF4-FFF2-40B4-BE49-F238E27FC236}">
                <a16:creationId xmlns:a16="http://schemas.microsoft.com/office/drawing/2014/main" id="{5228E90B-10F0-3CC4-7968-624D1A18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26" y="1642647"/>
            <a:ext cx="4392488" cy="10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ssymétrie signature vs chiffrement.">
            <a:extLst>
              <a:ext uri="{FF2B5EF4-FFF2-40B4-BE49-F238E27FC236}">
                <a16:creationId xmlns:a16="http://schemas.microsoft.com/office/drawing/2014/main" id="{4681797A-4D97-2F0D-D1E0-3AB6DEFC4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097987"/>
            <a:ext cx="4608512" cy="23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C9C7AAC-275E-6108-8310-0D2FDBB32FD0}"/>
              </a:ext>
            </a:extLst>
          </p:cNvPr>
          <p:cNvSpPr txBox="1"/>
          <p:nvPr/>
        </p:nvSpPr>
        <p:spPr>
          <a:xfrm>
            <a:off x="5508104" y="2760591"/>
            <a:ext cx="35471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/>
              <a:t>Clé publique : </a:t>
            </a:r>
            <a:r>
              <a:rPr lang="fr-FR" sz="2400" i="1" dirty="0"/>
              <a:t>Comment être sûr qu’il s’agit de la clé de Anne ?</a:t>
            </a:r>
          </a:p>
          <a:p>
            <a:endParaRPr lang="fr-FR" sz="2400" i="1" dirty="0"/>
          </a:p>
          <a:p>
            <a:r>
              <a:rPr lang="fr-FR" sz="2400" dirty="0"/>
              <a:t>=&gt; Solution : Certificats</a:t>
            </a:r>
          </a:p>
        </p:txBody>
      </p:sp>
    </p:spTree>
    <p:extLst>
      <p:ext uri="{BB962C8B-B14F-4D97-AF65-F5344CB8AC3E}">
        <p14:creationId xmlns:p14="http://schemas.microsoft.com/office/powerpoint/2010/main" val="130202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ED40-785B-7FD5-B72C-6F6CFA36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2286-7D8C-CE29-408B-3C129828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63CD6-7E05-E929-83E6-263BBEE96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/>
              <a:t>🧾 Un certificat est un document signé par une autorité de certification (CA)</a:t>
            </a:r>
          </a:p>
          <a:p>
            <a:r>
              <a:rPr lang="fr-FR" sz="1600" dirty="0"/>
              <a:t>👉 Il contient :</a:t>
            </a:r>
          </a:p>
          <a:p>
            <a:pPr lvl="1"/>
            <a:r>
              <a:rPr lang="fr-FR" sz="1200" dirty="0"/>
              <a:t>🔓 une </a:t>
            </a:r>
            <a:r>
              <a:rPr lang="fr-FR" sz="1200" b="1" dirty="0"/>
              <a:t>clé publique</a:t>
            </a:r>
            <a:r>
              <a:rPr lang="fr-FR" sz="1200" dirty="0"/>
              <a:t> (</a:t>
            </a:r>
            <a:r>
              <a:rPr lang="fr-FR" sz="1200" i="1" dirty="0"/>
              <a:t>du site</a:t>
            </a:r>
            <a:r>
              <a:rPr lang="fr-FR" sz="1200" dirty="0"/>
              <a:t>)</a:t>
            </a:r>
          </a:p>
          <a:p>
            <a:pPr lvl="1"/>
            <a:r>
              <a:rPr lang="fr-FR" sz="1200" dirty="0"/>
              <a:t>🌐 une </a:t>
            </a:r>
            <a:r>
              <a:rPr lang="fr-FR" sz="1200" b="1" dirty="0"/>
              <a:t>identité</a:t>
            </a:r>
            <a:r>
              <a:rPr lang="fr-FR" sz="1200" dirty="0"/>
              <a:t> (ex : </a:t>
            </a:r>
            <a:r>
              <a:rPr lang="fr-FR" sz="1200" i="1" dirty="0"/>
              <a:t>www.monsite.com</a:t>
            </a:r>
            <a:r>
              <a:rPr lang="fr-FR" sz="1200" dirty="0"/>
              <a:t>) </a:t>
            </a:r>
          </a:p>
          <a:p>
            <a:pPr lvl="1"/>
            <a:r>
              <a:rPr lang="fr-FR" sz="1200" dirty="0"/>
              <a:t>📅 une </a:t>
            </a:r>
            <a:r>
              <a:rPr lang="fr-FR" sz="1200" b="1" dirty="0"/>
              <a:t>date de validité</a:t>
            </a:r>
            <a:r>
              <a:rPr lang="fr-FR" sz="1200" dirty="0"/>
              <a:t> </a:t>
            </a:r>
          </a:p>
          <a:p>
            <a:pPr lvl="1"/>
            <a:r>
              <a:rPr lang="fr-FR" sz="1200" dirty="0"/>
              <a:t>🏛️ le nom de l’émetteur</a:t>
            </a:r>
          </a:p>
          <a:p>
            <a:pPr lvl="1"/>
            <a:r>
              <a:rPr lang="fr-FR" sz="1200" dirty="0"/>
              <a:t>🏢 des informations (organisation…) </a:t>
            </a:r>
          </a:p>
          <a:p>
            <a:r>
              <a:rPr lang="fr-FR" sz="1600" b="1" dirty="0"/>
              <a:t>✍️</a:t>
            </a:r>
            <a:r>
              <a:rPr lang="fr-FR" sz="2000" b="1" dirty="0"/>
              <a:t> </a:t>
            </a:r>
            <a:r>
              <a:rPr lang="fr-FR" sz="1600" dirty="0"/>
              <a:t>Il est signé par une autorité de certification (CA : </a:t>
            </a:r>
            <a:r>
              <a:rPr lang="fr-FR" sz="1600" dirty="0" err="1"/>
              <a:t>Certificate</a:t>
            </a:r>
            <a:r>
              <a:rPr lang="fr-FR" sz="1600" dirty="0"/>
              <a:t> </a:t>
            </a:r>
            <a:r>
              <a:rPr lang="fr-FR" sz="1600" dirty="0" err="1"/>
              <a:t>Authority</a:t>
            </a:r>
            <a:r>
              <a:rPr lang="fr-FR" sz="1600" dirty="0"/>
              <a:t>)</a:t>
            </a:r>
          </a:p>
          <a:p>
            <a:pPr lvl="1"/>
            <a:r>
              <a:rPr lang="fr-FR" sz="1200" dirty="0"/>
              <a:t>🔍 vérifie l’identité du site </a:t>
            </a:r>
          </a:p>
          <a:p>
            <a:pPr lvl="1"/>
            <a:r>
              <a:rPr lang="fr-FR" sz="1200" dirty="0"/>
              <a:t>🔐 signe le certificat avec la </a:t>
            </a:r>
            <a:r>
              <a:rPr lang="fr-FR" sz="1200" b="1" dirty="0"/>
              <a:t>clé privée du CA</a:t>
            </a:r>
            <a:endParaRPr lang="fr-FR" sz="1200" dirty="0"/>
          </a:p>
          <a:p>
            <a:pPr marL="0" indent="0">
              <a:buNone/>
            </a:pPr>
            <a:r>
              <a:rPr lang="fr-FR" sz="1600" b="1" dirty="0"/>
              <a:t>🔍 Le navigateur vérifie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🔓 possède la </a:t>
            </a:r>
            <a:r>
              <a:rPr lang="fr-FR" sz="1600" b="1" dirty="0"/>
              <a:t>clé publique de la CA</a:t>
            </a:r>
            <a:r>
              <a:rPr lang="fr-FR" sz="1600" dirty="0"/>
              <a:t> (déjà installée)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📜 reçoit le certificat du site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✍️ vérifie la signature </a:t>
            </a:r>
          </a:p>
          <a:p>
            <a:pPr marL="0" indent="0">
              <a:buNone/>
            </a:pPr>
            <a:r>
              <a:rPr lang="fr-FR" sz="1400" b="1" dirty="0"/>
              <a:t>      ✅ Résultat</a:t>
            </a:r>
          </a:p>
          <a:p>
            <a:pPr lvl="1"/>
            <a:r>
              <a:rPr lang="fr-FR" sz="1200" dirty="0"/>
              <a:t>✔️ Signature valide → confiance </a:t>
            </a:r>
          </a:p>
          <a:p>
            <a:pPr lvl="1"/>
            <a:r>
              <a:rPr lang="fr-FR" sz="1200" dirty="0"/>
              <a:t>❌ Signature invalide → alerte sécurité </a:t>
            </a:r>
          </a:p>
          <a:p>
            <a:pPr marL="0" indent="0">
              <a:buNone/>
            </a:pPr>
            <a:r>
              <a:rPr lang="fr-FR" sz="1600" b="1" dirty="0"/>
              <a:t>🎤 A noter </a:t>
            </a:r>
          </a:p>
          <a:p>
            <a:r>
              <a:rPr lang="fr-FR" sz="1600" dirty="0"/>
              <a:t>📜 Un certificat = </a:t>
            </a:r>
            <a:r>
              <a:rPr lang="fr-FR" sz="1600" b="1" dirty="0"/>
              <a:t>clé publique + identité + signature vérifiable</a:t>
            </a:r>
            <a:endParaRPr lang="fr-FR" sz="1600" dirty="0"/>
          </a:p>
          <a:p>
            <a:r>
              <a:rPr lang="fr-FR" sz="1600" dirty="0"/>
              <a:t>“</a:t>
            </a:r>
            <a:r>
              <a:rPr lang="fr-FR" sz="1600" i="1" dirty="0"/>
              <a:t>On ne fait pas confiance au site, on fait confiance à celui qui l’a signé.</a:t>
            </a:r>
            <a:r>
              <a:rPr lang="fr-FR" sz="1600" dirty="0"/>
              <a:t>”</a:t>
            </a:r>
          </a:p>
          <a:p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890727-7D93-9392-4C1A-A23ECA97B9F1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5270138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AA1D3-AAD4-6115-C965-EF19BC70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4BDC-5B5F-CC0C-FA34-21562C27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 et </a:t>
            </a:r>
            <a:r>
              <a:rPr lang="en-US" dirty="0" err="1"/>
              <a:t>clés</a:t>
            </a:r>
            <a:endParaRPr lang="en-US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1DB83C6-B116-CA4F-E6DB-25528B2A3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082439"/>
              </p:ext>
            </p:extLst>
          </p:nvPr>
        </p:nvGraphicFramePr>
        <p:xfrm>
          <a:off x="368077" y="1052736"/>
          <a:ext cx="8407846" cy="1950720"/>
        </p:xfrm>
        <a:graphic>
          <a:graphicData uri="http://schemas.openxmlformats.org/drawingml/2006/table">
            <a:tbl>
              <a:tblPr/>
              <a:tblGrid>
                <a:gridCol w="1056508">
                  <a:extLst>
                    <a:ext uri="{9D8B030D-6E8A-4147-A177-3AD203B41FA5}">
                      <a16:colId xmlns:a16="http://schemas.microsoft.com/office/drawing/2014/main" val="1986867329"/>
                    </a:ext>
                  </a:extLst>
                </a:gridCol>
                <a:gridCol w="2149454">
                  <a:extLst>
                    <a:ext uri="{9D8B030D-6E8A-4147-A177-3AD203B41FA5}">
                      <a16:colId xmlns:a16="http://schemas.microsoft.com/office/drawing/2014/main" val="324412705"/>
                    </a:ext>
                  </a:extLst>
                </a:gridCol>
                <a:gridCol w="2753612">
                  <a:extLst>
                    <a:ext uri="{9D8B030D-6E8A-4147-A177-3AD203B41FA5}">
                      <a16:colId xmlns:a16="http://schemas.microsoft.com/office/drawing/2014/main" val="69154444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9558676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Sert à quoi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Utilisée quand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433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🔐 Clé privée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✍️ Signe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Création du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236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🔍 Vérifie la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Navigateur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717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🔐 Clé privée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🔒 Déchiffre / prouve son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Connexion TLS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341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📜 Incluse dans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Transmise au client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0858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A6B7E1DC-D36D-F1F9-9F51-BE5E246CF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7210364" cy="34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379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7C87-7E83-49C3-621C-4C87815C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B567-A12C-C012-F14D-3FB30BB4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CD08-FB56-51BE-02E9-87F0CC4D0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35490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Le tiers de confiance est celui qui va permettre d’authentifier l’identité des correspondants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RA : Vérifie l’identité du demandeur</a:t>
            </a:r>
          </a:p>
          <a:p>
            <a:pPr marL="0" indent="0">
              <a:buNone/>
            </a:pPr>
            <a:r>
              <a:rPr lang="fr-FR" sz="1600" dirty="0"/>
              <a:t>CA : Signe</a:t>
            </a:r>
          </a:p>
          <a:p>
            <a:pPr marL="0" indent="0">
              <a:buNone/>
            </a:pPr>
            <a:r>
              <a:rPr lang="fr-FR" sz="1600" dirty="0"/>
              <a:t>VA : Vérifie que c’est toujours valide (certificat non révoqué)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 de CA : </a:t>
            </a:r>
            <a:r>
              <a:rPr lang="fr-FR" sz="1600" dirty="0" err="1"/>
              <a:t>DigiCert</a:t>
            </a:r>
            <a:r>
              <a:rPr lang="fr-FR" sz="1600" dirty="0"/>
              <a:t> (ex </a:t>
            </a:r>
            <a:r>
              <a:rPr lang="fr-FR" sz="1600" dirty="0" err="1"/>
              <a:t>VeriSign</a:t>
            </a:r>
            <a:r>
              <a:rPr lang="fr-FR" sz="1600" dirty="0"/>
              <a:t>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Chaine de confiance 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Certificat du site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intermédiaire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racine (root)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2D1596-D469-028B-8CBF-7CA300CC3E2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B10692F2-ED96-FBC5-CCED-97B37E792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726075"/>
            <a:ext cx="4932040" cy="3488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AB06DA-E1B5-BD77-561F-DE1D2AC736A5}"/>
              </a:ext>
            </a:extLst>
          </p:cNvPr>
          <p:cNvSpPr txBox="1"/>
          <p:nvPr/>
        </p:nvSpPr>
        <p:spPr>
          <a:xfrm>
            <a:off x="179512" y="6381328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https://fr.wikipedia.org/wiki/Infrastructure_%C3%A0_cl%C3%A9s_publiques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369BB6-977E-FC64-58C2-4407C5D5ED55}"/>
              </a:ext>
            </a:extLst>
          </p:cNvPr>
          <p:cNvSpPr txBox="1"/>
          <p:nvPr/>
        </p:nvSpPr>
        <p:spPr>
          <a:xfrm>
            <a:off x="4572000" y="4464113"/>
            <a:ext cx="4680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Diagramme de principe d'une autorité de certification, exemple d'infrastructure à clés publiques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CA : autorité de certification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VA : autorité de validation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 : autorité d'enregistrement.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98303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E0FF-1964-43D9-CA40-1C604D0D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F4D8FE9-86AD-309E-6F05-7905B5A6A0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10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DC05D-F7F2-6DDE-BE47-969A47D411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identities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687294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dans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stocké dans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identité Azure AD automatiquement gérée pour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certificat SSL pour sécuriser les échanges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compte utilisateur classique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91658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75" y="3518057"/>
            <a:ext cx="786791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Une Managed Identity est une identité Azure AD liée à une ressource et gérée automatiquement par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classique SQL Server avec AD</a:t>
            </a:r>
            <a:br>
              <a:rPr lang="fr-FR" dirty="0"/>
            </a:b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Integrated</a:t>
            </a:r>
            <a:br>
              <a:rPr lang="fr-FR" sz="1600" dirty="0"/>
            </a:br>
            <a:r>
              <a:rPr lang="fr-FR" sz="1600" dirty="0"/>
              <a:t>👉 C’est </a:t>
            </a:r>
            <a:r>
              <a:rPr lang="fr-FR" sz="1600" b="1" dirty="0"/>
              <a:t>l’AD qui authentifie votre identité Windows</a:t>
            </a:r>
            <a:endParaRPr lang="fr-FR" sz="16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</a:t>
            </a:r>
            <a:r>
              <a:rPr lang="fr-FR" dirty="0" err="1"/>
              <a:t>Managed</a:t>
            </a:r>
            <a:r>
              <a:rPr lang="fr-FR" dirty="0"/>
              <a:t> Identity</a:t>
            </a:r>
          </a:p>
          <a:p>
            <a:pPr>
              <a:defRPr sz="1600"/>
            </a:pP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Default</a:t>
            </a:r>
            <a:br>
              <a:rPr lang="fr-FR" sz="1600" dirty="0"/>
            </a:br>
            <a:r>
              <a:rPr lang="fr-FR" sz="1600" dirty="0"/>
              <a:t>👉 C’est Azure qui : </a:t>
            </a:r>
          </a:p>
          <a:p>
            <a:r>
              <a:rPr lang="fr-FR" sz="1600" dirty="0"/>
              <a:t>- identifie la ressource </a:t>
            </a:r>
          </a:p>
          <a:p>
            <a:r>
              <a:rPr lang="fr-FR" sz="1600" dirty="0"/>
              <a:t>- demande un </a:t>
            </a:r>
            <a:r>
              <a:rPr lang="fr-FR" sz="1600" dirty="0" err="1"/>
              <a:t>token</a:t>
            </a:r>
            <a:r>
              <a:rPr lang="fr-FR" sz="1600" dirty="0"/>
              <a:t> à Microsoft Entra ID </a:t>
            </a:r>
          </a:p>
          <a:p>
            <a:r>
              <a:rPr lang="fr-FR" sz="1600" dirty="0"/>
              <a:t>- envoie ce </a:t>
            </a:r>
            <a:r>
              <a:rPr lang="fr-FR" sz="1600" dirty="0" err="1"/>
              <a:t>token</a:t>
            </a:r>
            <a:r>
              <a:rPr lang="fr-FR" sz="1600" dirty="0"/>
              <a:t> à SQL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815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5B0EE99-7EDD-AA37-C026-15CA3726F1C0}"/>
              </a:ext>
            </a:extLst>
          </p:cNvPr>
          <p:cNvSpPr txBox="1"/>
          <p:nvPr/>
        </p:nvSpPr>
        <p:spPr>
          <a:xfrm>
            <a:off x="5724771" y="5164661"/>
            <a:ext cx="3419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👉 Pas de mot de passe</a:t>
            </a:r>
            <a:br>
              <a:rPr lang="fr-FR" sz="1600" dirty="0"/>
            </a:br>
            <a:r>
              <a:rPr lang="fr-FR" sz="1600" dirty="0"/>
              <a:t>➡️ SQL Server fait confiance à l’AD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7BC9A426-2966-B617-15FE-26F650721B6E}"/>
              </a:ext>
            </a:extLst>
          </p:cNvPr>
          <p:cNvSpPr/>
          <p:nvPr/>
        </p:nvSpPr>
        <p:spPr>
          <a:xfrm>
            <a:off x="5292080" y="4149080"/>
            <a:ext cx="504056" cy="26621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l’objectif principal d’utiliser une Managed Identity dans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les coûts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le </a:t>
            </a:r>
            <a:r>
              <a:rPr lang="fr-FR" sz="2000" dirty="0" err="1"/>
              <a:t>scaling</a:t>
            </a:r>
            <a:r>
              <a:rPr lang="fr-FR" sz="2000" dirty="0"/>
              <a:t>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Éviter de stocker des identifiants dans le code ou la configuration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remplace les credentials stockés en clair.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9252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une Managed Identity System Assigned et User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partagée, User Assigned est unique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liée à une ressource, User Assigned est réutilisable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User Assigned est automatique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014EB5E-7AE8-EBFD-F8F2-0271DA4E0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067382"/>
              </p:ext>
            </p:extLst>
          </p:nvPr>
        </p:nvGraphicFramePr>
        <p:xfrm>
          <a:off x="452389" y="4869160"/>
          <a:ext cx="8431481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088682">
                  <a:extLst>
                    <a:ext uri="{9D8B030D-6E8A-4147-A177-3AD203B41FA5}">
                      <a16:colId xmlns:a16="http://schemas.microsoft.com/office/drawing/2014/main" val="214232161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64264040"/>
                    </a:ext>
                  </a:extLst>
                </a:gridCol>
                <a:gridCol w="3750511">
                  <a:extLst>
                    <a:ext uri="{9D8B030D-6E8A-4147-A177-3AD203B41FA5}">
                      <a16:colId xmlns:a16="http://schemas.microsoft.com/office/drawing/2014/main" val="2491635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Visible dans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159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System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attachée à une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La ressource / 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1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User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peut être partagée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 err="1"/>
                        <a:t>Identities</a:t>
                      </a:r>
                      <a:endParaRPr lang="fr-F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152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vous supprimez une ressource avec une Managed Identity System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supprimée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conservée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devient User Assigned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désactivée mais conservée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1195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System Assigned est supprimée avec la ressource.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à Azure SQL échoue-t-elle avant d’avoir configuré les rôles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base n’existe pas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firewall bloque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Managed Identity n’a pas de droits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serveur est arrêté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273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Sans rôle SQL, la Managed Identity ne peut pas accéder à la base.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commande SQL permet d’autoriser une Managed Identity à accéder à une base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GRANT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ADD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USER FROM EXTERNAL PROVIDER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056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346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La commande CREATE USER FROM EXTERNAL PROVIDER permet d’ajouter une identité Azure AD.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SQL est nécessaire pour lire et écrire des données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db_securityadmin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et </a:t>
            </a:r>
            <a:r>
              <a:rPr lang="fr-FR" sz="2000" dirty="0" err="1"/>
              <a:t>db_datawriter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2930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db_datareader permet la lecture et db_datawriter l’écriture.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641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le paramètre </a:t>
            </a:r>
            <a:r>
              <a:rPr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Authentication=Active Directory Default </a:t>
            </a:r>
            <a:r>
              <a:rPr sz="2000" dirty="0"/>
              <a:t>dans une connection string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un mot de passe stocké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la Managed Identity ou DefaultAzureCredential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Désactive l’authentification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Force l’authentification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480723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0559" y="3545152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permet d’utiliser Azure AD via DefaultAzureCredential.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20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C70EE86-CAD7-1CAF-2B59-D64FCAA9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209632"/>
              </p:ext>
            </p:extLst>
          </p:nvPr>
        </p:nvGraphicFramePr>
        <p:xfrm>
          <a:off x="179512" y="4037306"/>
          <a:ext cx="8641407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469">
                  <a:extLst>
                    <a:ext uri="{9D8B030D-6E8A-4147-A177-3AD203B41FA5}">
                      <a16:colId xmlns:a16="http://schemas.microsoft.com/office/drawing/2014/main" val="960351827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650378711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375118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Mécanismes testés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Identité utilisée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748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600"/>
                        <a:t>🖥️ Local (Visual Studio / dev)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Session Visual Studio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 err="1"/>
                        <a:t>az</a:t>
                      </a:r>
                      <a:r>
                        <a:rPr lang="fr-FR" sz="1600" dirty="0"/>
                        <a:t> login (Azure CLI)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Compte Windows (si applicable)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Votre compte Azure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développeur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9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☁️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Identité de la ressource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applicative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43054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de Azure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des bases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applications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secrets de manière sécurisée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81768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Vault sert à stocker secrets, clés et certificats.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ne stocke-t-on pas de mot de passe SQL dans Key Vault dans le 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Key Vault est payant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on utilise Managed Identity à la place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SQL n’accepte pas les mots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Azure interdit cela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36510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Managed Identity remplace totalement le besoin de mot de passe.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droit faut-il attribuer à une Web App pour accéder à Key Vault (RBAC)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Contributor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 Secrets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Owner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Key Vault Secrets User permet de lire les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la Web App n’a pas accès au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ignore le secret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plante avec une erreur d’accès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utilise une valeur par défaut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redémarre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erreur d’accès (403) est générée.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.NET permet d’utiliser facilement Managed Identity en local et en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SqlConnection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AzureCredentialManager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DefaultAzureCredential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IdentityClient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75623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DefaultAzureCredential s’adapte automatiquement à l’environnement.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fonctionne en local mais pas sur Azure avant configuration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code est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n’a pas de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identités et droits sont différents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port est bloqué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Local utilise votre compte, Azure utilise la Managed Identity.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supprimer les connection strings avec mot de passe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la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Faciliter le debug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3132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Supprimer les secrets réduit fortement les risques de fuite.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d’erreur indique un problème de permissions avec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404 Not Found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403 Forbidden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500 Internal Server Error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200 OK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403 indique un problème d’autorisation.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Peut-on utiliser Managed Identity en local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Visual Studio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uniquement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Non, mais </a:t>
            </a:r>
            <a:r>
              <a:rPr lang="fr-FR" sz="2000" dirty="0" err="1"/>
              <a:t>DefaultAzureCredential</a:t>
            </a:r>
            <a:r>
              <a:rPr lang="fr-FR" sz="2000" dirty="0"/>
              <a:t> permet une authentification équivalente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936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Au sens strict, il n’est pas possible d’utiliser une </a:t>
            </a:r>
            <a:r>
              <a:rPr lang="fr-FR" dirty="0" err="1"/>
              <a:t>Managed</a:t>
            </a:r>
            <a:r>
              <a:rPr lang="fr-FR" dirty="0"/>
              <a:t> Identity en local.</a:t>
            </a:r>
          </a:p>
          <a:p>
            <a:pPr>
              <a:defRPr sz="1600"/>
            </a:pPr>
            <a:r>
              <a:rPr lang="fr-FR" dirty="0"/>
              <a:t>Mais vous pouvez obtenir le même résultat fonctionnel avec </a:t>
            </a:r>
            <a:r>
              <a:rPr lang="fr-FR" dirty="0" err="1"/>
              <a:t>DefaultAzureCredential</a:t>
            </a:r>
            <a:r>
              <a:rPr dirty="0"/>
              <a:t>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fournit les tokens pour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EntraID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658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600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 err="1"/>
              <a:t>EntraID</a:t>
            </a:r>
            <a:r>
              <a:rPr lang="fr-FR" dirty="0"/>
              <a:t> (nouveau nom de </a:t>
            </a:r>
            <a:r>
              <a:rPr dirty="0"/>
              <a:t>Azure AD</a:t>
            </a:r>
            <a:r>
              <a:rPr lang="fr-FR" dirty="0"/>
              <a:t>)</a:t>
            </a:r>
            <a:r>
              <a:rPr dirty="0"/>
              <a:t> émet les tokens d’authentification.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96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principal avantage de Key Vault + Managed Identity combinés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simple à coder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Zéro secret dans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On élimine totalement les secrets dans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6198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quel cas utiliseriez-vous encore un secret dans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Jamais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des accès externes non compatibles Managed 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Azure SQL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remplacer les logs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Certains services externes nécessitent encore des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318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86A25-1117-5417-3CB2-177FEC84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0E91AC1-1251-E07E-A7DF-260A042F78C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1F6D6E-E18D-EB36-115A-D4DD2F6251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blob </a:t>
            </a:r>
            <a:r>
              <a:rPr lang="fr-FR" dirty="0" err="1"/>
              <a:t>storage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921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relationnelle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calcul serverless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messagerie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système de stockage d’objets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54272" y="5066897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Blob Storage est un service de stockage d’objets pour des données non structurées.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122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est adapté à 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Tables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Fichiers binaires volumineux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Transactions ACID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319889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5425955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optimisé pour les fichiers non structurés comme images, vidéos, documents.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Quels sont les types de blobs disponibles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Block, Append, Page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SQL, NoSQL, Graph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Hot, Cold, Archive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Queue, Table, File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7096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17" y="166067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8FB3C1B-8282-1A08-F22C-8F1EEFD11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26759"/>
              </p:ext>
            </p:extLst>
          </p:nvPr>
        </p:nvGraphicFramePr>
        <p:xfrm>
          <a:off x="114794" y="4221088"/>
          <a:ext cx="8783785" cy="20726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756757">
                  <a:extLst>
                    <a:ext uri="{9D8B030D-6E8A-4147-A177-3AD203B41FA5}">
                      <a16:colId xmlns:a16="http://schemas.microsoft.com/office/drawing/2014/main" val="113591366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3083567521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352075788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47787221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579519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Usage principal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Mode d’écriture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Cas typique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À retenir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4964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Block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Fichiers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Upload</a:t>
                      </a:r>
                      <a:r>
                        <a:rPr lang="fr-FR" sz="1600" dirty="0"/>
                        <a:t> complet / blocs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Images, PDF, vidéos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Par défaut</a:t>
                      </a:r>
                    </a:p>
                    <a:p>
                      <a:pPr>
                        <a:buNone/>
                      </a:pPr>
                      <a:r>
                        <a:rPr lang="fr-FR" sz="1600" dirty="0"/>
                        <a:t>- 90% des usages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653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 applicatifs, audit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733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Page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Accès aléatoire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Lecture/écriture ciblée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Disques VM (VHD)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Cas spécifiques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477815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2A66ACEB-EBF1-260F-4025-6B45A5F4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042" y="1716215"/>
            <a:ext cx="4058862" cy="23692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86C27AA-9043-C9F9-C59E-E4DE5409ACE3}"/>
              </a:ext>
            </a:extLst>
          </p:cNvPr>
          <p:cNvSpPr/>
          <p:nvPr/>
        </p:nvSpPr>
        <p:spPr>
          <a:xfrm>
            <a:off x="4572000" y="3645024"/>
            <a:ext cx="2376264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d’un container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tables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Organiser les blobs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container est un équivalent de dossier permettant d’organiser les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niveau d’accès permet de rendre un blob accessible publiquement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Private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Secure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Encrypted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213961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2971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niveau 'Blob' permet un accès public aux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CB692D-10E5-3355-50EA-B2EDF00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94" y="4113814"/>
            <a:ext cx="5040560" cy="15355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E1F0B97-67D3-342C-7ED5-5A47E867C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028" y="3886200"/>
            <a:ext cx="3866142" cy="24398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SDK est utilisé en C# pour accéder à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Microsoft.Data.SqlClient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Azure.Identity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Newtonsoft.Json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Azure.Storage.Blobs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SDK principal est Azure.Storage.Blobs.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permet de manipuler un container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BlobContainerClient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ContainerManager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BlobContainerClient permet de manipuler un container.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d’uploader un fichier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UploadAsync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SendAsync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WriteAsync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PushAsync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44363" y="3325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UploadAsync est utilisée pour envoyer un fichier dans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609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de télécharger un blob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GetAsync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DownloadAsync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FetchAsync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50991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DownloadAsync permet de récupérer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396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permet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une base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S’authentifier sans mot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Compresser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69240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permet d’accéder aux ressources sans stocker de credentials.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RBAC est nécessaire pour lire/écrire des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Admin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Blob Data </a:t>
            </a:r>
            <a:r>
              <a:rPr lang="fr-FR" sz="2000" dirty="0" err="1"/>
              <a:t>Contributor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852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Storage Blob Data Contributor permet lecture/écriture.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1984" y="25090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Hot et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 est plus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plus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moins cher mais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38610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416" y="4930239"/>
            <a:ext cx="5258619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est moins cher mais avec un temps d’accès long.</a:t>
            </a:r>
            <a:br>
              <a:rPr lang="fr-FR" dirty="0"/>
            </a:br>
            <a:r>
              <a:rPr lang="fr-FR" dirty="0"/>
              <a:t>Il existe 3 tiers :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Hot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Cool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Cold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Archive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47D94-DFA6-3D50-E619-A62764ED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3F75E9C-D2F1-8468-F028-ADC65D0B188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0A75B-E5CF-0C21-E02A-8AD55DC805B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  <a:r>
              <a:rPr lang="fr-FR" sz="3200" dirty="0"/>
              <a:t> bis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2FD54-7998-C7CF-3FAB-70438D525C7A}"/>
              </a:ext>
            </a:extLst>
          </p:cNvPr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configurer le tier (</a:t>
            </a:r>
            <a:r>
              <a:rPr sz="2000" dirty="0"/>
              <a:t>Hot </a:t>
            </a:r>
            <a:r>
              <a:rPr lang="fr-FR" sz="2000" dirty="0"/>
              <a:t>/ Cool /</a:t>
            </a:r>
            <a:r>
              <a:rPr sz="2000" dirty="0"/>
              <a:t> Archive</a:t>
            </a:r>
            <a:r>
              <a:rPr lang="fr-FR" sz="2000" dirty="0"/>
              <a:t>) dans Azure Blob Storage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container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blob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</a:t>
            </a:r>
            <a:r>
              <a:rPr lang="fr-FR" sz="2000" dirty="0" err="1"/>
              <a:t>storage</a:t>
            </a:r>
            <a:r>
              <a:rPr lang="fr-FR" sz="2000" dirty="0"/>
              <a:t> </a:t>
            </a:r>
            <a:r>
              <a:rPr lang="fr-FR" sz="2000" dirty="0" err="1"/>
              <a:t>account</a:t>
            </a:r>
            <a:r>
              <a:rPr lang="fr-FR" sz="2000" dirty="0"/>
              <a:t> et du 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d’Azure AD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388E45-28DC-7F40-FDD3-84F18F55C9D1}"/>
              </a:ext>
            </a:extLst>
          </p:cNvPr>
          <p:cNvSpPr txBox="1"/>
          <p:nvPr/>
        </p:nvSpPr>
        <p:spPr>
          <a:xfrm>
            <a:off x="6372200" y="293546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0147A9C-2E48-1CCA-BA84-78C71FE61EFD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3F74D8-4B00-F419-6596-C4D78DA9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05" y="3490095"/>
            <a:ext cx="4820081" cy="10885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FDB848D-26BF-50A3-0E3F-0B587054B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05" y="5032575"/>
            <a:ext cx="4585535" cy="185280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FBA05F3-4BAB-A44B-6C97-A39DED5C8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702" y="4833271"/>
            <a:ext cx="1646252" cy="196597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E21435C0-FBF1-0800-26B9-17C2465B748D}"/>
              </a:ext>
            </a:extLst>
          </p:cNvPr>
          <p:cNvSpPr txBox="1"/>
          <p:nvPr/>
        </p:nvSpPr>
        <p:spPr>
          <a:xfrm>
            <a:off x="278904" y="3161333"/>
            <a:ext cx="1832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Storage </a:t>
            </a:r>
            <a:r>
              <a:rPr lang="fr-FR" u="sng" dirty="0" err="1"/>
              <a:t>account</a:t>
            </a:r>
            <a:endParaRPr lang="fr-FR" u="sng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41CEE31-E31D-B743-CC39-750C59B93C72}"/>
              </a:ext>
            </a:extLst>
          </p:cNvPr>
          <p:cNvSpPr txBox="1"/>
          <p:nvPr/>
        </p:nvSpPr>
        <p:spPr>
          <a:xfrm>
            <a:off x="263008" y="4644544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Blob</a:t>
            </a:r>
          </a:p>
        </p:txBody>
      </p:sp>
    </p:spTree>
    <p:extLst>
      <p:ext uri="{BB962C8B-B14F-4D97-AF65-F5344CB8AC3E}">
        <p14:creationId xmlns:p14="http://schemas.microsoft.com/office/powerpoint/2010/main" val="1568889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4" grpId="0"/>
      <p:bldP spid="15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temps d’accès typique du tier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Instantané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minutes à heures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Plusieurs jours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7805" y="304826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417594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nécessite une réhydratation qui peut prendre plusieurs heures.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4E58F0C-3D61-C56F-6B9B-F6DBE78A2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076526"/>
              </p:ext>
            </p:extLst>
          </p:nvPr>
        </p:nvGraphicFramePr>
        <p:xfrm>
          <a:off x="114794" y="3953130"/>
          <a:ext cx="8921700" cy="21031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156041">
                  <a:extLst>
                    <a:ext uri="{9D8B030D-6E8A-4147-A177-3AD203B41FA5}">
                      <a16:colId xmlns:a16="http://schemas.microsoft.com/office/drawing/2014/main" val="2265568076"/>
                    </a:ext>
                  </a:extLst>
                </a:gridCol>
                <a:gridCol w="1526966">
                  <a:extLst>
                    <a:ext uri="{9D8B030D-6E8A-4147-A177-3AD203B41FA5}">
                      <a16:colId xmlns:a16="http://schemas.microsoft.com/office/drawing/2014/main" val="720263575"/>
                    </a:ext>
                  </a:extLst>
                </a:gridCol>
                <a:gridCol w="1777843">
                  <a:extLst>
                    <a:ext uri="{9D8B030D-6E8A-4147-A177-3AD203B41FA5}">
                      <a16:colId xmlns:a16="http://schemas.microsoft.com/office/drawing/2014/main" val="3931508045"/>
                    </a:ext>
                  </a:extLst>
                </a:gridCol>
                <a:gridCol w="1486950">
                  <a:extLst>
                    <a:ext uri="{9D8B030D-6E8A-4147-A177-3AD203B41FA5}">
                      <a16:colId xmlns:a16="http://schemas.microsoft.com/office/drawing/2014/main" val="1871220206"/>
                    </a:ext>
                  </a:extLst>
                </a:gridCol>
                <a:gridCol w="1749766">
                  <a:extLst>
                    <a:ext uri="{9D8B030D-6E8A-4147-A177-3AD203B41FA5}">
                      <a16:colId xmlns:a16="http://schemas.microsoft.com/office/drawing/2014/main" val="1299922055"/>
                    </a:ext>
                  </a:extLst>
                </a:gridCol>
                <a:gridCol w="1224134">
                  <a:extLst>
                    <a:ext uri="{9D8B030D-6E8A-4147-A177-3AD203B41FA5}">
                      <a16:colId xmlns:a16="http://schemas.microsoft.com/office/drawing/2014/main" val="40986466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Coût stockage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Coût 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Durée (*)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fréquent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Aucune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562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moyen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occasionnel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30j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9417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accès très rare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90j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0481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180j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630661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E6AC5EF-63BC-139A-2672-AC31FCA9551D}"/>
              </a:ext>
            </a:extLst>
          </p:cNvPr>
          <p:cNvSpPr txBox="1"/>
          <p:nvPr/>
        </p:nvSpPr>
        <p:spPr>
          <a:xfrm>
            <a:off x="288396" y="6315494"/>
            <a:ext cx="3655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(*) : durée minimale de facturation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 container n’existe pas lors d’un upload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Création automatique toujours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sauf si CreateIfNotExists est utilisé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ignore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faut appeler CreateIfNotExists sinon erreur.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05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Blob Storage dans 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 utilisateurs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sessions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des fonctions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64929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permet de stocker les fichiers (images, docs…).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19337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Quelle est la limite classique de taille d’un Block Blob (modèle historique Azure)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256 MB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4.75 TB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 GB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Illimitée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85293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891" y="3429000"/>
            <a:ext cx="77112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Historiquement, un Block Blob est limité à environ 4.75 TB (100 </a:t>
            </a:r>
            <a:r>
              <a:rPr lang="fr-FR" dirty="0" err="1"/>
              <a:t>MiB</a:t>
            </a:r>
            <a:r>
              <a:rPr lang="fr-FR" dirty="0"/>
              <a:t> x 50 000 blocs).</a:t>
            </a:r>
          </a:p>
          <a:p>
            <a:pPr>
              <a:defRPr sz="1600"/>
            </a:pPr>
            <a:r>
              <a:rPr lang="fr-FR" dirty="0"/>
              <a:t>Aujourd’hui, avec les versions récentes de l’API, la limite peut atteindre ~190 </a:t>
            </a:r>
            <a:r>
              <a:rPr lang="fr-FR" dirty="0" err="1"/>
              <a:t>TiB</a:t>
            </a:r>
            <a:r>
              <a:rPr lang="fr-FR" dirty="0"/>
              <a:t>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746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3F7E1F0-DC41-4B16-F0D8-37B1D6A01C75}"/>
              </a:ext>
            </a:extLst>
          </p:cNvPr>
          <p:cNvSpPr txBox="1"/>
          <p:nvPr/>
        </p:nvSpPr>
        <p:spPr>
          <a:xfrm>
            <a:off x="279349" y="6237312"/>
            <a:ext cx="86265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u="sng" dirty="0">
                <a:solidFill>
                  <a:schemeClr val="tx2"/>
                </a:solidFill>
              </a:rPr>
              <a:t>https://learn.microsoft.com/en-us/rest/api/storageservices/understanding-block-blobs--append-blobs--and-page-blobs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37735CF8-6389-4D2C-531C-44796DA9B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694781"/>
              </p:ext>
            </p:extLst>
          </p:nvPr>
        </p:nvGraphicFramePr>
        <p:xfrm>
          <a:off x="464982" y="4364210"/>
          <a:ext cx="7886700" cy="14630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5183733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089362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0534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Taille max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63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Block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fichiers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4.75 TB / 190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218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Append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195 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02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disques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8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4308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meilleure pratique pour nommer les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GUID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une structure hiérarchique logique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noms courts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pas nommer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24433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814" y="3933056"/>
            <a:ext cx="5746701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structure logique facilite l’organisation et la maintenance.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images/produits/2026/04/photo1.jpg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logs/app1/2026/04/30/log.txt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clients/12345/documents/facture.pdf</a:t>
            </a:r>
            <a:br>
              <a:rPr lang="fr-FR" dirty="0"/>
            </a:b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92493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protocole est utilisé pour accéder aux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SMTP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TCP brut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HTTP/HTTPS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accessible via HTTP/HTTPS.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370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SAS Token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permanent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clé de chiffrement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accès temporaire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identifiant utilisateur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990" y="3212976"/>
            <a:ext cx="8266467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/>
              <a:t>Un SAS Token </a:t>
            </a:r>
            <a:r>
              <a:rPr lang="fr-FR" sz="1600" dirty="0"/>
              <a:t>est une </a:t>
            </a:r>
            <a:r>
              <a:rPr lang="fr-FR" sz="1600" b="1" dirty="0"/>
              <a:t>URL signée</a:t>
            </a:r>
            <a:r>
              <a:rPr lang="fr-FR" sz="1600" dirty="0"/>
              <a:t> qui donne un accès limité dans le temps à une ressource (blob, conteneur, etc.).</a:t>
            </a:r>
            <a:br>
              <a:rPr lang="fr-FR" sz="1600" dirty="0"/>
            </a:br>
            <a:br>
              <a:rPr lang="fr-FR" sz="1600" dirty="0"/>
            </a:br>
            <a:r>
              <a:rPr lang="fr-FR" sz="1600" dirty="0"/>
              <a:t>Un SAS </a:t>
            </a:r>
            <a:r>
              <a:rPr lang="fr-FR" sz="1600" dirty="0" err="1"/>
              <a:t>Token</a:t>
            </a:r>
            <a:r>
              <a:rPr lang="fr-FR" sz="1600" dirty="0"/>
              <a:t> permet de définir :</a:t>
            </a:r>
          </a:p>
          <a:p>
            <a:r>
              <a:rPr lang="fr-FR" sz="1600" dirty="0"/>
              <a:t>⏱️ </a:t>
            </a:r>
            <a:r>
              <a:rPr lang="fr-FR" sz="1600" b="1" dirty="0"/>
              <a:t>Une durée</a:t>
            </a:r>
            <a:r>
              <a:rPr lang="fr-FR" sz="1600" dirty="0"/>
              <a:t> (ex : valable 1 heure) </a:t>
            </a:r>
          </a:p>
          <a:p>
            <a:r>
              <a:rPr lang="fr-FR" sz="1600" dirty="0"/>
              <a:t>🔑 </a:t>
            </a:r>
            <a:r>
              <a:rPr lang="fr-FR" sz="1600" b="1" dirty="0"/>
              <a:t>Des permissions</a:t>
            </a:r>
            <a:r>
              <a:rPr lang="fr-FR" sz="1600" dirty="0"/>
              <a:t> (lecture, écriture, suppression…) </a:t>
            </a:r>
          </a:p>
          <a:p>
            <a:r>
              <a:rPr lang="fr-FR" sz="1600" dirty="0"/>
              <a:t>📍 </a:t>
            </a:r>
            <a:r>
              <a:rPr lang="fr-FR" sz="1600" b="1" dirty="0"/>
              <a:t>Une portée</a:t>
            </a:r>
            <a:r>
              <a:rPr lang="fr-FR" sz="1600" dirty="0"/>
              <a:t> (un blob précis ou un conteneur)</a:t>
            </a:r>
          </a:p>
          <a:p>
            <a:endParaRPr lang="fr-FR" sz="1600" b="1" dirty="0"/>
          </a:p>
          <a:p>
            <a:r>
              <a:rPr lang="fr-FR" sz="1600" b="1" dirty="0"/>
              <a:t>✅ Pourquoi c’est puissant ?</a:t>
            </a:r>
          </a:p>
          <a:p>
            <a:r>
              <a:rPr lang="fr-FR" sz="1600" dirty="0"/>
              <a:t>Pas besoin de partager la clé principale du compte (beaucoup plus risqué) </a:t>
            </a:r>
          </a:p>
          <a:p>
            <a:r>
              <a:rPr lang="fr-FR" sz="1600" dirty="0"/>
              <a:t>Idéal pour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donner accès à un fichier temporairement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permettre un </a:t>
            </a:r>
            <a:r>
              <a:rPr lang="fr-FR" sz="1600" dirty="0" err="1"/>
              <a:t>upload</a:t>
            </a:r>
            <a:r>
              <a:rPr lang="fr-FR" sz="1600" dirty="0"/>
              <a:t>/download côté client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exposer un fichier sans authentification complète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67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de stocker des fichiers sur le disque local d’une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interdit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disque est volatile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trop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bloque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78092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37890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stockage local peut être perdu lors de redémarrage ou scaling.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757FD-C95E-6E89-990E-C17713B8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C728C-D02D-42CB-0DBF-130331F4EB59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C37F69-E3E9-039F-90A0-0BA86D63BBD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B2CDE-9CFA-6241-D42B-8F8F27406077}"/>
              </a:ext>
            </a:extLst>
          </p:cNvPr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Quels services sont disponibles dans un Azure Storage </a:t>
            </a:r>
            <a:r>
              <a:rPr lang="fr-FR" sz="2000" dirty="0" err="1"/>
              <a:t>Account</a:t>
            </a:r>
            <a:r>
              <a:rPr lang="fr-FR" sz="2000" dirty="0"/>
              <a:t> ? 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Blob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SQL Database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Table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Queue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Service Bus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File Shares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Disks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5AF25-5101-51B1-646A-E9F9FC3C62A7}"/>
              </a:ext>
            </a:extLst>
          </p:cNvPr>
          <p:cNvSpPr txBox="1"/>
          <p:nvPr/>
        </p:nvSpPr>
        <p:spPr>
          <a:xfrm>
            <a:off x="6331647" y="2780928"/>
            <a:ext cx="20143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1,3,4,6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ED3DEE2-405F-9ACF-EA53-360B9113A21C}"/>
              </a:ext>
            </a:extLst>
          </p:cNvPr>
          <p:cNvSpPr txBox="1"/>
          <p:nvPr/>
        </p:nvSpPr>
        <p:spPr>
          <a:xfrm>
            <a:off x="24130" y="257826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EC78C72-F644-536D-24B2-B6B74413E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00199"/>
              </p:ext>
            </p:extLst>
          </p:nvPr>
        </p:nvGraphicFramePr>
        <p:xfrm>
          <a:off x="489689" y="4760898"/>
          <a:ext cx="6791248" cy="1676400"/>
        </p:xfrm>
        <a:graphic>
          <a:graphicData uri="http://schemas.openxmlformats.org/drawingml/2006/table">
            <a:tbl>
              <a:tblPr/>
              <a:tblGrid>
                <a:gridCol w="1197489">
                  <a:extLst>
                    <a:ext uri="{9D8B030D-6E8A-4147-A177-3AD203B41FA5}">
                      <a16:colId xmlns:a16="http://schemas.microsoft.com/office/drawing/2014/main" val="1662596606"/>
                    </a:ext>
                  </a:extLst>
                </a:gridCol>
                <a:gridCol w="2108210">
                  <a:extLst>
                    <a:ext uri="{9D8B030D-6E8A-4147-A177-3AD203B41FA5}">
                      <a16:colId xmlns:a16="http://schemas.microsoft.com/office/drawing/2014/main" val="1420361216"/>
                    </a:ext>
                  </a:extLst>
                </a:gridCol>
                <a:gridCol w="3485549">
                  <a:extLst>
                    <a:ext uri="{9D8B030D-6E8A-4147-A177-3AD203B41FA5}">
                      <a16:colId xmlns:a16="http://schemas.microsoft.com/office/drawing/2014/main" val="3667058466"/>
                    </a:ext>
                  </a:extLst>
                </a:gridCol>
              </a:tblGrid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12625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HTTP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objet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740718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965514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messages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559852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SMB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fichiers (comme Windows)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611252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ACADE07B-CBF6-9B05-F404-EC4D0C6FE61F}"/>
              </a:ext>
            </a:extLst>
          </p:cNvPr>
          <p:cNvSpPr txBox="1"/>
          <p:nvPr/>
        </p:nvSpPr>
        <p:spPr>
          <a:xfrm>
            <a:off x="24130" y="19393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227E39-17C3-D797-F243-9AAF114D120A}"/>
              </a:ext>
            </a:extLst>
          </p:cNvPr>
          <p:cNvSpPr txBox="1"/>
          <p:nvPr/>
        </p:nvSpPr>
        <p:spPr>
          <a:xfrm>
            <a:off x="31256" y="28743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AB88B3E-18CD-060D-0390-AA7DE5441356}"/>
              </a:ext>
            </a:extLst>
          </p:cNvPr>
          <p:cNvSpPr txBox="1"/>
          <p:nvPr/>
        </p:nvSpPr>
        <p:spPr>
          <a:xfrm>
            <a:off x="52733" y="34782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5E2A823-B9D4-75AF-21FE-2250E9D88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3663619"/>
            <a:ext cx="1876457" cy="29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60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6" grpId="0"/>
      <p:bldP spid="7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4BAD-D656-8540-FA5C-99299A8C8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24B5B9AA-0A54-FDE2-13F8-93170A666A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BF81DB-AB68-4A13-BBAB-19E424C4E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Application Insights</a:t>
            </a:r>
          </a:p>
        </p:txBody>
      </p:sp>
    </p:spTree>
    <p:extLst>
      <p:ext uri="{BB962C8B-B14F-4D97-AF65-F5344CB8AC3E}">
        <p14:creationId xmlns:p14="http://schemas.microsoft.com/office/powerpoint/2010/main" val="31777557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permet de collecter les logs applicatifs, traces et métriques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Monitor est le service central de supervision.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5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composant Azure est utilisé pour analyser les performances d’une application web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355737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Application Insights permet de suivre les performances et les requêtes.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2942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une application .NET déployée sur Azure App Service avec Application Insights, quel est le rôle de </a:t>
            </a:r>
            <a:r>
              <a:rPr lang="fr-FR" sz="2000" dirty="0" err="1"/>
              <a:t>ILogger</a:t>
            </a:r>
            <a:r>
              <a:rPr lang="fr-FR" sz="2000" dirty="0"/>
              <a:t> lorsqu’il est utilisé avec un provider configuré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Écrire des logs uniquement en local dans la console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Envoyer automatiquement des logs structurés vers Azure Monitor /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les logs directement dans 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862984" y="428835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647325" y="5398532"/>
            <a:ext cx="75250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 err="1"/>
              <a:t>ILogger</a:t>
            </a:r>
            <a:r>
              <a:rPr lang="fr-FR" dirty="0"/>
              <a:t>, lorsqu’il est configuré avec un provider (comme Application Insights), envoie les logs vers Azure Monitor.</a:t>
            </a:r>
            <a:br>
              <a:rPr lang="fr-FR" dirty="0"/>
            </a:br>
            <a:r>
              <a:rPr lang="fr-FR" dirty="0"/>
              <a:t>Logger est une abstraction. Le comportement dépend du provider configuré (Console, App Insights, etc.).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7089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les logs n’apparaissent pas malgré AddAzureWebAppDiagnostics()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non activés côté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ILogger</a:t>
            </a:r>
            <a:r>
              <a:rPr lang="fr-FR" sz="2000" dirty="0"/>
              <a:t> mal configuré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Port incorrect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Mauvais navigateur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53099" y="4086494"/>
            <a:ext cx="33843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logs doivent être activés dans le portail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App Service Logs → activer File System ou Blob."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2438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28CFDB-EBA8-12C2-AB34-7C6C60D8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865" y="3633455"/>
            <a:ext cx="4605712" cy="30032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métriques et logs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du texte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logs sont numériques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des valeurs numériques agrégées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métriques sont des données numériques (CPU, temps de réponse).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30306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langage est utilisé pour interroger les logs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LINQ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PowerShell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KQL</a:t>
            </a:r>
          </a:p>
          <a:p>
            <a:pPr>
              <a:defRPr sz="2400"/>
            </a:pPr>
            <a:endParaRPr lang="fr-FR"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74814" y="4299466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KQL (Kusto Query Language) est utilisé pour analyser les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créer une alerte Azure Monitor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Depuis Azure Monitor ou directement depuis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Application Insights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4270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Les alertes peuvent être créées depuis Azure Monitor ou directement depuis une ressource (App Service, Application Insights, etc.)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5858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Sur quoi peut se baser une alerte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métriques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et métriques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alertes peuvent être basées sur logs ou métriques.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Live Metrics</a:t>
            </a:r>
            <a:r>
              <a:rPr lang="fr-FR" sz="2000" dirty="0"/>
              <a:t>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historiques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données en temps réel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559669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12" y="3955496"/>
            <a:ext cx="4751622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visualiser les métriques en temps </a:t>
            </a:r>
            <a:r>
              <a:rPr dirty="0" err="1"/>
              <a:t>réel</a:t>
            </a:r>
            <a:r>
              <a:rPr dirty="0"/>
              <a:t>.</a:t>
            </a:r>
            <a:br>
              <a:rPr lang="fr-FR" dirty="0"/>
            </a:br>
            <a:r>
              <a:rPr lang="fr-FR" dirty="0"/>
              <a:t>Pour l’activer : rajouter dans son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program.cs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br>
              <a:rPr lang="fr-FR" dirty="0"/>
            </a:b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defRPr sz="1600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.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AddApplicationInsightsTelemetry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0457630-B988-FD93-813B-F06DBD9932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581"/>
          <a:stretch>
            <a:fillRect/>
          </a:stretch>
        </p:blipFill>
        <p:spPr>
          <a:xfrm>
            <a:off x="5124204" y="3239713"/>
            <a:ext cx="4019796" cy="35860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l’objectif principal du sampling dans Application Insights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volume de télémétrie tout en conservant une représentation statistique fiable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la précision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les erreurs critiques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Crypter les données envoyées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74051" y="3453897"/>
            <a:ext cx="7435195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Le sampling réduit la quantité de données collectées pour diminuer les coûts, tout en gardant une vision représentative du comportement de l’application</a:t>
            </a:r>
            <a:br>
              <a:rPr lang="fr-FR" dirty="0"/>
            </a:br>
            <a:br>
              <a:rPr lang="fr-FR" dirty="0"/>
            </a:br>
            <a:r>
              <a:rPr lang="fr-FR" sz="1600" dirty="0"/>
              <a:t>👉 Le sampling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garde </a:t>
            </a:r>
            <a:r>
              <a:rPr lang="fr-FR" sz="1600" b="1" dirty="0"/>
              <a:t>1 requête sur N</a:t>
            </a:r>
            <a:r>
              <a:rPr lang="fr-FR" sz="16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mais </a:t>
            </a:r>
            <a:r>
              <a:rPr lang="fr-FR" sz="1600" b="1" dirty="0"/>
              <a:t>recalcule les métriques</a:t>
            </a:r>
            <a:r>
              <a:rPr lang="fr-FR" sz="1600" dirty="0"/>
              <a:t> (ex : 1 vue = 10 requêtes estimées) </a:t>
            </a:r>
          </a:p>
          <a:p>
            <a:pPr>
              <a:buNone/>
            </a:pPr>
            <a:r>
              <a:rPr lang="fr-FR" sz="1600" b="1" dirty="0"/>
              <a:t>Exemple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1000 requêtes réelles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sampling à 10%</a:t>
            </a:r>
            <a:br>
              <a:rPr lang="fr-FR" sz="1600" dirty="0"/>
            </a:br>
            <a:r>
              <a:rPr lang="fr-FR" sz="1600" dirty="0"/>
              <a:t>👉 seulement 100 stockées</a:t>
            </a:r>
            <a:br>
              <a:rPr lang="fr-FR" sz="1600" dirty="0"/>
            </a:br>
            <a:r>
              <a:rPr lang="fr-FR" sz="1600" dirty="0"/>
              <a:t>👉 mais Azure affiche quand même ~1000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9169-FCFF-4453-0A81-9DF169479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56FC11-25EF-F41C-73EC-4C596D24A5A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495CE0-DBD6-DCA7-AE60-ADF3DAD6A92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64BC2B-39AF-BD11-7A4F-D4A321FBD14A}"/>
              </a:ext>
            </a:extLst>
          </p:cNvPr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configurer le sampling dans Application Insights en .NET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le SDK (code) ou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le portail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configurable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DA2B6F-D504-B660-24D6-01D36E014F21}"/>
              </a:ext>
            </a:extLst>
          </p:cNvPr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67D7B-91DB-7E44-8E85-793F64378A1B}"/>
              </a:ext>
            </a:extLst>
          </p:cNvPr>
          <p:cNvSpPr txBox="1"/>
          <p:nvPr/>
        </p:nvSpPr>
        <p:spPr>
          <a:xfrm>
            <a:off x="474051" y="3453897"/>
            <a:ext cx="7435195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sampling peut être automatique (adaptive) ou configuré via le SDK en code.</a:t>
            </a:r>
            <a:br>
              <a:rPr lang="fr-FR" dirty="0"/>
            </a:br>
            <a:r>
              <a:rPr lang="fr-FR" dirty="0"/>
              <a:t>Le mode par défaut est l’adaptive sampling.</a:t>
            </a:r>
            <a:br>
              <a:rPr lang="fr-FR" dirty="0"/>
            </a:br>
            <a:br>
              <a:rPr lang="fr-FR" dirty="0"/>
            </a:br>
            <a:r>
              <a:rPr lang="fr-FR" dirty="0"/>
              <a:t>Exemple pour le désactiver : </a:t>
            </a:r>
            <a:br>
              <a:rPr lang="fr-FR" dirty="0"/>
            </a:b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builder.Services.AddApplicationInsightsTelemetry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(options =&gt;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options.EnableAdaptiveSampling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false;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>
              <a:buNone/>
            </a:pPr>
            <a:endParaRPr lang="fr-FR" dirty="0"/>
          </a:p>
          <a:p>
            <a:r>
              <a:rPr lang="fr-FR" b="1" dirty="0"/>
              <a:t>❗ 1. Le sampling s’applique côté SDK</a:t>
            </a:r>
          </a:p>
          <a:p>
            <a:r>
              <a:rPr lang="fr-FR" dirty="0"/>
              <a:t>👉 donc : les données </a:t>
            </a:r>
            <a:r>
              <a:rPr lang="fr-FR" b="1" dirty="0"/>
              <a:t>non envoyées → non récupérables</a:t>
            </a:r>
            <a:endParaRPr lang="fr-FR" dirty="0"/>
          </a:p>
          <a:p>
            <a:pPr>
              <a:buNone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4A9CD6A-6521-E7F9-977A-3D534AEBAAAB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9166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Application Insights </a:t>
            </a:r>
            <a:r>
              <a:rPr sz="2000" dirty="0" err="1"/>
              <a:t>peut</a:t>
            </a:r>
            <a:r>
              <a:rPr sz="2000" dirty="0"/>
              <a:t>-il </a:t>
            </a:r>
            <a:r>
              <a:rPr sz="2000" dirty="0" err="1"/>
              <a:t>collecter</a:t>
            </a:r>
            <a:r>
              <a:rPr sz="2000" dirty="0"/>
              <a:t> </a:t>
            </a:r>
            <a:r>
              <a:rPr sz="2000" dirty="0" err="1"/>
              <a:t>automatiquement</a:t>
            </a:r>
            <a:r>
              <a:rPr sz="2000" dirty="0"/>
              <a:t> 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Exceptions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Dépendances (SQL, API externes)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système Windows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SQL internes à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Traces (logs applicatifs via </a:t>
            </a:r>
            <a:r>
              <a:rPr lang="fr-FR" sz="2000" dirty="0" err="1"/>
              <a:t>ILogger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Performances CPU du serveur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0784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1,2,3,6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232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Application Insights collecte automatiquement les requêtes, exceptions, dépendances et traces. </a:t>
            </a:r>
          </a:p>
          <a:p>
            <a:pPr>
              <a:defRPr sz="1600"/>
            </a:pPr>
            <a:r>
              <a:rPr lang="fr-FR" dirty="0"/>
              <a:t>Les logs système ou les requêtes SQL internes ne sont pas collectés automatiquement sans instrumentation spécifique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76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9EC0A74-3BBD-C96B-6743-EA2498B74072}"/>
              </a:ext>
            </a:extLst>
          </p:cNvPr>
          <p:cNvSpPr txBox="1"/>
          <p:nvPr/>
        </p:nvSpPr>
        <p:spPr>
          <a:xfrm>
            <a:off x="24764" y="22671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6088C5-BC90-F5B2-1CD1-C22C075D6A88}"/>
              </a:ext>
            </a:extLst>
          </p:cNvPr>
          <p:cNvSpPr txBox="1"/>
          <p:nvPr/>
        </p:nvSpPr>
        <p:spPr>
          <a:xfrm>
            <a:off x="12204" y="25435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727ECB-B839-541F-E89D-5833721C574E}"/>
              </a:ext>
            </a:extLst>
          </p:cNvPr>
          <p:cNvSpPr txBox="1"/>
          <p:nvPr/>
        </p:nvSpPr>
        <p:spPr>
          <a:xfrm>
            <a:off x="12204" y="3465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  <p:bldP spid="5" grpId="0"/>
      <p:bldP spid="6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des "Dependency tracking"</a:t>
            </a:r>
            <a:r>
              <a:rPr lang="fr-FR" sz="2000" dirty="0"/>
              <a:t> dans Application Insights </a:t>
            </a:r>
            <a:r>
              <a:rPr sz="2000" dirty="0"/>
              <a:t>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Suivre les appels vers des services externes (API, base de données, etc.)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Analyser les performances internes du code méthode par méthode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Mesurer les interactions avec des ressources externes et leur impact sur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Tracer les actions des utilisateurs dans l’interface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4125463"/>
            <a:ext cx="16232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6512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dependency</a:t>
            </a:r>
            <a:r>
              <a:rPr lang="fr-FR" dirty="0"/>
              <a:t> </a:t>
            </a:r>
            <a:r>
              <a:rPr lang="fr-FR" dirty="0" err="1"/>
              <a:t>tracking</a:t>
            </a:r>
            <a:r>
              <a:rPr lang="fr-FR" dirty="0"/>
              <a:t> permet de suivre les appels vers des services externes (SQL, API, etc.) et d’analyser leur impact sur les performances globales.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Attention à ne pas confondre avec le profiling interne du code ou le suivi utilisateur (User </a:t>
            </a:r>
            <a:r>
              <a:rPr lang="fr-FR" dirty="0" err="1"/>
              <a:t>telemetry</a:t>
            </a:r>
            <a:r>
              <a:rPr lang="fr-FR" dirty="0"/>
              <a:t>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61453" y="19504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DF2640-2090-FE74-B940-B26D6C77018C}"/>
              </a:ext>
            </a:extLst>
          </p:cNvPr>
          <p:cNvSpPr txBox="1"/>
          <p:nvPr/>
        </p:nvSpPr>
        <p:spPr>
          <a:xfrm>
            <a:off x="61453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Comment identifier qu’un ralentissement d’une requête HTTP est dû à une base SQL dans Application Insights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uniquement les logs applicatifs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analysant les dependencies associées à la requête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le CPU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possible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77232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dependencies permettent d’identifier les appels SQL et leur durée, ce qui permet de détecter un goulot d’étranglement.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523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outil permet de visualiser la chaîne d’appels d’une requête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Metrics Explorer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Map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 Stream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796136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34" y="4574498"/>
            <a:ext cx="24275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Application Map montre les dépendances entre services.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5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500A1A-8306-886E-4DEB-21E45E5B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99" y="2924944"/>
            <a:ext cx="5757696" cy="38015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Log Stream dans App Service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en direct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Modifier le code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voir les logs en temps réel.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5743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écriture permet de créer un </a:t>
            </a:r>
            <a:r>
              <a:rPr sz="2000" u="sng" dirty="0"/>
              <a:t>log structuré </a:t>
            </a:r>
            <a:r>
              <a:rPr sz="2000" dirty="0"/>
              <a:t>avec ILogger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logger.LogInformation($"Commande {orderId}")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" +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{OrderId}",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Console.WriteLine("Commande {orderId}")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7" y="3367876"/>
            <a:ext cx="843148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Seule la syntaxe avec placeholders permet de créer des propriétés structurées </a:t>
            </a:r>
            <a:r>
              <a:rPr dirty="0" err="1"/>
              <a:t>exploitables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("Commande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 traitée pour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600" dirty="0"/>
              <a:t>👉 Ici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/>
              <a:t> et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/>
              <a:t> deviennent </a:t>
            </a:r>
            <a:r>
              <a:rPr lang="fr-FR" sz="1600" b="1" dirty="0"/>
              <a:t>des champs</a:t>
            </a:r>
            <a:r>
              <a:rPr lang="fr-FR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pas juste du texte </a:t>
            </a:r>
          </a:p>
          <a:p>
            <a:r>
              <a:rPr lang="fr-FR" sz="1600" dirty="0"/>
              <a:t>Dans Application Insights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fr-FR" sz="1600" dirty="0"/>
              <a:t> = "Commande 123 traitée pour 456"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MAIS aussi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123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456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39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149C9D5-ABA1-6479-9397-569971550517}"/>
              </a:ext>
            </a:extLst>
          </p:cNvPr>
          <p:cNvSpPr txBox="1"/>
          <p:nvPr/>
        </p:nvSpPr>
        <p:spPr>
          <a:xfrm>
            <a:off x="5505228" y="4906759"/>
            <a:ext cx="3647152" cy="170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== 123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vs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message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"123"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première étape pour centraliser les logs de plusieurs ressources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une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96938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540476"/>
            <a:ext cx="641008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Log Analytics Workspace est le point central de stockage des logs.</a:t>
            </a:r>
            <a:endParaRPr lang="fr-FR" dirty="0"/>
          </a:p>
          <a:p>
            <a:pPr>
              <a:defRPr sz="1600"/>
            </a:pPr>
            <a:r>
              <a:rPr lang="fr-FR" dirty="0"/>
              <a:t>Dans le TP, créé automatiquement.</a:t>
            </a:r>
          </a:p>
          <a:p>
            <a:pPr>
              <a:defRPr sz="1600"/>
            </a:pPr>
            <a:endParaRPr lang="fr-FR" dirty="0"/>
          </a:p>
          <a:p>
            <a:pPr marL="342900" indent="-342900">
              <a:buAutoNum type="arabicPeriod"/>
              <a:defRPr sz="1600"/>
            </a:pPr>
            <a:r>
              <a:rPr lang="fr-FR" dirty="0"/>
              <a:t>Azure Monitor = collecte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Log Analytics = stockage + requêtes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Toutes les ressources ne loggent pas pareil</a:t>
            </a:r>
          </a:p>
          <a:p>
            <a:pPr marL="342900" indent="-342900">
              <a:buAutoNum type="arabicPeriod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09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C320ED1-EB38-963F-23D3-6F583698B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261877"/>
              </p:ext>
            </p:extLst>
          </p:nvPr>
        </p:nvGraphicFramePr>
        <p:xfrm>
          <a:off x="1578002" y="5085184"/>
          <a:ext cx="5285092" cy="1219200"/>
        </p:xfrm>
        <a:graphic>
          <a:graphicData uri="http://schemas.openxmlformats.org/drawingml/2006/table">
            <a:tbl>
              <a:tblPr/>
              <a:tblGrid>
                <a:gridCol w="2642546">
                  <a:extLst>
                    <a:ext uri="{9D8B030D-6E8A-4147-A177-3AD203B41FA5}">
                      <a16:colId xmlns:a16="http://schemas.microsoft.com/office/drawing/2014/main" val="4182014354"/>
                    </a:ext>
                  </a:extLst>
                </a:gridCol>
                <a:gridCol w="2642546">
                  <a:extLst>
                    <a:ext uri="{9D8B030D-6E8A-4147-A177-3AD203B41FA5}">
                      <a16:colId xmlns:a16="http://schemas.microsoft.com/office/drawing/2014/main" val="133377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Ressource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Table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0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AppRequests, AppTraces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67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AzureDiagnostics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978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 err="1"/>
                        <a:t>AzureDiagnostics</a:t>
                      </a:r>
                      <a:endParaRPr lang="fr-FR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40311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Vous souhaitez analyser les logs d’une Web App, d’une Azure Function et d’une base SQL dans un même outil avec des requêtes KQL. Quelle solution utiliser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 avec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46" y="3714860"/>
            <a:ext cx="86265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Azure Monitor permet de centraliser les logs de plusieurs ressources dans un Log Analytics Workspace.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8FEC3D9-108C-D333-50EB-25EF3FBBC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" y="4362607"/>
            <a:ext cx="4283968" cy="247316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5FE2A1-5C18-E69B-D912-B85870544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1768" y="4196756"/>
            <a:ext cx="4378035" cy="26390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Log Analytics Workspace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stockage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serveur web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outil de déploiement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C’est un espace de stockage et d’analyse des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une Action Group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des actions lors d’alertes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580112" y="335475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528" y="4077072"/>
            <a:ext cx="785234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d’envoyer emails, SMS, webhooks.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Dans Application Insights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>
                <a:sym typeface="Wingdings" panose="05000000000000000000" pitchFamily="2" charset="2"/>
              </a:rPr>
              <a:t>Alerts</a:t>
            </a:r>
            <a:r>
              <a:rPr lang="fr-FR" dirty="0">
                <a:sym typeface="Wingdings" panose="05000000000000000000" pitchFamily="2" charset="2"/>
              </a:rPr>
              <a:t>  Actions  </a:t>
            </a:r>
            <a:r>
              <a:rPr lang="fr-FR" dirty="0" err="1">
                <a:sym typeface="Wingdings" panose="05000000000000000000" pitchFamily="2" charset="2"/>
              </a:rPr>
              <a:t>Create</a:t>
            </a:r>
            <a:r>
              <a:rPr lang="fr-FR" dirty="0">
                <a:sym typeface="Wingdings" panose="05000000000000000000" pitchFamily="2" charset="2"/>
              </a:rPr>
              <a:t> action group  Notifications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4462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principale limite des logs App Service (File System)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trop rapides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chiffrés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temporaires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inutilisables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88224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67096" y="3058301"/>
            <a:ext cx="5015412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Ils sont </a:t>
            </a:r>
            <a:r>
              <a:rPr dirty="0" err="1"/>
              <a:t>stockés</a:t>
            </a:r>
            <a:r>
              <a:rPr dirty="0"/>
              <a:t> </a:t>
            </a:r>
            <a:r>
              <a:rPr lang="fr-FR" dirty="0"/>
              <a:t>sur disque de la machine App Service</a:t>
            </a:r>
            <a:r>
              <a:rPr dirty="0"/>
              <a:t>.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l’instance redémarre → ❌ logs perdus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Azure change de machine → ❌ logs perdus</a:t>
            </a:r>
          </a:p>
          <a:p>
            <a:pPr>
              <a:defRPr sz="1600"/>
            </a:pPr>
            <a:r>
              <a:rPr lang="fr-FR" dirty="0"/>
              <a:t>Pour les voir : Log Stream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Différent de Application Insights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842" y="22426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675BF5A8-C3F2-101C-BF55-A8C89117F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117232"/>
              </p:ext>
            </p:extLst>
          </p:nvPr>
        </p:nvGraphicFramePr>
        <p:xfrm>
          <a:off x="454026" y="4797152"/>
          <a:ext cx="4519414" cy="1219200"/>
        </p:xfrm>
        <a:graphic>
          <a:graphicData uri="http://schemas.openxmlformats.org/drawingml/2006/table">
            <a:tbl>
              <a:tblPr/>
              <a:tblGrid>
                <a:gridCol w="919013">
                  <a:extLst>
                    <a:ext uri="{9D8B030D-6E8A-4147-A177-3AD203B41FA5}">
                      <a16:colId xmlns:a16="http://schemas.microsoft.com/office/drawing/2014/main" val="4033975775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72566701"/>
                    </a:ext>
                  </a:extLst>
                </a:gridCol>
                <a:gridCol w="2232249">
                  <a:extLst>
                    <a:ext uri="{9D8B030D-6E8A-4147-A177-3AD203B41FA5}">
                      <a16:colId xmlns:a16="http://schemas.microsoft.com/office/drawing/2014/main" val="33741954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File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Application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5208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Stockage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Local serveur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(cloud)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00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Durée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Temporaire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Configurable (jours/mois)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9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Analyse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❌ limitée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✔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472544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9AC453C7-2385-8D9F-CD2A-705345C86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127" y="4509120"/>
            <a:ext cx="3793313" cy="2142975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4E4BC1B-1A3C-A479-EC7D-BE41F69DD9C9}"/>
              </a:ext>
            </a:extLst>
          </p:cNvPr>
          <p:cNvCxnSpPr>
            <a:cxnSpLocks/>
          </p:cNvCxnSpPr>
          <p:nvPr/>
        </p:nvCxnSpPr>
        <p:spPr>
          <a:xfrm flipV="1">
            <a:off x="4860032" y="4627961"/>
            <a:ext cx="1944216" cy="961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BC7FD-713F-90B3-A473-D61B38F0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FD28175-F546-F83B-FA6F-F8E4D71F23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Métaphore camions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07769ED-7AFC-0FA5-C54B-00F868580E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564699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DE1A5-28A2-E171-F698-9C84FD96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F8E19-3127-DBE8-4386-670AFC6E6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conteneur</a:t>
            </a:r>
            <a:r>
              <a:rPr lang="en-US" dirty="0"/>
              <a:t> : </a:t>
            </a:r>
            <a:r>
              <a:rPr lang="en-US" dirty="0" err="1"/>
              <a:t>notre</a:t>
            </a:r>
            <a:r>
              <a:rPr lang="en-US" dirty="0"/>
              <a:t> camion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9C430D2B-4265-88B3-65B2-A1F56F277D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sz="2400" dirty="0"/>
              <a:t>📋 Plan de construction du camion = </a:t>
            </a:r>
            <a:r>
              <a:rPr lang="fr-FR" sz="2400" dirty="0" err="1"/>
              <a:t>Dockerfile</a:t>
            </a:r>
            <a:endParaRPr lang="fr-FR" sz="2400" dirty="0"/>
          </a:p>
          <a:p>
            <a:r>
              <a:rPr lang="fr-FR" sz="2400" dirty="0"/>
              <a:t>🚚 Camion prêt à rouler = Image Docker</a:t>
            </a:r>
          </a:p>
          <a:p>
            <a:r>
              <a:rPr lang="fr-FR" sz="2400" dirty="0"/>
              <a:t>🚚 Camion en circulation = Conteneur</a:t>
            </a:r>
          </a:p>
          <a:p>
            <a:r>
              <a:rPr lang="fr-FR" sz="2400" dirty="0"/>
              <a:t>📦 Colis à livrer = Requêtes HTTP / messages</a:t>
            </a:r>
          </a:p>
          <a:p>
            <a:endParaRPr lang="fr-FR" sz="2400" dirty="0"/>
          </a:p>
          <a:p>
            <a:r>
              <a:rPr lang="fr-FR" sz="2400" dirty="0"/>
              <a:t>Cycle de vie : </a:t>
            </a:r>
            <a:r>
              <a:rPr lang="fr-FR" sz="2400" dirty="0" err="1"/>
              <a:t>Dockerfile</a:t>
            </a:r>
            <a:r>
              <a:rPr lang="fr-FR" sz="2400" dirty="0"/>
              <a:t> → Image Docker → Conteneur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6590143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7C5D9-C253-85BB-4874-753C78083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E30F7-AE00-FB2E-AE5D-784421CE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Azure Container </a:t>
            </a:r>
            <a:r>
              <a:rPr lang="fr-FR" dirty="0" err="1"/>
              <a:t>Registry</a:t>
            </a:r>
            <a:r>
              <a:rPr lang="fr-FR" dirty="0"/>
              <a:t> (ACR)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ECB218B0-6792-AC7F-3F5E-44BE70845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sz="2400" dirty="0"/>
              <a:t>🏬 Dépôt de modèles de camions</a:t>
            </a:r>
          </a:p>
          <a:p>
            <a:endParaRPr lang="fr-FR" sz="2400" dirty="0"/>
          </a:p>
          <a:p>
            <a:r>
              <a:rPr lang="fr-FR" sz="2400" dirty="0" err="1">
                <a:highlight>
                  <a:srgbClr val="C0C0C0"/>
                </a:highlight>
              </a:rPr>
              <a:t>Dockerfile</a:t>
            </a:r>
            <a:r>
              <a:rPr lang="fr-FR" sz="2400" dirty="0"/>
              <a:t> → </a:t>
            </a:r>
            <a:r>
              <a:rPr lang="fr-FR" sz="2400" i="1" dirty="0" err="1"/>
              <a:t>build</a:t>
            </a:r>
            <a:r>
              <a:rPr lang="fr-FR" sz="2400" dirty="0"/>
              <a:t> → </a:t>
            </a:r>
            <a:r>
              <a:rPr lang="fr-FR" sz="2400" dirty="0">
                <a:highlight>
                  <a:srgbClr val="C0C0C0"/>
                </a:highlight>
              </a:rPr>
              <a:t>Image Docker </a:t>
            </a:r>
            <a:r>
              <a:rPr lang="fr-FR" sz="2400" dirty="0"/>
              <a:t>→ </a:t>
            </a:r>
            <a:r>
              <a:rPr lang="fr-FR" sz="2400" i="1" dirty="0"/>
              <a:t>push</a:t>
            </a:r>
            <a:r>
              <a:rPr lang="fr-FR" sz="2400" dirty="0"/>
              <a:t> → </a:t>
            </a:r>
            <a:r>
              <a:rPr lang="fr-FR" sz="2400" dirty="0">
                <a:highlight>
                  <a:srgbClr val="C0C0C0"/>
                </a:highlight>
              </a:rPr>
              <a:t>ACR</a:t>
            </a:r>
          </a:p>
          <a:p>
            <a:endParaRPr lang="fr-FR" sz="2400" dirty="0"/>
          </a:p>
          <a:p>
            <a:r>
              <a:rPr lang="fr-FR" sz="2400" dirty="0"/>
              <a:t>ACR stocke les modèles de camions prêts à être déployés (images Docker)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8444553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F29FB-F436-56BC-0D3F-83A2ACEA0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27833-26BA-239A-DA34-69AB8CAAB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Azure Container Instances (ACI)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D29E499D-7B2B-8D53-B0FF-73599EFAFC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🏬 ACR → 🚚 → 🅿️ ACI</a:t>
            </a:r>
          </a:p>
          <a:p>
            <a:r>
              <a:rPr lang="fr-FR" dirty="0"/>
              <a:t>ACI = Azure met à disposition une place de parking et fait tourner votre camion dessus.</a:t>
            </a:r>
          </a:p>
          <a:p>
            <a:r>
              <a:rPr lang="fr-FR" dirty="0"/>
              <a:t>Simple, rapide, peu de configuration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12772523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848AE-55D7-B6EC-2631-9B76B15D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E007-50E3-9480-85F3-307CE3735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Azure Container Apps (ACA)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0E3AF65-68BB-27E0-555F-C02ED0C48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Quand les colis augmentent : 📦📦📦📦📦</a:t>
            </a:r>
          </a:p>
          <a:p>
            <a:r>
              <a:rPr lang="fr-FR" dirty="0"/>
              <a:t>Il faut plus de camions : 🚚🚚🚚🚚🚚</a:t>
            </a:r>
          </a:p>
          <a:p>
            <a:r>
              <a:rPr lang="fr-FR" dirty="0"/>
              <a:t>Et donc plus de places : 🅿️🚚 🅿️🚚 🅿️🚚</a:t>
            </a:r>
          </a:p>
          <a:p>
            <a:r>
              <a:rPr lang="fr-FR" dirty="0"/>
              <a:t>Qui gère toute cette logistique ? </a:t>
            </a:r>
            <a:r>
              <a:rPr lang="fr-FR" dirty="0">
                <a:sym typeface="Wingdings" panose="05000000000000000000" pitchFamily="2" charset="2"/>
              </a:rPr>
              <a:t> ACA</a:t>
            </a:r>
            <a:endParaRPr lang="fr-FR" dirty="0"/>
          </a:p>
          <a:p>
            <a:r>
              <a:rPr lang="fr-FR" sz="2600" dirty="0"/>
              <a:t>Azure Container Instances ne fournit pas automatiquement :</a:t>
            </a:r>
          </a:p>
          <a:p>
            <a:pPr lvl="1"/>
            <a:r>
              <a:rPr lang="fr-FR" sz="2200" dirty="0"/>
              <a:t>l'ajout de camions </a:t>
            </a:r>
          </a:p>
          <a:p>
            <a:pPr lvl="1"/>
            <a:r>
              <a:rPr lang="fr-FR" sz="2200" dirty="0"/>
              <a:t>le retrait de camions </a:t>
            </a:r>
          </a:p>
          <a:p>
            <a:pPr lvl="1"/>
            <a:r>
              <a:rPr lang="fr-FR" sz="2200" dirty="0"/>
              <a:t>la répartition des colis </a:t>
            </a:r>
          </a:p>
          <a:p>
            <a:pPr lvl="1"/>
            <a:r>
              <a:rPr lang="fr-FR" sz="2200" dirty="0"/>
              <a:t>les mises à jour progressives </a:t>
            </a:r>
          </a:p>
          <a:p>
            <a:r>
              <a:rPr lang="fr-FR" sz="2600" dirty="0"/>
              <a:t>👉 C'est le problème qu'Azure Container Apps cherche à résoudre.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66136584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7070-343B-225A-0CF5-13C2ADC9B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9DA60-919B-7E9C-5281-07802F86D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ACA </a:t>
            </a:r>
            <a:r>
              <a:rPr lang="fr-FR" dirty="0" err="1"/>
              <a:t>Environment</a:t>
            </a:r>
            <a:r>
              <a:rPr lang="fr-FR" dirty="0"/>
              <a:t> : la zone logistique 1/2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8908E7BE-6C44-5EE1-1E71-3FF35DDEC3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sz="2400" dirty="0"/>
              <a:t>Azure Container Apps s'appuie sur un ACA </a:t>
            </a:r>
            <a:r>
              <a:rPr lang="fr-FR" sz="2400" dirty="0" err="1"/>
              <a:t>Environment</a:t>
            </a:r>
            <a:endParaRPr lang="fr-FR" sz="2400" dirty="0"/>
          </a:p>
          <a:p>
            <a:r>
              <a:rPr lang="fr-FR" sz="2400" dirty="0"/>
              <a:t>🏭 ACA </a:t>
            </a:r>
            <a:r>
              <a:rPr lang="fr-FR" sz="2400" dirty="0" err="1"/>
              <a:t>Environment</a:t>
            </a:r>
            <a:r>
              <a:rPr lang="fr-FR" sz="2400" dirty="0"/>
              <a:t> = zone logistique partagée</a:t>
            </a:r>
          </a:p>
          <a:p>
            <a:r>
              <a:rPr lang="fr-FR" sz="2400" b="1" dirty="0"/>
              <a:t>Azure fournit</a:t>
            </a:r>
          </a:p>
          <a:p>
            <a:pPr lvl="1"/>
            <a:r>
              <a:rPr lang="fr-FR" sz="2000" dirty="0"/>
              <a:t>les routes </a:t>
            </a:r>
          </a:p>
          <a:p>
            <a:pPr lvl="1"/>
            <a:r>
              <a:rPr lang="fr-FR" sz="2000" dirty="0"/>
              <a:t>les parkings </a:t>
            </a:r>
          </a:p>
          <a:p>
            <a:pPr lvl="1"/>
            <a:r>
              <a:rPr lang="fr-FR" sz="2000" dirty="0"/>
              <a:t>les quais </a:t>
            </a:r>
          </a:p>
          <a:p>
            <a:pPr lvl="1"/>
            <a:r>
              <a:rPr lang="fr-FR" sz="2000" dirty="0"/>
              <a:t>la sécurité </a:t>
            </a:r>
          </a:p>
          <a:p>
            <a:pPr lvl="1"/>
            <a:r>
              <a:rPr lang="fr-FR" sz="2000" dirty="0"/>
              <a:t>le réseau </a:t>
            </a:r>
          </a:p>
          <a:p>
            <a:pPr lvl="1"/>
            <a:r>
              <a:rPr lang="fr-FR" sz="2000" dirty="0"/>
              <a:t>l'infrastructure </a:t>
            </a:r>
            <a:r>
              <a:rPr lang="fr-FR" sz="2000" dirty="0" err="1"/>
              <a:t>Kubernetes</a:t>
            </a:r>
            <a:endParaRPr lang="fr-FR" sz="2000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06721418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F75A9-25E8-5C78-5BC9-E46FE4C8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0146-5EB9-8A2D-C8F7-25005C557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ACA </a:t>
            </a:r>
            <a:r>
              <a:rPr lang="fr-FR" dirty="0" err="1"/>
              <a:t>Environment</a:t>
            </a:r>
            <a:r>
              <a:rPr lang="fr-FR" dirty="0"/>
              <a:t> : la zone logistique 2/2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0488B277-5C38-7A40-BDCE-5DF35315C9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Les entreprises de la zone</a:t>
            </a:r>
          </a:p>
          <a:p>
            <a:r>
              <a:rPr lang="fr-FR" dirty="0"/>
              <a:t>🏭 ACA </a:t>
            </a:r>
            <a:r>
              <a:rPr lang="fr-FR" dirty="0" err="1"/>
              <a:t>Environment</a:t>
            </a:r>
            <a:endParaRPr lang="fr-FR" dirty="0"/>
          </a:p>
          <a:p>
            <a:pPr lvl="1"/>
            <a:r>
              <a:rPr lang="fr-FR" dirty="0"/>
              <a:t>🚚 </a:t>
            </a:r>
            <a:r>
              <a:rPr lang="fr-FR" dirty="0" err="1"/>
              <a:t>Front-End</a:t>
            </a:r>
            <a:endParaRPr lang="fr-FR" dirty="0"/>
          </a:p>
          <a:p>
            <a:pPr lvl="1"/>
            <a:r>
              <a:rPr lang="fr-FR" dirty="0"/>
              <a:t>🚚 API</a:t>
            </a:r>
          </a:p>
          <a:p>
            <a:pPr lvl="1"/>
            <a:r>
              <a:rPr lang="fr-FR" dirty="0"/>
              <a:t>🚚 </a:t>
            </a:r>
            <a:r>
              <a:rPr lang="fr-FR" dirty="0" err="1"/>
              <a:t>Worker</a:t>
            </a:r>
            <a:endParaRPr lang="fr-FR" dirty="0"/>
          </a:p>
          <a:p>
            <a:endParaRPr lang="fr-FR" dirty="0"/>
          </a:p>
          <a:p>
            <a:r>
              <a:rPr lang="fr-FR" dirty="0"/>
              <a:t>Chaque entreprise possède ses propres camions mais partage la même zone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553158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2FD20-4B99-9A27-9B99-729D8A257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CAF68-B024-8DAB-0E12-F2CA25507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Services mutualisés de la zone</a:t>
            </a:r>
            <a:endParaRPr lang="en-US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2002D52-4A41-1282-8B7A-39C68DAE54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Correspondance Azure :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A0D369E3-CEAC-8E5A-A0D3-C6DD443F6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973007"/>
              </p:ext>
            </p:extLst>
          </p:nvPr>
        </p:nvGraphicFramePr>
        <p:xfrm>
          <a:off x="323528" y="2204864"/>
          <a:ext cx="8229600" cy="29260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40682335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31401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Métaphore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Azure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095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🏭 Centre logistique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ACA Environment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8861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👷 Chef logistique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Azure Container Apps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901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🚚 Camion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Replica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685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➕ Ajout de camions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KEDA / </a:t>
                      </a:r>
                      <a:r>
                        <a:rPr lang="fr-FR" dirty="0" err="1"/>
                        <a:t>Autoscaling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692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📦 Répartition des colis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Load Balancing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7884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🌐 Gestion des 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Ingress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8354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🔄 Remplacement des camions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Revisions</a:t>
                      </a:r>
                      <a:r>
                        <a:rPr lang="fr-FR" dirty="0"/>
                        <a:t> / Blue-Green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258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603460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70E2-1C2C-35CC-5973-6C6A096D0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9EEC-8AD4-D38F-E4EF-5FAA10E5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F751-ACC4-96D9-3D48-3B274D125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CC13E4-4D5E-91ED-58B1-DB7A6074D46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625CC5-DD6B-E9D9-0B8F-F846F6A4A96B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DEDB9A-0E93-F8E6-201E-1FC402B3C7D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80C89-C736-8A06-9D51-E02FF0D68280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4024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14987</Words>
  <Application>Microsoft Office PowerPoint</Application>
  <PresentationFormat>Affichage à l'écran (4:3)</PresentationFormat>
  <Paragraphs>3113</Paragraphs>
  <Slides>210</Slides>
  <Notes>116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210</vt:i4>
      </vt:variant>
    </vt:vector>
  </HeadingPairs>
  <TitlesOfParts>
    <vt:vector size="223" baseType="lpstr">
      <vt:lpstr>Arial</vt:lpstr>
      <vt:lpstr>Arial Black</vt:lpstr>
      <vt:lpstr>Calibri</vt:lpstr>
      <vt:lpstr>Cambria Math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Chiffrement Symétique et Asymétrique</vt:lpstr>
      <vt:lpstr>Utilisation des 2 : Symétrique et Asymétrique</vt:lpstr>
      <vt:lpstr>Clés publiques / privées</vt:lpstr>
      <vt:lpstr>Clés publiques / privées - Principes</vt:lpstr>
      <vt:lpstr>Chiffrement clé asymétrique</vt:lpstr>
      <vt:lpstr>Signature clé asymétrique</vt:lpstr>
      <vt:lpstr>Clés publiques / privées</vt:lpstr>
      <vt:lpstr>Certificats</vt:lpstr>
      <vt:lpstr>Certificats et clés</vt:lpstr>
      <vt:lpstr>Chiffrement clé asymétrique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Le conteneur : notre camion</vt:lpstr>
      <vt:lpstr>Azure Container Registry (ACR)</vt:lpstr>
      <vt:lpstr>Azure Container Instances (ACI)</vt:lpstr>
      <vt:lpstr>Azure Container Apps (ACA)</vt:lpstr>
      <vt:lpstr>ACA Environment : la zone logistique 1/2</vt:lpstr>
      <vt:lpstr>ACA Environment : la zone logistique 2/2</vt:lpstr>
      <vt:lpstr>Services mutualisés de la zone</vt:lpstr>
      <vt:lpstr>Présentation PowerPoint</vt:lpstr>
      <vt:lpstr>Question XXX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392</cp:revision>
  <cp:lastPrinted>2012-08-28T00:39:50Z</cp:lastPrinted>
  <dcterms:created xsi:type="dcterms:W3CDTF">2012-09-10T15:00:36Z</dcterms:created>
  <dcterms:modified xsi:type="dcterms:W3CDTF">2026-06-01T21:11:28Z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