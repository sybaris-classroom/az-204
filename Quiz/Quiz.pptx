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209"/>
  </p:notesMasterIdLst>
  <p:handoutMasterIdLst>
    <p:handoutMasterId r:id="rId210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836" r:id="rId160"/>
    <p:sldId id="837" r:id="rId161"/>
    <p:sldId id="838" r:id="rId162"/>
    <p:sldId id="839" r:id="rId163"/>
    <p:sldId id="840" r:id="rId164"/>
    <p:sldId id="841" r:id="rId165"/>
    <p:sldId id="842" r:id="rId166"/>
    <p:sldId id="843" r:id="rId167"/>
    <p:sldId id="844" r:id="rId168"/>
    <p:sldId id="845" r:id="rId169"/>
    <p:sldId id="846" r:id="rId170"/>
    <p:sldId id="847" r:id="rId171"/>
    <p:sldId id="848" r:id="rId172"/>
    <p:sldId id="857" r:id="rId173"/>
    <p:sldId id="849" r:id="rId174"/>
    <p:sldId id="850" r:id="rId175"/>
    <p:sldId id="851" r:id="rId176"/>
    <p:sldId id="852" r:id="rId177"/>
    <p:sldId id="853" r:id="rId178"/>
    <p:sldId id="854" r:id="rId179"/>
    <p:sldId id="855" r:id="rId180"/>
    <p:sldId id="856" r:id="rId181"/>
    <p:sldId id="858" r:id="rId182"/>
    <p:sldId id="859" r:id="rId183"/>
    <p:sldId id="860" r:id="rId184"/>
    <p:sldId id="861" r:id="rId185"/>
    <p:sldId id="862" r:id="rId186"/>
    <p:sldId id="863" r:id="rId187"/>
    <p:sldId id="864" r:id="rId188"/>
    <p:sldId id="865" r:id="rId189"/>
    <p:sldId id="866" r:id="rId190"/>
    <p:sldId id="867" r:id="rId191"/>
    <p:sldId id="868" r:id="rId192"/>
    <p:sldId id="869" r:id="rId193"/>
    <p:sldId id="880" r:id="rId194"/>
    <p:sldId id="870" r:id="rId195"/>
    <p:sldId id="871" r:id="rId196"/>
    <p:sldId id="881" r:id="rId197"/>
    <p:sldId id="872" r:id="rId198"/>
    <p:sldId id="873" r:id="rId199"/>
    <p:sldId id="882" r:id="rId200"/>
    <p:sldId id="883" r:id="rId201"/>
    <p:sldId id="884" r:id="rId202"/>
    <p:sldId id="877" r:id="rId203"/>
    <p:sldId id="878" r:id="rId204"/>
    <p:sldId id="879" r:id="rId205"/>
    <p:sldId id="704" r:id="rId206"/>
    <p:sldId id="756" r:id="rId207"/>
    <p:sldId id="808" r:id="rId208"/>
  </p:sldIdLst>
  <p:sldSz cx="9144000" cy="6858000" type="screen4x3"/>
  <p:notesSz cx="7023100" cy="9309100"/>
  <p:custDataLst>
    <p:tags r:id="rId21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11" id="{36274EC8-C7F8-428F-8013-3FB42E28D0B7}">
          <p14:sldIdLst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44"/>
            <p14:sldId id="845"/>
            <p14:sldId id="846"/>
            <p14:sldId id="847"/>
            <p14:sldId id="848"/>
            <p14:sldId id="857"/>
            <p14:sldId id="849"/>
            <p14:sldId id="850"/>
            <p14:sldId id="851"/>
            <p14:sldId id="852"/>
            <p14:sldId id="853"/>
            <p14:sldId id="854"/>
            <p14:sldId id="855"/>
            <p14:sldId id="856"/>
            <p14:sldId id="858"/>
          </p14:sldIdLst>
        </p14:section>
        <p14:section name="quiz12" id="{587ACA08-3417-46CA-84CD-55E1AA27674F}">
          <p14:sldIdLst>
            <p14:sldId id="859"/>
            <p14:sldId id="860"/>
            <p14:sldId id="861"/>
            <p14:sldId id="862"/>
            <p14:sldId id="863"/>
            <p14:sldId id="864"/>
            <p14:sldId id="865"/>
            <p14:sldId id="866"/>
            <p14:sldId id="867"/>
            <p14:sldId id="868"/>
            <p14:sldId id="869"/>
            <p14:sldId id="880"/>
            <p14:sldId id="870"/>
            <p14:sldId id="871"/>
            <p14:sldId id="881"/>
            <p14:sldId id="872"/>
            <p14:sldId id="873"/>
            <p14:sldId id="882"/>
            <p14:sldId id="883"/>
            <p14:sldId id="884"/>
            <p14:sldId id="877"/>
            <p14:sldId id="878"/>
            <p14:sldId id="879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89038" autoAdjust="0"/>
  </p:normalViewPr>
  <p:slideViewPr>
    <p:cSldViewPr>
      <p:cViewPr varScale="1">
        <p:scale>
          <a:sx n="106" d="100"/>
          <a:sy n="106" d="100"/>
        </p:scale>
        <p:origin x="858" y="114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openxmlformats.org/officeDocument/2006/relationships/slide" Target="slides/slide153.xml"/><Relationship Id="rId170" Type="http://schemas.openxmlformats.org/officeDocument/2006/relationships/slide" Target="slides/slide164.xml"/><Relationship Id="rId191" Type="http://schemas.openxmlformats.org/officeDocument/2006/relationships/slide" Target="slides/slide185.xml"/><Relationship Id="rId205" Type="http://schemas.openxmlformats.org/officeDocument/2006/relationships/slide" Target="slides/slide199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144" Type="http://schemas.openxmlformats.org/officeDocument/2006/relationships/slide" Target="slides/slide138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65" Type="http://schemas.openxmlformats.org/officeDocument/2006/relationships/slide" Target="slides/slide159.xml"/><Relationship Id="rId181" Type="http://schemas.openxmlformats.org/officeDocument/2006/relationships/slide" Target="slides/slide175.xml"/><Relationship Id="rId186" Type="http://schemas.openxmlformats.org/officeDocument/2006/relationships/slide" Target="slides/slide180.xml"/><Relationship Id="rId216" Type="http://schemas.openxmlformats.org/officeDocument/2006/relationships/tableStyles" Target="tableStyles.xml"/><Relationship Id="rId211" Type="http://schemas.openxmlformats.org/officeDocument/2006/relationships/tags" Target="tags/tag1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71" Type="http://schemas.openxmlformats.org/officeDocument/2006/relationships/slide" Target="slides/slide165.xml"/><Relationship Id="rId176" Type="http://schemas.openxmlformats.org/officeDocument/2006/relationships/slide" Target="slides/slide170.xml"/><Relationship Id="rId192" Type="http://schemas.openxmlformats.org/officeDocument/2006/relationships/slide" Target="slides/slide186.xml"/><Relationship Id="rId197" Type="http://schemas.openxmlformats.org/officeDocument/2006/relationships/slide" Target="slides/slide191.xml"/><Relationship Id="rId206" Type="http://schemas.openxmlformats.org/officeDocument/2006/relationships/slide" Target="slides/slide200.xml"/><Relationship Id="rId201" Type="http://schemas.openxmlformats.org/officeDocument/2006/relationships/slide" Target="slides/slide195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slide" Target="slides/slide160.xml"/><Relationship Id="rId182" Type="http://schemas.openxmlformats.org/officeDocument/2006/relationships/slide" Target="slides/slide176.xml"/><Relationship Id="rId187" Type="http://schemas.openxmlformats.org/officeDocument/2006/relationships/slide" Target="slides/slide18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12" Type="http://schemas.openxmlformats.org/officeDocument/2006/relationships/commentAuthors" Target="commentAuthors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77" Type="http://schemas.openxmlformats.org/officeDocument/2006/relationships/slide" Target="slides/slide171.xml"/><Relationship Id="rId198" Type="http://schemas.openxmlformats.org/officeDocument/2006/relationships/slide" Target="slides/slide192.xml"/><Relationship Id="rId172" Type="http://schemas.openxmlformats.org/officeDocument/2006/relationships/slide" Target="slides/slide166.xml"/><Relationship Id="rId193" Type="http://schemas.openxmlformats.org/officeDocument/2006/relationships/slide" Target="slides/slide187.xml"/><Relationship Id="rId202" Type="http://schemas.openxmlformats.org/officeDocument/2006/relationships/slide" Target="slides/slide196.xml"/><Relationship Id="rId207" Type="http://schemas.openxmlformats.org/officeDocument/2006/relationships/slide" Target="slides/slide201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slide" Target="slides/slide161.xml"/><Relationship Id="rId188" Type="http://schemas.openxmlformats.org/officeDocument/2006/relationships/slide" Target="slides/slide182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183" Type="http://schemas.openxmlformats.org/officeDocument/2006/relationships/slide" Target="slides/slide177.xml"/><Relationship Id="rId213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178" Type="http://schemas.openxmlformats.org/officeDocument/2006/relationships/slide" Target="slides/slide17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73" Type="http://schemas.openxmlformats.org/officeDocument/2006/relationships/slide" Target="slides/slide167.xml"/><Relationship Id="rId194" Type="http://schemas.openxmlformats.org/officeDocument/2006/relationships/slide" Target="slides/slide188.xml"/><Relationship Id="rId199" Type="http://schemas.openxmlformats.org/officeDocument/2006/relationships/slide" Target="slides/slide193.xml"/><Relationship Id="rId203" Type="http://schemas.openxmlformats.org/officeDocument/2006/relationships/slide" Target="slides/slide197.xml"/><Relationship Id="rId208" Type="http://schemas.openxmlformats.org/officeDocument/2006/relationships/slide" Target="slides/slide202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slide" Target="slides/slide162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slide" Target="slides/slide157.xml"/><Relationship Id="rId184" Type="http://schemas.openxmlformats.org/officeDocument/2006/relationships/slide" Target="slides/slide178.xml"/><Relationship Id="rId189" Type="http://schemas.openxmlformats.org/officeDocument/2006/relationships/slide" Target="slides/slide183.xml"/><Relationship Id="rId3" Type="http://schemas.openxmlformats.org/officeDocument/2006/relationships/customXml" Target="../customXml/item3.xml"/><Relationship Id="rId214" Type="http://schemas.openxmlformats.org/officeDocument/2006/relationships/viewProps" Target="viewProps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74" Type="http://schemas.openxmlformats.org/officeDocument/2006/relationships/slide" Target="slides/slide168.xml"/><Relationship Id="rId179" Type="http://schemas.openxmlformats.org/officeDocument/2006/relationships/slide" Target="slides/slide173.xml"/><Relationship Id="rId195" Type="http://schemas.openxmlformats.org/officeDocument/2006/relationships/slide" Target="slides/slide189.xml"/><Relationship Id="rId209" Type="http://schemas.openxmlformats.org/officeDocument/2006/relationships/notesMaster" Target="notesMasters/notesMaster1.xml"/><Relationship Id="rId190" Type="http://schemas.openxmlformats.org/officeDocument/2006/relationships/slide" Target="slides/slide184.xml"/><Relationship Id="rId204" Type="http://schemas.openxmlformats.org/officeDocument/2006/relationships/slide" Target="slides/slide198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64" Type="http://schemas.openxmlformats.org/officeDocument/2006/relationships/slide" Target="slides/slide158.xml"/><Relationship Id="rId169" Type="http://schemas.openxmlformats.org/officeDocument/2006/relationships/slide" Target="slides/slide163.xml"/><Relationship Id="rId185" Type="http://schemas.openxmlformats.org/officeDocument/2006/relationships/slide" Target="slides/slide17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80" Type="http://schemas.openxmlformats.org/officeDocument/2006/relationships/slide" Target="slides/slide174.xml"/><Relationship Id="rId210" Type="http://schemas.openxmlformats.org/officeDocument/2006/relationships/handoutMaster" Target="handoutMasters/handoutMaster1.xml"/><Relationship Id="rId215" Type="http://schemas.openxmlformats.org/officeDocument/2006/relationships/theme" Target="theme/theme1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slide" Target="slides/slide148.xml"/><Relationship Id="rId175" Type="http://schemas.openxmlformats.org/officeDocument/2006/relationships/slide" Target="slides/slide169.xml"/><Relationship Id="rId196" Type="http://schemas.openxmlformats.org/officeDocument/2006/relationships/slide" Target="slides/slide190.xml"/><Relationship Id="rId200" Type="http://schemas.openxmlformats.org/officeDocument/2006/relationships/slide" Target="slides/slide194.xml"/><Relationship Id="rId16" Type="http://schemas.openxmlformats.org/officeDocument/2006/relationships/slide" Target="slides/slide10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202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201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https://azure.microsoft.com/fr-fr/pricing/details/storage/blobs/</a:t>
            </a:r>
          </a:p>
          <a:p>
            <a:endParaRPr lang="fr-FR" sz="1200" i="1" kern="1200" dirty="0">
              <a:solidFill>
                <a:schemeClr val="tx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Tier    | Accès    | Coût stockage (€/Go/mois) | Coût accès (lecture)               | Usage    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Hot     | immédiat | ~0,018 €                  | très faible (~0,004 €/10k)         | accès fréquent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Cool    | immédiat | ~0,01 €                   | plus élevé (~0,01 €/10k)           | accès occasionnel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Archive | lent     | ~0,002 €                  | élevé + réhydratation (~0,02 €/Go) | archivage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3598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4181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678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Deux types : Metric alerts et Log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en debug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B517D-066A-3097-DB88-5DC1A45E9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416E0-000F-8758-6CED-CFD3107D1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DCFBD-E570-54D6-3D25-ACB157059E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A19EF-D372-A19D-C287-4E2819EBD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054929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Requêtes, exceptions, dépendances,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pour diagnostiquer les lenteurs.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important pour diagnostiquer les performances.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Visualisation globale de l’architecture.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Différent d’Application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Attention à ne pas utiliser l’interpolation de chaîne ($"").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Ensuite, on configure les ressources pour envoyer leurs logs vers 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Application Insights est centré application, pas multi-ressources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Utilisé avec KQL.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Associé aux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Préférer Blob ou 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3.xml"/><Relationship Id="rId26" Type="http://schemas.openxmlformats.org/officeDocument/2006/relationships/slide" Target="slide73.xml"/><Relationship Id="rId3" Type="http://schemas.openxmlformats.org/officeDocument/2006/relationships/image" Target="../media/image11.png"/><Relationship Id="rId21" Type="http://schemas.openxmlformats.org/officeDocument/2006/relationships/slide" Target="slide24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slide" Target="slide60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slide" Target="slide15.xml"/><Relationship Id="rId29" Type="http://schemas.openxmlformats.org/officeDocument/2006/relationships/slide" Target="slide1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52.xml"/><Relationship Id="rId32" Type="http://schemas.openxmlformats.org/officeDocument/2006/relationships/slide" Target="slide200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45.xml"/><Relationship Id="rId28" Type="http://schemas.openxmlformats.org/officeDocument/2006/relationships/slide" Target="slide122.xml"/><Relationship Id="rId10" Type="http://schemas.openxmlformats.org/officeDocument/2006/relationships/image" Target="../media/image18.png"/><Relationship Id="rId19" Type="http://schemas.openxmlformats.org/officeDocument/2006/relationships/slide" Target="slide6.xml"/><Relationship Id="rId31" Type="http://schemas.openxmlformats.org/officeDocument/2006/relationships/slide" Target="slide177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34.xml"/><Relationship Id="rId27" Type="http://schemas.openxmlformats.org/officeDocument/2006/relationships/slide" Target="slide94.xml"/><Relationship Id="rId30" Type="http://schemas.openxmlformats.org/officeDocument/2006/relationships/slide" Target="slide1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8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emf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8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8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8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8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8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8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8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8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8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8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8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8.emf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8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8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8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74597615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6274EC8-C7F8-428F-8013-3FB42E28D0B7}">
                    <psuz:zmPr id="{343A1210-326F-4BE8-B982-78BA33EE4293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7ACA08-3417-46CA-84CD-55E1AA27674F}">
                    <psuz:zmPr id="{767FE17E-9B52-4E19-BFB6-CA3483B61783}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30916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609422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87928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66434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0916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9422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87928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66434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916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09422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87928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2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6434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8" name="Image 18">
                  <a:hlinkClick r:id="rId3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916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9" name="Image 19">
                  <a:hlinkClick r:id="rId3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609422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3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7928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377568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30901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13961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6A25-1117-5417-3CB2-177FEC8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0E91AC1-1251-E07E-A7DF-260A042F78C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1F6D6E-E18D-EB36-115A-D4DD2F6251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blob </a:t>
            </a:r>
            <a:r>
              <a:rPr lang="fr-FR" dirty="0" err="1"/>
              <a:t>storage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921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relationnelle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calcul serverless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messagerie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système de stockage d’objets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54272" y="5066897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Blob Storage est un service de stockage d’objets pour des données non structurées.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122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est adapté à 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Tables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Fichiers binaires volumineux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Transactions ACID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319889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5425955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optimisé pour les fichiers non structurés comme images, vidéos, documents.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Quels sont les types de blobs disponibles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Block, Append, Page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SQL, NoSQL, Graph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Hot, Cold, Archive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Queue, Table, File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7096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17" y="166067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FB3C1B-8282-1A08-F22C-8F1EEFD11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26759"/>
              </p:ext>
            </p:extLst>
          </p:nvPr>
        </p:nvGraphicFramePr>
        <p:xfrm>
          <a:off x="114794" y="4221088"/>
          <a:ext cx="8783785" cy="20726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56757">
                  <a:extLst>
                    <a:ext uri="{9D8B030D-6E8A-4147-A177-3AD203B41FA5}">
                      <a16:colId xmlns:a16="http://schemas.microsoft.com/office/drawing/2014/main" val="113591366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083567521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35207578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47787221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579519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Usage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Mode d’écriture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Cas typique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À retenir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496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Block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Fichiers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Upload</a:t>
                      </a:r>
                      <a:r>
                        <a:rPr lang="fr-FR" sz="1600" dirty="0"/>
                        <a:t> complet / blocs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Images, PDF, vidéos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Par défaut</a:t>
                      </a:r>
                    </a:p>
                    <a:p>
                      <a:pPr>
                        <a:buNone/>
                      </a:pPr>
                      <a:r>
                        <a:rPr lang="fr-FR" sz="1600" dirty="0"/>
                        <a:t>- 90% des usages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653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 applicatifs, audit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73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Page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Accès aléatoire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Lecture/écriture ciblée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Disques VM (VHD)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Cas spécifiques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477815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2A66ACEB-EBF1-260F-4025-6B45A5F4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716215"/>
            <a:ext cx="4058862" cy="23692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86C27AA-9043-C9F9-C59E-E4DE5409ACE3}"/>
              </a:ext>
            </a:extLst>
          </p:cNvPr>
          <p:cNvSpPr/>
          <p:nvPr/>
        </p:nvSpPr>
        <p:spPr>
          <a:xfrm>
            <a:off x="4572000" y="3645024"/>
            <a:ext cx="237626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d’un container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tables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Organiser les blobs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container est un équivalent de dossier permettant d’organiser les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niveau d’accès permet de rendre un blob accessible publiquement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Private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Secure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Encrypted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213961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2971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niveau 'Blob' permet un accès public aux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CB692D-10E5-3355-50EA-B2EDF00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94" y="4113814"/>
            <a:ext cx="5040560" cy="15355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E1F0B97-67D3-342C-7ED5-5A47E867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028" y="3886200"/>
            <a:ext cx="3866142" cy="24398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SDK est utilisé en C# pour accéder à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Microsoft.Data.SqlClient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Azure.Identity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Newtonsoft.Json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Azure.Storage.Blobs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SDK principal est Azure.Storage.Blobs.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permet de manipuler un container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BlobContainerClient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ContainerManager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BlobContainerClient permet de manipuler un container.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d’uploader un fichier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UploadAsync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SendAsync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WriteAsync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PushAsync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44363" y="3325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UploadAsync est utilisée pour envoyer un fichier dans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609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de télécharger un blob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GetAsync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DownloadAsync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FetchAsync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50991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DownloadAsync permet de récupérer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396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permet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une base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S’authentifier sans mot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Compresser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69240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permet d’accéder aux ressources sans stocker de credentials.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RBAC est nécessaire pour lire/écrire des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Admin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Blob Data </a:t>
            </a:r>
            <a:r>
              <a:rPr lang="fr-FR" sz="2000" dirty="0" err="1"/>
              <a:t>Contributor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852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Storage Blob Data Contributor permet lecture/écriture.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1984" y="25090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Hot et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 est plus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plus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moins cher mais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38610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416" y="4930239"/>
            <a:ext cx="5258619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est moins cher mais avec un temps d’accès long.</a:t>
            </a:r>
            <a:br>
              <a:rPr lang="fr-FR" dirty="0"/>
            </a:br>
            <a:r>
              <a:rPr lang="fr-FR" dirty="0"/>
              <a:t>Il existe 3 tiers :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Hot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Cool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Cold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Archive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7D94-DFA6-3D50-E619-A62764ED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F75E9C-D2F1-8468-F028-ADC65D0B188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0A75B-E5CF-0C21-E02A-8AD55DC805B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2FD54-7998-C7CF-3FAB-70438D525C7A}"/>
              </a:ext>
            </a:extLst>
          </p:cNvPr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configurer le tier (</a:t>
            </a:r>
            <a:r>
              <a:rPr sz="2000" dirty="0"/>
              <a:t>Hot </a:t>
            </a:r>
            <a:r>
              <a:rPr lang="fr-FR" sz="2000" dirty="0"/>
              <a:t>/ Cool /</a:t>
            </a:r>
            <a:r>
              <a:rPr sz="2000" dirty="0"/>
              <a:t> Archive</a:t>
            </a:r>
            <a:r>
              <a:rPr lang="fr-FR" sz="2000" dirty="0"/>
              <a:t>) dans Azure Blob Storage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container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blob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</a:t>
            </a:r>
            <a:r>
              <a:rPr lang="fr-FR" sz="2000" dirty="0" err="1"/>
              <a:t>storage</a:t>
            </a:r>
            <a:r>
              <a:rPr lang="fr-FR" sz="2000" dirty="0"/>
              <a:t> </a:t>
            </a:r>
            <a:r>
              <a:rPr lang="fr-FR" sz="2000" dirty="0" err="1"/>
              <a:t>account</a:t>
            </a:r>
            <a:r>
              <a:rPr lang="fr-FR" sz="2000" dirty="0"/>
              <a:t> et du 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d’Azure AD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88E45-28DC-7F40-FDD3-84F18F55C9D1}"/>
              </a:ext>
            </a:extLst>
          </p:cNvPr>
          <p:cNvSpPr txBox="1"/>
          <p:nvPr/>
        </p:nvSpPr>
        <p:spPr>
          <a:xfrm>
            <a:off x="6372200" y="293546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0147A9C-2E48-1CCA-BA84-78C71FE61EFD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F74D8-4B00-F419-6596-C4D78DA9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05" y="3490095"/>
            <a:ext cx="4820081" cy="10885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FDB848D-26BF-50A3-0E3F-0B587054B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5" y="5032575"/>
            <a:ext cx="4585535" cy="185280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BA05F3-4BAB-A44B-6C97-A39DED5C8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702" y="4833271"/>
            <a:ext cx="1646252" cy="196597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21435C0-FBF1-0800-26B9-17C2465B748D}"/>
              </a:ext>
            </a:extLst>
          </p:cNvPr>
          <p:cNvSpPr txBox="1"/>
          <p:nvPr/>
        </p:nvSpPr>
        <p:spPr>
          <a:xfrm>
            <a:off x="278904" y="3161333"/>
            <a:ext cx="1832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Storage </a:t>
            </a:r>
            <a:r>
              <a:rPr lang="fr-FR" u="sng" dirty="0" err="1"/>
              <a:t>account</a:t>
            </a:r>
            <a:endParaRPr lang="fr-FR" u="sng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41CEE31-E31D-B743-CC39-750C59B93C72}"/>
              </a:ext>
            </a:extLst>
          </p:cNvPr>
          <p:cNvSpPr txBox="1"/>
          <p:nvPr/>
        </p:nvSpPr>
        <p:spPr>
          <a:xfrm>
            <a:off x="263008" y="464454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Blob</a:t>
            </a:r>
          </a:p>
        </p:txBody>
      </p:sp>
    </p:spTree>
    <p:extLst>
      <p:ext uri="{BB962C8B-B14F-4D97-AF65-F5344CB8AC3E}">
        <p14:creationId xmlns:p14="http://schemas.microsoft.com/office/powerpoint/2010/main" val="156888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4" grpId="0"/>
      <p:bldP spid="1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temps d’accès typique du tier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Instantané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minutes à heures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Plusieurs jours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7805" y="304826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417594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nécessite une réhydratation qui peut prendre plusieurs heures.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4E58F0C-3D61-C56F-6B9B-F6DBE78A2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076526"/>
              </p:ext>
            </p:extLst>
          </p:nvPr>
        </p:nvGraphicFramePr>
        <p:xfrm>
          <a:off x="114794" y="3953130"/>
          <a:ext cx="8921700" cy="21031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56041">
                  <a:extLst>
                    <a:ext uri="{9D8B030D-6E8A-4147-A177-3AD203B41FA5}">
                      <a16:colId xmlns:a16="http://schemas.microsoft.com/office/drawing/2014/main" val="2265568076"/>
                    </a:ext>
                  </a:extLst>
                </a:gridCol>
                <a:gridCol w="1526966">
                  <a:extLst>
                    <a:ext uri="{9D8B030D-6E8A-4147-A177-3AD203B41FA5}">
                      <a16:colId xmlns:a16="http://schemas.microsoft.com/office/drawing/2014/main" val="720263575"/>
                    </a:ext>
                  </a:extLst>
                </a:gridCol>
                <a:gridCol w="1777843">
                  <a:extLst>
                    <a:ext uri="{9D8B030D-6E8A-4147-A177-3AD203B41FA5}">
                      <a16:colId xmlns:a16="http://schemas.microsoft.com/office/drawing/2014/main" val="3931508045"/>
                    </a:ext>
                  </a:extLst>
                </a:gridCol>
                <a:gridCol w="1486950">
                  <a:extLst>
                    <a:ext uri="{9D8B030D-6E8A-4147-A177-3AD203B41FA5}">
                      <a16:colId xmlns:a16="http://schemas.microsoft.com/office/drawing/2014/main" val="1871220206"/>
                    </a:ext>
                  </a:extLst>
                </a:gridCol>
                <a:gridCol w="1749766">
                  <a:extLst>
                    <a:ext uri="{9D8B030D-6E8A-4147-A177-3AD203B41FA5}">
                      <a16:colId xmlns:a16="http://schemas.microsoft.com/office/drawing/2014/main" val="1299922055"/>
                    </a:ext>
                  </a:extLst>
                </a:gridCol>
                <a:gridCol w="1224134">
                  <a:extLst>
                    <a:ext uri="{9D8B030D-6E8A-4147-A177-3AD203B41FA5}">
                      <a16:colId xmlns:a16="http://schemas.microsoft.com/office/drawing/2014/main" val="409864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Coût stockage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Coût 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Durée (*)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fréquent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Aucune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562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occasionnel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30j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9417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accès très rare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90j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481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180j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630661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E6AC5EF-63BC-139A-2672-AC31FCA9551D}"/>
              </a:ext>
            </a:extLst>
          </p:cNvPr>
          <p:cNvSpPr txBox="1"/>
          <p:nvPr/>
        </p:nvSpPr>
        <p:spPr>
          <a:xfrm>
            <a:off x="288396" y="6315494"/>
            <a:ext cx="365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(*) : durée minimale de facturation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 container n’existe pas lors d’un upload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Création automatique toujours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sauf si CreateIfNotExists est utilisé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ignore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faut appeler CreateIfNotExists sinon erreur.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05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Blob Storage dans 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 utilisateurs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sessions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des fonctions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64929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permet de stocker les fichiers (images, docs…).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19337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Quelle est la limite classique de taille d’un Block Blob (modèle historique Azure)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256 MB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4.75 TB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 GB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Illimitée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85293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891" y="3429000"/>
            <a:ext cx="77112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Historiquement, un Block Blob est limité à environ 4.75 TB (100 </a:t>
            </a:r>
            <a:r>
              <a:rPr lang="fr-FR" dirty="0" err="1"/>
              <a:t>MiB</a:t>
            </a:r>
            <a:r>
              <a:rPr lang="fr-FR" dirty="0"/>
              <a:t> x 50 000 blocs).</a:t>
            </a:r>
          </a:p>
          <a:p>
            <a:pPr>
              <a:defRPr sz="1600"/>
            </a:pPr>
            <a:r>
              <a:rPr lang="fr-FR" dirty="0"/>
              <a:t>Aujourd’hui, avec les versions récentes de l’API, la limite peut atteindre ~190 </a:t>
            </a:r>
            <a:r>
              <a:rPr lang="fr-FR" dirty="0" err="1"/>
              <a:t>TiB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746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3F7E1F0-DC41-4B16-F0D8-37B1D6A01C75}"/>
              </a:ext>
            </a:extLst>
          </p:cNvPr>
          <p:cNvSpPr txBox="1"/>
          <p:nvPr/>
        </p:nvSpPr>
        <p:spPr>
          <a:xfrm>
            <a:off x="279349" y="6237312"/>
            <a:ext cx="86265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u="sng" dirty="0">
                <a:solidFill>
                  <a:schemeClr val="tx2"/>
                </a:solidFill>
              </a:rPr>
              <a:t>https://learn.microsoft.com/en-us/rest/api/storageservices/understanding-block-blobs--append-blobs--and-page-blobs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37735CF8-6389-4D2C-531C-44796DA9B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694781"/>
              </p:ext>
            </p:extLst>
          </p:nvPr>
        </p:nvGraphicFramePr>
        <p:xfrm>
          <a:off x="464982" y="4364210"/>
          <a:ext cx="7886700" cy="14630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5183733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08936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0534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Taille 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6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Block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fichiers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4.75 TB / 190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218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Append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195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02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disques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8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4308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meilleure pratique pour nommer les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GUID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une structure hiérarchique logique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noms courts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pas nommer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24433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14" y="3933056"/>
            <a:ext cx="5746701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structure logique facilite l’organisation et la maintenance.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images/produits/2026/04/photo1.jpg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logs/app1/2026/04/30/log.txt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clients/12345/documents/facture.pdf</a:t>
            </a:r>
            <a:br>
              <a:rPr lang="fr-FR" dirty="0"/>
            </a:b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92493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protocole est utilisé pour accéder aux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SMTP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TCP brut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HTTP/HTTPS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accessible via HTTP/HTTPS.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370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SAS Token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permanent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clé de chiffrement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accès temporaire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identifiant utilisateur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990" y="3212976"/>
            <a:ext cx="8266467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/>
              <a:t>Un SAS Token </a:t>
            </a:r>
            <a:r>
              <a:rPr lang="fr-FR" sz="1600" dirty="0"/>
              <a:t>est une </a:t>
            </a:r>
            <a:r>
              <a:rPr lang="fr-FR" sz="1600" b="1" dirty="0"/>
              <a:t>URL signée</a:t>
            </a:r>
            <a:r>
              <a:rPr lang="fr-FR" sz="1600" dirty="0"/>
              <a:t> qui donne un accès limité dans le temps à une ressource (blob, conteneur, etc.).</a:t>
            </a:r>
            <a:br>
              <a:rPr lang="fr-FR" sz="1600" dirty="0"/>
            </a:br>
            <a:br>
              <a:rPr lang="fr-FR" sz="1600" dirty="0"/>
            </a:br>
            <a:r>
              <a:rPr lang="fr-FR" sz="1600" dirty="0"/>
              <a:t>Un SAS </a:t>
            </a:r>
            <a:r>
              <a:rPr lang="fr-FR" sz="1600" dirty="0" err="1"/>
              <a:t>Token</a:t>
            </a:r>
            <a:r>
              <a:rPr lang="fr-FR" sz="1600" dirty="0"/>
              <a:t> permet de définir :</a:t>
            </a:r>
          </a:p>
          <a:p>
            <a:r>
              <a:rPr lang="fr-FR" sz="1600" dirty="0"/>
              <a:t>⏱️ </a:t>
            </a:r>
            <a:r>
              <a:rPr lang="fr-FR" sz="1600" b="1" dirty="0"/>
              <a:t>Une durée</a:t>
            </a:r>
            <a:r>
              <a:rPr lang="fr-FR" sz="1600" dirty="0"/>
              <a:t> (ex : valable 1 heure) </a:t>
            </a:r>
          </a:p>
          <a:p>
            <a:r>
              <a:rPr lang="fr-FR" sz="1600" dirty="0"/>
              <a:t>🔑 </a:t>
            </a:r>
            <a:r>
              <a:rPr lang="fr-FR" sz="1600" b="1" dirty="0"/>
              <a:t>Des permissions</a:t>
            </a:r>
            <a:r>
              <a:rPr lang="fr-FR" sz="1600" dirty="0"/>
              <a:t> (lecture, écriture, suppression…) </a:t>
            </a:r>
          </a:p>
          <a:p>
            <a:r>
              <a:rPr lang="fr-FR" sz="1600" dirty="0"/>
              <a:t>📍 </a:t>
            </a:r>
            <a:r>
              <a:rPr lang="fr-FR" sz="1600" b="1" dirty="0"/>
              <a:t>Une portée</a:t>
            </a:r>
            <a:r>
              <a:rPr lang="fr-FR" sz="1600" dirty="0"/>
              <a:t> (un blob précis ou un conteneur)</a:t>
            </a:r>
          </a:p>
          <a:p>
            <a:endParaRPr lang="fr-FR" sz="1600" b="1" dirty="0"/>
          </a:p>
          <a:p>
            <a:r>
              <a:rPr lang="fr-FR" sz="1600" b="1" dirty="0"/>
              <a:t>✅ Pourquoi c’est puissant ?</a:t>
            </a:r>
          </a:p>
          <a:p>
            <a:r>
              <a:rPr lang="fr-FR" sz="1600" dirty="0"/>
              <a:t>Pas besoin de partager la clé principale du compte (beaucoup plus risqué) </a:t>
            </a:r>
          </a:p>
          <a:p>
            <a:r>
              <a:rPr lang="fr-FR" sz="1600" dirty="0"/>
              <a:t>Idéal pour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donner accès à un fichier temporairement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permettre un </a:t>
            </a:r>
            <a:r>
              <a:rPr lang="fr-FR" sz="1600" dirty="0" err="1"/>
              <a:t>upload</a:t>
            </a:r>
            <a:r>
              <a:rPr lang="fr-FR" sz="1600" dirty="0"/>
              <a:t>/download côté client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exposer un fichier sans authentification complète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67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de stocker des fichiers sur le disque local d’une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interdit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disque est volatile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trop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bloque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78092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3789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stockage local peut être perdu lors de redémarrage ou scaling.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57FD-C95E-6E89-990E-C17713B8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C728C-D02D-42CB-0DBF-130331F4EB59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37F69-E3E9-039F-90A0-0BA86D63BBD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B2CDE-9CFA-6241-D42B-8F8F27406077}"/>
              </a:ext>
            </a:extLst>
          </p:cNvPr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Quels services sont disponibles dans un Azure Storage </a:t>
            </a:r>
            <a:r>
              <a:rPr lang="fr-FR" sz="2000" dirty="0" err="1"/>
              <a:t>Account</a:t>
            </a:r>
            <a:r>
              <a:rPr lang="fr-FR" sz="2000" dirty="0"/>
              <a:t> ? 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Blob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SQL Database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Table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Queue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Service Bus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File Shares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Disks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5AF25-5101-51B1-646A-E9F9FC3C62A7}"/>
              </a:ext>
            </a:extLst>
          </p:cNvPr>
          <p:cNvSpPr txBox="1"/>
          <p:nvPr/>
        </p:nvSpPr>
        <p:spPr>
          <a:xfrm>
            <a:off x="6331647" y="2780928"/>
            <a:ext cx="20143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1,3,4,6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ED3DEE2-405F-9ACF-EA53-360B9113A21C}"/>
              </a:ext>
            </a:extLst>
          </p:cNvPr>
          <p:cNvSpPr txBox="1"/>
          <p:nvPr/>
        </p:nvSpPr>
        <p:spPr>
          <a:xfrm>
            <a:off x="24130" y="257826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EC78C72-F644-536D-24B2-B6B74413E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00199"/>
              </p:ext>
            </p:extLst>
          </p:nvPr>
        </p:nvGraphicFramePr>
        <p:xfrm>
          <a:off x="489689" y="4760898"/>
          <a:ext cx="6791248" cy="1676400"/>
        </p:xfrm>
        <a:graphic>
          <a:graphicData uri="http://schemas.openxmlformats.org/drawingml/2006/table">
            <a:tbl>
              <a:tblPr/>
              <a:tblGrid>
                <a:gridCol w="1197489">
                  <a:extLst>
                    <a:ext uri="{9D8B030D-6E8A-4147-A177-3AD203B41FA5}">
                      <a16:colId xmlns:a16="http://schemas.microsoft.com/office/drawing/2014/main" val="1662596606"/>
                    </a:ext>
                  </a:extLst>
                </a:gridCol>
                <a:gridCol w="2108210">
                  <a:extLst>
                    <a:ext uri="{9D8B030D-6E8A-4147-A177-3AD203B41FA5}">
                      <a16:colId xmlns:a16="http://schemas.microsoft.com/office/drawing/2014/main" val="1420361216"/>
                    </a:ext>
                  </a:extLst>
                </a:gridCol>
                <a:gridCol w="3485549">
                  <a:extLst>
                    <a:ext uri="{9D8B030D-6E8A-4147-A177-3AD203B41FA5}">
                      <a16:colId xmlns:a16="http://schemas.microsoft.com/office/drawing/2014/main" val="3667058466"/>
                    </a:ext>
                  </a:extLst>
                </a:gridCol>
              </a:tblGrid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12625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objet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718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965514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messages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559852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fichiers (comme Windows)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611252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CADE07B-CBF6-9B05-F404-EC4D0C6FE61F}"/>
              </a:ext>
            </a:extLst>
          </p:cNvPr>
          <p:cNvSpPr txBox="1"/>
          <p:nvPr/>
        </p:nvSpPr>
        <p:spPr>
          <a:xfrm>
            <a:off x="24130" y="19393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227E39-17C3-D797-F243-9AAF114D120A}"/>
              </a:ext>
            </a:extLst>
          </p:cNvPr>
          <p:cNvSpPr txBox="1"/>
          <p:nvPr/>
        </p:nvSpPr>
        <p:spPr>
          <a:xfrm>
            <a:off x="31256" y="28743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AB88B3E-18CD-060D-0390-AA7DE5441356}"/>
              </a:ext>
            </a:extLst>
          </p:cNvPr>
          <p:cNvSpPr txBox="1"/>
          <p:nvPr/>
        </p:nvSpPr>
        <p:spPr>
          <a:xfrm>
            <a:off x="52733" y="34782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5E2A823-B9D4-75AF-21FE-2250E9D88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3663619"/>
            <a:ext cx="1876457" cy="29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6" grpId="0"/>
      <p:bldP spid="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4BAD-D656-8540-FA5C-99299A8C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4B5B9AA-0A54-FDE2-13F8-93170A666A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BF81DB-AB68-4A13-BBAB-19E424C4E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Application Insights</a:t>
            </a:r>
          </a:p>
        </p:txBody>
      </p:sp>
    </p:spTree>
    <p:extLst>
      <p:ext uri="{BB962C8B-B14F-4D97-AF65-F5344CB8AC3E}">
        <p14:creationId xmlns:p14="http://schemas.microsoft.com/office/powerpoint/2010/main" val="31777557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permet de collecter les logs applicatifs, traces et métriques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Monitor est le service central de supervision.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5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composant Azure est utilisé pour analyser les performances d’une application web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355737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Application Insights permet de suivre les performances et les requêtes.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2942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une application .NET déployée sur Azure App Service avec Application Insights, quel est le rôle de </a:t>
            </a:r>
            <a:r>
              <a:rPr lang="fr-FR" sz="2000" dirty="0" err="1"/>
              <a:t>ILogger</a:t>
            </a:r>
            <a:r>
              <a:rPr lang="fr-FR" sz="2000" dirty="0"/>
              <a:t> lorsqu’il est utilisé avec un provider configuré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Écrire des logs uniquement en local dans la console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Envoyer automatiquement des logs structurés vers Azure Monitor /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les logs directement dans 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862984" y="428835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647325" y="5398532"/>
            <a:ext cx="75250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 err="1"/>
              <a:t>ILogger</a:t>
            </a:r>
            <a:r>
              <a:rPr lang="fr-FR" dirty="0"/>
              <a:t>, lorsqu’il est configuré avec un provider (comme Application Insights), envoie les logs vers Azure Monitor.</a:t>
            </a:r>
            <a:br>
              <a:rPr lang="fr-FR" dirty="0"/>
            </a:br>
            <a:r>
              <a:rPr lang="fr-FR" dirty="0"/>
              <a:t>Logger est une abstraction. Le comportement dépend du provider configuré (Console, App Insights, etc.).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7089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les logs n’apparaissent pas malgré AddAzureWebAppDiagnostics()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non activés côté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ILogger</a:t>
            </a:r>
            <a:r>
              <a:rPr lang="fr-FR" sz="2000" dirty="0"/>
              <a:t> mal configuré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Port incorrect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Mauvais navigateur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53099" y="4086494"/>
            <a:ext cx="3384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logs doivent être activés dans le portail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App Service Logs → activer File System ou Blob."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2438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28CFDB-EBA8-12C2-AB34-7C6C60D8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865" y="3633455"/>
            <a:ext cx="4605712" cy="30032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métriques et logs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du texte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logs sont numériques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des valeurs numériques agrégées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métriques sont des données numériques (CPU, temps de réponse).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30306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langage est utilisé pour interroger les logs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LINQ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PowerShell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KQL</a:t>
            </a:r>
          </a:p>
          <a:p>
            <a:pPr>
              <a:defRPr sz="2400"/>
            </a:pPr>
            <a:endParaRPr lang="fr-FR"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74814" y="4299466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KQL (Kusto Query Language) est utilisé pour analyser les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créer une alerte Azure Monitor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Depuis Azure Monitor ou directement depuis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Application Insights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4270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Les alertes peuvent être créées depuis Azure Monitor ou directement depuis une ressource (App Service, Application Insights, etc.)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5858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Sur quoi peut se baser une alerte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métriques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et métriques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alertes peuvent être basées sur logs ou métriques.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Live Metrics</a:t>
            </a:r>
            <a:r>
              <a:rPr lang="fr-FR" sz="2000" dirty="0"/>
              <a:t>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historiques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données en temps réel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559669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12" y="3955496"/>
            <a:ext cx="475162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visualiser les métriques en temps </a:t>
            </a:r>
            <a:r>
              <a:rPr dirty="0" err="1"/>
              <a:t>réel</a:t>
            </a:r>
            <a:r>
              <a:rPr dirty="0"/>
              <a:t>.</a:t>
            </a:r>
            <a:br>
              <a:rPr lang="fr-FR" dirty="0"/>
            </a:br>
            <a:r>
              <a:rPr lang="fr-FR" dirty="0"/>
              <a:t>Pour l’activer : rajouter dans son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program.cs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br>
              <a:rPr lang="fr-FR" dirty="0"/>
            </a:b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defRPr sz="1600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.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AddApplicationInsightsTelemetry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457630-B988-FD93-813B-F06DBD9932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581"/>
          <a:stretch>
            <a:fillRect/>
          </a:stretch>
        </p:blipFill>
        <p:spPr>
          <a:xfrm>
            <a:off x="5124204" y="3239713"/>
            <a:ext cx="4019796" cy="35860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l’objectif principal du sampling dans Application Insights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volume de télémétrie tout en conservant une représentation statistique fiable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la précision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les erreurs critiques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Crypter les données envoyées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74051" y="3453897"/>
            <a:ext cx="7435195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Le sampling réduit la quantité de données collectées pour diminuer les coûts, tout en gardant une vision représentative du comportement de l’application</a:t>
            </a:r>
            <a:br>
              <a:rPr lang="fr-FR" dirty="0"/>
            </a:br>
            <a:br>
              <a:rPr lang="fr-FR" dirty="0"/>
            </a:br>
            <a:r>
              <a:rPr lang="fr-FR" sz="1600" dirty="0"/>
              <a:t>👉 Le sampling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garde </a:t>
            </a:r>
            <a:r>
              <a:rPr lang="fr-FR" sz="1600" b="1" dirty="0"/>
              <a:t>1 requête sur N</a:t>
            </a:r>
            <a:r>
              <a:rPr lang="fr-FR" sz="1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mais </a:t>
            </a:r>
            <a:r>
              <a:rPr lang="fr-FR" sz="1600" b="1" dirty="0"/>
              <a:t>recalcule les métriques</a:t>
            </a:r>
            <a:r>
              <a:rPr lang="fr-FR" sz="1600" dirty="0"/>
              <a:t> (ex : 1 vue = 10 requêtes estimées) </a:t>
            </a:r>
          </a:p>
          <a:p>
            <a:pPr>
              <a:buNone/>
            </a:pPr>
            <a:r>
              <a:rPr lang="fr-FR" sz="1600" b="1" dirty="0"/>
              <a:t>Exemple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1000 requêtes réelles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sampling à 10%</a:t>
            </a:r>
            <a:br>
              <a:rPr lang="fr-FR" sz="1600" dirty="0"/>
            </a:br>
            <a:r>
              <a:rPr lang="fr-FR" sz="1600" dirty="0"/>
              <a:t>👉 seulement 100 stockées</a:t>
            </a:r>
            <a:br>
              <a:rPr lang="fr-FR" sz="1600" dirty="0"/>
            </a:br>
            <a:r>
              <a:rPr lang="fr-FR" sz="1600" dirty="0"/>
              <a:t>👉 mais Azure affiche quand même ~1000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9169-FCFF-4453-0A81-9DF169479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56FC11-25EF-F41C-73EC-4C596D24A5A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495CE0-DBD6-DCA7-AE60-ADF3DAD6A92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4BC2B-39AF-BD11-7A4F-D4A321FBD14A}"/>
              </a:ext>
            </a:extLst>
          </p:cNvPr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configurer le sampling dans Application Insights en .NET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le SDK (code) ou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le portail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configurable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DA2B6F-D504-B660-24D6-01D36E014F21}"/>
              </a:ext>
            </a:extLst>
          </p:cNvPr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67D7B-91DB-7E44-8E85-793F64378A1B}"/>
              </a:ext>
            </a:extLst>
          </p:cNvPr>
          <p:cNvSpPr txBox="1"/>
          <p:nvPr/>
        </p:nvSpPr>
        <p:spPr>
          <a:xfrm>
            <a:off x="474051" y="3453897"/>
            <a:ext cx="7435195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sampling peut être automatique (adaptive) ou configuré via le SDK en code.</a:t>
            </a:r>
            <a:br>
              <a:rPr lang="fr-FR" dirty="0"/>
            </a:br>
            <a:r>
              <a:rPr lang="fr-FR" dirty="0"/>
              <a:t>Le mode par défaut est l’adaptive sampling.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Exemple pour le désactiver : </a:t>
            </a:r>
            <a:br>
              <a:rPr lang="fr-FR" dirty="0"/>
            </a:b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builder.Services.AddApplicationInsightsTelemetry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(options =&gt;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options.EnableAdaptiveSampling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>
              <a:buNone/>
            </a:pPr>
            <a:endParaRPr lang="fr-FR" dirty="0"/>
          </a:p>
          <a:p>
            <a:r>
              <a:rPr lang="fr-FR" b="1" dirty="0"/>
              <a:t>❗ 1. Le sampling s’applique côté SDK</a:t>
            </a:r>
          </a:p>
          <a:p>
            <a:r>
              <a:rPr lang="fr-FR" dirty="0"/>
              <a:t>👉 donc : les données </a:t>
            </a:r>
            <a:r>
              <a:rPr lang="fr-FR" b="1" dirty="0"/>
              <a:t>non envoyées → non récupérables</a:t>
            </a:r>
            <a:endParaRPr lang="fr-FR" dirty="0"/>
          </a:p>
          <a:p>
            <a:pPr>
              <a:buNone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4A9CD6A-6521-E7F9-977A-3D534AEBAAAB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916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Application Insights </a:t>
            </a:r>
            <a:r>
              <a:rPr sz="2000" dirty="0" err="1"/>
              <a:t>peut</a:t>
            </a:r>
            <a:r>
              <a:rPr sz="2000" dirty="0"/>
              <a:t>-il </a:t>
            </a:r>
            <a:r>
              <a:rPr sz="2000" dirty="0" err="1"/>
              <a:t>collecter</a:t>
            </a:r>
            <a:r>
              <a:rPr sz="2000" dirty="0"/>
              <a:t> </a:t>
            </a:r>
            <a:r>
              <a:rPr sz="2000" dirty="0" err="1"/>
              <a:t>automatiquement</a:t>
            </a:r>
            <a:r>
              <a:rPr sz="2000" dirty="0"/>
              <a:t> 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Exceptions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Dépendances (SQL, API externes)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système Windows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SQL internes à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Traces (logs applicatifs via </a:t>
            </a:r>
            <a:r>
              <a:rPr lang="fr-FR" sz="2000" dirty="0" err="1"/>
              <a:t>ILogger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Performances CPU du serveur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0784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1,2,3,6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232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Application Insights collecte automatiquement les requêtes, exceptions, dépendances et traces. </a:t>
            </a:r>
          </a:p>
          <a:p>
            <a:pPr>
              <a:defRPr sz="1600"/>
            </a:pPr>
            <a:r>
              <a:rPr lang="fr-FR" dirty="0"/>
              <a:t>Les logs système ou les requêtes SQL internes ne sont pas collectés automatiquement sans instrumentation spécifique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76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9EC0A74-3BBD-C96B-6743-EA2498B74072}"/>
              </a:ext>
            </a:extLst>
          </p:cNvPr>
          <p:cNvSpPr txBox="1"/>
          <p:nvPr/>
        </p:nvSpPr>
        <p:spPr>
          <a:xfrm>
            <a:off x="24764" y="22671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6088C5-BC90-F5B2-1CD1-C22C075D6A88}"/>
              </a:ext>
            </a:extLst>
          </p:cNvPr>
          <p:cNvSpPr txBox="1"/>
          <p:nvPr/>
        </p:nvSpPr>
        <p:spPr>
          <a:xfrm>
            <a:off x="12204" y="25435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727ECB-B839-541F-E89D-5833721C574E}"/>
              </a:ext>
            </a:extLst>
          </p:cNvPr>
          <p:cNvSpPr txBox="1"/>
          <p:nvPr/>
        </p:nvSpPr>
        <p:spPr>
          <a:xfrm>
            <a:off x="12204" y="3465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  <p:bldP spid="5" grpId="0"/>
      <p:bldP spid="6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des "Dependency tracking"</a:t>
            </a:r>
            <a:r>
              <a:rPr lang="fr-FR" sz="2000" dirty="0"/>
              <a:t> dans Application Insights </a:t>
            </a:r>
            <a:r>
              <a:rPr sz="2000" dirty="0"/>
              <a:t>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Suivre les appels vers des services externes (API, base de données, etc.)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Analyser les performances internes du code méthode par méthode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Mesurer les interactions avec des ressources externes et leur impact sur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Tracer les actions des utilisateurs dans l’interface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4125463"/>
            <a:ext cx="16232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651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dependency</a:t>
            </a:r>
            <a:r>
              <a:rPr lang="fr-FR" dirty="0"/>
              <a:t> </a:t>
            </a:r>
            <a:r>
              <a:rPr lang="fr-FR" dirty="0" err="1"/>
              <a:t>tracking</a:t>
            </a:r>
            <a:r>
              <a:rPr lang="fr-FR" dirty="0"/>
              <a:t> permet de suivre les appels vers des services externes (SQL, API, etc.) et d’analyser leur impact sur les performances globales.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Attention à ne pas confondre avec le profiling interne du code ou le suivi utilisateur (User </a:t>
            </a:r>
            <a:r>
              <a:rPr lang="fr-FR" dirty="0" err="1"/>
              <a:t>telemetry</a:t>
            </a:r>
            <a:r>
              <a:rPr lang="fr-FR" dirty="0"/>
              <a:t>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61453" y="19504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DF2640-2090-FE74-B940-B26D6C77018C}"/>
              </a:ext>
            </a:extLst>
          </p:cNvPr>
          <p:cNvSpPr txBox="1"/>
          <p:nvPr/>
        </p:nvSpPr>
        <p:spPr>
          <a:xfrm>
            <a:off x="61453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Comment identifier qu’un ralentissement d’une requête HTTP est dû à une base SQL dans Application Insights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uniquement les logs applicatifs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analysant les dependencies associées à la requête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le CPU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possible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77232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dependencies permettent d’identifier les appels SQL et leur durée, ce qui permet de détecter un goulot d’étranglement.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523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outil permet de visualiser la chaîne d’appels d’une requête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Metrics Explorer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Map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 Stream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796136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34" y="4574498"/>
            <a:ext cx="2427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Application Map montre les dépendances entre services.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5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500A1A-8306-886E-4DEB-21E45E5B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99" y="2924944"/>
            <a:ext cx="5757696" cy="38015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Log Stream dans App Service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en direct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Modifier le code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voir les logs en temps réel.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5743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écriture permet de créer un </a:t>
            </a:r>
            <a:r>
              <a:rPr sz="2000" u="sng" dirty="0"/>
              <a:t>log structuré </a:t>
            </a:r>
            <a:r>
              <a:rPr sz="2000" dirty="0"/>
              <a:t>avec ILogger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logger.LogInformation($"Commande {orderId}")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" +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{OrderId}",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Console.WriteLine("Commande {orderId}")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7" y="3367876"/>
            <a:ext cx="843148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Seule la syntaxe avec placeholders permet de créer des propriétés structurées </a:t>
            </a:r>
            <a:r>
              <a:rPr dirty="0" err="1"/>
              <a:t>exploitables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("Commande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 traitée pour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600" dirty="0"/>
              <a:t>👉 Ici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/>
              <a:t> et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/>
              <a:t> deviennent </a:t>
            </a:r>
            <a:r>
              <a:rPr lang="fr-FR" sz="1600" b="1" dirty="0"/>
              <a:t>des champs</a:t>
            </a:r>
            <a:r>
              <a:rPr lang="fr-F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pas juste du texte </a:t>
            </a:r>
          </a:p>
          <a:p>
            <a:r>
              <a:rPr lang="fr-FR" sz="1600" dirty="0"/>
              <a:t>Dans Application Insights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fr-FR" sz="1600" dirty="0"/>
              <a:t> = "Commande 123 traitée pour 456"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MAIS aussi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123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456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39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49C9D5-ABA1-6479-9397-569971550517}"/>
              </a:ext>
            </a:extLst>
          </p:cNvPr>
          <p:cNvSpPr txBox="1"/>
          <p:nvPr/>
        </p:nvSpPr>
        <p:spPr>
          <a:xfrm>
            <a:off x="5505228" y="4906759"/>
            <a:ext cx="3647152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== 123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vs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message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"123"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première étape pour centraliser les logs de plusieurs ressources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une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96938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540476"/>
            <a:ext cx="641008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Log Analytics Workspace est le point central de stockage des logs.</a:t>
            </a:r>
            <a:endParaRPr lang="fr-FR" dirty="0"/>
          </a:p>
          <a:p>
            <a:pPr>
              <a:defRPr sz="1600"/>
            </a:pPr>
            <a:r>
              <a:rPr lang="fr-FR" dirty="0"/>
              <a:t>Dans le TP, créé automatiquement.</a:t>
            </a:r>
          </a:p>
          <a:p>
            <a:pPr>
              <a:defRPr sz="1600"/>
            </a:pPr>
            <a:endParaRPr lang="fr-FR" dirty="0"/>
          </a:p>
          <a:p>
            <a:pPr marL="342900" indent="-342900">
              <a:buAutoNum type="arabicPeriod"/>
              <a:defRPr sz="1600"/>
            </a:pPr>
            <a:r>
              <a:rPr lang="fr-FR" dirty="0"/>
              <a:t>Azure Monitor = collecte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Log Analytics = stockage + requêtes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Toutes les ressources ne loggent pas pareil</a:t>
            </a:r>
          </a:p>
          <a:p>
            <a:pPr marL="342900" indent="-342900">
              <a:buAutoNum type="arabicPeriod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09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C320ED1-EB38-963F-23D3-6F583698B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261877"/>
              </p:ext>
            </p:extLst>
          </p:nvPr>
        </p:nvGraphicFramePr>
        <p:xfrm>
          <a:off x="1578002" y="5085184"/>
          <a:ext cx="5285092" cy="1219200"/>
        </p:xfrm>
        <a:graphic>
          <a:graphicData uri="http://schemas.openxmlformats.org/drawingml/2006/table">
            <a:tbl>
              <a:tblPr/>
              <a:tblGrid>
                <a:gridCol w="2642546">
                  <a:extLst>
                    <a:ext uri="{9D8B030D-6E8A-4147-A177-3AD203B41FA5}">
                      <a16:colId xmlns:a16="http://schemas.microsoft.com/office/drawing/2014/main" val="4182014354"/>
                    </a:ext>
                  </a:extLst>
                </a:gridCol>
                <a:gridCol w="2642546">
                  <a:extLst>
                    <a:ext uri="{9D8B030D-6E8A-4147-A177-3AD203B41FA5}">
                      <a16:colId xmlns:a16="http://schemas.microsoft.com/office/drawing/2014/main" val="133377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Ressource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Table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0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AppRequests, AppTraces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6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AzureDiagnostics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978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 err="1"/>
                        <a:t>AzureDiagnostics</a:t>
                      </a:r>
                      <a:endParaRPr lang="fr-FR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40311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Vous souhaitez analyser les logs d’une Web App, d’une Azure Function et d’une base SQL dans un même outil avec des requêtes KQL. Quelle solution utiliser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 avec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46" y="3714860"/>
            <a:ext cx="8626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Azure Monitor permet de centraliser les logs de plusieurs ressources dans un Log Analytics Workspace.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8FEC3D9-108C-D333-50EB-25EF3FBBC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" y="4362607"/>
            <a:ext cx="4283968" cy="247316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5FE2A1-5C18-E69B-D912-B85870544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1768" y="4196756"/>
            <a:ext cx="4378035" cy="26390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Log Analytics Workspace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stockage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serveur web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outil de déploiement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C’est un espace de stockage et d’analyse des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une Action Group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des actions lors d’alertes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580112" y="335475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528" y="4077072"/>
            <a:ext cx="785234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d’envoyer emails, SMS, webhooks.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Dans Application Insights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>
                <a:sym typeface="Wingdings" panose="05000000000000000000" pitchFamily="2" charset="2"/>
              </a:rPr>
              <a:t>Alerts</a:t>
            </a:r>
            <a:r>
              <a:rPr lang="fr-FR" dirty="0">
                <a:sym typeface="Wingdings" panose="05000000000000000000" pitchFamily="2" charset="2"/>
              </a:rPr>
              <a:t>  Actions  </a:t>
            </a:r>
            <a:r>
              <a:rPr lang="fr-FR" dirty="0" err="1">
                <a:sym typeface="Wingdings" panose="05000000000000000000" pitchFamily="2" charset="2"/>
              </a:rPr>
              <a:t>Create</a:t>
            </a:r>
            <a:r>
              <a:rPr lang="fr-FR" dirty="0">
                <a:sym typeface="Wingdings" panose="05000000000000000000" pitchFamily="2" charset="2"/>
              </a:rPr>
              <a:t> action group  Notifications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4462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principale limite des logs App Service (File System)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trop rapides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chiffrés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temporaires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inutilisables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88224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67096" y="3058301"/>
            <a:ext cx="5015412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Ils sont </a:t>
            </a:r>
            <a:r>
              <a:rPr dirty="0" err="1"/>
              <a:t>stockés</a:t>
            </a:r>
            <a:r>
              <a:rPr dirty="0"/>
              <a:t> </a:t>
            </a:r>
            <a:r>
              <a:rPr lang="fr-FR" dirty="0"/>
              <a:t>sur disque de la machine App Service</a:t>
            </a:r>
            <a:r>
              <a:rPr dirty="0"/>
              <a:t>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l’instance redémarre → ❌ logs perdus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Azure change de machine → ❌ logs perdus</a:t>
            </a:r>
          </a:p>
          <a:p>
            <a:pPr>
              <a:defRPr sz="1600"/>
            </a:pPr>
            <a:r>
              <a:rPr lang="fr-FR" dirty="0"/>
              <a:t>Pour les voir : Log Stream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Différent de Application Insights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842" y="22426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75BF5A8-C3F2-101C-BF55-A8C89117F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117232"/>
              </p:ext>
            </p:extLst>
          </p:nvPr>
        </p:nvGraphicFramePr>
        <p:xfrm>
          <a:off x="454026" y="4797152"/>
          <a:ext cx="4519414" cy="1219200"/>
        </p:xfrm>
        <a:graphic>
          <a:graphicData uri="http://schemas.openxmlformats.org/drawingml/2006/table">
            <a:tbl>
              <a:tblPr/>
              <a:tblGrid>
                <a:gridCol w="919013">
                  <a:extLst>
                    <a:ext uri="{9D8B030D-6E8A-4147-A177-3AD203B41FA5}">
                      <a16:colId xmlns:a16="http://schemas.microsoft.com/office/drawing/2014/main" val="4033975775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72566701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3374195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File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Application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5208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Stockage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Local serveur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(cloud)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00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Durée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Temporaire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Configurable (jours/mois)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9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Analyse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❌ limitée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✔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472544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9AC453C7-2385-8D9F-CD2A-705345C86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127" y="4509120"/>
            <a:ext cx="3793313" cy="2142975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4E4BC1B-1A3C-A479-EC7D-BE41F69DD9C9}"/>
              </a:ext>
            </a:extLst>
          </p:cNvPr>
          <p:cNvCxnSpPr>
            <a:cxnSpLocks/>
          </p:cNvCxnSpPr>
          <p:nvPr/>
        </p:nvCxnSpPr>
        <p:spPr>
          <a:xfrm flipV="1">
            <a:off x="4860032" y="4627961"/>
            <a:ext cx="1944216" cy="961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14671</Words>
  <Application>Microsoft Office PowerPoint</Application>
  <PresentationFormat>Affichage à l'écran (4:3)</PresentationFormat>
  <Paragraphs>3040</Paragraphs>
  <Slides>202</Slides>
  <Notes>109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202</vt:i4>
      </vt:variant>
    </vt:vector>
  </HeadingPairs>
  <TitlesOfParts>
    <vt:vector size="215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387</cp:revision>
  <cp:lastPrinted>2012-08-28T00:39:50Z</cp:lastPrinted>
  <dcterms:created xsi:type="dcterms:W3CDTF">2012-09-10T15:00:36Z</dcterms:created>
  <dcterms:modified xsi:type="dcterms:W3CDTF">2026-05-01T15:43:15Z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